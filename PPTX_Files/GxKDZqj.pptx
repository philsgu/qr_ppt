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32918400" cy="219456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italic r:id="rId9"/>
    </p:embeddedFont>
    <p:embeddedFont>
      <p:font typeface="Open Sans" panose="020B0606030504020204" pitchFamily="34" charset="0"/>
      <p:regular r:id="rId10"/>
      <p:bold r:id="rId11"/>
      <p:italic r:id="rId12"/>
      <p:boldItalic r:id="rId13"/>
    </p:embeddedFont>
  </p:embeddedFontLst>
  <p:custDataLst>
    <p:tags r:id="rId14"/>
  </p:custDataLst>
  <p:defaultTextStyle>
    <a:defPPr>
      <a:defRPr lang="en-US"/>
    </a:defPPr>
    <a:lvl1pPr algn="l" rtl="0" eaLnBrk="0" fontAlgn="base" hangingPunct="0">
      <a:spcBef>
        <a:spcPct val="0"/>
      </a:spcBef>
      <a:spcAft>
        <a:spcPct val="0"/>
      </a:spcAft>
      <a:defRPr sz="1714" kern="1200">
        <a:solidFill>
          <a:schemeClr val="tx1"/>
        </a:solidFill>
        <a:latin typeface="Times New Roman" pitchFamily="18" charset="0"/>
        <a:ea typeface="+mn-ea"/>
        <a:cs typeface="+mn-cs"/>
      </a:defRPr>
    </a:lvl1pPr>
    <a:lvl2pPr marL="326532" algn="l" rtl="0" eaLnBrk="0" fontAlgn="base" hangingPunct="0">
      <a:spcBef>
        <a:spcPct val="0"/>
      </a:spcBef>
      <a:spcAft>
        <a:spcPct val="0"/>
      </a:spcAft>
      <a:defRPr sz="1714" kern="1200">
        <a:solidFill>
          <a:schemeClr val="tx1"/>
        </a:solidFill>
        <a:latin typeface="Times New Roman" pitchFamily="18" charset="0"/>
        <a:ea typeface="+mn-ea"/>
        <a:cs typeface="+mn-cs"/>
      </a:defRPr>
    </a:lvl2pPr>
    <a:lvl3pPr marL="653064" algn="l" rtl="0" eaLnBrk="0" fontAlgn="base" hangingPunct="0">
      <a:spcBef>
        <a:spcPct val="0"/>
      </a:spcBef>
      <a:spcAft>
        <a:spcPct val="0"/>
      </a:spcAft>
      <a:defRPr sz="1714" kern="1200">
        <a:solidFill>
          <a:schemeClr val="tx1"/>
        </a:solidFill>
        <a:latin typeface="Times New Roman" pitchFamily="18" charset="0"/>
        <a:ea typeface="+mn-ea"/>
        <a:cs typeface="+mn-cs"/>
      </a:defRPr>
    </a:lvl3pPr>
    <a:lvl4pPr marL="979597" algn="l" rtl="0" eaLnBrk="0" fontAlgn="base" hangingPunct="0">
      <a:spcBef>
        <a:spcPct val="0"/>
      </a:spcBef>
      <a:spcAft>
        <a:spcPct val="0"/>
      </a:spcAft>
      <a:defRPr sz="1714" kern="1200">
        <a:solidFill>
          <a:schemeClr val="tx1"/>
        </a:solidFill>
        <a:latin typeface="Times New Roman" pitchFamily="18" charset="0"/>
        <a:ea typeface="+mn-ea"/>
        <a:cs typeface="+mn-cs"/>
      </a:defRPr>
    </a:lvl4pPr>
    <a:lvl5pPr marL="1306129" algn="l" rtl="0" eaLnBrk="0" fontAlgn="base" hangingPunct="0">
      <a:spcBef>
        <a:spcPct val="0"/>
      </a:spcBef>
      <a:spcAft>
        <a:spcPct val="0"/>
      </a:spcAft>
      <a:defRPr sz="1714" kern="1200">
        <a:solidFill>
          <a:schemeClr val="tx1"/>
        </a:solidFill>
        <a:latin typeface="Times New Roman" pitchFamily="18" charset="0"/>
        <a:ea typeface="+mn-ea"/>
        <a:cs typeface="+mn-cs"/>
      </a:defRPr>
    </a:lvl5pPr>
    <a:lvl6pPr marL="1632661" algn="l" defTabSz="653064" rtl="0" eaLnBrk="1" latinLnBrk="0" hangingPunct="1">
      <a:defRPr sz="1714" kern="1200">
        <a:solidFill>
          <a:schemeClr val="tx1"/>
        </a:solidFill>
        <a:latin typeface="Times New Roman" pitchFamily="18" charset="0"/>
        <a:ea typeface="+mn-ea"/>
        <a:cs typeface="+mn-cs"/>
      </a:defRPr>
    </a:lvl6pPr>
    <a:lvl7pPr marL="1959193" algn="l" defTabSz="653064" rtl="0" eaLnBrk="1" latinLnBrk="0" hangingPunct="1">
      <a:defRPr sz="1714" kern="1200">
        <a:solidFill>
          <a:schemeClr val="tx1"/>
        </a:solidFill>
        <a:latin typeface="Times New Roman" pitchFamily="18" charset="0"/>
        <a:ea typeface="+mn-ea"/>
        <a:cs typeface="+mn-cs"/>
      </a:defRPr>
    </a:lvl7pPr>
    <a:lvl8pPr marL="2285726" algn="l" defTabSz="653064" rtl="0" eaLnBrk="1" latinLnBrk="0" hangingPunct="1">
      <a:defRPr sz="1714" kern="1200">
        <a:solidFill>
          <a:schemeClr val="tx1"/>
        </a:solidFill>
        <a:latin typeface="Times New Roman" pitchFamily="18" charset="0"/>
        <a:ea typeface="+mn-ea"/>
        <a:cs typeface="+mn-cs"/>
      </a:defRPr>
    </a:lvl8pPr>
    <a:lvl9pPr marL="2612258" algn="l" defTabSz="653064" rtl="0" eaLnBrk="1" latinLnBrk="0" hangingPunct="1">
      <a:defRPr sz="1714"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3312" userDrawn="1">
          <p15:clr>
            <a:srgbClr val="A4A3A4"/>
          </p15:clr>
        </p15:guide>
        <p15:guide id="2" orient="horz" pos="3755" userDrawn="1">
          <p15:clr>
            <a:srgbClr val="A4A3A4"/>
          </p15:clr>
        </p15:guide>
        <p15:guide id="3" orient="horz" pos="2355" userDrawn="1">
          <p15:clr>
            <a:srgbClr val="A4A3A4"/>
          </p15:clr>
        </p15:guide>
        <p15:guide id="4" orient="horz" pos="4164" userDrawn="1">
          <p15:clr>
            <a:srgbClr val="A4A3A4"/>
          </p15:clr>
        </p15:guide>
        <p15:guide id="5" pos="540" userDrawn="1">
          <p15:clr>
            <a:srgbClr val="A4A3A4"/>
          </p15:clr>
        </p15:guide>
        <p15:guide id="6" pos="5184" userDrawn="1">
          <p15:clr>
            <a:srgbClr val="A4A3A4"/>
          </p15:clr>
        </p15:guide>
        <p15:guide id="7" pos="5544" userDrawn="1">
          <p15:clr>
            <a:srgbClr val="A4A3A4"/>
          </p15:clr>
        </p15:guide>
        <p15:guide id="8" pos="10188" userDrawn="1">
          <p15:clr>
            <a:srgbClr val="A4A3A4"/>
          </p15:clr>
        </p15:guide>
        <p15:guide id="9" pos="10548" userDrawn="1">
          <p15:clr>
            <a:srgbClr val="A4A3A4"/>
          </p15:clr>
        </p15:guide>
        <p15:guide id="10" pos="15192" userDrawn="1">
          <p15:clr>
            <a:srgbClr val="A4A3A4"/>
          </p15:clr>
        </p15:guide>
        <p15:guide id="11" pos="15552" userDrawn="1">
          <p15:clr>
            <a:srgbClr val="A4A3A4"/>
          </p15:clr>
        </p15:guide>
        <p15:guide id="12" pos="20196"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7" autoAdjust="0"/>
    <p:restoredTop sz="94660" autoAdjust="0"/>
  </p:normalViewPr>
  <p:slideViewPr>
    <p:cSldViewPr>
      <p:cViewPr>
        <p:scale>
          <a:sx n="66" d="100"/>
          <a:sy n="66" d="100"/>
        </p:scale>
        <p:origin x="2096" y="144"/>
      </p:cViewPr>
      <p:guideLst>
        <p:guide orient="horz" pos="13312"/>
        <p:guide orient="horz" pos="3755"/>
        <p:guide orient="horz" pos="2355"/>
        <p:guide orient="horz" pos="4164"/>
        <p:guide pos="540"/>
        <p:guide pos="5184"/>
        <p:guide pos="5544"/>
        <p:guide pos="10188"/>
        <p:guide pos="10548"/>
        <p:guide pos="15192"/>
        <p:guide pos="15552"/>
        <p:guide pos="201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tags" Target="tags/tag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1816100" y="3757613"/>
            <a:ext cx="281209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Times New Roman" pitchFamily="18" charset="0"/>
        <a:ea typeface="+mn-ea"/>
        <a:cs typeface="+mn-cs"/>
      </a:defRPr>
    </a:lvl1pPr>
    <a:lvl2pPr marL="326532" algn="l" rtl="0" eaLnBrk="0" fontAlgn="base" hangingPunct="0">
      <a:spcBef>
        <a:spcPct val="30000"/>
      </a:spcBef>
      <a:spcAft>
        <a:spcPct val="0"/>
      </a:spcAft>
      <a:defRPr sz="857" kern="1200">
        <a:solidFill>
          <a:schemeClr val="tx1"/>
        </a:solidFill>
        <a:latin typeface="Times New Roman" pitchFamily="18" charset="0"/>
        <a:ea typeface="+mn-ea"/>
        <a:cs typeface="+mn-cs"/>
      </a:defRPr>
    </a:lvl2pPr>
    <a:lvl3pPr marL="653064" algn="l" rtl="0" eaLnBrk="0" fontAlgn="base" hangingPunct="0">
      <a:spcBef>
        <a:spcPct val="30000"/>
      </a:spcBef>
      <a:spcAft>
        <a:spcPct val="0"/>
      </a:spcAft>
      <a:defRPr sz="857" kern="1200">
        <a:solidFill>
          <a:schemeClr val="tx1"/>
        </a:solidFill>
        <a:latin typeface="Times New Roman" pitchFamily="18" charset="0"/>
        <a:ea typeface="+mn-ea"/>
        <a:cs typeface="+mn-cs"/>
      </a:defRPr>
    </a:lvl3pPr>
    <a:lvl4pPr marL="979597" algn="l" rtl="0" eaLnBrk="0" fontAlgn="base" hangingPunct="0">
      <a:spcBef>
        <a:spcPct val="30000"/>
      </a:spcBef>
      <a:spcAft>
        <a:spcPct val="0"/>
      </a:spcAft>
      <a:defRPr sz="857" kern="1200">
        <a:solidFill>
          <a:schemeClr val="tx1"/>
        </a:solidFill>
        <a:latin typeface="Times New Roman" pitchFamily="18" charset="0"/>
        <a:ea typeface="+mn-ea"/>
        <a:cs typeface="+mn-cs"/>
      </a:defRPr>
    </a:lvl4pPr>
    <a:lvl5pPr marL="1306129" algn="l" rtl="0" eaLnBrk="0" fontAlgn="base" hangingPunct="0">
      <a:spcBef>
        <a:spcPct val="30000"/>
      </a:spcBef>
      <a:spcAft>
        <a:spcPct val="0"/>
      </a:spcAft>
      <a:defRPr sz="857" kern="1200">
        <a:solidFill>
          <a:schemeClr val="tx1"/>
        </a:solidFill>
        <a:latin typeface="Times New Roman" pitchFamily="18" charset="0"/>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a:xfrm>
            <a:off x="1816100" y="3757613"/>
            <a:ext cx="28120975" cy="18748375"/>
          </a:xfrm>
        </p:spPr>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093" y="6817784"/>
            <a:ext cx="2798021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8184" y="12435417"/>
            <a:ext cx="23042032"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293"/>
            <a:ext cx="2798021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6" y="9301692"/>
            <a:ext cx="2798021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470151"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0002"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710" y="878417"/>
            <a:ext cx="29626982" cy="36576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709"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709"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1666" y="4912784"/>
            <a:ext cx="14551027"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1666" y="6959600"/>
            <a:ext cx="14551027"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709"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392"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709"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659" y="15361710"/>
            <a:ext cx="19750618"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2659" y="1961092"/>
            <a:ext cx="19750618"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2659" y="17175693"/>
            <a:ext cx="19750618"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453727" y="1950509"/>
            <a:ext cx="6994525" cy="17556693"/>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470151" y="1950509"/>
            <a:ext cx="20881977" cy="17556693"/>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0548" y="1950509"/>
            <a:ext cx="27977306"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470548" y="6339417"/>
            <a:ext cx="27977306" cy="13167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470547"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2844942">
              <a:defRPr sz="4334"/>
            </a:lvl1pPr>
          </a:lstStyle>
          <a:p>
            <a:pPr>
              <a:defRPr/>
            </a:pPr>
            <a:endParaRPr lang="en-US"/>
          </a:p>
        </p:txBody>
      </p:sp>
      <p:sp>
        <p:nvSpPr>
          <p:cNvPr id="1029" name="Rectangle 5"/>
          <p:cNvSpPr>
            <a:spLocks noGrp="1" noChangeArrowheads="1"/>
          </p:cNvSpPr>
          <p:nvPr>
            <p:ph type="ftr" sz="quarter" idx="3"/>
          </p:nvPr>
        </p:nvSpPr>
        <p:spPr bwMode="auto">
          <a:xfrm>
            <a:off x="11245454" y="19995093"/>
            <a:ext cx="10427494"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2844942">
              <a:defRPr sz="4334"/>
            </a:lvl1pPr>
          </a:lstStyle>
          <a:p>
            <a:pPr>
              <a:defRPr/>
            </a:pPr>
            <a:endParaRPr lang="en-US"/>
          </a:p>
        </p:txBody>
      </p:sp>
      <p:sp>
        <p:nvSpPr>
          <p:cNvPr id="1030" name="Rectangle 6"/>
          <p:cNvSpPr>
            <a:spLocks noGrp="1" noChangeArrowheads="1"/>
          </p:cNvSpPr>
          <p:nvPr>
            <p:ph type="sldNum" sz="quarter" idx="4"/>
          </p:nvPr>
        </p:nvSpPr>
        <p:spPr bwMode="auto">
          <a:xfrm>
            <a:off x="23589855"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2844942">
              <a:defRPr sz="4334"/>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persuadingsapphire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844942" rtl="0" eaLnBrk="0" fontAlgn="base" hangingPunct="0">
        <a:spcBef>
          <a:spcPct val="0"/>
        </a:spcBef>
        <a:spcAft>
          <a:spcPct val="0"/>
        </a:spcAft>
        <a:defRPr sz="13667">
          <a:solidFill>
            <a:schemeClr val="tx2"/>
          </a:solidFill>
          <a:latin typeface="+mj-lt"/>
          <a:ea typeface="+mj-ea"/>
          <a:cs typeface="+mj-cs"/>
        </a:defRPr>
      </a:lvl1pPr>
      <a:lvl2pPr algn="ctr" defTabSz="2844942" rtl="0" eaLnBrk="0" fontAlgn="base" hangingPunct="0">
        <a:spcBef>
          <a:spcPct val="0"/>
        </a:spcBef>
        <a:spcAft>
          <a:spcPct val="0"/>
        </a:spcAft>
        <a:defRPr sz="13667">
          <a:solidFill>
            <a:schemeClr val="tx2"/>
          </a:solidFill>
          <a:latin typeface="Times New Roman" pitchFamily="18" charset="0"/>
        </a:defRPr>
      </a:lvl2pPr>
      <a:lvl3pPr algn="ctr" defTabSz="2844942" rtl="0" eaLnBrk="0" fontAlgn="base" hangingPunct="0">
        <a:spcBef>
          <a:spcPct val="0"/>
        </a:spcBef>
        <a:spcAft>
          <a:spcPct val="0"/>
        </a:spcAft>
        <a:defRPr sz="13667">
          <a:solidFill>
            <a:schemeClr val="tx2"/>
          </a:solidFill>
          <a:latin typeface="Times New Roman" pitchFamily="18" charset="0"/>
        </a:defRPr>
      </a:lvl3pPr>
      <a:lvl4pPr algn="ctr" defTabSz="2844942" rtl="0" eaLnBrk="0" fontAlgn="base" hangingPunct="0">
        <a:spcBef>
          <a:spcPct val="0"/>
        </a:spcBef>
        <a:spcAft>
          <a:spcPct val="0"/>
        </a:spcAft>
        <a:defRPr sz="13667">
          <a:solidFill>
            <a:schemeClr val="tx2"/>
          </a:solidFill>
          <a:latin typeface="Times New Roman" pitchFamily="18" charset="0"/>
        </a:defRPr>
      </a:lvl4pPr>
      <a:lvl5pPr algn="ctr" defTabSz="2844942" rtl="0" eaLnBrk="0" fontAlgn="base" hangingPunct="0">
        <a:spcBef>
          <a:spcPct val="0"/>
        </a:spcBef>
        <a:spcAft>
          <a:spcPct val="0"/>
        </a:spcAft>
        <a:defRPr sz="13667">
          <a:solidFill>
            <a:schemeClr val="tx2"/>
          </a:solidFill>
          <a:latin typeface="Times New Roman" pitchFamily="18" charset="0"/>
        </a:defRPr>
      </a:lvl5pPr>
      <a:lvl6pPr marL="304815" algn="ctr" defTabSz="2844942" rtl="0" eaLnBrk="0" fontAlgn="base" hangingPunct="0">
        <a:spcBef>
          <a:spcPct val="0"/>
        </a:spcBef>
        <a:spcAft>
          <a:spcPct val="0"/>
        </a:spcAft>
        <a:defRPr sz="13667">
          <a:solidFill>
            <a:schemeClr val="tx2"/>
          </a:solidFill>
          <a:latin typeface="Times New Roman" pitchFamily="18" charset="0"/>
        </a:defRPr>
      </a:lvl6pPr>
      <a:lvl7pPr marL="609630" algn="ctr" defTabSz="2844942" rtl="0" eaLnBrk="0" fontAlgn="base" hangingPunct="0">
        <a:spcBef>
          <a:spcPct val="0"/>
        </a:spcBef>
        <a:spcAft>
          <a:spcPct val="0"/>
        </a:spcAft>
        <a:defRPr sz="13667">
          <a:solidFill>
            <a:schemeClr val="tx2"/>
          </a:solidFill>
          <a:latin typeface="Times New Roman" pitchFamily="18" charset="0"/>
        </a:defRPr>
      </a:lvl7pPr>
      <a:lvl8pPr marL="914446" algn="ctr" defTabSz="2844942" rtl="0" eaLnBrk="0" fontAlgn="base" hangingPunct="0">
        <a:spcBef>
          <a:spcPct val="0"/>
        </a:spcBef>
        <a:spcAft>
          <a:spcPct val="0"/>
        </a:spcAft>
        <a:defRPr sz="13667">
          <a:solidFill>
            <a:schemeClr val="tx2"/>
          </a:solidFill>
          <a:latin typeface="Times New Roman" pitchFamily="18" charset="0"/>
        </a:defRPr>
      </a:lvl8pPr>
      <a:lvl9pPr marL="1219261" algn="ctr" defTabSz="2844942" rtl="0" eaLnBrk="0" fontAlgn="base" hangingPunct="0">
        <a:spcBef>
          <a:spcPct val="0"/>
        </a:spcBef>
        <a:spcAft>
          <a:spcPct val="0"/>
        </a:spcAft>
        <a:defRPr sz="13667">
          <a:solidFill>
            <a:schemeClr val="tx2"/>
          </a:solidFill>
          <a:latin typeface="Times New Roman" pitchFamily="18" charset="0"/>
        </a:defRPr>
      </a:lvl9pPr>
    </p:titleStyle>
    <p:bodyStyle>
      <a:defPPr>
        <a:defRPr kern="1200"/>
      </a:defPPr>
      <a:lvl1pPr marL="1066853" indent="-1066853" algn="l" defTabSz="2844942" rtl="0" eaLnBrk="0" fontAlgn="base" hangingPunct="0">
        <a:spcBef>
          <a:spcPct val="20000"/>
        </a:spcBef>
        <a:spcAft>
          <a:spcPct val="0"/>
        </a:spcAft>
        <a:buChar char="•"/>
        <a:defRPr sz="9934">
          <a:solidFill>
            <a:schemeClr val="tx1"/>
          </a:solidFill>
          <a:latin typeface="+mn-lt"/>
          <a:ea typeface="+mn-ea"/>
          <a:cs typeface="+mn-cs"/>
        </a:defRPr>
      </a:lvl1pPr>
      <a:lvl2pPr marL="2311516" indent="-889044" algn="l" defTabSz="2844942" rtl="0" eaLnBrk="0" fontAlgn="base" hangingPunct="0">
        <a:spcBef>
          <a:spcPct val="20000"/>
        </a:spcBef>
        <a:spcAft>
          <a:spcPct val="0"/>
        </a:spcAft>
        <a:buChar char="–"/>
        <a:defRPr sz="8734">
          <a:solidFill>
            <a:schemeClr val="tx1"/>
          </a:solidFill>
          <a:latin typeface="+mn-lt"/>
        </a:defRPr>
      </a:lvl2pPr>
      <a:lvl3pPr marL="3556178" indent="-711236" algn="l" defTabSz="2844942" rtl="0" eaLnBrk="0" fontAlgn="base" hangingPunct="0">
        <a:spcBef>
          <a:spcPct val="20000"/>
        </a:spcBef>
        <a:spcAft>
          <a:spcPct val="0"/>
        </a:spcAft>
        <a:buChar char="•"/>
        <a:defRPr sz="7467">
          <a:solidFill>
            <a:schemeClr val="tx1"/>
          </a:solidFill>
          <a:latin typeface="+mn-lt"/>
        </a:defRPr>
      </a:lvl3pPr>
      <a:lvl4pPr marL="4978649" indent="-711236" algn="l" defTabSz="2844942" rtl="0" eaLnBrk="0" fontAlgn="base" hangingPunct="0">
        <a:spcBef>
          <a:spcPct val="20000"/>
        </a:spcBef>
        <a:spcAft>
          <a:spcPct val="0"/>
        </a:spcAft>
        <a:buChar char="–"/>
        <a:defRPr sz="6200">
          <a:solidFill>
            <a:schemeClr val="tx1"/>
          </a:solidFill>
          <a:latin typeface="+mn-lt"/>
        </a:defRPr>
      </a:lvl4pPr>
      <a:lvl5pPr marL="6401120" indent="-711236" algn="l" defTabSz="2844942" rtl="0" eaLnBrk="0" fontAlgn="base" hangingPunct="0">
        <a:spcBef>
          <a:spcPct val="20000"/>
        </a:spcBef>
        <a:spcAft>
          <a:spcPct val="0"/>
        </a:spcAft>
        <a:buChar char="»"/>
        <a:defRPr sz="6200">
          <a:solidFill>
            <a:schemeClr val="tx1"/>
          </a:solidFill>
          <a:latin typeface="+mn-lt"/>
        </a:defRPr>
      </a:lvl5pPr>
      <a:lvl6pPr marL="6705935" indent="-711236" algn="l" defTabSz="2844942" rtl="0" eaLnBrk="0" fontAlgn="base" hangingPunct="0">
        <a:spcBef>
          <a:spcPct val="20000"/>
        </a:spcBef>
        <a:spcAft>
          <a:spcPct val="0"/>
        </a:spcAft>
        <a:buChar char="»"/>
        <a:defRPr sz="6200">
          <a:solidFill>
            <a:schemeClr val="tx1"/>
          </a:solidFill>
          <a:latin typeface="+mn-lt"/>
        </a:defRPr>
      </a:lvl6pPr>
      <a:lvl7pPr marL="7010751" indent="-711236" algn="l" defTabSz="2844942" rtl="0" eaLnBrk="0" fontAlgn="base" hangingPunct="0">
        <a:spcBef>
          <a:spcPct val="20000"/>
        </a:spcBef>
        <a:spcAft>
          <a:spcPct val="0"/>
        </a:spcAft>
        <a:buChar char="»"/>
        <a:defRPr sz="6200">
          <a:solidFill>
            <a:schemeClr val="tx1"/>
          </a:solidFill>
          <a:latin typeface="+mn-lt"/>
        </a:defRPr>
      </a:lvl7pPr>
      <a:lvl8pPr marL="7315566" indent="-711236" algn="l" defTabSz="2844942" rtl="0" eaLnBrk="0" fontAlgn="base" hangingPunct="0">
        <a:spcBef>
          <a:spcPct val="20000"/>
        </a:spcBef>
        <a:spcAft>
          <a:spcPct val="0"/>
        </a:spcAft>
        <a:buChar char="»"/>
        <a:defRPr sz="6200">
          <a:solidFill>
            <a:schemeClr val="tx1"/>
          </a:solidFill>
          <a:latin typeface="+mn-lt"/>
        </a:defRPr>
      </a:lvl8pPr>
      <a:lvl9pPr marL="7620381" indent="-711236" algn="l" defTabSz="2844942" rtl="0" eaLnBrk="0" fontAlgn="base" hangingPunct="0">
        <a:spcBef>
          <a:spcPct val="20000"/>
        </a:spcBef>
        <a:spcAft>
          <a:spcPct val="0"/>
        </a:spcAft>
        <a:buChar char="»"/>
        <a:defRPr sz="6200">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hyperlink" Target="https://www.chcf.org/" TargetMode="External"/><Relationship Id="rId5" Type="http://schemas.openxmlformats.org/officeDocument/2006/relationships/hyperlink" Target="https://www.cdc.gov/vaccines/imz-managers/coverage/adultvaxview/" TargetMode="External"/><Relationship Id="rId6" Type="http://schemas.openxmlformats.org/officeDocument/2006/relationships/image" Target="../media/image4.png"/><Relationship Id="rId7" Type="http://schemas.openxmlformats.org/officeDocument/2006/relationships/image" Target="../media/image5.jpeg"/><Relationship Id="rId8" Type="http://schemas.openxmlformats.org/officeDocument/2006/relationships/image" Target="../media/image6.jpeg"/><Relationship Id="rId9" Type="http://schemas.openxmlformats.org/officeDocument/2006/relationships/image" Target="../media/image7.png"/><Relationship Id="rId10"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4267200" y="923679"/>
            <a:ext cx="24384000" cy="1831290"/>
          </a:xfrm>
          <a:prstGeom prst="rect">
            <a:avLst/>
          </a:prstGeom>
        </p:spPr>
        <p:txBody>
          <a:bodyPr lIns="85344" tIns="42672" rIns="85344" bIns="42672"/>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5700" dirty="0">
                <a:solidFill>
                  <a:srgbClr val="235078"/>
                </a:solidFill>
                <a:latin typeface="Libre Baskerville" panose="02000000000000000000" pitchFamily="2" charset="0"/>
              </a:rPr>
              <a:t>Faces of Care-Central Valley Mobile Clinic Outreach</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837562" y="2480165"/>
            <a:ext cx="24384000" cy="1338828"/>
          </a:xfrm>
          <a:prstGeom prst="rect">
            <a:avLst/>
          </a:prstGeom>
        </p:spPr>
        <p:txBody>
          <a:bodyPr lIns="85344" tIns="42672" rIns="85344" bIns="42672">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3700" dirty="0">
                <a:solidFill>
                  <a:srgbClr val="1482A5"/>
                </a:solidFill>
                <a:latin typeface="Montserrat Light" panose="00000400000000000000" pitchFamily="50" charset="0"/>
              </a:rPr>
              <a:t>Tarab Mansoor, Gabriel Allaf, Michael Moya, </a:t>
            </a:r>
            <a:r>
              <a:rPr lang="en-US" sz="3700" dirty="0" err="1">
                <a:solidFill>
                  <a:srgbClr val="1482A5"/>
                </a:solidFill>
                <a:latin typeface="Montserrat Light" panose="00000400000000000000" pitchFamily="50" charset="0"/>
              </a:rPr>
              <a:t>Jusel</a:t>
            </a:r>
            <a:r>
              <a:rPr lang="en-US" sz="3700" dirty="0">
                <a:solidFill>
                  <a:srgbClr val="1482A5"/>
                </a:solidFill>
                <a:latin typeface="Montserrat Light" panose="00000400000000000000" pitchFamily="50" charset="0"/>
              </a:rPr>
              <a:t> </a:t>
            </a:r>
            <a:r>
              <a:rPr lang="en-US" sz="3700" dirty="0" err="1">
                <a:solidFill>
                  <a:srgbClr val="1482A5"/>
                </a:solidFill>
                <a:latin typeface="Montserrat Light" panose="00000400000000000000" pitchFamily="50" charset="0"/>
              </a:rPr>
              <a:t>Ruelan</a:t>
            </a:r>
            <a:r>
              <a:rPr lang="en-US" sz="3700" dirty="0">
                <a:solidFill>
                  <a:srgbClr val="1482A5"/>
                </a:solidFill>
                <a:latin typeface="Montserrat Light" panose="00000400000000000000" pitchFamily="50" charset="0"/>
              </a:rPr>
              <a:t>, Phillip Kim</a:t>
            </a:r>
          </a:p>
          <a:p>
            <a:pPr algn="ctr"/>
            <a:r>
              <a:rPr lang="en-US" sz="3700" dirty="0">
                <a:solidFill>
                  <a:srgbClr val="1482A5"/>
                </a:solidFill>
                <a:latin typeface="Montserrat Light" panose="00000400000000000000" pitchFamily="50" charset="0"/>
              </a:rPr>
              <a:t>Department of Family Medicine – Saint Agnes Medical Center</a:t>
            </a:r>
          </a:p>
        </p:txBody>
      </p:sp>
      <p:grpSp>
        <p:nvGrpSpPr>
          <p:cNvPr id="18" name="Group 17">
            <a:extLst>
              <a:ext uri="{FF2B5EF4-FFF2-40B4-BE49-F238E27FC236}">
                <a16:creationId xmlns:a16="http://schemas.microsoft.com/office/drawing/2014/main" id="{157E6516-6384-4588-1FE4-8A74CE613657}"/>
              </a:ext>
            </a:extLst>
          </p:cNvPr>
          <p:cNvGrpSpPr/>
          <p:nvPr/>
        </p:nvGrpSpPr>
        <p:grpSpPr>
          <a:xfrm>
            <a:off x="503219" y="4419600"/>
            <a:ext cx="31881781" cy="16760777"/>
            <a:chOff x="667394" y="4457624"/>
            <a:chExt cx="31881781" cy="16760777"/>
          </a:xfrm>
        </p:grpSpPr>
        <p:sp>
          <p:nvSpPr>
            <p:cNvPr id="46" name="Rectangle 45">
              <a:extLst>
                <a:ext uri="{FF2B5EF4-FFF2-40B4-BE49-F238E27FC236}">
                  <a16:creationId xmlns:a16="http://schemas.microsoft.com/office/drawing/2014/main" id="{2C718E78-BDD8-4BAD-851F-D423AE935B0D}"/>
                </a:ext>
              </a:extLst>
            </p:cNvPr>
            <p:cNvSpPr/>
            <p:nvPr/>
          </p:nvSpPr>
          <p:spPr>
            <a:xfrm>
              <a:off x="667394" y="4512618"/>
              <a:ext cx="7534787" cy="7145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latin typeface="+mj-lt"/>
              </a:endParaRPr>
            </a:p>
          </p:txBody>
        </p:sp>
        <p:sp>
          <p:nvSpPr>
            <p:cNvPr id="47" name="Rectangle 46">
              <a:extLst>
                <a:ext uri="{FF2B5EF4-FFF2-40B4-BE49-F238E27FC236}">
                  <a16:creationId xmlns:a16="http://schemas.microsoft.com/office/drawing/2014/main" id="{B9C39BF6-8B9A-45D3-A730-4CDDF5EAA7F1}"/>
                </a:ext>
              </a:extLst>
            </p:cNvPr>
            <p:cNvSpPr/>
            <p:nvPr/>
          </p:nvSpPr>
          <p:spPr>
            <a:xfrm>
              <a:off x="16918581" y="4495801"/>
              <a:ext cx="7534787" cy="16688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48" name="Rectangle 47">
              <a:extLst>
                <a:ext uri="{FF2B5EF4-FFF2-40B4-BE49-F238E27FC236}">
                  <a16:creationId xmlns:a16="http://schemas.microsoft.com/office/drawing/2014/main" id="{3E6D1C9C-2516-4738-BC80-673A19ECE5BD}"/>
                </a:ext>
              </a:extLst>
            </p:cNvPr>
            <p:cNvSpPr/>
            <p:nvPr/>
          </p:nvSpPr>
          <p:spPr>
            <a:xfrm>
              <a:off x="25002613" y="4512619"/>
              <a:ext cx="7534787" cy="40661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49" name="Rectangle 48">
              <a:extLst>
                <a:ext uri="{FF2B5EF4-FFF2-40B4-BE49-F238E27FC236}">
                  <a16:creationId xmlns:a16="http://schemas.microsoft.com/office/drawing/2014/main" id="{8F25EFAD-7AAF-4CAF-BA69-869B3D423F7F}"/>
                </a:ext>
              </a:extLst>
            </p:cNvPr>
            <p:cNvSpPr/>
            <p:nvPr/>
          </p:nvSpPr>
          <p:spPr>
            <a:xfrm>
              <a:off x="670560" y="11953942"/>
              <a:ext cx="7534787" cy="9264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0" name="Rectangle 49">
              <a:extLst>
                <a:ext uri="{FF2B5EF4-FFF2-40B4-BE49-F238E27FC236}">
                  <a16:creationId xmlns:a16="http://schemas.microsoft.com/office/drawing/2014/main" id="{2EC9A64B-144F-4668-B416-097C0312FF96}"/>
                </a:ext>
              </a:extLst>
            </p:cNvPr>
            <p:cNvSpPr/>
            <p:nvPr/>
          </p:nvSpPr>
          <p:spPr>
            <a:xfrm>
              <a:off x="8802191" y="11965545"/>
              <a:ext cx="7534787" cy="92189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1" name="Rectangle 50">
              <a:extLst>
                <a:ext uri="{FF2B5EF4-FFF2-40B4-BE49-F238E27FC236}">
                  <a16:creationId xmlns:a16="http://schemas.microsoft.com/office/drawing/2014/main" id="{BF801B80-E24E-4773-AC4E-37DC17B0424E}"/>
                </a:ext>
              </a:extLst>
            </p:cNvPr>
            <p:cNvSpPr/>
            <p:nvPr/>
          </p:nvSpPr>
          <p:spPr>
            <a:xfrm>
              <a:off x="8843009" y="4457624"/>
              <a:ext cx="7534787" cy="7200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2" name="Rectangle 51">
              <a:extLst>
                <a:ext uri="{FF2B5EF4-FFF2-40B4-BE49-F238E27FC236}">
                  <a16:creationId xmlns:a16="http://schemas.microsoft.com/office/drawing/2014/main" id="{F6D8A1CF-B987-4F36-8586-4BEDACCCAB04}"/>
                </a:ext>
              </a:extLst>
            </p:cNvPr>
            <p:cNvSpPr/>
            <p:nvPr/>
          </p:nvSpPr>
          <p:spPr>
            <a:xfrm>
              <a:off x="24994153" y="8763461"/>
              <a:ext cx="7543247" cy="8502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p>
          </p:txBody>
        </p:sp>
        <p:sp>
          <p:nvSpPr>
            <p:cNvPr id="54" name="TextBox 53">
              <a:extLst>
                <a:ext uri="{FF2B5EF4-FFF2-40B4-BE49-F238E27FC236}">
                  <a16:creationId xmlns:a16="http://schemas.microsoft.com/office/drawing/2014/main" id="{E4864E4E-50A2-403F-84B8-E4F7E820612B}"/>
                </a:ext>
              </a:extLst>
            </p:cNvPr>
            <p:cNvSpPr txBox="1"/>
            <p:nvPr/>
          </p:nvSpPr>
          <p:spPr>
            <a:xfrm>
              <a:off x="803088" y="464820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Introduction</a:t>
              </a:r>
            </a:p>
          </p:txBody>
        </p:sp>
        <p:grpSp>
          <p:nvGrpSpPr>
            <p:cNvPr id="14" name="Group 13">
              <a:extLst>
                <a:ext uri="{FF2B5EF4-FFF2-40B4-BE49-F238E27FC236}">
                  <a16:creationId xmlns:a16="http://schemas.microsoft.com/office/drawing/2014/main" id="{A26292B3-F742-F347-3CCD-46FFD586C89F}"/>
                </a:ext>
              </a:extLst>
            </p:cNvPr>
            <p:cNvGrpSpPr/>
            <p:nvPr/>
          </p:nvGrpSpPr>
          <p:grpSpPr>
            <a:xfrm>
              <a:off x="25005377" y="20087994"/>
              <a:ext cx="7507770" cy="1096516"/>
              <a:chOff x="25016790" y="17255026"/>
              <a:chExt cx="7543799" cy="1130408"/>
            </a:xfrm>
          </p:grpSpPr>
          <p:sp>
            <p:nvSpPr>
              <p:cNvPr id="55" name="Rectangle 54">
                <a:extLst>
                  <a:ext uri="{FF2B5EF4-FFF2-40B4-BE49-F238E27FC236}">
                    <a16:creationId xmlns:a16="http://schemas.microsoft.com/office/drawing/2014/main" id="{32418A42-DDE0-497E-98DF-5F9BFF98DA6B}"/>
                  </a:ext>
                </a:extLst>
              </p:cNvPr>
              <p:cNvSpPr/>
              <p:nvPr/>
            </p:nvSpPr>
            <p:spPr>
              <a:xfrm>
                <a:off x="25016790" y="17255026"/>
                <a:ext cx="7543246" cy="11304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6" name="TextBox 55">
                <a:extLst>
                  <a:ext uri="{FF2B5EF4-FFF2-40B4-BE49-F238E27FC236}">
                    <a16:creationId xmlns:a16="http://schemas.microsoft.com/office/drawing/2014/main" id="{1D434DB1-CA03-4AE7-BD42-F2F4837CE20D}"/>
                  </a:ext>
                </a:extLst>
              </p:cNvPr>
              <p:cNvSpPr txBox="1"/>
              <p:nvPr/>
            </p:nvSpPr>
            <p:spPr>
              <a:xfrm>
                <a:off x="25394979" y="17842665"/>
                <a:ext cx="5085022" cy="384721"/>
              </a:xfrm>
              <a:prstGeom prst="rect">
                <a:avLst/>
              </a:prstGeom>
              <a:noFill/>
            </p:spPr>
            <p:txBody>
              <a:bodyPr wrap="square" rtlCol="0">
                <a:spAutoFit/>
              </a:bodyPr>
              <a:lstStyle>
                <a:defPPr>
                  <a:defRPr kern="1200"/>
                </a:defPPr>
              </a:lstStyle>
              <a:p>
                <a:r>
                  <a:rPr lang="en-US" sz="1900" dirty="0">
                    <a:ea typeface="Open Sans" panose="020B0606030504020204" pitchFamily="34" charset="0"/>
                    <a:cs typeface="Times New Roman" panose="02020603050405020304" pitchFamily="18" charset="0"/>
                  </a:rPr>
                  <a:t>Mehdi </a:t>
                </a:r>
                <a:r>
                  <a:rPr lang="en-US" sz="1900" dirty="0" err="1">
                    <a:ea typeface="Open Sans" panose="020B0606030504020204" pitchFamily="34" charset="0"/>
                    <a:cs typeface="Times New Roman" panose="02020603050405020304" pitchFamily="18" charset="0"/>
                  </a:rPr>
                  <a:t>Hakimipour</a:t>
                </a:r>
                <a:r>
                  <a:rPr lang="en-US" sz="1900" dirty="0">
                    <a:ea typeface="Open Sans" panose="020B0606030504020204" pitchFamily="34" charset="0"/>
                    <a:cs typeface="Times New Roman" panose="02020603050405020304" pitchFamily="18" charset="0"/>
                  </a:rPr>
                  <a:t>, MD,  Andrea Ortiz </a:t>
                </a:r>
              </a:p>
            </p:txBody>
          </p:sp>
          <p:sp>
            <p:nvSpPr>
              <p:cNvPr id="57" name="TextBox 56">
                <a:extLst>
                  <a:ext uri="{FF2B5EF4-FFF2-40B4-BE49-F238E27FC236}">
                    <a16:creationId xmlns:a16="http://schemas.microsoft.com/office/drawing/2014/main" id="{992CC346-56CD-4384-BB14-A915BC781C78}"/>
                  </a:ext>
                </a:extLst>
              </p:cNvPr>
              <p:cNvSpPr txBox="1"/>
              <p:nvPr/>
            </p:nvSpPr>
            <p:spPr>
              <a:xfrm>
                <a:off x="25368292" y="17406697"/>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Acknowledgements</a:t>
                </a:r>
              </a:p>
            </p:txBody>
          </p:sp>
        </p:grpSp>
        <p:sp>
          <p:nvSpPr>
            <p:cNvPr id="58" name="TextBox 57">
              <a:extLst>
                <a:ext uri="{FF2B5EF4-FFF2-40B4-BE49-F238E27FC236}">
                  <a16:creationId xmlns:a16="http://schemas.microsoft.com/office/drawing/2014/main" id="{E3DA8D0E-1298-4193-913A-0FE766B77D13}"/>
                </a:ext>
              </a:extLst>
            </p:cNvPr>
            <p:cNvSpPr txBox="1"/>
            <p:nvPr/>
          </p:nvSpPr>
          <p:spPr>
            <a:xfrm>
              <a:off x="25185634" y="5318119"/>
              <a:ext cx="7363541" cy="2677656"/>
            </a:xfrm>
            <a:prstGeom prst="rect">
              <a:avLst/>
            </a:prstGeom>
            <a:noFill/>
          </p:spPr>
          <p:txBody>
            <a:bodyPr wrap="square" rtlCol="0">
              <a:spAutoFit/>
            </a:bodyPr>
            <a:lstStyle>
              <a:defPPr>
                <a:defRPr kern="1200"/>
              </a:defPPr>
            </a:lstStyle>
            <a:p>
              <a:r>
                <a:rPr lang="en-US" sz="2400" dirty="0"/>
                <a:t>These findings highlight the importance of using systematic, data-driven surveys to guide resource allocation, ensuring that mobile health initiatives are strategically targeted to areas of greatest need. Scientific analysis of service delivery patterns allows for more effective planning, better healthcare outcomes, and a more equitable distribution of resources.</a:t>
              </a:r>
            </a:p>
          </p:txBody>
        </p:sp>
        <p:sp>
          <p:nvSpPr>
            <p:cNvPr id="59" name="TextBox 58">
              <a:extLst>
                <a:ext uri="{FF2B5EF4-FFF2-40B4-BE49-F238E27FC236}">
                  <a16:creationId xmlns:a16="http://schemas.microsoft.com/office/drawing/2014/main" id="{D07EEF88-ACF9-4467-B180-074FC642245A}"/>
                </a:ext>
              </a:extLst>
            </p:cNvPr>
            <p:cNvSpPr txBox="1"/>
            <p:nvPr/>
          </p:nvSpPr>
          <p:spPr>
            <a:xfrm>
              <a:off x="25169075" y="4760987"/>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Discussion</a:t>
              </a:r>
            </a:p>
          </p:txBody>
        </p:sp>
        <p:sp>
          <p:nvSpPr>
            <p:cNvPr id="60" name="TextBox 59">
              <a:extLst>
                <a:ext uri="{FF2B5EF4-FFF2-40B4-BE49-F238E27FC236}">
                  <a16:creationId xmlns:a16="http://schemas.microsoft.com/office/drawing/2014/main" id="{22B0201C-B275-4172-AE5F-42B6EA405F41}"/>
                </a:ext>
              </a:extLst>
            </p:cNvPr>
            <p:cNvSpPr txBox="1"/>
            <p:nvPr/>
          </p:nvSpPr>
          <p:spPr>
            <a:xfrm>
              <a:off x="25101614" y="9376634"/>
              <a:ext cx="7192297" cy="7848302"/>
            </a:xfrm>
            <a:prstGeom prst="rect">
              <a:avLst/>
            </a:prstGeom>
            <a:noFill/>
          </p:spPr>
          <p:txBody>
            <a:bodyPr wrap="square" rtlCol="0">
              <a:spAutoFit/>
            </a:bodyPr>
            <a:lstStyle>
              <a:defPPr>
                <a:defRPr kern="1200"/>
              </a:defPPr>
            </a:lstStyle>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Targeted Resource Allocation: Prioritize funding and staffing resources toward the most underserved zip codes, particularly those with fewer than one physician per 1,000 residents.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Structured and Consistent Outreach: Develop and implement a standardized schedule for mobile clinic visits to ensure consistent access to care and strengthen community trust.</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Enhanced Documentation Practices: Improve documentation workflows within Epic to ensure accurate, real-time integration of mobile clinic data with follow-up care and referral networks.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Ongoing Monitoring and Evaluation: Establish a feedback loop for performance metrics and population health outcomes to continuously optimize mobile health operations.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On-site Clinical Support: Allocate a dedicated medical assistant or nurse to mobile units to conduct initial intake, including vital signs and basic health assessments, to improve clinical efficiency and continuity of care.</a:t>
              </a:r>
            </a:p>
          </p:txBody>
        </p:sp>
        <p:sp>
          <p:nvSpPr>
            <p:cNvPr id="61" name="TextBox 60">
              <a:extLst>
                <a:ext uri="{FF2B5EF4-FFF2-40B4-BE49-F238E27FC236}">
                  <a16:creationId xmlns:a16="http://schemas.microsoft.com/office/drawing/2014/main" id="{A6E6C31F-098B-45F7-BEE5-8A51FA70D59F}"/>
                </a:ext>
              </a:extLst>
            </p:cNvPr>
            <p:cNvSpPr txBox="1"/>
            <p:nvPr/>
          </p:nvSpPr>
          <p:spPr>
            <a:xfrm>
              <a:off x="25137201" y="887415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Recommendations</a:t>
              </a:r>
            </a:p>
          </p:txBody>
        </p:sp>
        <p:sp>
          <p:nvSpPr>
            <p:cNvPr id="62" name="TextBox 61">
              <a:extLst>
                <a:ext uri="{FF2B5EF4-FFF2-40B4-BE49-F238E27FC236}">
                  <a16:creationId xmlns:a16="http://schemas.microsoft.com/office/drawing/2014/main" id="{A067F8A1-EE95-4354-8E2F-952A6BBDBFFC}"/>
                </a:ext>
              </a:extLst>
            </p:cNvPr>
            <p:cNvSpPr txBox="1"/>
            <p:nvPr/>
          </p:nvSpPr>
          <p:spPr>
            <a:xfrm>
              <a:off x="837056" y="5144606"/>
              <a:ext cx="7192297" cy="6370975"/>
            </a:xfrm>
            <a:prstGeom prst="rect">
              <a:avLst/>
            </a:prstGeom>
            <a:noFill/>
          </p:spPr>
          <p:txBody>
            <a:bodyPr wrap="square" rtlCol="0">
              <a:spAutoFit/>
            </a:bodyPr>
            <a:lstStyle>
              <a:defPPr>
                <a:defRPr kern="1200"/>
              </a:defPPr>
            </a:lstStyle>
            <a:p>
              <a:r>
                <a:rPr lang="en-US" sz="2400" dirty="0">
                  <a:cs typeface="Times New Roman" panose="02020603050405020304" pitchFamily="18" charset="0"/>
                </a:rPr>
                <a:t>Healthcare disparities in California’s Central Valley represent a significant public health challenge, driven by socioeconomic barriers and insufficient healthcare infrastructure. Limited availability of primary care physicians further compounds these issues, leaving many communities underserved and vulnerable. In response to these challenges, Fresno County funded the development of a mobile health unit, operated in partnership with Saint Agnes Medical Center, to provide critical healthcare services to underserved communities across the region. The mobile clinic van delivers preventive services, vaccinations, and health education directly to neighborhoods facing substantial barriers to care. This poster presents an evaluation of the impact, reach, and demographic profile of the mobile health unit’s initiatives across various counties in the Central Valley region</a:t>
              </a:r>
              <a:r>
                <a:rPr lang="en-US" sz="2000" dirty="0">
                  <a:latin typeface="+mn-lt"/>
                </a:rPr>
                <a:t>.</a:t>
              </a:r>
            </a:p>
          </p:txBody>
        </p:sp>
        <p:sp>
          <p:nvSpPr>
            <p:cNvPr id="63" name="TextBox 62">
              <a:extLst>
                <a:ext uri="{FF2B5EF4-FFF2-40B4-BE49-F238E27FC236}">
                  <a16:creationId xmlns:a16="http://schemas.microsoft.com/office/drawing/2014/main" id="{92D5F59B-F8CA-463C-871F-D1042309DE00}"/>
                </a:ext>
              </a:extLst>
            </p:cNvPr>
            <p:cNvSpPr txBox="1"/>
            <p:nvPr/>
          </p:nvSpPr>
          <p:spPr>
            <a:xfrm>
              <a:off x="915688" y="12781049"/>
              <a:ext cx="7192297" cy="4154984"/>
            </a:xfrm>
            <a:prstGeom prst="rect">
              <a:avLst/>
            </a:prstGeom>
            <a:noFill/>
          </p:spPr>
          <p:txBody>
            <a:bodyPr wrap="square" rtlCol="0">
              <a:spAutoFit/>
            </a:bodyPr>
            <a:lstStyle>
              <a:defPPr>
                <a:defRPr kern="1200"/>
              </a:defPPr>
            </a:lstStyle>
            <a:p>
              <a:r>
                <a:rPr lang="en-US" sz="2400" dirty="0"/>
                <a:t>The mission of the mobile health unit is to improve healthcare access for underserved populations by delivering essential medical services directly to the community. The purpose of this study is to serve as an initial survey of the mobile health unit’s outreach efforts, with a focus on tracking key healthcare delivery metrics. Specifically, this study aims to document the number of vaccines administered, identify zip codes with the highest volume of clinic visits, assess physician availability per capita across service areas, and analyze the demographic profile of patients, including</a:t>
              </a:r>
              <a:endParaRPr lang="en-US" sz="2400" dirty="0">
                <a:solidFill>
                  <a:srgbClr val="235078"/>
                </a:solidFill>
                <a:latin typeface="Libre Baskerville" panose="02000000000000000000" pitchFamily="2" charset="0"/>
              </a:endParaRPr>
            </a:p>
          </p:txBody>
        </p:sp>
        <p:sp>
          <p:nvSpPr>
            <p:cNvPr id="64" name="TextBox 63">
              <a:extLst>
                <a:ext uri="{FF2B5EF4-FFF2-40B4-BE49-F238E27FC236}">
                  <a16:creationId xmlns:a16="http://schemas.microsoft.com/office/drawing/2014/main" id="{499918C8-D8D3-4947-B7FD-9341EAE5F7F2}"/>
                </a:ext>
              </a:extLst>
            </p:cNvPr>
            <p:cNvSpPr txBox="1"/>
            <p:nvPr/>
          </p:nvSpPr>
          <p:spPr>
            <a:xfrm>
              <a:off x="8962649" y="4962582"/>
              <a:ext cx="7192297" cy="1938992"/>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sz="2400" dirty="0">
                  <a:solidFill>
                    <a:schemeClr val="tx1"/>
                  </a:solidFill>
                  <a:latin typeface="Times New Roman" panose="02020603050405020304" pitchFamily="18" charset="0"/>
                  <a:cs typeface="Times New Roman" panose="02020603050405020304" pitchFamily="18" charset="0"/>
                </a:rPr>
                <a:t>gender and age distribution. Insights gained from this analysis are intended to inform program enhancements, support targeted resource allocation, and optimize outreach strategies to further advance health equity across the Central Valley.</a:t>
              </a:r>
            </a:p>
          </p:txBody>
        </p:sp>
        <p:sp>
          <p:nvSpPr>
            <p:cNvPr id="65" name="TextBox 64">
              <a:extLst>
                <a:ext uri="{FF2B5EF4-FFF2-40B4-BE49-F238E27FC236}">
                  <a16:creationId xmlns:a16="http://schemas.microsoft.com/office/drawing/2014/main" id="{68744D3E-CEF9-4748-9719-25AAABF27BDD}"/>
                </a:ext>
              </a:extLst>
            </p:cNvPr>
            <p:cNvSpPr txBox="1"/>
            <p:nvPr/>
          </p:nvSpPr>
          <p:spPr>
            <a:xfrm>
              <a:off x="8962649" y="5003800"/>
              <a:ext cx="7192297" cy="461665"/>
            </a:xfrm>
            <a:prstGeom prst="rect">
              <a:avLst/>
            </a:prstGeom>
            <a:noFill/>
          </p:spPr>
          <p:txBody>
            <a:bodyPr wrap="square" rtlCol="0">
              <a:spAutoFit/>
            </a:bodyPr>
            <a:lstStyle>
              <a:defPPr>
                <a:defRPr kern="1200"/>
              </a:defPPr>
            </a:lstStyle>
            <a:p>
              <a:endParaRPr lang="en-US" sz="2400" dirty="0">
                <a:solidFill>
                  <a:srgbClr val="235078"/>
                </a:solidFill>
                <a:latin typeface="Libre Baskerville" panose="02000000000000000000" pitchFamily="2" charset="0"/>
              </a:endParaRPr>
            </a:p>
          </p:txBody>
        </p:sp>
        <p:sp>
          <p:nvSpPr>
            <p:cNvPr id="66" name="TextBox 65">
              <a:extLst>
                <a:ext uri="{FF2B5EF4-FFF2-40B4-BE49-F238E27FC236}">
                  <a16:creationId xmlns:a16="http://schemas.microsoft.com/office/drawing/2014/main" id="{223EAA92-7B93-4F15-A4CA-18552CBA76AE}"/>
                </a:ext>
              </a:extLst>
            </p:cNvPr>
            <p:cNvSpPr txBox="1"/>
            <p:nvPr/>
          </p:nvSpPr>
          <p:spPr>
            <a:xfrm>
              <a:off x="8989665" y="12832624"/>
              <a:ext cx="7192297" cy="2677656"/>
            </a:xfrm>
            <a:prstGeom prst="rect">
              <a:avLst/>
            </a:prstGeom>
            <a:noFill/>
          </p:spPr>
          <p:txBody>
            <a:bodyPr wrap="square" rtlCol="0">
              <a:spAutoFit/>
            </a:bodyPr>
            <a:lstStyle>
              <a:defPPr>
                <a:defRPr kern="1200"/>
              </a:defPPr>
            </a:lstStyle>
            <a:p>
              <a:pPr>
                <a:buNone/>
              </a:pPr>
              <a:r>
                <a:rPr lang="en-US" sz="2400" dirty="0"/>
                <a:t>Between October 2023 and April 2025, the mobile health unit recorded over 5,000 patient visits. The age and gender distribution among patients was relatively balanced, with a slight predominance of female patients, as detailed in the accompanying table. Among the services provided, the flu vaccine was by far the most commonly administered, followed by Tdap and</a:t>
              </a:r>
              <a:endParaRPr lang="en-US" sz="2000" dirty="0"/>
            </a:p>
          </p:txBody>
        </p:sp>
        <p:sp>
          <p:nvSpPr>
            <p:cNvPr id="67" name="TextBox 66">
              <a:extLst>
                <a:ext uri="{FF2B5EF4-FFF2-40B4-BE49-F238E27FC236}">
                  <a16:creationId xmlns:a16="http://schemas.microsoft.com/office/drawing/2014/main" id="{716F17B6-B5C7-4922-B9E2-CD14BD16A568}"/>
                </a:ext>
              </a:extLst>
            </p:cNvPr>
            <p:cNvSpPr txBox="1"/>
            <p:nvPr/>
          </p:nvSpPr>
          <p:spPr>
            <a:xfrm>
              <a:off x="8989665" y="12215284"/>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Results</a:t>
              </a:r>
            </a:p>
          </p:txBody>
        </p:sp>
        <p:sp>
          <p:nvSpPr>
            <p:cNvPr id="68" name="TextBox 67">
              <a:extLst>
                <a:ext uri="{FF2B5EF4-FFF2-40B4-BE49-F238E27FC236}">
                  <a16:creationId xmlns:a16="http://schemas.microsoft.com/office/drawing/2014/main" id="{47F717BC-0897-4243-A282-98EF911708EA}"/>
                </a:ext>
              </a:extLst>
            </p:cNvPr>
            <p:cNvSpPr txBox="1"/>
            <p:nvPr/>
          </p:nvSpPr>
          <p:spPr>
            <a:xfrm>
              <a:off x="17091409" y="4937076"/>
              <a:ext cx="7192297" cy="3339376"/>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sz="2400" dirty="0">
                  <a:solidFill>
                    <a:schemeClr val="tx1"/>
                  </a:solidFill>
                  <a:latin typeface="Times New Roman" panose="02020603050405020304" pitchFamily="18" charset="0"/>
                  <a:cs typeface="Times New Roman" panose="02020603050405020304" pitchFamily="18" charset="0"/>
                </a:rPr>
                <a:t>COVID-19 vaccines. ZIP code 93640-Mendota recorded the highest number of mobile clinic visits and is notable for having less than 0.2 physicians per 1,000 residents, emphasizing the critical need for mobile health services in this region. Visual representations of visit distribution, vaccination types, and demographic breakdowns are provided through bar charts and tables included in this poster.</a:t>
              </a:r>
            </a:p>
            <a:p>
              <a:endParaRPr lang="en-US" dirty="0"/>
            </a:p>
          </p:txBody>
        </p:sp>
        <p:pic>
          <p:nvPicPr>
            <p:cNvPr id="15" name="Picture 14">
              <a:extLst>
                <a:ext uri="{FF2B5EF4-FFF2-40B4-BE49-F238E27FC236}">
                  <a16:creationId xmlns:a16="http://schemas.microsoft.com/office/drawing/2014/main" id="{63B94740-6117-C2D1-FFC8-DF033E9B5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7640" y="7266294"/>
              <a:ext cx="7194348" cy="3990028"/>
            </a:xfrm>
            <a:prstGeom prst="rect">
              <a:avLst/>
            </a:prstGeom>
          </p:spPr>
        </p:pic>
        <p:sp>
          <p:nvSpPr>
            <p:cNvPr id="2" name="Rectangle 1">
              <a:extLst>
                <a:ext uri="{FF2B5EF4-FFF2-40B4-BE49-F238E27FC236}">
                  <a16:creationId xmlns:a16="http://schemas.microsoft.com/office/drawing/2014/main" id="{BA8928C7-9DDE-146B-EFD3-62786A94B0D6}"/>
                </a:ext>
              </a:extLst>
            </p:cNvPr>
            <p:cNvSpPr/>
            <p:nvPr/>
          </p:nvSpPr>
          <p:spPr>
            <a:xfrm>
              <a:off x="24993600" y="17449800"/>
              <a:ext cx="7519547" cy="2475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6" name="TextBox 5">
              <a:extLst>
                <a:ext uri="{FF2B5EF4-FFF2-40B4-BE49-F238E27FC236}">
                  <a16:creationId xmlns:a16="http://schemas.microsoft.com/office/drawing/2014/main" id="{DBE10DFC-8B43-5DDC-E8FD-A690E9C785A2}"/>
                </a:ext>
              </a:extLst>
            </p:cNvPr>
            <p:cNvSpPr txBox="1"/>
            <p:nvPr/>
          </p:nvSpPr>
          <p:spPr>
            <a:xfrm>
              <a:off x="25128734" y="17728610"/>
              <a:ext cx="7338147" cy="2108269"/>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dirty="0">
                  <a:solidFill>
                    <a:srgbClr val="235078"/>
                  </a:solidFill>
                  <a:latin typeface="Libre Baskerville" panose="02000000000000000000" pitchFamily="2" charset="0"/>
                </a:rPr>
                <a:t> </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California Health Care Foundation. (2022). California physician supply and distribution. </a:t>
              </a:r>
              <a:r>
                <a:rPr lang="en-US" sz="16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https://www.chcf.org</a:t>
              </a: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Centers for Disease Control and Prevention. (2023). Vaccination coverage among adults in the United States. </a:t>
              </a:r>
              <a:r>
                <a:rPr lang="en-US" sz="1600"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https://www.cdc.gov/vaccines/imz-managers/coverage/adultvaxview/</a:t>
              </a: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National Association of Community Health Centers. (2022). The role of mobile clinics in increasing access to care. https://www.nachc.org</a:t>
              </a:r>
            </a:p>
          </p:txBody>
        </p:sp>
        <p:pic>
          <p:nvPicPr>
            <p:cNvPr id="7" name="Picture 6">
              <a:extLst>
                <a:ext uri="{FF2B5EF4-FFF2-40B4-BE49-F238E27FC236}">
                  <a16:creationId xmlns:a16="http://schemas.microsoft.com/office/drawing/2014/main" id="{6CC57CC6-9119-8E82-E10F-2B9AA59BE377}"/>
                </a:ext>
              </a:extLst>
            </p:cNvPr>
            <p:cNvPicPr>
              <a:picLocks noChangeAspect="1"/>
            </p:cNvPicPr>
            <p:nvPr/>
          </p:nvPicPr>
          <p:blipFill>
            <a:blip r:embed="rId6"/>
            <a:stretch>
              <a:fillRect/>
            </a:stretch>
          </p:blipFill>
          <p:spPr>
            <a:xfrm>
              <a:off x="17149229" y="8697917"/>
              <a:ext cx="6807200" cy="5245100"/>
            </a:xfrm>
            <a:prstGeom prst="rect">
              <a:avLst/>
            </a:prstGeom>
          </p:spPr>
        </p:pic>
        <p:pic>
          <p:nvPicPr>
            <p:cNvPr id="8" name="Picture 7">
              <a:extLst>
                <a:ext uri="{FF2B5EF4-FFF2-40B4-BE49-F238E27FC236}">
                  <a16:creationId xmlns:a16="http://schemas.microsoft.com/office/drawing/2014/main" id="{1680FD81-EF61-517B-347C-6F76D776B788}"/>
                </a:ext>
              </a:extLst>
            </p:cNvPr>
            <p:cNvPicPr>
              <a:picLocks noChangeAspect="1"/>
            </p:cNvPicPr>
            <p:nvPr/>
          </p:nvPicPr>
          <p:blipFill>
            <a:blip r:embed="rId7"/>
            <a:stretch>
              <a:fillRect/>
            </a:stretch>
          </p:blipFill>
          <p:spPr>
            <a:xfrm>
              <a:off x="9226663" y="15875000"/>
              <a:ext cx="6718300" cy="4775200"/>
            </a:xfrm>
            <a:prstGeom prst="rect">
              <a:avLst/>
            </a:prstGeom>
          </p:spPr>
        </p:pic>
        <p:sp>
          <p:nvSpPr>
            <p:cNvPr id="10" name="TextBox 9">
              <a:extLst>
                <a:ext uri="{FF2B5EF4-FFF2-40B4-BE49-F238E27FC236}">
                  <a16:creationId xmlns:a16="http://schemas.microsoft.com/office/drawing/2014/main" id="{6454C8FF-4877-CBF7-563F-D07CB9002F1F}"/>
                </a:ext>
              </a:extLst>
            </p:cNvPr>
            <p:cNvSpPr txBox="1"/>
            <p:nvPr/>
          </p:nvSpPr>
          <p:spPr>
            <a:xfrm>
              <a:off x="915689" y="1219200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Purpose</a:t>
              </a:r>
            </a:p>
          </p:txBody>
        </p:sp>
        <p:pic>
          <p:nvPicPr>
            <p:cNvPr id="11" name="Picture 10">
              <a:extLst>
                <a:ext uri="{FF2B5EF4-FFF2-40B4-BE49-F238E27FC236}">
                  <a16:creationId xmlns:a16="http://schemas.microsoft.com/office/drawing/2014/main" id="{F36CEF51-EE2B-1CE6-4528-FA9C682B923E}"/>
                </a:ext>
              </a:extLst>
            </p:cNvPr>
            <p:cNvPicPr>
              <a:picLocks noChangeAspect="1"/>
            </p:cNvPicPr>
            <p:nvPr/>
          </p:nvPicPr>
          <p:blipFill>
            <a:blip r:embed="rId8"/>
            <a:stretch>
              <a:fillRect/>
            </a:stretch>
          </p:blipFill>
          <p:spPr>
            <a:xfrm>
              <a:off x="17273489" y="15214129"/>
              <a:ext cx="6824965" cy="3730080"/>
            </a:xfrm>
            <a:prstGeom prst="rect">
              <a:avLst/>
            </a:prstGeom>
          </p:spPr>
        </p:pic>
        <p:sp>
          <p:nvSpPr>
            <p:cNvPr id="16" name="TextBox 15">
              <a:extLst>
                <a:ext uri="{FF2B5EF4-FFF2-40B4-BE49-F238E27FC236}">
                  <a16:creationId xmlns:a16="http://schemas.microsoft.com/office/drawing/2014/main" id="{5A570E60-D8A4-964D-44A3-B25B58E563B3}"/>
                </a:ext>
              </a:extLst>
            </p:cNvPr>
            <p:cNvSpPr txBox="1"/>
            <p:nvPr/>
          </p:nvSpPr>
          <p:spPr>
            <a:xfrm>
              <a:off x="25137200" y="17565446"/>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References</a:t>
              </a:r>
            </a:p>
          </p:txBody>
        </p:sp>
      </p:grpSp>
      <p:sp>
        <p:nvSpPr>
          <p:cNvPr id="19" name="AutoShape 2" descr="saint agnes mobile health unit exterior">
            <a:extLst>
              <a:ext uri="{FF2B5EF4-FFF2-40B4-BE49-F238E27FC236}">
                <a16:creationId xmlns:a16="http://schemas.microsoft.com/office/drawing/2014/main" id="{70777B83-C8F6-DCE2-41FF-F7C4DDABFD54}"/>
              </a:ext>
            </a:extLst>
          </p:cNvPr>
          <p:cNvSpPr>
            <a:spLocks noChangeAspect="1" noChangeArrowheads="1"/>
          </p:cNvSpPr>
          <p:nvPr/>
        </p:nvSpPr>
        <p:spPr bwMode="auto">
          <a:xfrm>
            <a:off x="8839200" y="6686550"/>
            <a:ext cx="15240000" cy="857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CF43DD60-DEBD-0403-574C-59AA1EC43F3B}"/>
              </a:ext>
            </a:extLst>
          </p:cNvPr>
          <p:cNvPicPr>
            <a:picLocks noChangeAspect="1"/>
          </p:cNvPicPr>
          <p:nvPr/>
        </p:nvPicPr>
        <p:blipFill>
          <a:blip r:embed="rId9"/>
          <a:stretch>
            <a:fillRect/>
          </a:stretch>
        </p:blipFill>
        <p:spPr>
          <a:xfrm>
            <a:off x="752141" y="17123677"/>
            <a:ext cx="6870117" cy="3864441"/>
          </a:xfrm>
          <a:prstGeom prst="rect">
            <a:avLst/>
          </a:prstGeom>
        </p:spPr>
      </p:pic>
      <p:pic>
        <p:nvPicPr>
          <p:cNvPr id="69" name="Picture 68" descr="36R.png"/>
          <p:cNvPicPr>
            <a:picLocks noChangeAspect="1"/>
          </p:cNvPicPr>
          <p:nvPr/>
        </p:nvPicPr>
        <p:blipFill>
          <a:blip r:embed="rId10"/>
          <a:stretch>
            <a:fillRect/>
          </a:stretch>
        </p:blipFill>
        <p:spPr>
          <a:xfrm>
            <a:off x="29279088" y="576072"/>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4062</TotalTime>
  <Words>710</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Montserrat Light</vt:lpstr>
      <vt:lpstr>Arial</vt:lpstr>
      <vt:lpstr>Libre Baskerville</vt:lpstr>
      <vt:lpstr>Times New Roman</vt:lpstr>
      <vt:lpstr>Open Sans</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Phil Kim</cp:lastModifiedBy>
  <cp:revision>311</cp:revision>
  <cp:lastPrinted>2006-11-15T16:04:57Z</cp:lastPrinted>
  <dcterms:modified xsi:type="dcterms:W3CDTF">2025-04-27T03:27:17Z</dcterms:modified>
  <cp:category>templates for scientific poster</cp:category>
</cp:coreProperties>
</file>