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32918400" cy="219456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 roundtripDataSignature="AMtx7mh4pDwthuLhIrxxEuTMfCVav2Bo/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289"/>
    <p:restoredTop sz="94694"/>
  </p:normalViewPr>
  <p:slideViewPr>
    <p:cSldViewPr snapToGrid="0">
      <p:cViewPr varScale="1">
        <p:scale>
          <a:sx n="36" d="100"/>
          <a:sy n="36" d="100"/>
        </p:scale>
        <p:origin x="3784" y="288"/>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7" Type="http://customschemas.google.com/relationships/presentationmetadata" Target="metadata"/><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10"/>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11"/>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11"/>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11"/>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4"/>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a:spLocks noGrp="1"/>
          </p:cNvSpPr>
          <p:nvPr>
            <p:ph type="pic" idx="2"/>
          </p:nvPr>
        </p:nvSpPr>
        <p:spPr>
          <a:xfrm>
            <a:off x="13994608" y="3159765"/>
            <a:ext cx="16664940" cy="15595600"/>
          </a:xfrm>
          <a:prstGeom prst="rect">
            <a:avLst/>
          </a:prstGeom>
          <a:noFill/>
          <a:ln>
            <a:noFill/>
          </a:ln>
        </p:spPr>
      </p:sp>
      <p:sp>
        <p:nvSpPr>
          <p:cNvPr id="68" name="Google Shape;68;p15"/>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2" name="Group 1">
            <a:extLst>
              <a:ext uri="{FF2B5EF4-FFF2-40B4-BE49-F238E27FC236}">
                <a16:creationId xmlns:a16="http://schemas.microsoft.com/office/drawing/2014/main" id="{5E475776-17A7-0228-083A-812BBE33192B}"/>
              </a:ext>
            </a:extLst>
          </p:cNvPr>
          <p:cNvGrpSpPr/>
          <p:nvPr/>
        </p:nvGrpSpPr>
        <p:grpSpPr>
          <a:xfrm>
            <a:off x="475488" y="376366"/>
            <a:ext cx="32040576" cy="21308855"/>
            <a:chOff x="2499360" y="376366"/>
            <a:chExt cx="27919680" cy="21308855"/>
          </a:xfrm>
        </p:grpSpPr>
        <p:sp>
          <p:nvSpPr>
            <p:cNvPr id="89" name="Google Shape;89;p1"/>
            <p:cNvSpPr/>
            <p:nvPr/>
          </p:nvSpPr>
          <p:spPr>
            <a:xfrm>
              <a:off x="21579840" y="19301656"/>
              <a:ext cx="8839200" cy="2383565"/>
            </a:xfrm>
            <a:prstGeom prst="rect">
              <a:avLst/>
            </a:prstGeom>
            <a:solidFill>
              <a:schemeClr val="lt1"/>
            </a:solidFill>
            <a:ln>
              <a:noFill/>
            </a:ln>
          </p:spPr>
          <p:txBody>
            <a:bodyPr spcFirstLastPara="1" wrap="square" lIns="60950" tIns="30467" rIns="60950" bIns="30467" anchor="ctr" anchorCtr="0">
              <a:noAutofit/>
            </a:bodyPr>
            <a:lstStyle/>
            <a:p>
              <a:pPr algn="ctr">
                <a:buSzPts val="7258"/>
              </a:pPr>
              <a:endParaRPr sz="4839">
                <a:solidFill>
                  <a:schemeClr val="dk1"/>
                </a:solidFill>
                <a:latin typeface="Calibri"/>
                <a:ea typeface="Calibri"/>
                <a:cs typeface="Calibri"/>
                <a:sym typeface="Calibri"/>
              </a:endParaRPr>
            </a:p>
          </p:txBody>
        </p:sp>
        <p:sp>
          <p:nvSpPr>
            <p:cNvPr id="90" name="Google Shape;90;p1"/>
            <p:cNvSpPr/>
            <p:nvPr/>
          </p:nvSpPr>
          <p:spPr>
            <a:xfrm>
              <a:off x="2499360" y="12179520"/>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dirty="0">
                  <a:solidFill>
                    <a:schemeClr val="lt1"/>
                  </a:solidFill>
                </a:rPr>
                <a:t>Methods</a:t>
              </a:r>
              <a:endParaRPr sz="933" dirty="0"/>
            </a:p>
          </p:txBody>
        </p:sp>
        <p:sp>
          <p:nvSpPr>
            <p:cNvPr id="91" name="Google Shape;91;p1"/>
            <p:cNvSpPr/>
            <p:nvPr/>
          </p:nvSpPr>
          <p:spPr>
            <a:xfrm>
              <a:off x="2499367" y="13214817"/>
              <a:ext cx="8839200" cy="8470400"/>
            </a:xfrm>
            <a:prstGeom prst="rect">
              <a:avLst/>
            </a:prstGeom>
            <a:solidFill>
              <a:schemeClr val="lt1"/>
            </a:solidFill>
            <a:ln>
              <a:noFill/>
            </a:ln>
          </p:spPr>
          <p:txBody>
            <a:bodyPr spcFirstLastPara="1" wrap="square" lIns="60950" tIns="30467" rIns="60950" bIns="30467" anchor="ctr" anchorCtr="0">
              <a:noAutofit/>
            </a:bodyPr>
            <a:lstStyle/>
            <a:p>
              <a:pPr>
                <a:buClr>
                  <a:schemeClr val="dk1"/>
                </a:buClr>
              </a:pPr>
              <a:r>
                <a:rPr lang="en-US" sz="2867">
                  <a:solidFill>
                    <a:schemeClr val="dk1"/>
                  </a:solidFill>
                </a:rPr>
                <a:t>This QI project employed Plan-Do-Study-Act (PDSA) cycles starting January 2024 through 2026. The team—comprising physicians, residents, pharmacists, infection preventionists, nurses, environmental services, and educators—implemented four targeted interventions:</a:t>
              </a:r>
              <a:endParaRPr sz="2867">
                <a:solidFill>
                  <a:schemeClr val="dk1"/>
                </a:solidFill>
              </a:endParaRPr>
            </a:p>
            <a:p>
              <a:pPr marL="419121" indent="-334450">
                <a:buClr>
                  <a:schemeClr val="dk1"/>
                </a:buClr>
                <a:buSzPts val="4300"/>
                <a:buFont typeface="Calibri"/>
                <a:buAutoNum type="arabicPeriod"/>
              </a:pPr>
              <a:r>
                <a:rPr lang="en-US" sz="2867" b="1">
                  <a:solidFill>
                    <a:schemeClr val="dk1"/>
                  </a:solidFill>
                </a:rPr>
                <a:t>Environmental Cleaning Enhancements:</a:t>
              </a:r>
              <a:r>
                <a:rPr lang="en-US" sz="2867">
                  <a:solidFill>
                    <a:schemeClr val="dk1"/>
                  </a:solidFill>
                </a:rPr>
                <a:t> Revised cleaning protocols using sporicidal agents and UV disinfection; monthly environmental cultures assessed compliance.</a:t>
              </a:r>
              <a:endParaRPr sz="2867">
                <a:solidFill>
                  <a:schemeClr val="dk1"/>
                </a:solidFill>
              </a:endParaRPr>
            </a:p>
            <a:p>
              <a:pPr marL="419121" indent="-334450">
                <a:buClr>
                  <a:schemeClr val="dk1"/>
                </a:buClr>
                <a:buSzPts val="4300"/>
                <a:buFont typeface="Calibri"/>
                <a:buAutoNum type="arabicPeriod"/>
              </a:pPr>
              <a:r>
                <a:rPr lang="en-US" sz="2867" b="1">
                  <a:solidFill>
                    <a:schemeClr val="dk1"/>
                  </a:solidFill>
                </a:rPr>
                <a:t>Hand Hygiene Monitoring:</a:t>
              </a:r>
              <a:r>
                <a:rPr lang="en-US" sz="2867">
                  <a:solidFill>
                    <a:schemeClr val="dk1"/>
                  </a:solidFill>
                </a:rPr>
                <a:t> Real-time auditing with monthly feedback; unit-specific dashboards tracked compliance trends.</a:t>
              </a:r>
              <a:endParaRPr sz="2867">
                <a:solidFill>
                  <a:schemeClr val="dk1"/>
                </a:solidFill>
              </a:endParaRPr>
            </a:p>
            <a:p>
              <a:pPr marL="419121" indent="-334450">
                <a:buClr>
                  <a:schemeClr val="dk1"/>
                </a:buClr>
                <a:buSzPts val="4300"/>
                <a:buFont typeface="Calibri"/>
                <a:buAutoNum type="arabicPeriod"/>
              </a:pPr>
              <a:r>
                <a:rPr lang="en-US" sz="2867" b="1">
                  <a:solidFill>
                    <a:schemeClr val="dk1"/>
                  </a:solidFill>
                </a:rPr>
                <a:t>Antibiotic Stewardship:</a:t>
              </a:r>
              <a:r>
                <a:rPr lang="en-US" sz="2867">
                  <a:solidFill>
                    <a:schemeClr val="dk1"/>
                  </a:solidFill>
                </a:rPr>
                <a:t> Daily prospective audits and prescriber-specific feedback for high-risk antibiotics (e.g., fluoroquinolones, clindamycin).</a:t>
              </a:r>
              <a:endParaRPr sz="2867">
                <a:solidFill>
                  <a:schemeClr val="dk1"/>
                </a:solidFill>
              </a:endParaRPr>
            </a:p>
            <a:p>
              <a:pPr marL="419121" indent="-334450">
                <a:buClr>
                  <a:schemeClr val="dk1"/>
                </a:buClr>
                <a:buSzPts val="4300"/>
                <a:buFont typeface="Calibri"/>
                <a:buAutoNum type="arabicPeriod"/>
              </a:pPr>
              <a:r>
                <a:rPr lang="en-US" sz="2867" b="1">
                  <a:solidFill>
                    <a:schemeClr val="dk1"/>
                  </a:solidFill>
                </a:rPr>
                <a:t>Contact Precautions:</a:t>
              </a:r>
              <a:r>
                <a:rPr lang="en-US" sz="2867">
                  <a:solidFill>
                    <a:schemeClr val="dk1"/>
                  </a:solidFill>
                </a:rPr>
                <a:t> Reinforced PPE use, quarterly re-education on donning/doffing, and improved compliance monitoring.</a:t>
              </a:r>
              <a:endParaRPr sz="2867">
                <a:solidFill>
                  <a:schemeClr val="lt1"/>
                </a:solidFill>
              </a:endParaRPr>
            </a:p>
          </p:txBody>
        </p:sp>
        <p:sp>
          <p:nvSpPr>
            <p:cNvPr id="92" name="Google Shape;92;p1"/>
            <p:cNvSpPr/>
            <p:nvPr/>
          </p:nvSpPr>
          <p:spPr>
            <a:xfrm>
              <a:off x="2499360" y="4328160"/>
              <a:ext cx="8839200" cy="1080481"/>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rPr>
                <a:t>Introduction</a:t>
              </a:r>
              <a:endParaRPr sz="933"/>
            </a:p>
          </p:txBody>
        </p:sp>
        <p:sp>
          <p:nvSpPr>
            <p:cNvPr id="93" name="Google Shape;93;p1"/>
            <p:cNvSpPr/>
            <p:nvPr/>
          </p:nvSpPr>
          <p:spPr>
            <a:xfrm>
              <a:off x="2499360" y="5420024"/>
              <a:ext cx="8839200" cy="6647533"/>
            </a:xfrm>
            <a:prstGeom prst="rect">
              <a:avLst/>
            </a:prstGeom>
            <a:solidFill>
              <a:schemeClr val="lt1"/>
            </a:solidFill>
            <a:ln>
              <a:noFill/>
            </a:ln>
          </p:spPr>
          <p:txBody>
            <a:bodyPr spcFirstLastPara="1" wrap="square" lIns="60950" tIns="30467" rIns="60950" bIns="30467" anchor="ctr" anchorCtr="0">
              <a:noAutofit/>
            </a:bodyPr>
            <a:lstStyle/>
            <a:p>
              <a:pPr>
                <a:buSzPts val="7258"/>
              </a:pPr>
              <a:r>
                <a:rPr lang="en-US" sz="2733" dirty="0"/>
                <a:t>Hospital-acquired </a:t>
              </a:r>
              <a:r>
                <a:rPr lang="en-US" sz="2733" i="1" dirty="0"/>
                <a:t>Clostridioides difficile</a:t>
              </a:r>
              <a:r>
                <a:rPr lang="en-US" sz="2733" dirty="0"/>
                <a:t> infections (HA-CDI) remain a leading cause of healthcare-associated diarrhea, linked to significant morbidity, extended hospital stays, and increased healthcare costs. In 2024, our 150-bed community hospital experienced a notable rise in HA-CDI rates, exceeding the National Healthcare Safety Network (NHSN) benchmark of 6.3 cases per 10,000 patient-days. Recognizing this trend as both a patient safety threat and a financial burden, a multidisciplinary Quality Improvement (QI) team was assembled. The team aimed to identify modifiable risk factors and implement targeted, evidence-based interventions to reduce HA-CDI incidence, particularly focusing on high-risk units such as the ICU, where early signs of increased vulnerability were already evident.</a:t>
              </a:r>
              <a:endParaRPr sz="2733" dirty="0">
                <a:solidFill>
                  <a:schemeClr val="lt1"/>
                </a:solidFill>
              </a:endParaRPr>
            </a:p>
          </p:txBody>
        </p:sp>
        <p:sp>
          <p:nvSpPr>
            <p:cNvPr id="94" name="Google Shape;94;p1"/>
            <p:cNvSpPr/>
            <p:nvPr/>
          </p:nvSpPr>
          <p:spPr>
            <a:xfrm>
              <a:off x="2499360" y="376366"/>
              <a:ext cx="27919680" cy="3809162"/>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5" name="Google Shape;95;p1"/>
            <p:cNvSpPr/>
            <p:nvPr/>
          </p:nvSpPr>
          <p:spPr>
            <a:xfrm>
              <a:off x="5244067" y="838601"/>
              <a:ext cx="22275400" cy="1415746"/>
            </a:xfrm>
            <a:prstGeom prst="rect">
              <a:avLst/>
            </a:prstGeom>
            <a:noFill/>
            <a:ln>
              <a:noFill/>
            </a:ln>
          </p:spPr>
          <p:txBody>
            <a:bodyPr spcFirstLastPara="1" wrap="square" lIns="60950" tIns="30467" rIns="60950" bIns="30467" anchor="t" anchorCtr="0">
              <a:spAutoFit/>
            </a:bodyPr>
            <a:lstStyle/>
            <a:p>
              <a:pPr algn="ctr">
                <a:buSzPts val="8500"/>
              </a:pPr>
              <a:r>
                <a:rPr lang="en-US" sz="4400" b="1" dirty="0">
                  <a:solidFill>
                    <a:schemeClr val="lt1"/>
                  </a:solidFill>
                </a:rPr>
                <a:t>STOP THE SPREAD: A Quality Improvement Initiative to Reduce Hospital-Acquired</a:t>
              </a:r>
              <a:endParaRPr sz="4400" dirty="0"/>
            </a:p>
            <a:p>
              <a:pPr algn="ctr">
                <a:buSzPts val="8500"/>
              </a:pPr>
              <a:r>
                <a:rPr lang="en-US" sz="4400" b="1" dirty="0">
                  <a:solidFill>
                    <a:schemeClr val="lt1"/>
                  </a:solidFill>
                </a:rPr>
                <a:t>Clostridioides difficile Infections in a Community Hospital ICU</a:t>
              </a:r>
              <a:endParaRPr sz="4400" dirty="0"/>
            </a:p>
          </p:txBody>
        </p:sp>
        <p:sp>
          <p:nvSpPr>
            <p:cNvPr id="96" name="Google Shape;96;p1"/>
            <p:cNvSpPr/>
            <p:nvPr/>
          </p:nvSpPr>
          <p:spPr>
            <a:xfrm>
              <a:off x="7830200" y="2364550"/>
              <a:ext cx="16621533" cy="1703261"/>
            </a:xfrm>
            <a:prstGeom prst="rect">
              <a:avLst/>
            </a:prstGeom>
            <a:noFill/>
            <a:ln>
              <a:noFill/>
            </a:ln>
          </p:spPr>
          <p:txBody>
            <a:bodyPr spcFirstLastPara="1" wrap="square" lIns="60950" tIns="30467" rIns="60950" bIns="30467" anchor="t" anchorCtr="0">
              <a:spAutoFit/>
            </a:bodyPr>
            <a:lstStyle/>
            <a:p>
              <a:pPr algn="ctr">
                <a:buSzPts val="6000"/>
              </a:pPr>
              <a:r>
                <a:rPr lang="en-US" sz="3667" dirty="0">
                  <a:solidFill>
                    <a:schemeClr val="lt1"/>
                  </a:solidFill>
                </a:rPr>
                <a:t>Kamalpreet Gill MD, Andrew Clark MD, Ajaypreet Singh MD, Aftab Arif MD, </a:t>
              </a:r>
            </a:p>
            <a:p>
              <a:pPr algn="ctr">
                <a:buSzPts val="6000"/>
              </a:pPr>
              <a:r>
                <a:rPr lang="en-US" sz="3667" dirty="0">
                  <a:solidFill>
                    <a:schemeClr val="lt1"/>
                  </a:solidFill>
                </a:rPr>
                <a:t>Hamna Javed MD, Amritpal Nat MD, Pankaj Bharati MD</a:t>
              </a:r>
              <a:endParaRPr sz="3667" dirty="0"/>
            </a:p>
            <a:p>
              <a:pPr algn="ctr">
                <a:buSzPts val="5000"/>
              </a:pPr>
              <a:r>
                <a:rPr lang="en-US" sz="3334" i="1" dirty="0">
                  <a:solidFill>
                    <a:schemeClr val="lt1"/>
                  </a:solidFill>
                </a:rPr>
                <a:t>Saint Agnes Medical Center, Fresno, CA</a:t>
              </a:r>
              <a:endParaRPr sz="3334" dirty="0"/>
            </a:p>
          </p:txBody>
        </p:sp>
        <p:sp>
          <p:nvSpPr>
            <p:cNvPr id="97" name="Google Shape;97;p1"/>
            <p:cNvSpPr/>
            <p:nvPr/>
          </p:nvSpPr>
          <p:spPr>
            <a:xfrm>
              <a:off x="21573564" y="7908072"/>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00">
                  <a:solidFill>
                    <a:schemeClr val="lt1"/>
                  </a:solidFill>
                </a:rPr>
                <a:t>Discussion</a:t>
              </a:r>
              <a:endParaRPr sz="4800"/>
            </a:p>
          </p:txBody>
        </p:sp>
        <p:sp>
          <p:nvSpPr>
            <p:cNvPr id="98" name="Google Shape;98;p1"/>
            <p:cNvSpPr/>
            <p:nvPr/>
          </p:nvSpPr>
          <p:spPr>
            <a:xfrm>
              <a:off x="21573567" y="8988467"/>
              <a:ext cx="8839200" cy="7010200"/>
            </a:xfrm>
            <a:prstGeom prst="rect">
              <a:avLst/>
            </a:prstGeom>
            <a:solidFill>
              <a:schemeClr val="lt1"/>
            </a:solidFill>
            <a:ln>
              <a:noFill/>
            </a:ln>
          </p:spPr>
          <p:txBody>
            <a:bodyPr spcFirstLastPara="1" wrap="square" lIns="60950" tIns="30467" rIns="60950" bIns="30467" anchor="ctr" anchorCtr="0">
              <a:noAutofit/>
            </a:bodyPr>
            <a:lstStyle/>
            <a:p>
              <a:pPr>
                <a:buClr>
                  <a:schemeClr val="dk1"/>
                </a:buClr>
                <a:buSzPts val="4000"/>
              </a:pPr>
              <a:r>
                <a:rPr lang="en-US" sz="2933">
                  <a:solidFill>
                    <a:schemeClr val="dk1"/>
                  </a:solidFill>
                </a:rPr>
                <a:t>Despite a modest decline in house wide HA-CDI rates, the  rise in ICU cases suggests a persistent vulnerability in critical care settings. Positive trends in hand hygiene and antibiotic stewardship demonstrate the value of real-time feedback, environmental monitoring, and staff education. Early 2025 data showing zero reported cases indicating promising outcomes; however, sustained success will depend on continued leadership support, monitoring, and adaptive strategies. Limitations such as single-site focus, short follow-up duration, and potential external factors underscore the need for broader studies and long-term assessment. Future directions may include patient engagement and expansion of interventions to other hospital units.</a:t>
              </a:r>
              <a:endParaRPr sz="2933">
                <a:solidFill>
                  <a:schemeClr val="lt1"/>
                </a:solidFill>
              </a:endParaRPr>
            </a:p>
          </p:txBody>
        </p:sp>
        <p:sp>
          <p:nvSpPr>
            <p:cNvPr id="99" name="Google Shape;99;p1"/>
            <p:cNvSpPr/>
            <p:nvPr/>
          </p:nvSpPr>
          <p:spPr>
            <a:xfrm>
              <a:off x="11670433" y="4353967"/>
              <a:ext cx="9563400" cy="11596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rPr>
                <a:t>Results</a:t>
              </a:r>
              <a:endParaRPr sz="933"/>
            </a:p>
          </p:txBody>
        </p:sp>
        <p:sp>
          <p:nvSpPr>
            <p:cNvPr id="100" name="Google Shape;100;p1"/>
            <p:cNvSpPr/>
            <p:nvPr/>
          </p:nvSpPr>
          <p:spPr>
            <a:xfrm>
              <a:off x="11670450" y="5478717"/>
              <a:ext cx="9563400" cy="6114400"/>
            </a:xfrm>
            <a:prstGeom prst="rect">
              <a:avLst/>
            </a:prstGeom>
            <a:solidFill>
              <a:schemeClr val="lt1"/>
            </a:solidFill>
            <a:ln>
              <a:noFill/>
            </a:ln>
          </p:spPr>
          <p:txBody>
            <a:bodyPr spcFirstLastPara="1" wrap="square" lIns="60950" tIns="30467" rIns="60950" bIns="30467" anchor="ctr" anchorCtr="0">
              <a:noAutofit/>
            </a:bodyPr>
            <a:lstStyle/>
            <a:p>
              <a:pPr>
                <a:buClr>
                  <a:schemeClr val="dk1"/>
                </a:buClr>
                <a:buSzPts val="7258"/>
              </a:pPr>
              <a:r>
                <a:rPr lang="en-US" sz="3133">
                  <a:solidFill>
                    <a:schemeClr val="dk1"/>
                  </a:solidFill>
                </a:rPr>
                <a:t>From 2023 to 2024, hospital-wide HA-CDI cases decreased slightly from 27 to 26 (↓3.7%), indicating stable overall performance. However, ICU cases increased from 4 to 7 (↑75%), highlighting a critical need for targeted ICU-specific interventions. ICU hand hygiene compliance steadily improved over the year, nearing 100% by November 2024. Peak observation counts in hand hygiene compliance in November (920 observations) aligned with the highest compliance, reinforcing the effectiveness of increased auditing and feedback. Notably, since implementing interventions, no HA-CDI cases were reported from January through March 2025.</a:t>
              </a:r>
              <a:endParaRPr sz="3133"/>
            </a:p>
          </p:txBody>
        </p:sp>
        <p:sp>
          <p:nvSpPr>
            <p:cNvPr id="101" name="Google Shape;101;p1"/>
            <p:cNvSpPr/>
            <p:nvPr/>
          </p:nvSpPr>
          <p:spPr>
            <a:xfrm>
              <a:off x="21573564" y="16121088"/>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00">
                  <a:solidFill>
                    <a:schemeClr val="lt1"/>
                  </a:solidFill>
                </a:rPr>
                <a:t>References</a:t>
              </a:r>
              <a:endParaRPr sz="4800"/>
            </a:p>
          </p:txBody>
        </p:sp>
        <p:sp>
          <p:nvSpPr>
            <p:cNvPr id="102" name="Google Shape;102;p1"/>
            <p:cNvSpPr/>
            <p:nvPr/>
          </p:nvSpPr>
          <p:spPr>
            <a:xfrm>
              <a:off x="21573567" y="17262183"/>
              <a:ext cx="8839200" cy="1867200"/>
            </a:xfrm>
            <a:prstGeom prst="rect">
              <a:avLst/>
            </a:prstGeom>
            <a:solidFill>
              <a:schemeClr val="lt1"/>
            </a:solidFill>
            <a:ln>
              <a:noFill/>
            </a:ln>
          </p:spPr>
          <p:txBody>
            <a:bodyPr spcFirstLastPara="1" wrap="square" lIns="60950" tIns="30467" rIns="60950" bIns="30467" anchor="ctr" anchorCtr="0">
              <a:noAutofit/>
            </a:bodyPr>
            <a:lstStyle/>
            <a:p>
              <a:pPr marL="304815" indent="-258246">
                <a:lnSpc>
                  <a:spcPct val="115000"/>
                </a:lnSpc>
                <a:buClr>
                  <a:schemeClr val="dk1"/>
                </a:buClr>
                <a:buSzPts val="2500"/>
                <a:buAutoNum type="arabicPeriod"/>
              </a:pPr>
              <a:r>
                <a:rPr lang="en-US" sz="1667">
                  <a:solidFill>
                    <a:schemeClr val="dk1"/>
                  </a:solidFill>
                </a:rPr>
                <a:t>McDonald LC, et al. Clinical Practice Guidelines for </a:t>
              </a:r>
              <a:r>
                <a:rPr lang="en-US" sz="1667" i="1">
                  <a:solidFill>
                    <a:schemeClr val="dk1"/>
                  </a:solidFill>
                </a:rPr>
                <a:t>Clostridium difficile</a:t>
              </a:r>
              <a:r>
                <a:rPr lang="en-US" sz="1667">
                  <a:solidFill>
                    <a:schemeClr val="dk1"/>
                  </a:solidFill>
                </a:rPr>
                <a:t> Infection in Adults and Children: 2017 Update by IDSA and SHEA. </a:t>
              </a:r>
              <a:r>
                <a:rPr lang="en-US" sz="1667" i="1">
                  <a:solidFill>
                    <a:schemeClr val="dk1"/>
                  </a:solidFill>
                </a:rPr>
                <a:t>Clin Infect Dis</a:t>
              </a:r>
              <a:r>
                <a:rPr lang="en-US" sz="1667">
                  <a:solidFill>
                    <a:schemeClr val="dk1"/>
                  </a:solidFill>
                </a:rPr>
                <a:t>. 2018;66(7):987–994.</a:t>
              </a:r>
              <a:endParaRPr sz="1667">
                <a:solidFill>
                  <a:schemeClr val="dk1"/>
                </a:solidFill>
              </a:endParaRPr>
            </a:p>
            <a:p>
              <a:pPr marL="304815" indent="-258246">
                <a:lnSpc>
                  <a:spcPct val="115000"/>
                </a:lnSpc>
                <a:buClr>
                  <a:schemeClr val="dk1"/>
                </a:buClr>
                <a:buSzPts val="2500"/>
                <a:buAutoNum type="arabicPeriod"/>
              </a:pPr>
              <a:r>
                <a:rPr lang="en-US" sz="1667">
                  <a:solidFill>
                    <a:schemeClr val="dk1"/>
                  </a:solidFill>
                </a:rPr>
                <a:t>Guh AY, Kutty PK. </a:t>
              </a:r>
              <a:r>
                <a:rPr lang="en-US" sz="1667" i="1">
                  <a:solidFill>
                    <a:schemeClr val="dk1"/>
                  </a:solidFill>
                </a:rPr>
                <a:t>Clostridioides difficile</a:t>
              </a:r>
              <a:r>
                <a:rPr lang="en-US" sz="1667">
                  <a:solidFill>
                    <a:schemeClr val="dk1"/>
                  </a:solidFill>
                </a:rPr>
                <a:t> Infection. </a:t>
              </a:r>
              <a:r>
                <a:rPr lang="en-US" sz="1667" i="1">
                  <a:solidFill>
                    <a:schemeClr val="dk1"/>
                  </a:solidFill>
                </a:rPr>
                <a:t>Ann Intern Med</a:t>
              </a:r>
              <a:r>
                <a:rPr lang="en-US" sz="1667">
                  <a:solidFill>
                    <a:schemeClr val="dk1"/>
                  </a:solidFill>
                </a:rPr>
                <a:t>. 2018;169(7):ITC49–ITC64.</a:t>
              </a:r>
              <a:endParaRPr sz="1667">
                <a:solidFill>
                  <a:schemeClr val="dk1"/>
                </a:solidFill>
              </a:endParaRPr>
            </a:p>
            <a:p>
              <a:pPr marL="304815" indent="-258246">
                <a:lnSpc>
                  <a:spcPct val="115000"/>
                </a:lnSpc>
                <a:buClr>
                  <a:schemeClr val="dk1"/>
                </a:buClr>
                <a:buSzPts val="2500"/>
                <a:buAutoNum type="arabicPeriod"/>
              </a:pPr>
              <a:r>
                <a:rPr lang="en-US" sz="1667">
                  <a:solidFill>
                    <a:schemeClr val="dk1"/>
                  </a:solidFill>
                </a:rPr>
                <a:t>Dubberke ER, et al. Strategies to Prevent </a:t>
              </a:r>
              <a:r>
                <a:rPr lang="en-US" sz="1667" i="1">
                  <a:solidFill>
                    <a:schemeClr val="dk1"/>
                  </a:solidFill>
                </a:rPr>
                <a:t>Clostridium difficile</a:t>
              </a:r>
              <a:r>
                <a:rPr lang="en-US" sz="1667">
                  <a:solidFill>
                    <a:schemeClr val="dk1"/>
                  </a:solidFill>
                </a:rPr>
                <a:t> Infections in Acute Care Hospitals: 2014 Update. </a:t>
              </a:r>
              <a:r>
                <a:rPr lang="en-US" sz="1667" i="1">
                  <a:solidFill>
                    <a:schemeClr val="dk1"/>
                  </a:solidFill>
                </a:rPr>
                <a:t>Infect Control Hosp Epidemiol</a:t>
              </a:r>
              <a:r>
                <a:rPr lang="en-US" sz="1667">
                  <a:solidFill>
                    <a:schemeClr val="dk1"/>
                  </a:solidFill>
                </a:rPr>
                <a:t>. 2014;35(S2):S48–S65.</a:t>
              </a:r>
              <a:endParaRPr sz="1667">
                <a:solidFill>
                  <a:schemeClr val="dk1"/>
                </a:solidFill>
              </a:endParaRPr>
            </a:p>
          </p:txBody>
        </p:sp>
        <p:pic>
          <p:nvPicPr>
            <p:cNvPr id="103" name="Google Shape;103;p1" descr="Logo, company name&#10;&#10;Description automatically generated"/>
            <p:cNvPicPr preferRelativeResize="0"/>
            <p:nvPr/>
          </p:nvPicPr>
          <p:blipFill rotWithShape="1">
            <a:blip r:embed="rId3">
              <a:alphaModFix/>
            </a:blip>
            <a:srcRect b="54543"/>
            <a:stretch/>
          </p:blipFill>
          <p:spPr>
            <a:xfrm>
              <a:off x="23135772" y="19759783"/>
              <a:ext cx="3748117" cy="1692222"/>
            </a:xfrm>
            <a:prstGeom prst="rect">
              <a:avLst/>
            </a:prstGeom>
            <a:noFill/>
            <a:ln>
              <a:noFill/>
            </a:ln>
          </p:spPr>
        </p:pic>
        <p:pic>
          <p:nvPicPr>
            <p:cNvPr id="104" name="Google Shape;104;p1" descr="Logo, company name&#10;&#10;Description automatically generated"/>
            <p:cNvPicPr preferRelativeResize="0"/>
            <p:nvPr/>
          </p:nvPicPr>
          <p:blipFill rotWithShape="1">
            <a:blip r:embed="rId3">
              <a:alphaModFix/>
            </a:blip>
            <a:srcRect t="47565" b="13424"/>
            <a:stretch/>
          </p:blipFill>
          <p:spPr>
            <a:xfrm>
              <a:off x="25066649" y="19886388"/>
              <a:ext cx="3955647" cy="1532673"/>
            </a:xfrm>
            <a:prstGeom prst="rect">
              <a:avLst/>
            </a:prstGeom>
            <a:noFill/>
            <a:ln>
              <a:noFill/>
            </a:ln>
          </p:spPr>
        </p:pic>
        <p:pic>
          <p:nvPicPr>
            <p:cNvPr id="105" name="Google Shape;105;p1"/>
            <p:cNvPicPr preferRelativeResize="0"/>
            <p:nvPr/>
          </p:nvPicPr>
          <p:blipFill rotWithShape="1">
            <a:blip r:embed="rId4">
              <a:alphaModFix/>
            </a:blip>
            <a:srcRect/>
            <a:stretch/>
          </p:blipFill>
          <p:spPr>
            <a:xfrm>
              <a:off x="11670450" y="11729150"/>
              <a:ext cx="9563400" cy="9956067"/>
            </a:xfrm>
            <a:prstGeom prst="rect">
              <a:avLst/>
            </a:prstGeom>
            <a:noFill/>
            <a:ln>
              <a:noFill/>
            </a:ln>
          </p:spPr>
        </p:pic>
        <p:pic>
          <p:nvPicPr>
            <p:cNvPr id="106" name="Google Shape;106;p1"/>
            <p:cNvPicPr preferRelativeResize="0"/>
            <p:nvPr/>
          </p:nvPicPr>
          <p:blipFill>
            <a:blip r:embed="rId5">
              <a:alphaModFix/>
            </a:blip>
            <a:stretch>
              <a:fillRect/>
            </a:stretch>
          </p:blipFill>
          <p:spPr>
            <a:xfrm>
              <a:off x="3014189" y="1742011"/>
              <a:ext cx="3832876" cy="1632806"/>
            </a:xfrm>
            <a:prstGeom prst="rect">
              <a:avLst/>
            </a:prstGeom>
            <a:noFill/>
            <a:ln>
              <a:noFill/>
            </a:ln>
          </p:spPr>
        </p:pic>
        <p:pic>
          <p:nvPicPr>
            <p:cNvPr id="107" name="Google Shape;107;p1" title="Screenshot 2025-04-25 at 5.47.05 AM.png"/>
            <p:cNvPicPr preferRelativeResize="0"/>
            <p:nvPr/>
          </p:nvPicPr>
          <p:blipFill>
            <a:blip r:embed="rId6">
              <a:alphaModFix/>
            </a:blip>
            <a:stretch>
              <a:fillRect/>
            </a:stretch>
          </p:blipFill>
          <p:spPr>
            <a:xfrm>
              <a:off x="21565733" y="4343450"/>
              <a:ext cx="8839200" cy="3453742"/>
            </a:xfrm>
            <a:prstGeom prst="rect">
              <a:avLst/>
            </a:prstGeom>
            <a:solidFill>
              <a:schemeClr val="lt1"/>
            </a:solidFill>
            <a:ln>
              <a:noFill/>
            </a:ln>
          </p:spPr>
        </p:pic>
      </p:grpSp>
      <p:pic>
        <p:nvPicPr>
          <p:cNvPr id="108" name="Picture 107" descr="23Q.png"/>
          <p:cNvPicPr>
            <a:picLocks noChangeAspect="1"/>
          </p:cNvPicPr>
          <p:nvPr/>
        </p:nvPicPr>
        <p:blipFill>
          <a:blip r:embed="rId7"/>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608</Words>
  <Application>Microsoft Macintosh PowerPoint</Application>
  <PresentationFormat>Custom</PresentationFormat>
  <Paragraphs>22</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Phil Kim</cp:lastModifiedBy>
  <cp:revision>2</cp:revision>
  <dcterms:created xsi:type="dcterms:W3CDTF">2016-02-18T22:13:49Z</dcterms:created>
  <dcterms:modified xsi:type="dcterms:W3CDTF">2025-04-27T04:26:15Z</dcterms:modified>
</cp:coreProperties>
</file>