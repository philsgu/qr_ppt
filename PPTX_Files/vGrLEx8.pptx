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32918400" cy="219456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 roundtripDataSignature="AMtx7mgGKDPp+biVCR+P7S7XVL11BhmzS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18"/>
    <p:restoredTop sz="94668"/>
  </p:normalViewPr>
  <p:slideViewPr>
    <p:cSldViewPr snapToGrid="0">
      <p:cViewPr>
        <p:scale>
          <a:sx n="70" d="100"/>
          <a:sy n="70" d="100"/>
        </p:scale>
        <p:origin x="1544" y="-1272"/>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7" Type="http://customschemas.google.com/relationships/presentationmetadata" Target="metadata"/><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7"/>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7"/>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0"/>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a:spLocks noGrp="1"/>
          </p:cNvSpPr>
          <p:nvPr>
            <p:ph type="pic" idx="2"/>
          </p:nvPr>
        </p:nvSpPr>
        <p:spPr>
          <a:xfrm>
            <a:off x="13994608" y="3159765"/>
            <a:ext cx="16664940" cy="15595600"/>
          </a:xfrm>
          <a:prstGeom prst="rect">
            <a:avLst/>
          </a:prstGeom>
          <a:noFill/>
          <a:ln>
            <a:noFill/>
          </a:ln>
        </p:spPr>
      </p:sp>
      <p:sp>
        <p:nvSpPr>
          <p:cNvPr id="68" name="Google Shape;68;p11"/>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jpg"/><Relationship Id="rId8"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2" name="Group 1">
            <a:extLst>
              <a:ext uri="{FF2B5EF4-FFF2-40B4-BE49-F238E27FC236}">
                <a16:creationId xmlns:a16="http://schemas.microsoft.com/office/drawing/2014/main" id="{AA9DD0BC-483D-35AC-6A81-47CC2F8A033B}"/>
              </a:ext>
            </a:extLst>
          </p:cNvPr>
          <p:cNvGrpSpPr/>
          <p:nvPr/>
        </p:nvGrpSpPr>
        <p:grpSpPr>
          <a:xfrm>
            <a:off x="622176" y="460017"/>
            <a:ext cx="31656144" cy="20959282"/>
            <a:chOff x="2483560" y="543535"/>
            <a:chExt cx="27935480" cy="20959282"/>
          </a:xfrm>
        </p:grpSpPr>
        <p:sp>
          <p:nvSpPr>
            <p:cNvPr id="89" name="Google Shape;89;p1"/>
            <p:cNvSpPr/>
            <p:nvPr/>
          </p:nvSpPr>
          <p:spPr>
            <a:xfrm>
              <a:off x="2499367" y="9811935"/>
              <a:ext cx="8839200" cy="9336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a:t>
              </a:r>
              <a:endParaRPr sz="933"/>
            </a:p>
          </p:txBody>
        </p:sp>
        <p:sp>
          <p:nvSpPr>
            <p:cNvPr id="90" name="Google Shape;90;p1"/>
            <p:cNvSpPr/>
            <p:nvPr/>
          </p:nvSpPr>
          <p:spPr>
            <a:xfrm>
              <a:off x="2483560" y="10745536"/>
              <a:ext cx="8839200" cy="10452470"/>
            </a:xfrm>
            <a:prstGeom prst="rect">
              <a:avLst/>
            </a:prstGeom>
            <a:solidFill>
              <a:schemeClr val="lt1"/>
            </a:solidFill>
            <a:ln>
              <a:noFill/>
            </a:ln>
          </p:spPr>
          <p:txBody>
            <a:bodyPr spcFirstLastPara="1" wrap="square" lIns="60950" tIns="30467" rIns="60950" bIns="30467" anchor="t" anchorCtr="0">
              <a:noAutofit/>
            </a:bodyPr>
            <a:lstStyle/>
            <a:p>
              <a:pPr>
                <a:lnSpc>
                  <a:spcPct val="115000"/>
                </a:lnSpc>
                <a:spcBef>
                  <a:spcPts val="4867"/>
                </a:spcBef>
                <a:spcAft>
                  <a:spcPts val="4867"/>
                </a:spcAft>
                <a:buClr>
                  <a:schemeClr val="dk1"/>
                </a:buClr>
                <a:buSzPts val="1100"/>
              </a:pPr>
              <a:r>
                <a:rPr lang="en-US" sz="2467" dirty="0">
                  <a:solidFill>
                    <a:schemeClr val="dk1"/>
                  </a:solidFill>
                </a:rPr>
                <a:t>An 18-year-old female with a recent diagnosis of grade 2 nodular sclerosing Hodgkin lymphoma presented to the emergency department with progressive shortness of breath, nonproductive cough, and a sensation of air trapping over the past two days. She had received her first cycle of ABVD chemotherapy during a recent inpatient admission but was discharged early due to insurance limitations. She denied fevers, chills, chest pain, abdominal discomfort, gastrointestinal or urinary </a:t>
              </a:r>
              <a:r>
                <a:rPr lang="en-US" sz="2467" dirty="0" err="1">
                  <a:solidFill>
                    <a:schemeClr val="dk1"/>
                  </a:solidFill>
                </a:rPr>
                <a:t>symptoms.In</a:t>
              </a:r>
              <a:r>
                <a:rPr lang="en-US" sz="2467" dirty="0">
                  <a:solidFill>
                    <a:schemeClr val="dk1"/>
                  </a:solidFill>
                </a:rPr>
                <a:t> the ED, she appeared in acute respiratory distress with tachypnea. Laboratory evaluation revealed microcytic anemia, and a chest X-ray demonstrated a right anterior mediastinal mass (Figure 1). Her respiratory status deteriorated rapidly with the onset of stridor and loss of consciousness, prompting emergent intubation. A CT angiogram of the chest revealed a large heterogeneous anterior mediastinal and hilar mass (16.8 x 11.7 x 17.5 cm) extending into the lower neck. The mass caused significant compression of vascular structures, narrowing of the right main pulmonary artery and both mainstem bronchi (right &gt; left), and a small left apical pneumothorax. No pulmonary embolism was detected (Figures 2, 3).She was admitted to the ICU and placed on pressure-regulated volume control ventilation (</a:t>
              </a:r>
              <a:r>
                <a:rPr lang="en-US" sz="2467" dirty="0" err="1">
                  <a:solidFill>
                    <a:schemeClr val="dk1"/>
                  </a:solidFill>
                </a:rPr>
                <a:t>FiO</a:t>
              </a:r>
              <a:r>
                <a:rPr lang="en-US" sz="2467" dirty="0">
                  <a:solidFill>
                    <a:schemeClr val="dk1"/>
                  </a:solidFill>
                </a:rPr>
                <a:t>₂ 30%, RR 16, TV 400 mL, PEEP 5). Interventional pulmonology recommended initiating high-dose corticosteroids with repeat imaging in five days.</a:t>
              </a:r>
              <a:endParaRPr sz="2467" dirty="0">
                <a:solidFill>
                  <a:schemeClr val="dk1"/>
                </a:solidFill>
              </a:endParaRPr>
            </a:p>
          </p:txBody>
        </p:sp>
        <p:sp>
          <p:nvSpPr>
            <p:cNvPr id="91" name="Google Shape;91;p1"/>
            <p:cNvSpPr/>
            <p:nvPr/>
          </p:nvSpPr>
          <p:spPr>
            <a:xfrm>
              <a:off x="2499360" y="3931927"/>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2" name="Google Shape;92;p1"/>
            <p:cNvSpPr/>
            <p:nvPr/>
          </p:nvSpPr>
          <p:spPr>
            <a:xfrm>
              <a:off x="2499367" y="5012300"/>
              <a:ext cx="8839200" cy="4799600"/>
            </a:xfrm>
            <a:prstGeom prst="rect">
              <a:avLst/>
            </a:prstGeom>
            <a:solidFill>
              <a:schemeClr val="lt1"/>
            </a:solidFill>
            <a:ln>
              <a:noFill/>
            </a:ln>
          </p:spPr>
          <p:txBody>
            <a:bodyPr spcFirstLastPara="1" wrap="square" lIns="60950" tIns="30467" rIns="60950" bIns="30467" anchor="ctr" anchorCtr="0">
              <a:noAutofit/>
            </a:bodyPr>
            <a:lstStyle/>
            <a:p>
              <a:pPr>
                <a:buSzPts val="7258"/>
              </a:pPr>
              <a:r>
                <a:rPr lang="en-US" sz="2400" dirty="0">
                  <a:solidFill>
                    <a:schemeClr val="dk1"/>
                  </a:solidFill>
                </a:rPr>
                <a:t>Hodgkin lymphoma is a lymphoid malignancy that primarily affects adolescents and young adults and typically carries a favorable prognosis due to the success of combination chemotherapy regimens such as ABVD (Adriamycin, Bleomycin, Vinblastine, Dacarbazine) [1]. However, bulky mediastinal disease can result in acute complications, including airway compression that may progress to respiratory failure and necessitate emergent intervention [2]. In such cases, high-dose corticosteroids are often employed to achieve rapid tumor reduction and stabilize the patient prior to further chemotherapy [3]. This case highlights the importance of prompt imaging, multidisciplinary coordination, and individualized management in addressing oncologic emergencies.</a:t>
              </a:r>
              <a:endParaRPr sz="2400" dirty="0">
                <a:solidFill>
                  <a:schemeClr val="lt1"/>
                </a:solidFill>
              </a:endParaRPr>
            </a:p>
          </p:txBody>
        </p:sp>
        <p:sp>
          <p:nvSpPr>
            <p:cNvPr id="93" name="Google Shape;93;p1"/>
            <p:cNvSpPr/>
            <p:nvPr/>
          </p:nvSpPr>
          <p:spPr>
            <a:xfrm>
              <a:off x="2499360" y="543535"/>
              <a:ext cx="27919680" cy="326136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4" name="Google Shape;94;p1"/>
            <p:cNvSpPr/>
            <p:nvPr/>
          </p:nvSpPr>
          <p:spPr>
            <a:xfrm>
              <a:off x="4872232" y="664182"/>
              <a:ext cx="24133400" cy="933600"/>
            </a:xfrm>
            <a:prstGeom prst="rect">
              <a:avLst/>
            </a:prstGeom>
            <a:noFill/>
            <a:ln>
              <a:noFill/>
            </a:ln>
          </p:spPr>
          <p:txBody>
            <a:bodyPr spcFirstLastPara="1" wrap="square" lIns="60950" tIns="30467" rIns="60950" bIns="30467" anchor="t" anchorCtr="0">
              <a:noAutofit/>
            </a:bodyPr>
            <a:lstStyle/>
            <a:p>
              <a:pPr algn="ctr">
                <a:buSzPts val="8500"/>
              </a:pPr>
              <a:r>
                <a:rPr lang="en-US" sz="4800" b="1" dirty="0">
                  <a:solidFill>
                    <a:schemeClr val="lt1"/>
                  </a:solidFill>
                </a:rPr>
                <a:t>The Great Compression: Airway Crisis In </a:t>
              </a:r>
              <a:br>
                <a:rPr lang="en-US" sz="4800" b="1" dirty="0">
                  <a:solidFill>
                    <a:schemeClr val="lt1"/>
                  </a:solidFill>
                </a:rPr>
              </a:br>
              <a:r>
                <a:rPr lang="en-US" sz="4800" b="1" dirty="0">
                  <a:solidFill>
                    <a:schemeClr val="lt1"/>
                  </a:solidFill>
                </a:rPr>
                <a:t>Case Of Bulky Hodgkin Lymphoma</a:t>
              </a:r>
              <a:endParaRPr sz="4800" dirty="0"/>
            </a:p>
          </p:txBody>
        </p:sp>
        <p:sp>
          <p:nvSpPr>
            <p:cNvPr id="95" name="Google Shape;95;p1"/>
            <p:cNvSpPr/>
            <p:nvPr/>
          </p:nvSpPr>
          <p:spPr>
            <a:xfrm>
              <a:off x="8034732" y="2222542"/>
              <a:ext cx="17808400" cy="1703000"/>
            </a:xfrm>
            <a:prstGeom prst="rect">
              <a:avLst/>
            </a:prstGeom>
            <a:noFill/>
            <a:ln>
              <a:noFill/>
            </a:ln>
          </p:spPr>
          <p:txBody>
            <a:bodyPr spcFirstLastPara="1" wrap="square" lIns="60950" tIns="30467" rIns="60950" bIns="30467" anchor="t" anchorCtr="0">
              <a:noAutofit/>
            </a:bodyPr>
            <a:lstStyle/>
            <a:p>
              <a:pPr algn="ctr">
                <a:buSzPts val="6000"/>
              </a:pPr>
              <a:r>
                <a:rPr lang="en-US" sz="3200" dirty="0">
                  <a:solidFill>
                    <a:schemeClr val="lt1"/>
                  </a:solidFill>
                </a:rPr>
                <a:t>Mahwish Sheikh MD, Ayesha Shahzad MD, Hamna Javed MD, </a:t>
              </a:r>
            </a:p>
            <a:p>
              <a:pPr algn="ctr">
                <a:buSzPts val="6000"/>
              </a:pPr>
              <a:r>
                <a:rPr lang="en-US" sz="3200" dirty="0">
                  <a:solidFill>
                    <a:schemeClr val="lt1"/>
                  </a:solidFill>
                </a:rPr>
                <a:t>Pankaj Bharati MD, Saqib Rashid MD</a:t>
              </a:r>
              <a:endParaRPr sz="400" dirty="0"/>
            </a:p>
            <a:p>
              <a:pPr algn="ctr">
                <a:buSzPts val="5000"/>
              </a:pPr>
              <a:r>
                <a:rPr lang="en-US" sz="2800" i="1" dirty="0">
                  <a:solidFill>
                    <a:schemeClr val="lt1"/>
                  </a:solidFill>
                </a:rPr>
                <a:t>Saint Agnes Medical Center, Fresno, CA</a:t>
              </a:r>
              <a:endParaRPr sz="800" dirty="0"/>
            </a:p>
          </p:txBody>
        </p:sp>
        <p:sp>
          <p:nvSpPr>
            <p:cNvPr id="96" name="Google Shape;96;p1"/>
            <p:cNvSpPr/>
            <p:nvPr/>
          </p:nvSpPr>
          <p:spPr>
            <a:xfrm>
              <a:off x="21579840" y="3931893"/>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Discussion</a:t>
              </a:r>
              <a:endParaRPr sz="933"/>
            </a:p>
          </p:txBody>
        </p:sp>
        <p:sp>
          <p:nvSpPr>
            <p:cNvPr id="97" name="Google Shape;97;p1"/>
            <p:cNvSpPr/>
            <p:nvPr/>
          </p:nvSpPr>
          <p:spPr>
            <a:xfrm>
              <a:off x="21579833" y="5138898"/>
              <a:ext cx="8839200" cy="4657086"/>
            </a:xfrm>
            <a:prstGeom prst="rect">
              <a:avLst/>
            </a:prstGeom>
            <a:solidFill>
              <a:schemeClr val="lt1"/>
            </a:solidFill>
            <a:ln>
              <a:noFill/>
            </a:ln>
          </p:spPr>
          <p:txBody>
            <a:bodyPr spcFirstLastPara="1" wrap="square" lIns="60950" tIns="30467" rIns="60950" bIns="30467" anchor="ctr" anchorCtr="0">
              <a:noAutofit/>
            </a:bodyPr>
            <a:lstStyle/>
            <a:p>
              <a:pPr>
                <a:buSzPts val="7258"/>
              </a:pPr>
              <a:r>
                <a:rPr lang="en-US" sz="2467" dirty="0">
                  <a:solidFill>
                    <a:schemeClr val="dk1"/>
                  </a:solidFill>
                </a:rPr>
                <a:t>This case illustrates a rare but critical complication of Hodgkin lymphoma: acute airway obstruction due to a bulky mediastinal mass. Although mediastinal involvement is common in nodular sclerosing Hodgkin lymphoma, progression to respiratory failure requiring mechanical ventilation is uncommon [2]. In this case, urgent imaging enabled the identification of severe airway and vascular compromise, guiding immediate intervention. High-dose corticosteroids were essential in achieving rapid tumor debulking—a well-established strategy in compressive lymphomas to relieve symptoms and stabilize the airway [1]. Early intervention avoided the need for stent placement, which carries potential procedural and long-term complications.</a:t>
              </a:r>
              <a:endParaRPr sz="2467" dirty="0">
                <a:solidFill>
                  <a:schemeClr val="lt1"/>
                </a:solidFill>
              </a:endParaRPr>
            </a:p>
          </p:txBody>
        </p:sp>
        <p:sp>
          <p:nvSpPr>
            <p:cNvPr id="98" name="Google Shape;98;p1"/>
            <p:cNvSpPr/>
            <p:nvPr/>
          </p:nvSpPr>
          <p:spPr>
            <a:xfrm>
              <a:off x="21579840" y="14809029"/>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99" name="Google Shape;99;p1"/>
            <p:cNvSpPr/>
            <p:nvPr/>
          </p:nvSpPr>
          <p:spPr>
            <a:xfrm>
              <a:off x="21548299" y="16141899"/>
              <a:ext cx="8839200" cy="3261399"/>
            </a:xfrm>
            <a:prstGeom prst="rect">
              <a:avLst/>
            </a:prstGeom>
            <a:solidFill>
              <a:schemeClr val="lt1"/>
            </a:solidFill>
            <a:ln>
              <a:noFill/>
            </a:ln>
          </p:spPr>
          <p:txBody>
            <a:bodyPr spcFirstLastPara="1" wrap="square" lIns="60950" tIns="30467" rIns="60950" bIns="30467" anchor="ctr" anchorCtr="0">
              <a:noAutofit/>
            </a:bodyPr>
            <a:lstStyle/>
            <a:p>
              <a:pPr marL="304815" indent="-275180">
                <a:lnSpc>
                  <a:spcPct val="115000"/>
                </a:lnSpc>
                <a:buClr>
                  <a:schemeClr val="dk1"/>
                </a:buClr>
                <a:buSzPts val="2900"/>
                <a:buAutoNum type="arabicPeriod"/>
              </a:pPr>
              <a:r>
                <a:rPr lang="en-US" sz="1933" dirty="0">
                  <a:solidFill>
                    <a:schemeClr val="dk1"/>
                  </a:solidFill>
                </a:rPr>
                <a:t>Shanbhag, S., &amp; </a:t>
              </a:r>
              <a:r>
                <a:rPr lang="en-US" sz="1933" dirty="0" err="1">
                  <a:solidFill>
                    <a:schemeClr val="dk1"/>
                  </a:solidFill>
                </a:rPr>
                <a:t>Ambinder</a:t>
              </a:r>
              <a:r>
                <a:rPr lang="en-US" sz="1933" dirty="0">
                  <a:solidFill>
                    <a:schemeClr val="dk1"/>
                  </a:solidFill>
                </a:rPr>
                <a:t>, R. F. (2018). Hodgkin lymphoma: A review and update on recent progress. </a:t>
              </a:r>
              <a:r>
                <a:rPr lang="en-US" sz="1933" i="1" dirty="0">
                  <a:solidFill>
                    <a:schemeClr val="dk1"/>
                  </a:solidFill>
                </a:rPr>
                <a:t>CA: A Cancer Journal for Clinicians, 68</a:t>
              </a:r>
              <a:r>
                <a:rPr lang="en-US" sz="1933" dirty="0">
                  <a:solidFill>
                    <a:schemeClr val="dk1"/>
                  </a:solidFill>
                </a:rPr>
                <a:t>(2), 116–132. https://</a:t>
              </a:r>
              <a:r>
                <a:rPr lang="en-US" sz="1933" dirty="0" err="1">
                  <a:solidFill>
                    <a:schemeClr val="dk1"/>
                  </a:solidFill>
                </a:rPr>
                <a:t>doi.org</a:t>
              </a:r>
              <a:r>
                <a:rPr lang="en-US" sz="1933" dirty="0">
                  <a:solidFill>
                    <a:schemeClr val="dk1"/>
                  </a:solidFill>
                </a:rPr>
                <a:t>/10.3322/caac.21438</a:t>
              </a:r>
              <a:endParaRPr sz="1933" dirty="0">
                <a:solidFill>
                  <a:schemeClr val="dk1"/>
                </a:solidFill>
              </a:endParaRPr>
            </a:p>
            <a:p>
              <a:pPr marL="304815" indent="-275180">
                <a:lnSpc>
                  <a:spcPct val="115000"/>
                </a:lnSpc>
                <a:buClr>
                  <a:schemeClr val="dk1"/>
                </a:buClr>
                <a:buSzPts val="2900"/>
                <a:buAutoNum type="arabicPeriod"/>
              </a:pPr>
              <a:r>
                <a:rPr lang="en-US" sz="1933" dirty="0">
                  <a:solidFill>
                    <a:schemeClr val="dk1"/>
                  </a:solidFill>
                </a:rPr>
                <a:t>Mauz-</a:t>
              </a:r>
              <a:r>
                <a:rPr lang="en-US" sz="1933" dirty="0" err="1">
                  <a:solidFill>
                    <a:schemeClr val="dk1"/>
                  </a:solidFill>
                </a:rPr>
                <a:t>Körholz</a:t>
              </a:r>
              <a:r>
                <a:rPr lang="en-US" sz="1933" dirty="0">
                  <a:solidFill>
                    <a:schemeClr val="dk1"/>
                  </a:solidFill>
                </a:rPr>
                <a:t>, C., Metzger, M. L., Kelly, K. M., et al. (2015). Pediatric Hodgkin lymphoma. </a:t>
              </a:r>
              <a:r>
                <a:rPr lang="en-US" sz="1933" i="1" dirty="0">
                  <a:solidFill>
                    <a:schemeClr val="dk1"/>
                  </a:solidFill>
                </a:rPr>
                <a:t>Journal of Clinical Oncology, 33</a:t>
              </a:r>
              <a:r>
                <a:rPr lang="en-US" sz="1933" dirty="0">
                  <a:solidFill>
                    <a:schemeClr val="dk1"/>
                  </a:solidFill>
                </a:rPr>
                <a:t>(27), 2975–2985. https://</a:t>
              </a:r>
              <a:r>
                <a:rPr lang="en-US" sz="1933" dirty="0" err="1">
                  <a:solidFill>
                    <a:schemeClr val="dk1"/>
                  </a:solidFill>
                </a:rPr>
                <a:t>doi.org</a:t>
              </a:r>
              <a:r>
                <a:rPr lang="en-US" sz="1933" dirty="0">
                  <a:solidFill>
                    <a:schemeClr val="dk1"/>
                  </a:solidFill>
                </a:rPr>
                <a:t>/10.1200/JCO.2015.62.6671</a:t>
              </a:r>
              <a:endParaRPr sz="1933" dirty="0">
                <a:solidFill>
                  <a:schemeClr val="dk1"/>
                </a:solidFill>
              </a:endParaRPr>
            </a:p>
            <a:p>
              <a:pPr marL="304815" indent="-275180">
                <a:lnSpc>
                  <a:spcPct val="115000"/>
                </a:lnSpc>
                <a:buClr>
                  <a:schemeClr val="dk1"/>
                </a:buClr>
                <a:buSzPts val="2900"/>
                <a:buAutoNum type="arabicPeriod"/>
              </a:pPr>
              <a:r>
                <a:rPr lang="en-US" sz="1933" dirty="0">
                  <a:solidFill>
                    <a:schemeClr val="dk1"/>
                  </a:solidFill>
                </a:rPr>
                <a:t>Crombie, J. L., &amp; </a:t>
              </a:r>
              <a:r>
                <a:rPr lang="en-US" sz="1933" dirty="0" err="1">
                  <a:solidFill>
                    <a:schemeClr val="dk1"/>
                  </a:solidFill>
                </a:rPr>
                <a:t>LaCasce</a:t>
              </a:r>
              <a:r>
                <a:rPr lang="en-US" sz="1933" dirty="0">
                  <a:solidFill>
                    <a:schemeClr val="dk1"/>
                  </a:solidFill>
                </a:rPr>
                <a:t>, A. S. (2019). Mediastinal lymphomas: Diagnosis and management. </a:t>
              </a:r>
              <a:r>
                <a:rPr lang="en-US" sz="1933" i="1" dirty="0">
                  <a:solidFill>
                    <a:schemeClr val="dk1"/>
                  </a:solidFill>
                </a:rPr>
                <a:t>Journal of the National Comprehensive Cancer Network, 17</a:t>
              </a:r>
              <a:r>
                <a:rPr lang="en-US" sz="1933" dirty="0">
                  <a:solidFill>
                    <a:schemeClr val="dk1"/>
                  </a:solidFill>
                </a:rPr>
                <a:t>(10), 1190–1197. https://</a:t>
              </a:r>
              <a:r>
                <a:rPr lang="en-US" sz="1933" dirty="0" err="1">
                  <a:solidFill>
                    <a:schemeClr val="dk1"/>
                  </a:solidFill>
                </a:rPr>
                <a:t>doi.org</a:t>
              </a:r>
              <a:r>
                <a:rPr lang="en-US" sz="1933" dirty="0">
                  <a:solidFill>
                    <a:schemeClr val="dk1"/>
                  </a:solidFill>
                </a:rPr>
                <a:t>/10.6004/jnccn.2019.7350</a:t>
              </a:r>
              <a:endParaRPr sz="1933" dirty="0">
                <a:solidFill>
                  <a:schemeClr val="dk1"/>
                </a:solidFill>
              </a:endParaRPr>
            </a:p>
          </p:txBody>
        </p:sp>
        <p:sp>
          <p:nvSpPr>
            <p:cNvPr id="100" name="Google Shape;100;p1"/>
            <p:cNvSpPr/>
            <p:nvPr/>
          </p:nvSpPr>
          <p:spPr>
            <a:xfrm>
              <a:off x="21579840" y="10369223"/>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Conclusion</a:t>
              </a:r>
              <a:endParaRPr sz="933"/>
            </a:p>
          </p:txBody>
        </p:sp>
        <p:sp>
          <p:nvSpPr>
            <p:cNvPr id="101" name="Google Shape;101;p1"/>
            <p:cNvSpPr/>
            <p:nvPr/>
          </p:nvSpPr>
          <p:spPr>
            <a:xfrm>
              <a:off x="21579833" y="11434134"/>
              <a:ext cx="8839200" cy="3261400"/>
            </a:xfrm>
            <a:prstGeom prst="rect">
              <a:avLst/>
            </a:prstGeom>
            <a:solidFill>
              <a:schemeClr val="lt1"/>
            </a:solidFill>
            <a:ln>
              <a:noFill/>
            </a:ln>
          </p:spPr>
          <p:txBody>
            <a:bodyPr spcFirstLastPara="1" wrap="square" lIns="60950" tIns="30467" rIns="60950" bIns="30467" anchor="ctr" anchorCtr="0">
              <a:noAutofit/>
            </a:bodyPr>
            <a:lstStyle/>
            <a:p>
              <a:pPr>
                <a:buSzPts val="4000"/>
              </a:pPr>
              <a:r>
                <a:rPr lang="en-US" sz="2600">
                  <a:solidFill>
                    <a:schemeClr val="dk1"/>
                  </a:solidFill>
                </a:rPr>
                <a:t>This case underscores the importance of early recognition of airway compromise in patients with bulky mediastinal Hodgkin lymphoma. Prompt initiation of corticosteroids served as an effective temporizing measure, allowing the patient to resume definitive oncologic therapy. Coordinated, multidisciplinary management remains critical in optimizing outcomes for patients facing life-threatening complications of hematologic malignancies [3].</a:t>
              </a:r>
              <a:endParaRPr sz="2600">
                <a:solidFill>
                  <a:schemeClr val="dk1"/>
                </a:solidFill>
                <a:latin typeface="Calibri"/>
                <a:ea typeface="Calibri"/>
                <a:cs typeface="Calibri"/>
                <a:sym typeface="Calibri"/>
              </a:endParaRPr>
            </a:p>
          </p:txBody>
        </p:sp>
        <p:pic>
          <p:nvPicPr>
            <p:cNvPr id="102" name="Google Shape;102;p1"/>
            <p:cNvPicPr preferRelativeResize="0"/>
            <p:nvPr/>
          </p:nvPicPr>
          <p:blipFill rotWithShape="1">
            <a:blip r:embed="rId3">
              <a:alphaModFix/>
            </a:blip>
            <a:srcRect/>
            <a:stretch/>
          </p:blipFill>
          <p:spPr>
            <a:xfrm>
              <a:off x="11510311" y="3979750"/>
              <a:ext cx="4948889" cy="6286584"/>
            </a:xfrm>
            <a:prstGeom prst="rect">
              <a:avLst/>
            </a:prstGeom>
            <a:noFill/>
            <a:ln>
              <a:noFill/>
            </a:ln>
          </p:spPr>
        </p:pic>
        <p:pic>
          <p:nvPicPr>
            <p:cNvPr id="103" name="Google Shape;103;p1"/>
            <p:cNvPicPr preferRelativeResize="0"/>
            <p:nvPr/>
          </p:nvPicPr>
          <p:blipFill rotWithShape="1">
            <a:blip r:embed="rId4">
              <a:alphaModFix/>
            </a:blip>
            <a:srcRect/>
            <a:stretch/>
          </p:blipFill>
          <p:spPr>
            <a:xfrm>
              <a:off x="16427750" y="4014908"/>
              <a:ext cx="4948883" cy="6286576"/>
            </a:xfrm>
            <a:prstGeom prst="rect">
              <a:avLst/>
            </a:prstGeom>
            <a:noFill/>
            <a:ln>
              <a:noFill/>
            </a:ln>
          </p:spPr>
        </p:pic>
        <p:pic>
          <p:nvPicPr>
            <p:cNvPr id="104" name="Google Shape;104;p1"/>
            <p:cNvPicPr preferRelativeResize="0"/>
            <p:nvPr/>
          </p:nvPicPr>
          <p:blipFill rotWithShape="1">
            <a:blip r:embed="rId5">
              <a:alphaModFix/>
            </a:blip>
            <a:srcRect/>
            <a:stretch/>
          </p:blipFill>
          <p:spPr>
            <a:xfrm>
              <a:off x="11510317" y="10340100"/>
              <a:ext cx="4948883" cy="6286575"/>
            </a:xfrm>
            <a:prstGeom prst="rect">
              <a:avLst/>
            </a:prstGeom>
            <a:noFill/>
            <a:ln>
              <a:noFill/>
            </a:ln>
          </p:spPr>
        </p:pic>
        <p:pic>
          <p:nvPicPr>
            <p:cNvPr id="105" name="Google Shape;105;p1"/>
            <p:cNvPicPr preferRelativeResize="0"/>
            <p:nvPr/>
          </p:nvPicPr>
          <p:blipFill rotWithShape="1">
            <a:blip r:embed="rId6">
              <a:alphaModFix/>
            </a:blip>
            <a:srcRect/>
            <a:stretch/>
          </p:blipFill>
          <p:spPr>
            <a:xfrm>
              <a:off x="16427750" y="10340101"/>
              <a:ext cx="4948884" cy="6286575"/>
            </a:xfrm>
            <a:prstGeom prst="rect">
              <a:avLst/>
            </a:prstGeom>
            <a:noFill/>
            <a:ln>
              <a:noFill/>
            </a:ln>
          </p:spPr>
        </p:pic>
        <p:sp>
          <p:nvSpPr>
            <p:cNvPr id="106" name="Google Shape;106;p1"/>
            <p:cNvSpPr/>
            <p:nvPr/>
          </p:nvSpPr>
          <p:spPr>
            <a:xfrm>
              <a:off x="11510233" y="16719217"/>
              <a:ext cx="98664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 cont.</a:t>
              </a:r>
              <a:endParaRPr sz="933"/>
            </a:p>
          </p:txBody>
        </p:sp>
        <p:sp>
          <p:nvSpPr>
            <p:cNvPr id="107" name="Google Shape;107;p1"/>
            <p:cNvSpPr/>
            <p:nvPr/>
          </p:nvSpPr>
          <p:spPr>
            <a:xfrm>
              <a:off x="11510317" y="17850417"/>
              <a:ext cx="9866400" cy="36524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spcBef>
                  <a:spcPts val="4867"/>
                </a:spcBef>
                <a:spcAft>
                  <a:spcPts val="4867"/>
                </a:spcAft>
                <a:buClr>
                  <a:schemeClr val="dk1"/>
                </a:buClr>
                <a:buSzPts val="1100"/>
              </a:pPr>
              <a:r>
                <a:rPr lang="en-US" sz="2400">
                  <a:solidFill>
                    <a:schemeClr val="dk1"/>
                  </a:solidFill>
                </a:rPr>
                <a:t>A stent was considered but deferred due to risks associated with metal airway stents in young patients.</a:t>
              </a:r>
              <a:r>
                <a:rPr lang="en-US" sz="2467">
                  <a:solidFill>
                    <a:schemeClr val="dk1"/>
                  </a:solidFill>
                </a:rPr>
                <a:t>During her ICU stay, a large right pleural effusion was identified and drained. The pleural fluid was transudative with negative cytology. On repeat CT imaging at day five, airway patency had improved, and she was successfully extubated to room air (Figure 4). She continued receiving chemotherapy and corticosteroids, resulting in significant clinical improvement. The patient was discharged in stable condition with close outpatient oncology follow-up.</a:t>
              </a:r>
              <a:endParaRPr sz="2467">
                <a:solidFill>
                  <a:schemeClr val="dk1"/>
                </a:solidFill>
              </a:endParaRPr>
            </a:p>
          </p:txBody>
        </p:sp>
        <p:sp>
          <p:nvSpPr>
            <p:cNvPr id="108" name="Google Shape;108;p1"/>
            <p:cNvSpPr txBox="1"/>
            <p:nvPr/>
          </p:nvSpPr>
          <p:spPr>
            <a:xfrm>
              <a:off x="11752283" y="4107300"/>
              <a:ext cx="1768800" cy="419800"/>
            </a:xfrm>
            <a:prstGeom prst="rect">
              <a:avLst/>
            </a:prstGeom>
            <a:noFill/>
            <a:ln>
              <a:noFill/>
            </a:ln>
          </p:spPr>
          <p:txBody>
            <a:bodyPr spcFirstLastPara="1" wrap="square" lIns="60950" tIns="60950" rIns="60950" bIns="60950" anchor="t" anchorCtr="0">
              <a:noAutofit/>
            </a:bodyPr>
            <a:lstStyle/>
            <a:p>
              <a:r>
                <a:rPr lang="en-US" sz="3067" b="1">
                  <a:solidFill>
                    <a:srgbClr val="980000"/>
                  </a:solidFill>
                  <a:highlight>
                    <a:schemeClr val="lt1"/>
                  </a:highlight>
                </a:rPr>
                <a:t>Figure 1</a:t>
              </a:r>
              <a:endParaRPr sz="3067" b="1">
                <a:solidFill>
                  <a:srgbClr val="980000"/>
                </a:solidFill>
                <a:highlight>
                  <a:schemeClr val="lt1"/>
                </a:highlight>
              </a:endParaRPr>
            </a:p>
          </p:txBody>
        </p:sp>
        <p:sp>
          <p:nvSpPr>
            <p:cNvPr id="109" name="Google Shape;109;p1"/>
            <p:cNvSpPr txBox="1"/>
            <p:nvPr/>
          </p:nvSpPr>
          <p:spPr>
            <a:xfrm>
              <a:off x="16666059" y="4160633"/>
              <a:ext cx="1768800" cy="419800"/>
            </a:xfrm>
            <a:prstGeom prst="rect">
              <a:avLst/>
            </a:prstGeom>
            <a:noFill/>
            <a:ln>
              <a:noFill/>
            </a:ln>
          </p:spPr>
          <p:txBody>
            <a:bodyPr spcFirstLastPara="1" wrap="square" lIns="60950" tIns="60950" rIns="60950" bIns="60950" anchor="t" anchorCtr="0">
              <a:noAutofit/>
            </a:bodyPr>
            <a:lstStyle/>
            <a:p>
              <a:r>
                <a:rPr lang="en-US" sz="3067" b="1">
                  <a:solidFill>
                    <a:srgbClr val="980000"/>
                  </a:solidFill>
                  <a:highlight>
                    <a:schemeClr val="lt1"/>
                  </a:highlight>
                </a:rPr>
                <a:t>Figure 2</a:t>
              </a:r>
              <a:endParaRPr sz="3067" b="1">
                <a:solidFill>
                  <a:srgbClr val="980000"/>
                </a:solidFill>
                <a:highlight>
                  <a:schemeClr val="lt1"/>
                </a:highlight>
              </a:endParaRPr>
            </a:p>
          </p:txBody>
        </p:sp>
        <p:sp>
          <p:nvSpPr>
            <p:cNvPr id="110" name="Google Shape;110;p1"/>
            <p:cNvSpPr txBox="1"/>
            <p:nvPr/>
          </p:nvSpPr>
          <p:spPr>
            <a:xfrm>
              <a:off x="11752283" y="10641859"/>
              <a:ext cx="1768800" cy="419800"/>
            </a:xfrm>
            <a:prstGeom prst="rect">
              <a:avLst/>
            </a:prstGeom>
            <a:noFill/>
            <a:ln>
              <a:noFill/>
            </a:ln>
          </p:spPr>
          <p:txBody>
            <a:bodyPr spcFirstLastPara="1" wrap="square" lIns="60950" tIns="60950" rIns="60950" bIns="60950" anchor="t" anchorCtr="0">
              <a:noAutofit/>
            </a:bodyPr>
            <a:lstStyle/>
            <a:p>
              <a:r>
                <a:rPr lang="en-US" sz="3067" b="1">
                  <a:solidFill>
                    <a:srgbClr val="980000"/>
                  </a:solidFill>
                  <a:highlight>
                    <a:schemeClr val="lt1"/>
                  </a:highlight>
                </a:rPr>
                <a:t>Figure 3</a:t>
              </a:r>
              <a:endParaRPr sz="3067" b="1">
                <a:solidFill>
                  <a:srgbClr val="980000"/>
                </a:solidFill>
                <a:highlight>
                  <a:schemeClr val="lt1"/>
                </a:highlight>
              </a:endParaRPr>
            </a:p>
          </p:txBody>
        </p:sp>
        <p:sp>
          <p:nvSpPr>
            <p:cNvPr id="111" name="Google Shape;111;p1"/>
            <p:cNvSpPr txBox="1"/>
            <p:nvPr/>
          </p:nvSpPr>
          <p:spPr>
            <a:xfrm>
              <a:off x="16666059" y="10668525"/>
              <a:ext cx="1768800" cy="419800"/>
            </a:xfrm>
            <a:prstGeom prst="rect">
              <a:avLst/>
            </a:prstGeom>
            <a:noFill/>
            <a:ln>
              <a:noFill/>
            </a:ln>
          </p:spPr>
          <p:txBody>
            <a:bodyPr spcFirstLastPara="1" wrap="square" lIns="60950" tIns="60950" rIns="60950" bIns="60950" anchor="t" anchorCtr="0">
              <a:noAutofit/>
            </a:bodyPr>
            <a:lstStyle/>
            <a:p>
              <a:r>
                <a:rPr lang="en-US" sz="3067" b="1">
                  <a:solidFill>
                    <a:srgbClr val="980000"/>
                  </a:solidFill>
                  <a:highlight>
                    <a:schemeClr val="lt1"/>
                  </a:highlight>
                </a:rPr>
                <a:t>Figure 4</a:t>
              </a:r>
              <a:endParaRPr sz="3067" b="1">
                <a:solidFill>
                  <a:srgbClr val="980000"/>
                </a:solidFill>
                <a:highlight>
                  <a:schemeClr val="lt1"/>
                </a:highlight>
              </a:endParaRPr>
            </a:p>
          </p:txBody>
        </p:sp>
        <p:cxnSp>
          <p:nvCxnSpPr>
            <p:cNvPr id="112" name="Google Shape;112;p1"/>
            <p:cNvCxnSpPr/>
            <p:nvPr/>
          </p:nvCxnSpPr>
          <p:spPr>
            <a:xfrm>
              <a:off x="13461167" y="13191350"/>
              <a:ext cx="629600" cy="449800"/>
            </a:xfrm>
            <a:prstGeom prst="straightConnector1">
              <a:avLst/>
            </a:prstGeom>
            <a:noFill/>
            <a:ln w="152400" cap="flat" cmpd="sng">
              <a:solidFill>
                <a:srgbClr val="FF0000"/>
              </a:solidFill>
              <a:prstDash val="solid"/>
              <a:round/>
              <a:headEnd type="none" w="med" len="med"/>
              <a:tailEnd type="triangle" w="med" len="med"/>
            </a:ln>
          </p:spPr>
        </p:cxnSp>
        <p:cxnSp>
          <p:nvCxnSpPr>
            <p:cNvPr id="113" name="Google Shape;113;p1"/>
            <p:cNvCxnSpPr/>
            <p:nvPr/>
          </p:nvCxnSpPr>
          <p:spPr>
            <a:xfrm>
              <a:off x="18185567" y="13292950"/>
              <a:ext cx="629600" cy="449800"/>
            </a:xfrm>
            <a:prstGeom prst="straightConnector1">
              <a:avLst/>
            </a:prstGeom>
            <a:noFill/>
            <a:ln w="152400" cap="flat" cmpd="sng">
              <a:solidFill>
                <a:srgbClr val="FF0000"/>
              </a:solidFill>
              <a:prstDash val="solid"/>
              <a:round/>
              <a:headEnd type="none" w="med" len="med"/>
              <a:tailEnd type="triangle" w="med" len="med"/>
            </a:ln>
          </p:spPr>
        </p:cxnSp>
        <p:sp>
          <p:nvSpPr>
            <p:cNvPr id="114" name="Google Shape;114;p1"/>
            <p:cNvSpPr/>
            <p:nvPr/>
          </p:nvSpPr>
          <p:spPr>
            <a:xfrm>
              <a:off x="21579840" y="19403297"/>
              <a:ext cx="8839200" cy="2027957"/>
            </a:xfrm>
            <a:prstGeom prst="rect">
              <a:avLst/>
            </a:prstGeom>
            <a:solidFill>
              <a:srgbClr val="FFFFFF"/>
            </a:solidFill>
            <a:ln>
              <a:noFill/>
            </a:ln>
          </p:spPr>
          <p:txBody>
            <a:bodyPr spcFirstLastPara="1" wrap="square" lIns="60950" tIns="30467" rIns="60950" bIns="30467" anchor="ctr" anchorCtr="0">
              <a:noAutofit/>
            </a:bodyPr>
            <a:lstStyle/>
            <a:p>
              <a:pPr algn="ctr">
                <a:buSzPts val="7258"/>
              </a:pPr>
              <a:endParaRPr sz="4839">
                <a:latin typeface="Calibri"/>
                <a:ea typeface="Calibri"/>
                <a:cs typeface="Calibri"/>
                <a:sym typeface="Calibri"/>
              </a:endParaRPr>
            </a:p>
          </p:txBody>
        </p:sp>
        <p:pic>
          <p:nvPicPr>
            <p:cNvPr id="115" name="Google Shape;115;p1" descr="Logo, company name&#10;&#10;Description automatically generated"/>
            <p:cNvPicPr preferRelativeResize="0"/>
            <p:nvPr/>
          </p:nvPicPr>
          <p:blipFill rotWithShape="1">
            <a:blip r:embed="rId7">
              <a:alphaModFix/>
            </a:blip>
            <a:srcRect b="54543"/>
            <a:stretch/>
          </p:blipFill>
          <p:spPr>
            <a:xfrm>
              <a:off x="23176820" y="19644053"/>
              <a:ext cx="3748117" cy="1692222"/>
            </a:xfrm>
            <a:prstGeom prst="rect">
              <a:avLst/>
            </a:prstGeom>
            <a:noFill/>
            <a:ln>
              <a:noFill/>
            </a:ln>
          </p:spPr>
        </p:pic>
        <p:pic>
          <p:nvPicPr>
            <p:cNvPr id="116" name="Google Shape;116;p1" descr="Logo, company name&#10;&#10;Description automatically generated"/>
            <p:cNvPicPr preferRelativeResize="0"/>
            <p:nvPr/>
          </p:nvPicPr>
          <p:blipFill rotWithShape="1">
            <a:blip r:embed="rId7">
              <a:alphaModFix/>
            </a:blip>
            <a:srcRect t="47565" b="13423"/>
            <a:stretch/>
          </p:blipFill>
          <p:spPr>
            <a:xfrm>
              <a:off x="25066649" y="19723828"/>
              <a:ext cx="3955647" cy="1532673"/>
            </a:xfrm>
            <a:prstGeom prst="rect">
              <a:avLst/>
            </a:prstGeom>
            <a:noFill/>
            <a:ln>
              <a:noFill/>
            </a:ln>
          </p:spPr>
        </p:pic>
      </p:grpSp>
      <p:pic>
        <p:nvPicPr>
          <p:cNvPr id="117" name="Picture 116" descr="57C.png"/>
          <p:cNvPicPr>
            <a:picLocks noChangeAspect="1"/>
          </p:cNvPicPr>
          <p:nvPr/>
        </p:nvPicPr>
        <p:blipFill>
          <a:blip r:embed="rId8"/>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818</Words>
  <Application>Microsoft Macintosh PowerPoint</Application>
  <PresentationFormat>Custom</PresentationFormat>
  <Paragraphs>23</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1</cp:revision>
  <dcterms:modified xsi:type="dcterms:W3CDTF">2025-04-27T03:51:20Z</dcterms:modified>
</cp:coreProperties>
</file>