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2918400" cy="21945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1"/>
    <p:restoredTop sz="94685"/>
  </p:normalViewPr>
  <p:slideViewPr>
    <p:cSldViewPr snapToGrid="0">
      <p:cViewPr>
        <p:scale>
          <a:sx n="59" d="100"/>
          <a:sy n="59" d="100"/>
        </p:scale>
        <p:origin x="248" y="144"/>
      </p:cViewPr>
      <p:guideLst>
        <p:guide orient="horz" pos="6912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14425" y="1143000"/>
            <a:ext cx="462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2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0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68880" y="3591561"/>
            <a:ext cx="27980640" cy="764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1920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114800" y="11526521"/>
            <a:ext cx="24688800" cy="5298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/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6400"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5760"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2245996" y="5471166"/>
            <a:ext cx="28392120" cy="912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1920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2245996" y="14686286"/>
            <a:ext cx="28392120" cy="480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>
                <a:solidFill>
                  <a:schemeClr val="dk1"/>
                </a:solidFill>
              </a:defRPr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 sz="6400">
                <a:solidFill>
                  <a:srgbClr val="888888"/>
                </a:solidFill>
              </a:defRPr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8640"/>
              <a:buNone/>
              <a:defRPr sz="5760">
                <a:solidFill>
                  <a:srgbClr val="888888"/>
                </a:solidFill>
              </a:defRPr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512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139903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16664940" y="5842000"/>
            <a:ext cx="139903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2267428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2267432" y="5379721"/>
            <a:ext cx="13926024" cy="263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 b="1"/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6400" b="1"/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5760" b="1"/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2267432" y="8016240"/>
            <a:ext cx="13926024" cy="11790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16664942" y="5379721"/>
            <a:ext cx="13994608" cy="263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7680" b="1"/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6400" b="1"/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5760" b="1"/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16664942" y="8016240"/>
            <a:ext cx="13994608" cy="11790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024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13994608" y="3159765"/>
            <a:ext cx="16664940" cy="155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802680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5360"/>
              <a:buChar char="•"/>
              <a:defRPr sz="10241"/>
            </a:lvl1pPr>
            <a:lvl2pPr marL="609630" lvl="1" indent="-72139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3440"/>
              <a:buChar char="•"/>
              <a:defRPr sz="8960"/>
            </a:lvl2pPr>
            <a:lvl3pPr marL="914446" lvl="2" indent="-64011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520"/>
              <a:buChar char="•"/>
              <a:defRPr sz="7680"/>
            </a:lvl3pPr>
            <a:lvl4pPr marL="1219261" lvl="3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4pPr>
            <a:lvl5pPr marL="1524076" lvl="4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5pPr>
            <a:lvl6pPr marL="1828891" lvl="5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6pPr>
            <a:lvl7pPr marL="2133707" lvl="6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7pPr>
            <a:lvl8pPr marL="2438522" lvl="7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8pPr>
            <a:lvl9pPr marL="2743337" lvl="8" indent="-55882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64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2267428" y="6583680"/>
            <a:ext cx="10617041" cy="1219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4480"/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3840"/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024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3994608" y="3159765"/>
            <a:ext cx="16664940" cy="15595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267428" y="6583680"/>
            <a:ext cx="10617041" cy="1219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152408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5120"/>
            </a:lvl1pPr>
            <a:lvl2pPr marL="609630" lvl="1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4480"/>
            </a:lvl2pPr>
            <a:lvl3pPr marL="914446" lvl="2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3840"/>
            </a:lvl3pPr>
            <a:lvl4pPr marL="1219261" lvl="3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4pPr>
            <a:lvl5pPr marL="1524076" lvl="4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5pPr>
            <a:lvl6pPr marL="1828891" lvl="5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6pPr>
            <a:lvl7pPr marL="2133707" lvl="6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7pPr>
            <a:lvl8pPr marL="2438522" lvl="7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8pPr>
            <a:lvl9pPr marL="2743337" lvl="8" indent="-152408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32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9497060" y="-1391919"/>
            <a:ext cx="13924281" cy="2839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17807306" y="6918326"/>
            <a:ext cx="18597881" cy="7098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3405506" y="26036"/>
            <a:ext cx="18597881" cy="2088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lvl="0" indent="-228611" algn="l">
              <a:lnSpc>
                <a:spcPct val="90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630" lvl="1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446" lvl="2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261" lvl="3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4076" lvl="4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891" lvl="5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707" lvl="6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522" lvl="7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3337" lvl="8" indent="-22861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63140" y="1168405"/>
            <a:ext cx="28392120" cy="4241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20"/>
              <a:buFont typeface="Calibri"/>
              <a:buNone/>
              <a:defRPr sz="211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1082040" algn="l" rtl="0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Arial"/>
              <a:buChar char="•"/>
              <a:defRPr sz="134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6012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Arial"/>
              <a:buChar char="•"/>
              <a:defRPr sz="11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3820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sz="9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77239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7724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sz="864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3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60"/>
              <a:buFont typeface="Arial"/>
              <a:buNone/>
              <a:defRPr sz="38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cdc.gov/hai/data/portal/progress-report.html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23528576" y="18629500"/>
            <a:ext cx="8839200" cy="23835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7258"/>
            </a:pPr>
            <a:endParaRPr sz="483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292607" y="11437541"/>
            <a:ext cx="10277849" cy="10804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7258"/>
            </a:pPr>
            <a:r>
              <a:rPr lang="en-US" sz="4839">
                <a:solidFill>
                  <a:schemeClr val="lt1"/>
                </a:solidFill>
              </a:rPr>
              <a:t>Methods</a:t>
            </a:r>
            <a:endParaRPr sz="933"/>
          </a:p>
        </p:txBody>
      </p:sp>
      <p:sp>
        <p:nvSpPr>
          <p:cNvPr id="91" name="Google Shape;91;p13"/>
          <p:cNvSpPr/>
          <p:nvPr/>
        </p:nvSpPr>
        <p:spPr>
          <a:xfrm>
            <a:off x="292614" y="12531783"/>
            <a:ext cx="10214841" cy="903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</a:pPr>
            <a:r>
              <a:rPr lang="en-US" sz="2867" dirty="0">
                <a:solidFill>
                  <a:schemeClr val="dk1"/>
                </a:solidFill>
              </a:rPr>
              <a:t>To reduce CAUTI rates, we conducted a baseline assessment reviewing 12-month CAUTI data to identify high-risk units and practice gaps. Interventions included a nurse-driven catheter use protocol requiring justification for insertion and promoting timely removal. An insertion bundle emphasized hand hygiene, aseptic technique, and sterile equipment, while a maintenance bundle focused on daily necessity review, securement, drainage, and perineal care. Monthly staff education and competency validation were implemented. Real-time audit dashboards, unit-level feedback, and staff recognition supported compliance was implemented and discussed in daily interdisciplinary team rounds in the intensive care unit. EHR-based alerts prompted catheter reviews and auto-expiry were implemented to reinforce best practices and standardization.</a:t>
            </a:r>
            <a:endParaRPr sz="2867" dirty="0">
              <a:solidFill>
                <a:schemeClr val="dk1"/>
              </a:solidFill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305256" y="4262565"/>
            <a:ext cx="10277856" cy="1080481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7258"/>
            </a:pPr>
            <a:r>
              <a:rPr lang="en-US" sz="4839">
                <a:solidFill>
                  <a:schemeClr val="lt1"/>
                </a:solidFill>
              </a:rPr>
              <a:t>Introduction</a:t>
            </a:r>
            <a:endParaRPr sz="933"/>
          </a:p>
        </p:txBody>
      </p:sp>
      <p:sp>
        <p:nvSpPr>
          <p:cNvPr id="93" name="Google Shape;93;p13"/>
          <p:cNvSpPr/>
          <p:nvPr/>
        </p:nvSpPr>
        <p:spPr>
          <a:xfrm>
            <a:off x="292614" y="5420017"/>
            <a:ext cx="10277849" cy="582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800" dirty="0">
                <a:solidFill>
                  <a:schemeClr val="dk1"/>
                </a:solidFill>
              </a:rPr>
              <a:t>Catheter-Associated Urinary Tract Infections (CAUTIs) are among the most common healthcare-associated infections nationwide and significantly contribute to patient morbidity, prolonged hospitalization, and increased healthcare costs. This QI project aims to implement evidence-based interventions to reduce CAUTI rates in both the general hospital and the ICU setting. The objective is to reduce CAUTI incidence by 30% over 12 months by promoting appropriate catheter use and timely removal, improving staff adherence to insertion and maintenance bundles, and enhancing surveillance and feedback mechanisms.</a:t>
            </a:r>
            <a:endParaRPr sz="2800" dirty="0">
              <a:solidFill>
                <a:schemeClr val="lt1"/>
              </a:solidFill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292607" y="183608"/>
            <a:ext cx="32333184" cy="3809162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7258"/>
            </a:pPr>
            <a:endParaRPr sz="483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4426019" y="872625"/>
            <a:ext cx="23548200" cy="16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buSzPts val="8500"/>
            </a:pPr>
            <a:r>
              <a:rPr lang="en-US" sz="4000" b="1" dirty="0">
                <a:solidFill>
                  <a:schemeClr val="lt1"/>
                </a:solidFill>
              </a:rPr>
              <a:t>Breaking the CAUTI Cycle: A Multidisciplinary Initiative to Reduce </a:t>
            </a:r>
          </a:p>
          <a:p>
            <a:pPr algn="ctr">
              <a:buSzPts val="8500"/>
            </a:pPr>
            <a:r>
              <a:rPr lang="en-US" sz="4000" b="1" dirty="0">
                <a:solidFill>
                  <a:schemeClr val="lt1"/>
                </a:solidFill>
              </a:rPr>
              <a:t>Catheter-Associated UTIs in Hospital and ICU Settings</a:t>
            </a:r>
            <a:endParaRPr sz="4000" dirty="0"/>
          </a:p>
        </p:txBody>
      </p:sp>
      <p:sp>
        <p:nvSpPr>
          <p:cNvPr id="96" name="Google Shape;96;p13"/>
          <p:cNvSpPr/>
          <p:nvPr/>
        </p:nvSpPr>
        <p:spPr>
          <a:xfrm>
            <a:off x="7120780" y="2145650"/>
            <a:ext cx="18737800" cy="17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6000"/>
            </a:pPr>
            <a:r>
              <a:rPr lang="en-US" sz="2800" dirty="0">
                <a:solidFill>
                  <a:schemeClr val="lt1"/>
                </a:solidFill>
              </a:rPr>
              <a:t>Mahmut </a:t>
            </a:r>
            <a:r>
              <a:rPr lang="en-US" sz="2800" dirty="0" err="1">
                <a:solidFill>
                  <a:schemeClr val="lt1"/>
                </a:solidFill>
              </a:rPr>
              <a:t>Unverdi</a:t>
            </a:r>
            <a:r>
              <a:rPr lang="en-US" sz="2800" dirty="0">
                <a:solidFill>
                  <a:schemeClr val="lt1"/>
                </a:solidFill>
              </a:rPr>
              <a:t> MD, Andrew Clark MD, Hamna Javed MD, Kamalpreet Gill MD, Amritpal Nat MD, Talal Arab MD</a:t>
            </a:r>
            <a:endParaRPr sz="2800" dirty="0"/>
          </a:p>
          <a:p>
            <a:pPr algn="ctr">
              <a:buSzPts val="5000"/>
            </a:pPr>
            <a:r>
              <a:rPr lang="en-US" sz="2400" i="1" dirty="0">
                <a:solidFill>
                  <a:schemeClr val="lt1"/>
                </a:solidFill>
              </a:rPr>
              <a:t>Saint Agnes Medical Center, Fresno, CA</a:t>
            </a:r>
            <a:endParaRPr sz="2400"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11802600" y="9660212"/>
            <a:ext cx="8730647" cy="36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3000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Figure 1: Comparison of Hospital and ICU CAUTI Rates with the National Average </a:t>
            </a:r>
            <a:endParaRPr sz="933" dirty="0"/>
          </a:p>
        </p:txBody>
      </p:sp>
      <p:sp>
        <p:nvSpPr>
          <p:cNvPr id="98" name="Google Shape;98;p13"/>
          <p:cNvSpPr txBox="1"/>
          <p:nvPr/>
        </p:nvSpPr>
        <p:spPr>
          <a:xfrm>
            <a:off x="22988174" y="8748134"/>
            <a:ext cx="8907219" cy="36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3000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Figure 2: CAUTI Rate Reduction seen over 2023 and 2024</a:t>
            </a:r>
            <a:endParaRPr sz="933" dirty="0"/>
          </a:p>
        </p:txBody>
      </p:sp>
      <p:sp>
        <p:nvSpPr>
          <p:cNvPr id="99" name="Google Shape;99;p13"/>
          <p:cNvSpPr/>
          <p:nvPr/>
        </p:nvSpPr>
        <p:spPr>
          <a:xfrm>
            <a:off x="11088199" y="13350883"/>
            <a:ext cx="10125869" cy="11596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7258"/>
            </a:pPr>
            <a:r>
              <a:rPr lang="en-US" sz="4839">
                <a:solidFill>
                  <a:schemeClr val="lt1"/>
                </a:solidFill>
              </a:rPr>
              <a:t>Results</a:t>
            </a:r>
            <a:endParaRPr sz="933"/>
          </a:p>
        </p:txBody>
      </p:sp>
      <p:sp>
        <p:nvSpPr>
          <p:cNvPr id="100" name="Google Shape;100;p13"/>
          <p:cNvSpPr/>
          <p:nvPr/>
        </p:nvSpPr>
        <p:spPr>
          <a:xfrm>
            <a:off x="11118731" y="14510483"/>
            <a:ext cx="10125869" cy="705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</a:pPr>
            <a:r>
              <a:rPr lang="en-US" sz="2867" dirty="0">
                <a:solidFill>
                  <a:schemeClr val="dk1"/>
                </a:solidFill>
              </a:rPr>
              <a:t>The implementation of a CAUTI prevention initiative from 2023 to 2024 led to a 45% reduction in house-wide CAUTIs (from 11 to 6 cases) and a 60% reduction in ICU CAUTIs (from 5 to 2 cases). In contrast, CDC national data showed only an 11% reduction in CAUTIs among acute care hospitals over a similar period [1]. These results exceed national trends and demonstrate the effectiveness of our targeted, multidisciplinary interventions. Improvements are attributed to standardized catheter use protocols, enhanced staff education, and a reduced catheter utilization ratio. Ongoing efforts are focused on achieving &gt;90% compliance with CAUTI prevention bundles across all units.</a:t>
            </a:r>
            <a:endParaRPr sz="2867" dirty="0">
              <a:solidFill>
                <a:schemeClr val="lt1"/>
              </a:solidFill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23056193" y="15789219"/>
            <a:ext cx="9311590" cy="10804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7258"/>
            </a:pPr>
            <a:r>
              <a:rPr lang="en-US" sz="4839" dirty="0">
                <a:solidFill>
                  <a:schemeClr val="lt1"/>
                </a:solidFill>
              </a:rPr>
              <a:t>References</a:t>
            </a:r>
            <a:endParaRPr sz="933" dirty="0"/>
          </a:p>
        </p:txBody>
      </p:sp>
      <p:sp>
        <p:nvSpPr>
          <p:cNvPr id="102" name="Google Shape;102;p13"/>
          <p:cNvSpPr/>
          <p:nvPr/>
        </p:nvSpPr>
        <p:spPr>
          <a:xfrm>
            <a:off x="23056186" y="16950257"/>
            <a:ext cx="9311590" cy="21849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304815" indent="-237079">
              <a:lnSpc>
                <a:spcPct val="115000"/>
              </a:lnSpc>
              <a:spcBef>
                <a:spcPts val="800"/>
              </a:spcBef>
              <a:buClr>
                <a:schemeClr val="dk1"/>
              </a:buClr>
              <a:buSzPts val="2000"/>
              <a:buAutoNum type="arabicPeriod"/>
            </a:pPr>
            <a:r>
              <a:rPr lang="en-US" sz="1333" dirty="0">
                <a:solidFill>
                  <a:schemeClr val="dk1"/>
                </a:solidFill>
              </a:rPr>
              <a:t>Centers for Disease Control and Prevention. </a:t>
            </a:r>
            <a:r>
              <a:rPr lang="en-US" sz="1333" i="1" dirty="0">
                <a:solidFill>
                  <a:schemeClr val="dk1"/>
                </a:solidFill>
              </a:rPr>
              <a:t>2023 National and State Healthcare-Associated Infections Progress </a:t>
            </a:r>
            <a:r>
              <a:rPr lang="en-US" sz="1333" i="1" dirty="0" err="1">
                <a:solidFill>
                  <a:schemeClr val="dk1"/>
                </a:solidFill>
              </a:rPr>
              <a:t>Report.</a:t>
            </a:r>
            <a:r>
              <a:rPr lang="en-US" sz="1333" u="sng" dirty="0" err="1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sz="1333" u="sng" dirty="0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://www.cdc.gov/hai/data/portal/progress-report.html</a:t>
            </a:r>
            <a:endParaRPr sz="1333" u="sng" dirty="0">
              <a:solidFill>
                <a:srgbClr val="1155CC"/>
              </a:solidFill>
            </a:endParaRPr>
          </a:p>
          <a:p>
            <a:pPr marL="304815" indent="-237079">
              <a:lnSpc>
                <a:spcPct val="115000"/>
              </a:lnSpc>
              <a:buClr>
                <a:schemeClr val="dk1"/>
              </a:buClr>
              <a:buSzPts val="2000"/>
              <a:buAutoNum type="arabicPeriod"/>
            </a:pPr>
            <a:r>
              <a:rPr lang="en-US" sz="1333" dirty="0">
                <a:solidFill>
                  <a:schemeClr val="dk1"/>
                </a:solidFill>
              </a:rPr>
              <a:t>Saint S, Greene MT, Kowalski CP, et al. Preventing catheter-associated urinary tract infection in the United States: a national comparative study. </a:t>
            </a:r>
            <a:r>
              <a:rPr lang="en-US" sz="1333" i="1" dirty="0">
                <a:solidFill>
                  <a:schemeClr val="dk1"/>
                </a:solidFill>
              </a:rPr>
              <a:t>JAMA Intern Med.</a:t>
            </a:r>
            <a:r>
              <a:rPr lang="en-US" sz="1333" dirty="0">
                <a:solidFill>
                  <a:schemeClr val="dk1"/>
                </a:solidFill>
              </a:rPr>
              <a:t> 2013;173(10):874-879.</a:t>
            </a:r>
            <a:endParaRPr sz="1333" dirty="0">
              <a:solidFill>
                <a:schemeClr val="dk1"/>
              </a:solidFill>
            </a:endParaRPr>
          </a:p>
          <a:p>
            <a:pPr marL="304815" indent="-237079">
              <a:lnSpc>
                <a:spcPct val="115000"/>
              </a:lnSpc>
              <a:buClr>
                <a:schemeClr val="dk1"/>
              </a:buClr>
              <a:buSzPts val="2000"/>
              <a:buAutoNum type="arabicPeriod"/>
            </a:pPr>
            <a:r>
              <a:rPr lang="en-US" sz="1333" dirty="0">
                <a:solidFill>
                  <a:schemeClr val="dk1"/>
                </a:solidFill>
              </a:rPr>
              <a:t>Meddings J, Rogers MA, Krein SL, et al. Reducing unnecessary urinary catheter use and other strategies to prevent CAUTIs: an integrative review. </a:t>
            </a:r>
            <a:r>
              <a:rPr lang="en-US" sz="1333" i="1" dirty="0">
                <a:solidFill>
                  <a:schemeClr val="dk1"/>
                </a:solidFill>
              </a:rPr>
              <a:t>BMJ Qual Saf.</a:t>
            </a:r>
            <a:r>
              <a:rPr lang="en-US" sz="1333" dirty="0">
                <a:solidFill>
                  <a:schemeClr val="dk1"/>
                </a:solidFill>
              </a:rPr>
              <a:t> 2014;23(4):277–289.</a:t>
            </a:r>
            <a:endParaRPr sz="1333" dirty="0">
              <a:solidFill>
                <a:schemeClr val="dk1"/>
              </a:solidFill>
            </a:endParaRPr>
          </a:p>
          <a:p>
            <a:pPr marL="304815" indent="-237079">
              <a:lnSpc>
                <a:spcPct val="115000"/>
              </a:lnSpc>
              <a:buClr>
                <a:schemeClr val="dk1"/>
              </a:buClr>
              <a:buSzPts val="2000"/>
              <a:buAutoNum type="arabicPeriod"/>
            </a:pPr>
            <a:r>
              <a:rPr lang="en-US" sz="1333" dirty="0">
                <a:solidFill>
                  <a:schemeClr val="dk1"/>
                </a:solidFill>
              </a:rPr>
              <a:t>Lo E, Nicolle LE, Coffin SE, et al. Strategies to prevent catheter-associated urinary tract infections in acute care hospitals: 2014 update. </a:t>
            </a:r>
            <a:r>
              <a:rPr lang="en-US" sz="1333" i="1" dirty="0">
                <a:solidFill>
                  <a:schemeClr val="dk1"/>
                </a:solidFill>
              </a:rPr>
              <a:t>Infect Control Hosp Epidemiol.</a:t>
            </a:r>
            <a:r>
              <a:rPr lang="en-US" sz="1333" dirty="0">
                <a:solidFill>
                  <a:schemeClr val="dk1"/>
                </a:solidFill>
              </a:rPr>
              <a:t> 2014;35(5):464–479.</a:t>
            </a:r>
            <a:endParaRPr sz="1333" dirty="0">
              <a:solidFill>
                <a:schemeClr val="dk1"/>
              </a:solidFill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22988174" y="9518947"/>
            <a:ext cx="9398963" cy="1080400"/>
          </a:xfrm>
          <a:prstGeom prst="rect">
            <a:avLst/>
          </a:prstGeom>
          <a:solidFill>
            <a:srgbClr val="00467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7258"/>
            </a:pPr>
            <a:r>
              <a:rPr lang="en-US" sz="4839" dirty="0">
                <a:solidFill>
                  <a:schemeClr val="lt1"/>
                </a:solidFill>
              </a:rPr>
              <a:t>Discussion</a:t>
            </a:r>
            <a:endParaRPr sz="933" dirty="0"/>
          </a:p>
        </p:txBody>
      </p:sp>
      <p:sp>
        <p:nvSpPr>
          <p:cNvPr id="104" name="Google Shape;104;p13"/>
          <p:cNvSpPr/>
          <p:nvPr/>
        </p:nvSpPr>
        <p:spPr>
          <a:xfrm>
            <a:off x="22988167" y="10599340"/>
            <a:ext cx="9398963" cy="473175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dk1"/>
                </a:solidFill>
              </a:rPr>
              <a:t>A comprehensive CAUTI prevention strategy at Saint Agnes Medical Center significantly outperformed national benchmarks, demonstrating the impact of evidence-based interventions. Key elements—such as nurse-driven catheter removal protocols, insertion and maintenance bundles, real-time compliance dashboards, and EHR-based alerts—were instrumental in reducing CAUTI rates [2,3]. These findings align with national </a:t>
            </a:r>
            <a:r>
              <a:rPr lang="en-US" sz="2000" dirty="0">
                <a:solidFill>
                  <a:schemeClr val="dk1"/>
                </a:solidFill>
              </a:rPr>
              <a:t>recommendations</a:t>
            </a:r>
            <a:r>
              <a:rPr lang="en-US" sz="2400" dirty="0">
                <a:solidFill>
                  <a:schemeClr val="dk1"/>
                </a:solidFill>
              </a:rPr>
              <a:t> and support prior literature emphasizing that interdisciplinary collaboration and strict adherence to prevention bundles are essential to improving patient safety and reducing healthcare-associated infections [2,4].</a:t>
            </a:r>
            <a:endParaRPr sz="2400" dirty="0">
              <a:solidFill>
                <a:schemeClr val="dk1"/>
              </a:solidFill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11734800" y="4328160"/>
            <a:ext cx="9509760" cy="5072738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7258"/>
            </a:pPr>
            <a:endParaRPr sz="483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3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b="54543"/>
          <a:stretch/>
        </p:blipFill>
        <p:spPr>
          <a:xfrm>
            <a:off x="25066227" y="19498162"/>
            <a:ext cx="3748117" cy="1692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3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t="47565" b="13424"/>
          <a:stretch/>
        </p:blipFill>
        <p:spPr>
          <a:xfrm>
            <a:off x="26997104" y="19624767"/>
            <a:ext cx="3955647" cy="1532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99520" y="4364915"/>
            <a:ext cx="9509749" cy="5072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877377" y="4328159"/>
            <a:ext cx="9018016" cy="427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0425" y="1058680"/>
            <a:ext cx="5115994" cy="1692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3" title="Screenshot 2025-04-25 at 6.07.11 A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490970" y="10181939"/>
            <a:ext cx="9418299" cy="247534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/>
        </p:nvSpPr>
        <p:spPr>
          <a:xfrm>
            <a:off x="11599400" y="12759012"/>
            <a:ext cx="8730600" cy="369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3000"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1: CAUTI Rates in the whole hospital and ICU  over 2023 and 2024 </a:t>
            </a:r>
            <a:endParaRPr sz="933"/>
          </a:p>
        </p:txBody>
      </p:sp>
      <p:pic>
        <p:nvPicPr>
          <p:cNvPr id="113" name="Picture 112" descr="29Q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279088" y="576072"/>
            <a:ext cx="210312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654</Words>
  <Application>Microsoft Macintosh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Phil Kim</cp:lastModifiedBy>
  <cp:revision>2</cp:revision>
  <dcterms:modified xsi:type="dcterms:W3CDTF">2025-04-27T03:33:51Z</dcterms:modified>
</cp:coreProperties>
</file>