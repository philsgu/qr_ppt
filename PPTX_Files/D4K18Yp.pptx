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9" r:id="rId2"/>
  </p:sldIdLst>
  <p:sldSz cx="32918400" cy="21945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1pPr>
    <a:lvl2pPr marL="0" marR="0" indent="326532"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2pPr>
    <a:lvl3pPr marL="0" marR="0" indent="653064"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3pPr>
    <a:lvl4pPr marL="0" marR="0" indent="979596"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4pPr>
    <a:lvl5pPr marL="0" marR="0" indent="1306128"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5pPr>
    <a:lvl6pPr marL="0" marR="0" indent="1632661"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6pPr>
    <a:lvl7pPr marL="0" marR="0" indent="1959193"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7pPr>
    <a:lvl8pPr marL="0" marR="0" indent="2285725"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8pPr>
    <a:lvl9pPr marL="0" marR="0" indent="2612257"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C16E7-AD64-6A8D-3CB6-45785FD57D69}" v="88" dt="2025-04-24T18:03:15.70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EECD"/>
          </a:solidFill>
        </a:fill>
      </a:tcStyle>
    </a:wholeTbl>
    <a:band2H>
      <a:tcTxStyle/>
      <a:tcStyle>
        <a:tcBdr/>
        <a:fill>
          <a:solidFill>
            <a:srgbClr val="ECF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6CA"/>
          </a:solidFill>
        </a:fill>
      </a:tcStyle>
    </a:wholeTbl>
    <a:band2H>
      <a:tcTxStyle/>
      <a:tcStyle>
        <a:tcBdr/>
        <a:fill>
          <a:solidFill>
            <a:srgbClr val="FFF3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E4DF"/>
          </a:solidFill>
        </a:fill>
      </a:tcStyle>
    </a:wholeTbl>
    <a:band2H>
      <a:tcTxStyle/>
      <a:tcStyle>
        <a:tcBdr/>
        <a:fill>
          <a:solidFill>
            <a:srgbClr val="E7F2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36" d="100"/>
          <a:sy n="36" d="100"/>
        </p:scale>
        <p:origin x="14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143000" y="685800"/>
            <a:ext cx="4572000" cy="3429000"/>
          </a:xfrm>
          <a:prstGeom prst="rect">
            <a:avLst/>
          </a:prstGeom>
        </p:spPr>
        <p:txBody>
          <a:bodyPr/>
          <a:lstStyle/>
          <a:p>
            <a:endParaRPr/>
          </a:p>
        </p:txBody>
      </p:sp>
      <p:sp>
        <p:nvSpPr>
          <p:cNvPr id="120" name="Shape 1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200"/>
      </a:spcBef>
      <a:defRPr sz="800">
        <a:latin typeface="+mj-lt"/>
        <a:ea typeface="+mj-ea"/>
        <a:cs typeface="+mj-cs"/>
        <a:sym typeface="Times New Roman"/>
      </a:defRPr>
    </a:lvl1pPr>
    <a:lvl2pPr indent="228600" latinLnBrk="0">
      <a:spcBef>
        <a:spcPts val="200"/>
      </a:spcBef>
      <a:defRPr sz="800">
        <a:latin typeface="+mj-lt"/>
        <a:ea typeface="+mj-ea"/>
        <a:cs typeface="+mj-cs"/>
        <a:sym typeface="Times New Roman"/>
      </a:defRPr>
    </a:lvl2pPr>
    <a:lvl3pPr indent="457200" latinLnBrk="0">
      <a:spcBef>
        <a:spcPts val="200"/>
      </a:spcBef>
      <a:defRPr sz="800">
        <a:latin typeface="+mj-lt"/>
        <a:ea typeface="+mj-ea"/>
        <a:cs typeface="+mj-cs"/>
        <a:sym typeface="Times New Roman"/>
      </a:defRPr>
    </a:lvl3pPr>
    <a:lvl4pPr indent="685800" latinLnBrk="0">
      <a:spcBef>
        <a:spcPts val="200"/>
      </a:spcBef>
      <a:defRPr sz="800">
        <a:latin typeface="+mj-lt"/>
        <a:ea typeface="+mj-ea"/>
        <a:cs typeface="+mj-cs"/>
        <a:sym typeface="Times New Roman"/>
      </a:defRPr>
    </a:lvl4pPr>
    <a:lvl5pPr indent="914400" latinLnBrk="0">
      <a:spcBef>
        <a:spcPts val="200"/>
      </a:spcBef>
      <a:defRPr sz="800">
        <a:latin typeface="+mj-lt"/>
        <a:ea typeface="+mj-ea"/>
        <a:cs typeface="+mj-cs"/>
        <a:sym typeface="Times New Roman"/>
      </a:defRPr>
    </a:lvl5pPr>
    <a:lvl6pPr indent="1143000" latinLnBrk="0">
      <a:spcBef>
        <a:spcPts val="200"/>
      </a:spcBef>
      <a:defRPr sz="800">
        <a:latin typeface="+mj-lt"/>
        <a:ea typeface="+mj-ea"/>
        <a:cs typeface="+mj-cs"/>
        <a:sym typeface="Times New Roman"/>
      </a:defRPr>
    </a:lvl6pPr>
    <a:lvl7pPr indent="1371600" latinLnBrk="0">
      <a:spcBef>
        <a:spcPts val="200"/>
      </a:spcBef>
      <a:defRPr sz="800">
        <a:latin typeface="+mj-lt"/>
        <a:ea typeface="+mj-ea"/>
        <a:cs typeface="+mj-cs"/>
        <a:sym typeface="Times New Roman"/>
      </a:defRPr>
    </a:lvl7pPr>
    <a:lvl8pPr indent="1600200" latinLnBrk="0">
      <a:spcBef>
        <a:spcPts val="200"/>
      </a:spcBef>
      <a:defRPr sz="800">
        <a:latin typeface="+mj-lt"/>
        <a:ea typeface="+mj-ea"/>
        <a:cs typeface="+mj-cs"/>
        <a:sym typeface="Times New Roman"/>
      </a:defRPr>
    </a:lvl8pPr>
    <a:lvl9pPr indent="1828800" latinLnBrk="0">
      <a:spcBef>
        <a:spcPts val="200"/>
      </a:spcBef>
      <a:defRPr sz="800">
        <a:latin typeface="+mj-lt"/>
        <a:ea typeface="+mj-ea"/>
        <a:cs typeface="+mj-cs"/>
        <a:sym typeface="Times New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5" name="Title Text"/>
          <p:cNvSpPr txBox="1">
            <a:spLocks noGrp="1"/>
          </p:cNvSpPr>
          <p:nvPr>
            <p:ph type="title"/>
          </p:nvPr>
        </p:nvSpPr>
        <p:spPr>
          <a:xfrm>
            <a:off x="2469093" y="6817783"/>
            <a:ext cx="27980218" cy="4703234"/>
          </a:xfrm>
          <a:prstGeom prst="rect">
            <a:avLst/>
          </a:prstGeom>
        </p:spPr>
        <p:txBody>
          <a:bodyPr/>
          <a:lstStyle/>
          <a:p>
            <a:r>
              <a:t>Title Text</a:t>
            </a:r>
          </a:p>
        </p:txBody>
      </p:sp>
      <p:sp>
        <p:nvSpPr>
          <p:cNvPr id="16" name="Body Level One…"/>
          <p:cNvSpPr txBox="1">
            <a:spLocks noGrp="1"/>
          </p:cNvSpPr>
          <p:nvPr>
            <p:ph type="body" sz="quarter" idx="1"/>
          </p:nvPr>
        </p:nvSpPr>
        <p:spPr>
          <a:xfrm>
            <a:off x="4938183" y="12435416"/>
            <a:ext cx="23042034" cy="5609168"/>
          </a:xfrm>
          <a:prstGeom prst="rect">
            <a:avLst/>
          </a:prstGeom>
        </p:spPr>
        <p:txBody>
          <a:bodyPr/>
          <a:lstStyle>
            <a:lvl1pPr marL="0" indent="0" algn="ctr">
              <a:buSzTx/>
              <a:buNone/>
            </a:lvl1pPr>
            <a:lvl2pPr marL="0" indent="304814" algn="ctr">
              <a:buSzTx/>
              <a:buNone/>
            </a:lvl2pPr>
            <a:lvl3pPr marL="0" indent="609629" algn="ctr">
              <a:buSzTx/>
              <a:buNone/>
            </a:lvl3pPr>
            <a:lvl4pPr marL="0" indent="914446" algn="ctr">
              <a:buSzTx/>
              <a:buNone/>
            </a:lvl4pPr>
            <a:lvl5pPr marL="0" indent="1219261" algn="ctr">
              <a:buSzTx/>
              <a:buNone/>
            </a:lvl5pPr>
          </a:lstStyle>
          <a:p>
            <a:r>
              <a:t>Body Level One</a:t>
            </a:r>
          </a:p>
          <a:p>
            <a:pPr lvl="1"/>
            <a:r>
              <a:t>Body Level Two</a:t>
            </a:r>
          </a:p>
          <a:p>
            <a:pPr lvl="2"/>
            <a:r>
              <a:t>Body Level Three</a:t>
            </a:r>
          </a:p>
          <a:p>
            <a:pPr lvl="3"/>
            <a:r>
              <a:t>Body Level Four</a:t>
            </a:r>
          </a:p>
          <a:p>
            <a:pPr lvl="4"/>
            <a:r>
              <a:t>Body Level Five</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pic>
        <p:nvPicPr>
          <p:cNvPr id="33"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34"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35"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36"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37" name="Title Text"/>
          <p:cNvSpPr txBox="1">
            <a:spLocks noGrp="1"/>
          </p:cNvSpPr>
          <p:nvPr>
            <p:ph type="title"/>
          </p:nvPr>
        </p:nvSpPr>
        <p:spPr>
          <a:xfrm>
            <a:off x="2600325" y="14102292"/>
            <a:ext cx="27980219" cy="4358218"/>
          </a:xfrm>
          <a:prstGeom prst="rect">
            <a:avLst/>
          </a:prstGeom>
        </p:spPr>
        <p:txBody>
          <a:bodyPr anchor="t"/>
          <a:lstStyle>
            <a:lvl1pPr algn="l">
              <a:defRPr sz="2600" b="1" cap="all"/>
            </a:lvl1pPr>
          </a:lstStyle>
          <a:p>
            <a:r>
              <a:t>Title Text</a:t>
            </a:r>
          </a:p>
        </p:txBody>
      </p:sp>
      <p:sp>
        <p:nvSpPr>
          <p:cNvPr id="38" name="Body Level One…"/>
          <p:cNvSpPr txBox="1">
            <a:spLocks noGrp="1"/>
          </p:cNvSpPr>
          <p:nvPr>
            <p:ph type="body" sz="quarter" idx="1"/>
          </p:nvPr>
        </p:nvSpPr>
        <p:spPr>
          <a:xfrm>
            <a:off x="2600325" y="9301691"/>
            <a:ext cx="27980219" cy="4800601"/>
          </a:xfrm>
          <a:prstGeom prst="rect">
            <a:avLst/>
          </a:prstGeom>
        </p:spPr>
        <p:txBody>
          <a:bodyPr anchor="b"/>
          <a:lstStyle>
            <a:lvl1pPr marL="0" indent="0">
              <a:spcBef>
                <a:spcPts val="300"/>
              </a:spcBef>
              <a:buSzTx/>
              <a:buNone/>
              <a:defRPr sz="1300"/>
            </a:lvl1pPr>
            <a:lvl2pPr marL="0" indent="304814">
              <a:spcBef>
                <a:spcPts val="300"/>
              </a:spcBef>
              <a:buSzTx/>
              <a:buNone/>
              <a:defRPr sz="1300"/>
            </a:lvl2pPr>
            <a:lvl3pPr marL="0" indent="609629">
              <a:spcBef>
                <a:spcPts val="300"/>
              </a:spcBef>
              <a:buSzTx/>
              <a:buNone/>
              <a:defRPr sz="1300"/>
            </a:lvl3pPr>
            <a:lvl4pPr marL="0" indent="914446">
              <a:spcBef>
                <a:spcPts val="300"/>
              </a:spcBef>
              <a:buSzTx/>
              <a:buNone/>
              <a:defRPr sz="1300"/>
            </a:lvl4pPr>
            <a:lvl5pPr marL="0" indent="1219261">
              <a:spcBef>
                <a:spcPts val="300"/>
              </a:spcBef>
              <a:buSzTx/>
              <a:buNone/>
              <a:defRPr sz="1300"/>
            </a:lvl5pPr>
          </a:lstStyle>
          <a:p>
            <a:r>
              <a:t>Body Level One</a:t>
            </a:r>
          </a:p>
          <a:p>
            <a:pPr lvl="1"/>
            <a:r>
              <a:t>Body Level Two</a:t>
            </a:r>
          </a:p>
          <a:p>
            <a:pPr lvl="2"/>
            <a:r>
              <a:t>Body Level Three</a:t>
            </a:r>
          </a:p>
          <a:p>
            <a:pPr lvl="3"/>
            <a:r>
              <a:t>Body Level Four</a:t>
            </a:r>
          </a:p>
          <a:p>
            <a:pPr lvl="4"/>
            <a:r>
              <a:t>Body Level Five</a:t>
            </a:r>
          </a:p>
        </p:txBody>
      </p:sp>
      <p:sp>
        <p:nvSpPr>
          <p:cNvPr id="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pic>
        <p:nvPicPr>
          <p:cNvPr id="46"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47"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48"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49"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50" name="Title Text"/>
          <p:cNvSpPr txBox="1">
            <a:spLocks noGrp="1"/>
          </p:cNvSpPr>
          <p:nvPr>
            <p:ph type="title"/>
          </p:nvPr>
        </p:nvSpPr>
        <p:spPr>
          <a:prstGeom prst="rect">
            <a:avLst/>
          </a:prstGeom>
        </p:spPr>
        <p:txBody>
          <a:bodyPr/>
          <a:lstStyle/>
          <a:p>
            <a:r>
              <a:t>Title Text</a:t>
            </a:r>
          </a:p>
        </p:txBody>
      </p:sp>
      <p:sp>
        <p:nvSpPr>
          <p:cNvPr id="51" name="Body Level One…"/>
          <p:cNvSpPr txBox="1">
            <a:spLocks noGrp="1"/>
          </p:cNvSpPr>
          <p:nvPr>
            <p:ph type="body" sz="half" idx="1"/>
          </p:nvPr>
        </p:nvSpPr>
        <p:spPr>
          <a:xfrm>
            <a:off x="2470150" y="6339418"/>
            <a:ext cx="13938250" cy="13167783"/>
          </a:xfrm>
          <a:prstGeom prst="rect">
            <a:avLst/>
          </a:prstGeom>
        </p:spPr>
        <p:txBody>
          <a:bodyPr/>
          <a:lstStyle>
            <a:lvl1pPr marL="1066853" indent="-1066853">
              <a:spcBef>
                <a:spcPts val="400"/>
              </a:spcBef>
              <a:defRPr sz="1800"/>
            </a:lvl1pPr>
            <a:lvl2pPr marL="2422646" indent="-1000174">
              <a:spcBef>
                <a:spcPts val="400"/>
              </a:spcBef>
              <a:defRPr sz="1800"/>
            </a:lvl2pPr>
            <a:lvl3pPr marL="3829730" indent="-984788">
              <a:spcBef>
                <a:spcPts val="400"/>
              </a:spcBef>
              <a:defRPr sz="1800"/>
            </a:lvl3pPr>
            <a:lvl4pPr marL="5334266" indent="-1066853">
              <a:spcBef>
                <a:spcPts val="400"/>
              </a:spcBef>
              <a:defRPr sz="1800"/>
            </a:lvl4pPr>
            <a:lvl5pPr marL="6756737" indent="-1066853">
              <a:spcBef>
                <a:spcPts val="400"/>
              </a:spcBef>
              <a:defRPr sz="1800"/>
            </a:lvl5p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pic>
        <p:nvPicPr>
          <p:cNvPr id="59"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60"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61"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62"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63" name="Title Text"/>
          <p:cNvSpPr txBox="1">
            <a:spLocks noGrp="1"/>
          </p:cNvSpPr>
          <p:nvPr>
            <p:ph type="title"/>
          </p:nvPr>
        </p:nvSpPr>
        <p:spPr>
          <a:xfrm>
            <a:off x="1645710" y="878417"/>
            <a:ext cx="29626983" cy="3657601"/>
          </a:xfrm>
          <a:prstGeom prst="rect">
            <a:avLst/>
          </a:prstGeom>
        </p:spPr>
        <p:txBody>
          <a:bodyPr/>
          <a:lstStyle/>
          <a:p>
            <a:r>
              <a:t>Title Text</a:t>
            </a:r>
          </a:p>
        </p:txBody>
      </p:sp>
      <p:sp>
        <p:nvSpPr>
          <p:cNvPr id="64" name="Body Level One…"/>
          <p:cNvSpPr txBox="1">
            <a:spLocks noGrp="1"/>
          </p:cNvSpPr>
          <p:nvPr>
            <p:ph type="body" sz="quarter" idx="1"/>
          </p:nvPr>
        </p:nvSpPr>
        <p:spPr>
          <a:xfrm>
            <a:off x="1645709" y="4912783"/>
            <a:ext cx="14544676" cy="2046818"/>
          </a:xfrm>
          <a:prstGeom prst="rect">
            <a:avLst/>
          </a:prstGeom>
        </p:spPr>
        <p:txBody>
          <a:bodyPr anchor="b"/>
          <a:lstStyle>
            <a:lvl1pPr marL="0" indent="0">
              <a:spcBef>
                <a:spcPts val="300"/>
              </a:spcBef>
              <a:buSzTx/>
              <a:buNone/>
              <a:defRPr sz="1600" b="1"/>
            </a:lvl1pPr>
            <a:lvl2pPr marL="0" indent="304814">
              <a:spcBef>
                <a:spcPts val="300"/>
              </a:spcBef>
              <a:buSzTx/>
              <a:buNone/>
              <a:defRPr sz="1600" b="1"/>
            </a:lvl2pPr>
            <a:lvl3pPr marL="0" indent="609629">
              <a:spcBef>
                <a:spcPts val="300"/>
              </a:spcBef>
              <a:buSzTx/>
              <a:buNone/>
              <a:defRPr sz="1600" b="1"/>
            </a:lvl3pPr>
            <a:lvl4pPr marL="0" indent="914446">
              <a:spcBef>
                <a:spcPts val="300"/>
              </a:spcBef>
              <a:buSzTx/>
              <a:buNone/>
              <a:defRPr sz="1600" b="1"/>
            </a:lvl4pPr>
            <a:lvl5pPr marL="0" indent="1219261">
              <a:spcBef>
                <a:spcPts val="300"/>
              </a:spcBef>
              <a:buSzTx/>
              <a:buNone/>
              <a:defRPr sz="1600" b="1"/>
            </a:lvl5pPr>
          </a:lstStyle>
          <a:p>
            <a:r>
              <a:t>Body Level One</a:t>
            </a:r>
          </a:p>
          <a:p>
            <a:pPr lvl="1"/>
            <a:r>
              <a:t>Body Level Two</a:t>
            </a:r>
          </a:p>
          <a:p>
            <a:pPr lvl="2"/>
            <a:r>
              <a:t>Body Level Three</a:t>
            </a:r>
          </a:p>
          <a:p>
            <a:pPr lvl="3"/>
            <a:r>
              <a:t>Body Level Four</a:t>
            </a:r>
          </a:p>
          <a:p>
            <a:pPr lvl="4"/>
            <a:r>
              <a:t>Body Level Five</a:t>
            </a:r>
          </a:p>
        </p:txBody>
      </p:sp>
      <p:sp>
        <p:nvSpPr>
          <p:cNvPr id="65" name="Text Placeholder 4"/>
          <p:cNvSpPr>
            <a:spLocks noGrp="1"/>
          </p:cNvSpPr>
          <p:nvPr>
            <p:ph type="body" sz="quarter" idx="21"/>
          </p:nvPr>
        </p:nvSpPr>
        <p:spPr>
          <a:xfrm>
            <a:off x="16721666" y="4912783"/>
            <a:ext cx="14551027" cy="2046817"/>
          </a:xfrm>
          <a:prstGeom prst="rect">
            <a:avLst/>
          </a:prstGeom>
        </p:spPr>
        <p:txBody>
          <a:bodyPr anchor="b"/>
          <a:lstStyle/>
          <a:p>
            <a:pPr marL="0" indent="0">
              <a:spcBef>
                <a:spcPts val="300"/>
              </a:spcBef>
              <a:buSzTx/>
              <a:buNone/>
              <a:defRPr sz="1600" b="1"/>
            </a:pPr>
            <a:endParaRPr/>
          </a:p>
        </p:txBody>
      </p:sp>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pic>
        <p:nvPicPr>
          <p:cNvPr id="73"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74"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75"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76"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77" name="Title Text"/>
          <p:cNvSpPr txBox="1">
            <a:spLocks noGrp="1"/>
          </p:cNvSpPr>
          <p:nvPr>
            <p:ph type="title"/>
          </p:nvPr>
        </p:nvSpPr>
        <p:spPr>
          <a:prstGeom prst="rect">
            <a:avLst/>
          </a:prstGeom>
        </p:spPr>
        <p:txBody>
          <a:bodyPr/>
          <a:lstStyle/>
          <a:p>
            <a:r>
              <a:t>Title Text</a:t>
            </a: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pic>
        <p:nvPicPr>
          <p:cNvPr id="92"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93"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94"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95"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96" name="Title Text"/>
          <p:cNvSpPr txBox="1">
            <a:spLocks noGrp="1"/>
          </p:cNvSpPr>
          <p:nvPr>
            <p:ph type="title"/>
          </p:nvPr>
        </p:nvSpPr>
        <p:spPr>
          <a:xfrm>
            <a:off x="1645709" y="874184"/>
            <a:ext cx="10829926" cy="3717926"/>
          </a:xfrm>
          <a:prstGeom prst="rect">
            <a:avLst/>
          </a:prstGeom>
        </p:spPr>
        <p:txBody>
          <a:bodyPr anchor="b"/>
          <a:lstStyle>
            <a:lvl1pPr algn="l">
              <a:defRPr sz="1300" b="1"/>
            </a:lvl1pPr>
          </a:lstStyle>
          <a:p>
            <a:r>
              <a:t>Title Text</a:t>
            </a:r>
          </a:p>
        </p:txBody>
      </p:sp>
      <p:sp>
        <p:nvSpPr>
          <p:cNvPr id="97" name="Body Level One…"/>
          <p:cNvSpPr txBox="1">
            <a:spLocks noGrp="1"/>
          </p:cNvSpPr>
          <p:nvPr>
            <p:ph type="body" idx="1"/>
          </p:nvPr>
        </p:nvSpPr>
        <p:spPr>
          <a:xfrm>
            <a:off x="12870391" y="874184"/>
            <a:ext cx="18402301" cy="18729326"/>
          </a:xfrm>
          <a:prstGeom prst="rect">
            <a:avLst/>
          </a:prstGeom>
        </p:spPr>
        <p:txBody>
          <a:bodyPr/>
          <a:lstStyle>
            <a:lvl1pPr>
              <a:spcBef>
                <a:spcPts val="500"/>
              </a:spcBef>
              <a:defRPr sz="2100"/>
            </a:lvl1pPr>
            <a:lvl2pPr marL="2459690" indent="-1037218">
              <a:spcBef>
                <a:spcPts val="500"/>
              </a:spcBef>
              <a:defRPr sz="2100"/>
            </a:lvl2pPr>
            <a:lvl3pPr marL="3778439" indent="-933497">
              <a:spcBef>
                <a:spcPts val="500"/>
              </a:spcBef>
              <a:defRPr sz="2100"/>
            </a:lvl3pPr>
            <a:lvl4pPr marL="5416332" indent="-1148919">
              <a:spcBef>
                <a:spcPts val="500"/>
              </a:spcBef>
              <a:defRPr sz="2100"/>
            </a:lvl4pPr>
            <a:lvl5pPr marL="6838803" indent="-1148919">
              <a:spcBef>
                <a:spcPts val="500"/>
              </a:spcBef>
              <a:defRPr sz="2100"/>
            </a:lvl5pPr>
          </a:lstStyle>
          <a:p>
            <a:r>
              <a:t>Body Level One</a:t>
            </a:r>
          </a:p>
          <a:p>
            <a:pPr lvl="1"/>
            <a:r>
              <a:t>Body Level Two</a:t>
            </a:r>
          </a:p>
          <a:p>
            <a:pPr lvl="2"/>
            <a:r>
              <a:t>Body Level Three</a:t>
            </a:r>
          </a:p>
          <a:p>
            <a:pPr lvl="3"/>
            <a:r>
              <a:t>Body Level Four</a:t>
            </a:r>
          </a:p>
          <a:p>
            <a:pPr lvl="4"/>
            <a:r>
              <a:t>Body Level Five</a:t>
            </a:r>
          </a:p>
        </p:txBody>
      </p:sp>
      <p:sp>
        <p:nvSpPr>
          <p:cNvPr id="98" name="Text Placeholder 3"/>
          <p:cNvSpPr>
            <a:spLocks noGrp="1"/>
          </p:cNvSpPr>
          <p:nvPr>
            <p:ph type="body" sz="half" idx="21"/>
          </p:nvPr>
        </p:nvSpPr>
        <p:spPr>
          <a:xfrm>
            <a:off x="1645709" y="4592108"/>
            <a:ext cx="10829926" cy="15011401"/>
          </a:xfrm>
          <a:prstGeom prst="rect">
            <a:avLst/>
          </a:prstGeom>
        </p:spPr>
        <p:txBody>
          <a:bodyPr/>
          <a:lstStyle/>
          <a:p>
            <a:pPr marL="0" indent="0">
              <a:spcBef>
                <a:spcPts val="200"/>
              </a:spcBef>
              <a:buSzTx/>
              <a:buNone/>
              <a:defRPr sz="900"/>
            </a:pPr>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pic>
        <p:nvPicPr>
          <p:cNvPr id="106" name="New picture" descr="New picture"/>
          <p:cNvPicPr>
            <a:picLocks noChangeAspect="1"/>
          </p:cNvPicPr>
          <p:nvPr/>
        </p:nvPicPr>
        <p:blipFill>
          <a:blip r:embed="rId2"/>
          <a:stretch>
            <a:fillRect/>
          </a:stretch>
        </p:blipFill>
        <p:spPr>
          <a:xfrm rot="16200000">
            <a:off x="-11074400" y="10972800"/>
            <a:ext cx="14274800" cy="3937000"/>
          </a:xfrm>
          <a:prstGeom prst="rect">
            <a:avLst/>
          </a:prstGeom>
          <a:ln w="12700">
            <a:miter lim="400000"/>
          </a:ln>
        </p:spPr>
      </p:pic>
      <p:pic>
        <p:nvPicPr>
          <p:cNvPr id="107" name="New picture" descr="New picture"/>
          <p:cNvPicPr>
            <a:picLocks noChangeAspect="1"/>
          </p:cNvPicPr>
          <p:nvPr/>
        </p:nvPicPr>
        <p:blipFill>
          <a:blip r:embed="rId2"/>
          <a:stretch>
            <a:fillRect/>
          </a:stretch>
        </p:blipFill>
        <p:spPr>
          <a:xfrm rot="5400000">
            <a:off x="29718000" y="10972800"/>
            <a:ext cx="14274800" cy="3937000"/>
          </a:xfrm>
          <a:prstGeom prst="rect">
            <a:avLst/>
          </a:prstGeom>
          <a:ln w="12700">
            <a:miter lim="400000"/>
          </a:ln>
        </p:spPr>
      </p:pic>
      <p:pic>
        <p:nvPicPr>
          <p:cNvPr id="108" name="New picture" descr="New picture"/>
          <p:cNvPicPr>
            <a:picLocks noChangeAspect="1"/>
          </p:cNvPicPr>
          <p:nvPr/>
        </p:nvPicPr>
        <p:blipFill>
          <a:blip r:embed="rId3"/>
          <a:stretch>
            <a:fillRect/>
          </a:stretch>
        </p:blipFill>
        <p:spPr>
          <a:xfrm>
            <a:off x="1460500" y="22453600"/>
            <a:ext cx="29997400" cy="1447800"/>
          </a:xfrm>
          <a:prstGeom prst="rect">
            <a:avLst/>
          </a:prstGeom>
          <a:ln w="12700">
            <a:miter lim="400000"/>
          </a:ln>
        </p:spPr>
      </p:pic>
      <p:sp>
        <p:nvSpPr>
          <p:cNvPr id="109"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110" name="Title Text"/>
          <p:cNvSpPr txBox="1">
            <a:spLocks noGrp="1"/>
          </p:cNvSpPr>
          <p:nvPr>
            <p:ph type="title"/>
          </p:nvPr>
        </p:nvSpPr>
        <p:spPr>
          <a:xfrm>
            <a:off x="6452658" y="15361710"/>
            <a:ext cx="19750619" cy="1813984"/>
          </a:xfrm>
          <a:prstGeom prst="rect">
            <a:avLst/>
          </a:prstGeom>
        </p:spPr>
        <p:txBody>
          <a:bodyPr anchor="b"/>
          <a:lstStyle>
            <a:lvl1pPr algn="l">
              <a:defRPr sz="1300" b="1"/>
            </a:lvl1pPr>
          </a:lstStyle>
          <a:p>
            <a:r>
              <a:t>Title Text</a:t>
            </a:r>
          </a:p>
        </p:txBody>
      </p:sp>
      <p:sp>
        <p:nvSpPr>
          <p:cNvPr id="111" name="Picture Placeholder 2"/>
          <p:cNvSpPr>
            <a:spLocks noGrp="1"/>
          </p:cNvSpPr>
          <p:nvPr>
            <p:ph type="pic" sz="half" idx="21"/>
          </p:nvPr>
        </p:nvSpPr>
        <p:spPr>
          <a:xfrm>
            <a:off x="6452658" y="1961091"/>
            <a:ext cx="19750619" cy="13166726"/>
          </a:xfrm>
          <a:prstGeom prst="rect">
            <a:avLst/>
          </a:prstGeom>
        </p:spPr>
        <p:txBody>
          <a:bodyPr lIns="91439" tIns="45719" rIns="91439" bIns="45719">
            <a:noAutofit/>
          </a:bodyPr>
          <a:lstStyle/>
          <a:p>
            <a:endParaRPr/>
          </a:p>
        </p:txBody>
      </p:sp>
      <p:sp>
        <p:nvSpPr>
          <p:cNvPr id="112" name="Body Level One…"/>
          <p:cNvSpPr txBox="1">
            <a:spLocks noGrp="1"/>
          </p:cNvSpPr>
          <p:nvPr>
            <p:ph type="body" sz="quarter" idx="1"/>
          </p:nvPr>
        </p:nvSpPr>
        <p:spPr>
          <a:xfrm>
            <a:off x="6452658" y="17175692"/>
            <a:ext cx="19750619" cy="2574926"/>
          </a:xfrm>
          <a:prstGeom prst="rect">
            <a:avLst/>
          </a:prstGeom>
        </p:spPr>
        <p:txBody>
          <a:bodyPr/>
          <a:lstStyle>
            <a:lvl1pPr marL="0" indent="0">
              <a:spcBef>
                <a:spcPts val="200"/>
              </a:spcBef>
              <a:buSzTx/>
              <a:buNone/>
              <a:defRPr sz="900"/>
            </a:lvl1pPr>
            <a:lvl2pPr marL="0" indent="304814">
              <a:spcBef>
                <a:spcPts val="200"/>
              </a:spcBef>
              <a:buSzTx/>
              <a:buNone/>
              <a:defRPr sz="900"/>
            </a:lvl2pPr>
            <a:lvl3pPr marL="0" indent="609629">
              <a:spcBef>
                <a:spcPts val="200"/>
              </a:spcBef>
              <a:buSzTx/>
              <a:buNone/>
              <a:defRPr sz="900"/>
            </a:lvl3pPr>
            <a:lvl4pPr marL="0" indent="914446">
              <a:spcBef>
                <a:spcPts val="200"/>
              </a:spcBef>
              <a:buSzTx/>
              <a:buNone/>
              <a:defRPr sz="900"/>
            </a:lvl4pPr>
            <a:lvl5pPr marL="0" indent="1219261">
              <a:spcBef>
                <a:spcPts val="200"/>
              </a:spcBef>
              <a:buSzTx/>
              <a:buNone/>
              <a:defRPr sz="900"/>
            </a:lvl5pPr>
          </a:lstStyle>
          <a:p>
            <a:r>
              <a:t>Body Level One</a:t>
            </a:r>
          </a:p>
          <a:p>
            <a:pPr lvl="1"/>
            <a:r>
              <a:t>Body Level Two</a:t>
            </a:r>
          </a:p>
          <a:p>
            <a:pPr lvl="2"/>
            <a:r>
              <a:t>Body Level Three</a:t>
            </a:r>
          </a:p>
          <a:p>
            <a:pPr lvl="3"/>
            <a:r>
              <a:t>Body Level Four</a:t>
            </a:r>
          </a:p>
          <a:p>
            <a:pPr lvl="4"/>
            <a:r>
              <a:t>Body Level Five</a:t>
            </a: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 Id="rId1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0094B3"/>
            </a:gs>
          </a:gsLst>
          <a:lin ang="5400000" scaled="0"/>
        </a:gradFill>
        <a:effectLst/>
      </p:bgPr>
    </p:bg>
    <p:spTree>
      <p:nvGrpSpPr>
        <p:cNvPr id="1" name=""/>
        <p:cNvGrpSpPr/>
        <p:nvPr/>
      </p:nvGrpSpPr>
      <p:grpSpPr>
        <a:xfrm>
          <a:off x="0" y="0"/>
          <a:ext cx="0" cy="0"/>
          <a:chOff x="0" y="0"/>
          <a:chExt cx="0" cy="0"/>
        </a:xfrm>
      </p:grpSpPr>
      <p:pic>
        <p:nvPicPr>
          <p:cNvPr id="2" name="New picture" descr="New picture"/>
          <p:cNvPicPr>
            <a:picLocks noChangeAspect="1"/>
          </p:cNvPicPr>
          <p:nvPr/>
        </p:nvPicPr>
        <p:blipFill>
          <a:blip r:embed="rId11"/>
          <a:stretch>
            <a:fillRect/>
          </a:stretch>
        </p:blipFill>
        <p:spPr>
          <a:xfrm rot="16200000">
            <a:off x="-11074400" y="10972800"/>
            <a:ext cx="14274800" cy="3937000"/>
          </a:xfrm>
          <a:prstGeom prst="rect">
            <a:avLst/>
          </a:prstGeom>
          <a:ln w="12700">
            <a:miter lim="400000"/>
          </a:ln>
        </p:spPr>
      </p:pic>
      <p:pic>
        <p:nvPicPr>
          <p:cNvPr id="3" name="New picture" descr="New picture"/>
          <p:cNvPicPr>
            <a:picLocks noChangeAspect="1"/>
          </p:cNvPicPr>
          <p:nvPr/>
        </p:nvPicPr>
        <p:blipFill>
          <a:blip r:embed="rId11"/>
          <a:stretch>
            <a:fillRect/>
          </a:stretch>
        </p:blipFill>
        <p:spPr>
          <a:xfrm rot="5400000">
            <a:off x="29718000" y="10972800"/>
            <a:ext cx="14274800" cy="3937000"/>
          </a:xfrm>
          <a:prstGeom prst="rect">
            <a:avLst/>
          </a:prstGeom>
          <a:ln w="12700">
            <a:miter lim="400000"/>
          </a:ln>
        </p:spPr>
      </p:pic>
      <p:pic>
        <p:nvPicPr>
          <p:cNvPr id="4" name="New picture" descr="New picture"/>
          <p:cNvPicPr>
            <a:picLocks noChangeAspect="1"/>
          </p:cNvPicPr>
          <p:nvPr/>
        </p:nvPicPr>
        <p:blipFill>
          <a:blip r:embed="rId12"/>
          <a:stretch>
            <a:fillRect/>
          </a:stretch>
        </p:blipFill>
        <p:spPr>
          <a:xfrm>
            <a:off x="1460500" y="22453600"/>
            <a:ext cx="29997400" cy="1447800"/>
          </a:xfrm>
          <a:prstGeom prst="rect">
            <a:avLst/>
          </a:prstGeom>
          <a:ln w="12700">
            <a:miter lim="400000"/>
          </a:ln>
        </p:spPr>
      </p:pic>
      <p:sp>
        <p:nvSpPr>
          <p:cNvPr id="5" name="New shape"/>
          <p:cNvSpPr txBox="1"/>
          <p:nvPr/>
        </p:nvSpPr>
        <p:spPr>
          <a:xfrm>
            <a:off x="1506219" y="23296318"/>
            <a:ext cx="16367762" cy="727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4500">
                <a:solidFill>
                  <a:srgbClr val="808080"/>
                </a:solidFill>
              </a:defRPr>
            </a:lvl1pPr>
          </a:lstStyle>
          <a:p>
            <a:r>
              <a:t>Template ID: persuadingsapphire  Size: 36x24</a:t>
            </a:r>
          </a:p>
        </p:txBody>
      </p:sp>
      <p:sp>
        <p:nvSpPr>
          <p:cNvPr id="6" name="Title Text"/>
          <p:cNvSpPr txBox="1">
            <a:spLocks noGrp="1"/>
          </p:cNvSpPr>
          <p:nvPr>
            <p:ph type="title"/>
          </p:nvPr>
        </p:nvSpPr>
        <p:spPr>
          <a:xfrm>
            <a:off x="2470548" y="1950509"/>
            <a:ext cx="27977307" cy="3657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3357" tIns="213357" rIns="213357" bIns="213357" anchor="ctr">
            <a:normAutofit/>
          </a:bodyPr>
          <a:lstStyle/>
          <a:p>
            <a:r>
              <a:t>Title Text</a:t>
            </a:r>
          </a:p>
        </p:txBody>
      </p:sp>
      <p:sp>
        <p:nvSpPr>
          <p:cNvPr id="7" name="Body Level One…"/>
          <p:cNvSpPr txBox="1">
            <a:spLocks noGrp="1"/>
          </p:cNvSpPr>
          <p:nvPr>
            <p:ph type="body" idx="1"/>
          </p:nvPr>
        </p:nvSpPr>
        <p:spPr>
          <a:xfrm>
            <a:off x="2470548" y="6339416"/>
            <a:ext cx="27977307" cy="131677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3357" tIns="213357" rIns="213357" bIns="213357">
            <a:normAutofit/>
          </a:bodyPr>
          <a:lstStyle/>
          <a:p>
            <a:r>
              <a:t>Body Level One</a:t>
            </a:r>
          </a:p>
          <a:p>
            <a:pPr lvl="1"/>
            <a:r>
              <a:t>Body Level Two</a:t>
            </a:r>
          </a:p>
          <a:p>
            <a:pPr lvl="2"/>
            <a:r>
              <a:t>Body Level Three</a:t>
            </a:r>
          </a:p>
          <a:p>
            <a:pPr lvl="3"/>
            <a:r>
              <a:t>Body Level Four</a:t>
            </a:r>
          </a:p>
          <a:p>
            <a:pPr lvl="4"/>
            <a:r>
              <a:t>Body Level Five</a:t>
            </a:r>
          </a:p>
        </p:txBody>
      </p:sp>
      <p:sp>
        <p:nvSpPr>
          <p:cNvPr id="8" name="Slide Number"/>
          <p:cNvSpPr txBox="1">
            <a:spLocks noGrp="1"/>
          </p:cNvSpPr>
          <p:nvPr>
            <p:ph type="sldNum" sz="quarter" idx="2"/>
          </p:nvPr>
        </p:nvSpPr>
        <p:spPr>
          <a:xfrm>
            <a:off x="29462339" y="19995092"/>
            <a:ext cx="985515" cy="1025817"/>
          </a:xfrm>
          <a:prstGeom prst="rect">
            <a:avLst/>
          </a:prstGeom>
          <a:ln w="12700">
            <a:miter lim="400000"/>
          </a:ln>
        </p:spPr>
        <p:txBody>
          <a:bodyPr wrap="none" lIns="213357" tIns="213357" rIns="213357" bIns="213357">
            <a:spAutoFit/>
          </a:bodyPr>
          <a:lstStyle>
            <a:lvl1pPr algn="r" defTabSz="2844942">
              <a:defRPr sz="43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1pPr>
      <a:lvl2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2pPr>
      <a:lvl3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3pPr>
      <a:lvl4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4pPr>
      <a:lvl5pPr marL="0" marR="0" indent="0"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5pPr>
      <a:lvl6pPr marL="0" marR="0" indent="304814"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6pPr>
      <a:lvl7pPr marL="0" marR="0" indent="609629"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7pPr>
      <a:lvl8pPr marL="0" marR="0" indent="914446"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8pPr>
      <a:lvl9pPr marL="0" marR="0" indent="1219261" algn="ctr" defTabSz="2844942" rtl="0" latinLnBrk="0">
        <a:lnSpc>
          <a:spcPct val="100000"/>
        </a:lnSpc>
        <a:spcBef>
          <a:spcPts val="0"/>
        </a:spcBef>
        <a:spcAft>
          <a:spcPts val="0"/>
        </a:spcAft>
        <a:buClrTx/>
        <a:buSzTx/>
        <a:buFontTx/>
        <a:buNone/>
        <a:tabLst/>
        <a:defRPr sz="13600" b="0" i="0" u="none" strike="noStrike" cap="none" spc="0" baseline="0">
          <a:solidFill>
            <a:srgbClr val="4E5B6F"/>
          </a:solidFill>
          <a:uFillTx/>
          <a:latin typeface="+mj-lt"/>
          <a:ea typeface="+mj-ea"/>
          <a:cs typeface="+mj-cs"/>
          <a:sym typeface="Times New Roman"/>
        </a:defRPr>
      </a:lvl9pPr>
    </p:titleStyle>
    <p:bodyStyle>
      <a:lvl1pPr marL="1066853" marR="0" indent="-106685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1pPr>
      <a:lvl2pPr marL="2434142" marR="0" indent="-1011670"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2pPr>
      <a:lvl3pPr marL="3796460" marR="0" indent="-951518"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3pPr>
      <a:lvl4pPr marL="5403096"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4pPr>
      <a:lvl5pPr marL="6825567"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5pPr>
      <a:lvl6pPr marL="7130381"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6pPr>
      <a:lvl7pPr marL="7435198" marR="0" indent="-1135683"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7pPr>
      <a:lvl8pPr marL="7740012" marR="0" indent="-1135682"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8pPr>
      <a:lvl9pPr marL="8044828" marR="0" indent="-1135682" algn="l" defTabSz="2844942" rtl="0" latinLnBrk="0">
        <a:lnSpc>
          <a:spcPct val="100000"/>
        </a:lnSpc>
        <a:spcBef>
          <a:spcPts val="2300"/>
        </a:spcBef>
        <a:spcAft>
          <a:spcPts val="0"/>
        </a:spcAft>
        <a:buClrTx/>
        <a:buSzPct val="100000"/>
        <a:buFontTx/>
        <a:buChar char="»"/>
        <a:tabLst/>
        <a:defRPr sz="9900" b="0" i="0" u="none" strike="noStrike" cap="none" spc="0" baseline="0">
          <a:solidFill>
            <a:srgbClr val="000000"/>
          </a:solidFill>
          <a:uFillTx/>
          <a:latin typeface="+mj-lt"/>
          <a:ea typeface="+mj-ea"/>
          <a:cs typeface="+mj-cs"/>
          <a:sym typeface="Times New Roman"/>
        </a:defRPr>
      </a:lvl9pPr>
    </p:bodyStyle>
    <p:otherStyle>
      <a:lvl1pPr marL="0" marR="0" indent="0"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1pPr>
      <a:lvl2pPr marL="0" marR="0" indent="326532"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2pPr>
      <a:lvl3pPr marL="0" marR="0" indent="653064"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3pPr>
      <a:lvl4pPr marL="0" marR="0" indent="979596"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4pPr>
      <a:lvl5pPr marL="0" marR="0" indent="1306128"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5pPr>
      <a:lvl6pPr marL="0" marR="0" indent="1632661"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6pPr>
      <a:lvl7pPr marL="0" marR="0" indent="1959193"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7pPr>
      <a:lvl8pPr marL="0" marR="0" indent="2285725"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8pPr>
      <a:lvl9pPr marL="0" marR="0" indent="2612257" algn="r" defTabSz="2844942" rtl="0" latinLnBrk="0">
        <a:lnSpc>
          <a:spcPct val="100000"/>
        </a:lnSpc>
        <a:spcBef>
          <a:spcPts val="0"/>
        </a:spcBef>
        <a:spcAft>
          <a:spcPts val="0"/>
        </a:spcAft>
        <a:buClrTx/>
        <a:buSzTx/>
        <a:buFontTx/>
        <a:buNone/>
        <a:tabLst/>
        <a:defRPr sz="4300" b="0" i="0" u="none" strike="noStrike" cap="none" spc="0" baseline="0">
          <a:solidFill>
            <a:schemeClr val="tx1"/>
          </a:solidFill>
          <a:uFillTx/>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1482A5"/>
            </a:gs>
          </a:gsLst>
          <a:lin ang="5400000" scaled="0"/>
        </a:gradFill>
        <a:effectLst/>
      </p:bgPr>
    </p:bg>
    <p:spTree>
      <p:nvGrpSpPr>
        <p:cNvPr id="1" name=""/>
        <p:cNvGrpSpPr/>
        <p:nvPr/>
      </p:nvGrpSpPr>
      <p:grpSpPr>
        <a:xfrm>
          <a:off x="0" y="0"/>
          <a:ext cx="0" cy="0"/>
          <a:chOff x="0" y="0"/>
          <a:chExt cx="0" cy="0"/>
        </a:xfrm>
      </p:grpSpPr>
      <p:sp>
        <p:nvSpPr>
          <p:cNvPr id="194" name="Title 11"/>
          <p:cNvSpPr txBox="1"/>
          <p:nvPr/>
        </p:nvSpPr>
        <p:spPr>
          <a:xfrm>
            <a:off x="3203353" y="871884"/>
            <a:ext cx="26962960" cy="23021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2671" tIns="42671" rIns="42671" bIns="42671">
            <a:spAutoFit/>
          </a:bodyPr>
          <a:lstStyle>
            <a:lvl1pPr algn="ctr" defTabSz="4389027">
              <a:defRPr sz="7200" b="1">
                <a:solidFill>
                  <a:srgbClr val="235078"/>
                </a:solidFill>
                <a:latin typeface="Arial"/>
                <a:ea typeface="Arial"/>
                <a:cs typeface="Arial"/>
                <a:sym typeface="Arial"/>
              </a:defRPr>
            </a:lvl1pPr>
          </a:lstStyle>
          <a:p>
            <a:r>
              <a:rPr dirty="0"/>
              <a:t>A Rare CNS Presentation of </a:t>
            </a:r>
            <a:br>
              <a:rPr lang="en-US" dirty="0"/>
            </a:br>
            <a:r>
              <a:rPr dirty="0"/>
              <a:t>Extramedullary Multiple Myeloma</a:t>
            </a:r>
          </a:p>
        </p:txBody>
      </p:sp>
      <p:sp>
        <p:nvSpPr>
          <p:cNvPr id="195" name="Text Placeholder 16"/>
          <p:cNvSpPr txBox="1"/>
          <p:nvPr/>
        </p:nvSpPr>
        <p:spPr>
          <a:xfrm>
            <a:off x="3509926" y="3364419"/>
            <a:ext cx="25898548" cy="20354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2671" tIns="42671" rIns="42671" bIns="42671">
            <a:spAutoFit/>
          </a:bodyPr>
          <a:lstStyle/>
          <a:p>
            <a:pPr algn="ctr" defTabSz="4389027">
              <a:spcBef>
                <a:spcPts val="800"/>
              </a:spcBef>
              <a:defRPr sz="3600">
                <a:solidFill>
                  <a:srgbClr val="1482A5"/>
                </a:solidFill>
                <a:latin typeface="Arial"/>
                <a:ea typeface="Arial"/>
                <a:cs typeface="Arial"/>
                <a:sym typeface="Arial"/>
              </a:defRPr>
            </a:pPr>
            <a:r>
              <a:rPr sz="4000" dirty="0"/>
              <a:t>Sriram Cherukupalli, DO, MS</a:t>
            </a:r>
            <a:r>
              <a:rPr sz="4000" baseline="31999" dirty="0"/>
              <a:t>1</a:t>
            </a:r>
            <a:r>
              <a:rPr sz="4000" dirty="0"/>
              <a:t>; Nikita </a:t>
            </a:r>
            <a:r>
              <a:rPr sz="4000" dirty="0" err="1"/>
              <a:t>Chalaka</a:t>
            </a:r>
            <a:r>
              <a:rPr sz="4000" dirty="0"/>
              <a:t>, DO</a:t>
            </a:r>
            <a:r>
              <a:rPr sz="4000" baseline="31999" dirty="0"/>
              <a:t>1</a:t>
            </a:r>
            <a:r>
              <a:rPr sz="4000" dirty="0"/>
              <a:t>; Monica Le</a:t>
            </a:r>
            <a:r>
              <a:rPr sz="4000" baseline="31999" dirty="0"/>
              <a:t>2</a:t>
            </a:r>
            <a:r>
              <a:rPr sz="4000" dirty="0"/>
              <a:t>, BS; </a:t>
            </a:r>
            <a:br>
              <a:rPr lang="en-US" sz="4000" dirty="0"/>
            </a:br>
            <a:r>
              <a:rPr sz="4000" dirty="0"/>
              <a:t>Ruqayya Gill, DO</a:t>
            </a:r>
            <a:r>
              <a:rPr sz="4000" baseline="31999" dirty="0"/>
              <a:t>1</a:t>
            </a:r>
            <a:r>
              <a:rPr sz="4000" dirty="0"/>
              <a:t>; Mark Krel, DO, MPH, FACS, FCNS</a:t>
            </a:r>
            <a:r>
              <a:rPr sz="4000" baseline="31999" dirty="0"/>
              <a:t>3</a:t>
            </a:r>
          </a:p>
          <a:p>
            <a:pPr algn="ctr" defTabSz="4389027">
              <a:spcBef>
                <a:spcPts val="800"/>
              </a:spcBef>
              <a:defRPr sz="4000">
                <a:solidFill>
                  <a:srgbClr val="1482A5"/>
                </a:solidFill>
                <a:latin typeface="Arial"/>
                <a:ea typeface="Arial"/>
                <a:cs typeface="Arial"/>
                <a:sym typeface="Arial"/>
              </a:defRPr>
            </a:pPr>
            <a:r>
              <a:rPr dirty="0"/>
              <a:t>Saint Agnes Medical Center</a:t>
            </a:r>
            <a:r>
              <a:rPr baseline="31999" dirty="0"/>
              <a:t>1</a:t>
            </a:r>
            <a:r>
              <a:rPr dirty="0"/>
              <a:t>, California Health Sciences University</a:t>
            </a:r>
            <a:r>
              <a:rPr baseline="31999" dirty="0"/>
              <a:t>2</a:t>
            </a:r>
            <a:r>
              <a:rPr dirty="0"/>
              <a:t>, Community Neurosciences Institute</a:t>
            </a:r>
            <a:r>
              <a:rPr baseline="31999" dirty="0"/>
              <a:t>3</a:t>
            </a:r>
          </a:p>
        </p:txBody>
      </p:sp>
      <p:sp>
        <p:nvSpPr>
          <p:cNvPr id="196" name="Rectangle 46"/>
          <p:cNvSpPr/>
          <p:nvPr/>
        </p:nvSpPr>
        <p:spPr>
          <a:xfrm>
            <a:off x="8361030" y="5827162"/>
            <a:ext cx="24023972" cy="9425898"/>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sp>
        <p:nvSpPr>
          <p:cNvPr id="197" name="Rectangle 47"/>
          <p:cNvSpPr/>
          <p:nvPr/>
        </p:nvSpPr>
        <p:spPr>
          <a:xfrm>
            <a:off x="8374712" y="15619896"/>
            <a:ext cx="19142410" cy="5962515"/>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sp>
        <p:nvSpPr>
          <p:cNvPr id="198" name="Rectangle 48"/>
          <p:cNvSpPr/>
          <p:nvPr/>
        </p:nvSpPr>
        <p:spPr>
          <a:xfrm>
            <a:off x="533398" y="5838626"/>
            <a:ext cx="7534788" cy="6540236"/>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sp>
        <p:nvSpPr>
          <p:cNvPr id="199" name="TextBox 57"/>
          <p:cNvSpPr txBox="1"/>
          <p:nvPr/>
        </p:nvSpPr>
        <p:spPr>
          <a:xfrm>
            <a:off x="8616221" y="16270534"/>
            <a:ext cx="18659392" cy="50167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p>
            <a:pPr defTabSz="457200">
              <a:defRPr sz="2200">
                <a:latin typeface="Arial"/>
                <a:ea typeface="Arial"/>
                <a:cs typeface="Arial"/>
                <a:sym typeface="Arial"/>
              </a:defRPr>
            </a:pPr>
            <a:r>
              <a:rPr sz="2000" dirty="0"/>
              <a:t>This case highlights the uncommon initial presentation of multiple myeloma (MM) as a solitary, painless mass accompanied by mild gait instability. Although MM is primarily a bone marrow-based plasma cell neoplasm, approximately 0.5% to 4.8% of cases present with extramedullary disease, with a higher incidence reported in relapsed or refractory cases [7]. Cutaneous and soft tissue plasmacytomas, especially those presenting in the calvarium, dura, or cranial base are rare with an often poor prognosis [9]. </a:t>
            </a:r>
            <a:endParaRPr lang="en-US" sz="2000"/>
          </a:p>
          <a:p>
            <a:pPr defTabSz="457200">
              <a:defRPr sz="2200">
                <a:latin typeface="Arial"/>
                <a:ea typeface="Arial"/>
                <a:cs typeface="Arial"/>
                <a:sym typeface="Arial"/>
              </a:defRPr>
            </a:pPr>
            <a:endParaRPr lang="en-US" sz="2000" dirty="0"/>
          </a:p>
          <a:p>
            <a:pPr defTabSz="457200">
              <a:defRPr sz="2200">
                <a:latin typeface="Arial"/>
                <a:ea typeface="Arial"/>
                <a:cs typeface="Arial"/>
                <a:sym typeface="Arial"/>
              </a:defRPr>
            </a:pPr>
            <a:r>
              <a:rPr sz="2000" dirty="0"/>
              <a:t>Our patient’s presentation with hypercalcemia and pancytopenia in conjunction with widespread osseous involvement satisfied multiple CRAB criteria, supporting the diagnosis of MM. This was ultimately confirmed via core biopsy of an iliac lesion which demonstrated clonal plasma cells. In addition, imaging revealed a large </a:t>
            </a:r>
            <a:r>
              <a:rPr sz="2000" err="1"/>
              <a:t>calvarial</a:t>
            </a:r>
            <a:r>
              <a:rPr sz="2000" dirty="0"/>
              <a:t> mass exerting significant mass effect on the right cerebral hemisphere and orbital structures. The epidural extension and evolving cord compression may have contributed to our patient’s ataxia.</a:t>
            </a:r>
          </a:p>
          <a:p>
            <a:pPr defTabSz="457200">
              <a:defRPr sz="2200">
                <a:latin typeface="Arial"/>
                <a:ea typeface="Arial"/>
                <a:cs typeface="Arial"/>
                <a:sym typeface="Arial"/>
              </a:defRPr>
            </a:pPr>
            <a:endParaRPr lang="en-US" sz="2000" dirty="0"/>
          </a:p>
          <a:p>
            <a:pPr defTabSz="457200">
              <a:defRPr sz="2200">
                <a:latin typeface="Arial"/>
                <a:ea typeface="Arial"/>
                <a:cs typeface="Arial"/>
                <a:sym typeface="Arial"/>
              </a:defRPr>
            </a:pPr>
            <a:r>
              <a:rPr sz="2000" dirty="0"/>
              <a:t>Subsequent systemic workup demonstrated diffuse skeletal involvement and marrow infiltration, consistent with advanced-stage multiple myeloma with spinal involvement. The Immunoglobulin panel resulted in an elevated IgA which suggested a rare and aggressive subtype of MM, IgA myeloma, which accounts for approximately 24% of MM cases [5] and is associated with particularly unfavorable outcomes [6]. </a:t>
            </a:r>
          </a:p>
          <a:p>
            <a:pPr defTabSz="457200">
              <a:defRPr sz="2200">
                <a:latin typeface="Arial"/>
                <a:ea typeface="Arial"/>
                <a:cs typeface="Arial"/>
                <a:sym typeface="Arial"/>
              </a:defRPr>
            </a:pPr>
            <a:endParaRPr lang="en-US" sz="2000" dirty="0"/>
          </a:p>
          <a:p>
            <a:pPr defTabSz="457200">
              <a:defRPr sz="2200">
                <a:latin typeface="Arial"/>
                <a:ea typeface="Arial"/>
                <a:cs typeface="Arial"/>
                <a:sym typeface="Arial"/>
              </a:defRPr>
            </a:pPr>
            <a:r>
              <a:rPr sz="2000" dirty="0"/>
              <a:t>Notably, epidural extension, a form of extramedullary involvement observed in this case, is indicative of a markedly poor prognosis with a reported median survival of approximately 4-6 months [8]. Treatment is largely palliative and focused on symptom control while maintaining neurologic function.</a:t>
            </a:r>
          </a:p>
        </p:txBody>
      </p:sp>
      <p:sp>
        <p:nvSpPr>
          <p:cNvPr id="200" name="TextBox 58"/>
          <p:cNvSpPr txBox="1"/>
          <p:nvPr/>
        </p:nvSpPr>
        <p:spPr>
          <a:xfrm>
            <a:off x="8544283" y="15712309"/>
            <a:ext cx="7100857" cy="662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700">
                <a:solidFill>
                  <a:srgbClr val="235078"/>
                </a:solidFill>
                <a:latin typeface="Impact"/>
                <a:ea typeface="Impact"/>
                <a:cs typeface="Impact"/>
                <a:sym typeface="Impact"/>
              </a:defRPr>
            </a:lvl1pPr>
          </a:lstStyle>
          <a:p>
            <a:r>
              <a:t>Discussion</a:t>
            </a:r>
          </a:p>
        </p:txBody>
      </p:sp>
      <p:sp>
        <p:nvSpPr>
          <p:cNvPr id="201" name="TextBox 61"/>
          <p:cNvSpPr txBox="1"/>
          <p:nvPr/>
        </p:nvSpPr>
        <p:spPr>
          <a:xfrm>
            <a:off x="750363" y="6711337"/>
            <a:ext cx="7100857" cy="5394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spAutoFit/>
          </a:bodyPr>
          <a:lstStyle/>
          <a:p>
            <a:pPr defTabSz="457200">
              <a:lnSpc>
                <a:spcPts val="3200"/>
              </a:lnSpc>
              <a:defRPr sz="2600">
                <a:latin typeface="Arial"/>
                <a:ea typeface="Arial"/>
                <a:cs typeface="Arial"/>
                <a:sym typeface="Arial"/>
              </a:defRPr>
            </a:pPr>
            <a:r>
              <a:rPr sz="2400" dirty="0"/>
              <a:t>Multiple myeloma is a malignant plasma cell disorder characterized by the clonal proliferation of plasma cells within the bone marrow, leading to multisystemic organ damage [1].</a:t>
            </a:r>
            <a:r>
              <a:rPr sz="2400" baseline="25000" dirty="0"/>
              <a:t> </a:t>
            </a:r>
            <a:r>
              <a:rPr sz="2400" dirty="0"/>
              <a:t>Patients with multiple myeloma may present with nonspecific symptoms but can also be asymptomatic and exhibit the common tetrad of laboratory abnormalities defined by the CRAB criteria: hypercalcemia, renal impairment, anemia, and bone lesions [1-3].</a:t>
            </a:r>
            <a:r>
              <a:rPr sz="2400" baseline="25000" dirty="0"/>
              <a:t> </a:t>
            </a:r>
            <a:r>
              <a:rPr sz="2400" dirty="0"/>
              <a:t>This report presents a rare case of extramedullary multiple myeloma manifesting as a scalp mass, a presentation seldom described in the literature.</a:t>
            </a:r>
            <a:endParaRPr lang="en-US" sz="2400" dirty="0"/>
          </a:p>
        </p:txBody>
      </p:sp>
      <p:sp>
        <p:nvSpPr>
          <p:cNvPr id="202" name="TextBox 62"/>
          <p:cNvSpPr txBox="1"/>
          <p:nvPr/>
        </p:nvSpPr>
        <p:spPr>
          <a:xfrm>
            <a:off x="737663" y="5994400"/>
            <a:ext cx="7100857" cy="6629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700">
                <a:solidFill>
                  <a:srgbClr val="235078"/>
                </a:solidFill>
                <a:latin typeface="Impact"/>
                <a:ea typeface="Impact"/>
                <a:cs typeface="Impact"/>
                <a:sym typeface="Impact"/>
              </a:defRPr>
            </a:lvl1pPr>
          </a:lstStyle>
          <a:p>
            <a:r>
              <a:t>Introduction</a:t>
            </a:r>
          </a:p>
        </p:txBody>
      </p:sp>
      <p:sp>
        <p:nvSpPr>
          <p:cNvPr id="203" name="TextBox 67"/>
          <p:cNvSpPr txBox="1"/>
          <p:nvPr/>
        </p:nvSpPr>
        <p:spPr>
          <a:xfrm>
            <a:off x="8562959" y="6657410"/>
            <a:ext cx="17481171" cy="86081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defTabSz="457200">
              <a:lnSpc>
                <a:spcPts val="2600"/>
              </a:lnSpc>
              <a:spcBef>
                <a:spcPts val="1200"/>
              </a:spcBef>
              <a:defRPr sz="2100">
                <a:latin typeface="Arial"/>
                <a:ea typeface="Arial"/>
                <a:cs typeface="Arial"/>
                <a:sym typeface="Arial"/>
              </a:defRPr>
            </a:pPr>
            <a:r>
              <a:rPr sz="2000" dirty="0"/>
              <a:t>Initial labs in the Emergency Department were notable for pancytopenia, with a macrocytic anemia, as well as hypercalcemia.</a:t>
            </a:r>
            <a:endParaRPr lang="en-US" sz="2000" dirty="0"/>
          </a:p>
          <a:p>
            <a:pPr defTabSz="457200">
              <a:lnSpc>
                <a:spcPts val="2600"/>
              </a:lnSpc>
              <a:spcBef>
                <a:spcPts val="1200"/>
              </a:spcBef>
              <a:defRPr sz="2100">
                <a:latin typeface="Arial"/>
                <a:ea typeface="Arial"/>
                <a:cs typeface="Arial"/>
                <a:sym typeface="Arial"/>
              </a:defRPr>
            </a:pPr>
            <a:r>
              <a:rPr sz="2000" dirty="0"/>
              <a:t>CT head (Figure 1) demonstrated a large (&gt; 8 cm) heterogenous mass in the right calvarium causing a 7 mm leftward midline shift. </a:t>
            </a:r>
            <a:endParaRPr lang="en-US" sz="2000" dirty="0"/>
          </a:p>
          <a:p>
            <a:pPr>
              <a:lnSpc>
                <a:spcPts val="2600"/>
              </a:lnSpc>
              <a:spcBef>
                <a:spcPts val="1200"/>
              </a:spcBef>
              <a:defRPr sz="2100">
                <a:latin typeface="Arial"/>
                <a:ea typeface="Arial"/>
                <a:cs typeface="Arial"/>
                <a:sym typeface="Arial"/>
              </a:defRPr>
            </a:pPr>
            <a:r>
              <a:rPr sz="2000" dirty="0"/>
              <a:t>Patient was transferred to Community Regional Medical Center in Fresno, CA for neurosurgical services where additional imaging studies and labs were done.</a:t>
            </a:r>
          </a:p>
          <a:p>
            <a:pPr defTabSz="457200">
              <a:lnSpc>
                <a:spcPts val="2600"/>
              </a:lnSpc>
              <a:spcBef>
                <a:spcPts val="1200"/>
              </a:spcBef>
              <a:defRPr sz="2100">
                <a:latin typeface="Arial"/>
                <a:ea typeface="Arial"/>
                <a:cs typeface="Arial"/>
                <a:sym typeface="Arial"/>
              </a:defRPr>
            </a:pPr>
            <a:r>
              <a:rPr sz="2000" dirty="0"/>
              <a:t>CT Chest Abdomen pelvis (Figure 2) showed 1) an ill-defined 1.6 x 0.7 cm </a:t>
            </a:r>
            <a:r>
              <a:rPr sz="2000" dirty="0" err="1"/>
              <a:t>masslike</a:t>
            </a:r>
            <a:r>
              <a:rPr sz="2000" dirty="0"/>
              <a:t> endobronchial thickening in the left mainstem bronchus, 2) a large osseous mass with periosteal reaction in the right ilium, and 3) lytic lesions at T10 and T7 vertebral bodies with a pathologic fracture of the T7 vertebral body.</a:t>
            </a:r>
          </a:p>
          <a:p>
            <a:pPr defTabSz="457200">
              <a:lnSpc>
                <a:spcPts val="2600"/>
              </a:lnSpc>
              <a:spcBef>
                <a:spcPts val="1200"/>
              </a:spcBef>
              <a:defRPr sz="2100">
                <a:latin typeface="Arial"/>
                <a:ea typeface="Arial"/>
                <a:cs typeface="Arial"/>
                <a:sym typeface="Arial"/>
              </a:defRPr>
            </a:pPr>
            <a:r>
              <a:rPr sz="2000" dirty="0"/>
              <a:t>MRI Brain showed a large extra-axial calvarium based mass with periosteal involvement in the right frontotemporal lobe with significant mass effect on the underlying cortex and a 7 mm midline shift to the left. The mass also extended into the right lateral orbital wall with associated mass effect on the right lateral rectus. </a:t>
            </a:r>
          </a:p>
          <a:p>
            <a:pPr defTabSz="457200">
              <a:lnSpc>
                <a:spcPts val="2600"/>
              </a:lnSpc>
              <a:spcBef>
                <a:spcPts val="1200"/>
              </a:spcBef>
              <a:defRPr sz="2100">
                <a:latin typeface="Arial"/>
                <a:ea typeface="Arial"/>
                <a:cs typeface="Arial"/>
                <a:sym typeface="Arial"/>
              </a:defRPr>
            </a:pPr>
            <a:r>
              <a:rPr sz="2000" dirty="0"/>
              <a:t>MRI Cervical Spine showed multiple small marrow-replacing lesions and an expansile lesion of C7 which contacted the cord.  </a:t>
            </a:r>
          </a:p>
          <a:p>
            <a:pPr defTabSz="457200">
              <a:lnSpc>
                <a:spcPts val="2600"/>
              </a:lnSpc>
              <a:spcBef>
                <a:spcPts val="1200"/>
              </a:spcBef>
              <a:defRPr sz="2100">
                <a:latin typeface="Arial"/>
                <a:ea typeface="Arial"/>
                <a:cs typeface="Arial"/>
                <a:sym typeface="Arial"/>
              </a:defRPr>
            </a:pPr>
            <a:r>
              <a:rPr sz="2000" dirty="0"/>
              <a:t>MRI Thoracic Spine (Figure 3) showed extensive osseous metastatic disease with 1) an expansile lesion in the T8 vertebral body, 2) epidural extension anteriorly contributing to spinal canal stenosis with mass effect upon the cord at T8, 3) a mildly expansile lesion in the right T7 vertebral body, and 4) an expansile lesion partially visualized at the C7 vertebral body with cord encroachment.</a:t>
            </a:r>
          </a:p>
          <a:p>
            <a:pPr defTabSz="457200">
              <a:lnSpc>
                <a:spcPts val="2600"/>
              </a:lnSpc>
              <a:spcBef>
                <a:spcPts val="1200"/>
              </a:spcBef>
              <a:defRPr sz="2100">
                <a:latin typeface="Arial"/>
                <a:ea typeface="Arial"/>
                <a:cs typeface="Arial"/>
                <a:sym typeface="Arial"/>
              </a:defRPr>
            </a:pPr>
            <a:r>
              <a:rPr sz="2000" dirty="0"/>
              <a:t>MRI Lumbar Spine demonstrated extensive osseous metastatic disease involving the lumbar spine and a partially visualized expansile mass involving the right iliac bone. </a:t>
            </a:r>
          </a:p>
          <a:p>
            <a:pPr defTabSz="457200">
              <a:lnSpc>
                <a:spcPts val="2600"/>
              </a:lnSpc>
              <a:spcBef>
                <a:spcPts val="1200"/>
              </a:spcBef>
              <a:defRPr sz="2100">
                <a:latin typeface="Arial"/>
                <a:ea typeface="Arial"/>
                <a:cs typeface="Arial"/>
                <a:sym typeface="Arial"/>
              </a:defRPr>
            </a:pPr>
            <a:r>
              <a:rPr sz="2000" dirty="0"/>
              <a:t>Labs were significant for elevated IgA and continued to demonstrate hypercalcemia, which was treated with calcitonin, and a macrocytic anemia.</a:t>
            </a:r>
          </a:p>
          <a:p>
            <a:pPr defTabSz="457200">
              <a:lnSpc>
                <a:spcPts val="2600"/>
              </a:lnSpc>
              <a:spcBef>
                <a:spcPts val="1200"/>
              </a:spcBef>
              <a:defRPr sz="2100">
                <a:latin typeface="Arial"/>
                <a:ea typeface="Arial"/>
                <a:cs typeface="Arial"/>
                <a:sym typeface="Arial"/>
              </a:defRPr>
            </a:pPr>
            <a:r>
              <a:rPr sz="2000" dirty="0"/>
              <a:t>A core biopsy of the expansile right iliac lytic mass was positive for a plasma cell neoplasm and the patient was ultimately diagnosed with multiple myeloma. In the setting of extensive, multifocal disease, surgical intervention was not pursued due to limited anticipated benefit. </a:t>
            </a:r>
          </a:p>
          <a:p>
            <a:pPr defTabSz="457200">
              <a:lnSpc>
                <a:spcPts val="2600"/>
              </a:lnSpc>
              <a:spcBef>
                <a:spcPts val="1200"/>
              </a:spcBef>
              <a:defRPr sz="2100">
                <a:latin typeface="Arial"/>
                <a:ea typeface="Arial"/>
                <a:cs typeface="Arial"/>
                <a:sym typeface="Arial"/>
              </a:defRPr>
            </a:pPr>
            <a:r>
              <a:rPr sz="2000" dirty="0"/>
              <a:t>Back at Saint Agnes Medical Center, treatment was started with Bortezomib, a proteasome inhibitor used to treat multiple myeloma, and Dexamethasone, a corticosteroid. A bone marrow biopsy was also done. The patient was subsequently discharged from the hospital with outpatient oncology follow up.</a:t>
            </a:r>
          </a:p>
        </p:txBody>
      </p:sp>
      <p:sp>
        <p:nvSpPr>
          <p:cNvPr id="204" name="Hospital Course"/>
          <p:cNvSpPr txBox="1"/>
          <p:nvPr/>
        </p:nvSpPr>
        <p:spPr>
          <a:xfrm>
            <a:off x="8570373" y="5994400"/>
            <a:ext cx="3166063" cy="6629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700">
                <a:solidFill>
                  <a:srgbClr val="235078"/>
                </a:solidFill>
                <a:latin typeface="Impact"/>
                <a:ea typeface="Impact"/>
                <a:cs typeface="Impact"/>
                <a:sym typeface="Impact"/>
              </a:defRPr>
            </a:lvl1pPr>
          </a:lstStyle>
          <a:p>
            <a:r>
              <a:t>Hospital Course</a:t>
            </a:r>
          </a:p>
        </p:txBody>
      </p:sp>
      <p:sp>
        <p:nvSpPr>
          <p:cNvPr id="205" name="Rectangle 50"/>
          <p:cNvSpPr/>
          <p:nvPr/>
        </p:nvSpPr>
        <p:spPr>
          <a:xfrm>
            <a:off x="533398" y="12709383"/>
            <a:ext cx="7534788" cy="8873026"/>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pic>
        <p:nvPicPr>
          <p:cNvPr id="206" name="AD_4nXesv0YEHwROrdsMjREb-9tNBiw4dN8a715ef-dp_KaI445guHWUADaieLC6c2JviLhmLdlJetUbaMadX2Ghxoa8ntfuGEsIquEDh2Us49UEtpzSWlgCBjDCG0KFZIuAdbsYR_aVmg.png" descr="AD_4nXesv0YEHwROrdsMjREb-9tNBiw4dN8a715ef-dp_KaI445guHWUADaieLC6c2JviLhmLdlJetUbaMadX2Ghxoa8ntfuGEsIquEDh2Us49UEtpzSWlgCBjDCG0KFZIuAdbsYR_aVmg.png"/>
          <p:cNvPicPr>
            <a:picLocks noChangeAspect="1"/>
          </p:cNvPicPr>
          <p:nvPr/>
        </p:nvPicPr>
        <p:blipFill>
          <a:blip r:embed="rId2"/>
          <a:stretch>
            <a:fillRect/>
          </a:stretch>
        </p:blipFill>
        <p:spPr>
          <a:xfrm>
            <a:off x="25814497" y="6028866"/>
            <a:ext cx="2887405" cy="2750724"/>
          </a:xfrm>
          <a:prstGeom prst="rect">
            <a:avLst/>
          </a:prstGeom>
          <a:ln w="12700">
            <a:miter lim="400000"/>
          </a:ln>
        </p:spPr>
      </p:pic>
      <p:pic>
        <p:nvPicPr>
          <p:cNvPr id="207" name="AD_4nXfRfkW3b6EWhqQefj4nD3H4g6lUOlsAUgKEcHJoUvilsnGPeknXdevITmPreN8lxCc5jJVGcqjZ8m7gNRMMuw2sM0ZTF2OjtyCZXedf3CV3fOvxulCu1nNcUvjc72ZQ9SinCCxF8Q.png" descr="AD_4nXfRfkW3b6EWhqQefj4nD3H4g6lUOlsAUgKEcHJoUvilsnGPeknXdevITmPreN8lxCc5jJVGcqjZ8m7gNRMMuw2sM0ZTF2OjtyCZXedf3CV3fOvxulCu1nNcUvjc72ZQ9SinCCxF8Q.png"/>
          <p:cNvPicPr>
            <a:picLocks noChangeAspect="1"/>
          </p:cNvPicPr>
          <p:nvPr/>
        </p:nvPicPr>
        <p:blipFill>
          <a:blip r:embed="rId3"/>
          <a:stretch>
            <a:fillRect/>
          </a:stretch>
        </p:blipFill>
        <p:spPr>
          <a:xfrm>
            <a:off x="28852621" y="6138406"/>
            <a:ext cx="3295039" cy="2636031"/>
          </a:xfrm>
          <a:prstGeom prst="rect">
            <a:avLst/>
          </a:prstGeom>
          <a:ln w="12700">
            <a:miter lim="400000"/>
          </a:ln>
        </p:spPr>
      </p:pic>
      <p:sp>
        <p:nvSpPr>
          <p:cNvPr id="208" name="A 47-year-old male with no significant past medical history presented to the Saint Agnes Medical Center Emergency Department due to swelling to the right side of his head which he first noticed 3 months prior. He also reported some unsteadiness while amb"/>
          <p:cNvSpPr txBox="1"/>
          <p:nvPr/>
        </p:nvSpPr>
        <p:spPr>
          <a:xfrm>
            <a:off x="763063" y="13622654"/>
            <a:ext cx="7100857" cy="29246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800">
                <a:latin typeface="Arial"/>
                <a:ea typeface="Arial"/>
                <a:cs typeface="Arial"/>
                <a:sym typeface="Arial"/>
              </a:defRPr>
            </a:lvl1pPr>
          </a:lstStyle>
          <a:p>
            <a:r>
              <a:t>A 47-year-old male with no significant past medical history presented to the Saint Agnes Medical Center Emergency Department due to swelling to the right side of his head which he first noticed 3 months prior. He also reported some unsteadiness while ambulating for the past month. </a:t>
            </a:r>
          </a:p>
        </p:txBody>
      </p:sp>
      <p:sp>
        <p:nvSpPr>
          <p:cNvPr id="209" name="Patient Presentation"/>
          <p:cNvSpPr txBox="1"/>
          <p:nvPr/>
        </p:nvSpPr>
        <p:spPr>
          <a:xfrm>
            <a:off x="727650" y="12964831"/>
            <a:ext cx="3943236" cy="650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600">
                <a:solidFill>
                  <a:srgbClr val="235078"/>
                </a:solidFill>
                <a:latin typeface="Impact"/>
                <a:ea typeface="Impact"/>
                <a:cs typeface="Impact"/>
                <a:sym typeface="Impact"/>
              </a:defRPr>
            </a:lvl1pPr>
          </a:lstStyle>
          <a:p>
            <a:r>
              <a:t>Patient Presentation</a:t>
            </a:r>
          </a:p>
        </p:txBody>
      </p:sp>
      <p:pic>
        <p:nvPicPr>
          <p:cNvPr id="210" name="AD_4nXfU-1AeBE9usJ0KV9HJYEpY2eXVBwnyjGqd7LmUndzOFT92ruUVMglVC4fXQKpStdrKBdd7AcenLpY5Mk3lxFO1d7KobMI7B7Xcdz9EL4DPxuw1Sb_EHriVb7GWwD93pnkrtmDt.jpg" descr="AD_4nXfU-1AeBE9usJ0KV9HJYEpY2eXVBwnyjGqd7LmUndzOFT92ruUVMglVC4fXQKpStdrKBdd7AcenLpY5Mk3lxFO1d7KobMI7B7Xcdz9EL4DPxuw1Sb_EHriVb7GWwD93pnkrtmDt.jpg"/>
          <p:cNvPicPr>
            <a:picLocks noChangeAspect="1"/>
          </p:cNvPicPr>
          <p:nvPr/>
        </p:nvPicPr>
        <p:blipFill>
          <a:blip r:embed="rId4"/>
          <a:stretch>
            <a:fillRect/>
          </a:stretch>
        </p:blipFill>
        <p:spPr>
          <a:xfrm>
            <a:off x="4434522" y="16792973"/>
            <a:ext cx="3353246" cy="4577808"/>
          </a:xfrm>
          <a:prstGeom prst="rect">
            <a:avLst/>
          </a:prstGeom>
          <a:ln w="25400">
            <a:solidFill>
              <a:srgbClr val="000000"/>
            </a:solidFill>
            <a:miter lim="400000"/>
          </a:ln>
        </p:spPr>
      </p:pic>
      <p:sp>
        <p:nvSpPr>
          <p:cNvPr id="211" name="On physical exam, the patient had a fluctuant mass to the right side of his scalp, as pictured on the right. He also appeared to have a limp while ambulating. No other focal neurologic deficits were noted."/>
          <p:cNvSpPr txBox="1"/>
          <p:nvPr/>
        </p:nvSpPr>
        <p:spPr>
          <a:xfrm>
            <a:off x="750965" y="16629177"/>
            <a:ext cx="3587419" cy="45502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800">
                <a:latin typeface="Arial"/>
                <a:ea typeface="Arial"/>
                <a:cs typeface="Arial"/>
                <a:sym typeface="Arial"/>
              </a:defRPr>
            </a:lvl1pPr>
          </a:lstStyle>
          <a:p>
            <a:r>
              <a:t>On physical exam, the patient had a fluctuant mass to the right side of his scalp, as pictured on the right. He also appeared to have a limp while ambulating. No other focal neurologic deficits were noted.</a:t>
            </a:r>
          </a:p>
        </p:txBody>
      </p:sp>
      <p:pic>
        <p:nvPicPr>
          <p:cNvPr id="212" name="AD_4nXc9tpgZOmSwTtnlXbWqnrMPz36rEzyWrPf-5Ih52uRjsHq0yrEHTqfDGQZC6ufRm2GG3pyr-UeDzxC4PPlWW_ionqQdPpsODnTqhUwiiKlOihA2w2ZZcGngXnOhZFctlbGF9Qb1VQ.png" descr="AD_4nXc9tpgZOmSwTtnlXbWqnrMPz36rEzyWrPf-5Ih52uRjsHq0yrEHTqfDGQZC6ufRm2GG3pyr-UeDzxC4PPlWW_ionqQdPpsODnTqhUwiiKlOihA2w2ZZcGngXnOhZFctlbGF9Qb1VQ.png"/>
          <p:cNvPicPr>
            <a:picLocks noChangeAspect="1"/>
          </p:cNvPicPr>
          <p:nvPr/>
        </p:nvPicPr>
        <p:blipFill>
          <a:blip r:embed="rId5"/>
          <a:stretch>
            <a:fillRect/>
          </a:stretch>
        </p:blipFill>
        <p:spPr>
          <a:xfrm>
            <a:off x="26550177" y="9976022"/>
            <a:ext cx="2560698" cy="4326407"/>
          </a:xfrm>
          <a:prstGeom prst="rect">
            <a:avLst/>
          </a:prstGeom>
          <a:ln w="12700">
            <a:miter lim="400000"/>
          </a:ln>
        </p:spPr>
      </p:pic>
      <p:pic>
        <p:nvPicPr>
          <p:cNvPr id="213" name="AD_4nXdU8LsgOAXcHTgHoqbBDPCjmvlp9U8_GrgAt_5b-DgyeKNy6cGW0GsrPUhkiUZc2K8HyqEjzJ4Ay6EjccKxKEM3p__-lVRWCRf2cz4HOjaYljcv6TDcnlvGi_GB0zqfkjem-r7QjA.png" descr="AD_4nXdU8LsgOAXcHTgHoqbBDPCjmvlp9U8_GrgAt_5b-DgyeKNy6cGW0GsrPUhkiUZc2K8HyqEjzJ4Ay6EjccKxKEM3p__-lVRWCRf2cz4HOjaYljcv6TDcnlvGi_GB0zqfkjem-r7QjA.png"/>
          <p:cNvPicPr>
            <a:picLocks noChangeAspect="1"/>
          </p:cNvPicPr>
          <p:nvPr/>
        </p:nvPicPr>
        <p:blipFill>
          <a:blip r:embed="rId6"/>
          <a:stretch>
            <a:fillRect/>
          </a:stretch>
        </p:blipFill>
        <p:spPr>
          <a:xfrm>
            <a:off x="29650983" y="9976022"/>
            <a:ext cx="2315110" cy="4381855"/>
          </a:xfrm>
          <a:prstGeom prst="rect">
            <a:avLst/>
          </a:prstGeom>
          <a:ln w="12700">
            <a:miter lim="400000"/>
          </a:ln>
        </p:spPr>
      </p:pic>
      <p:sp>
        <p:nvSpPr>
          <p:cNvPr id="214" name="Figure 1. CT head without contrast demonstrating an 8 cm heterogenous mass in the right calvarium with a 7 mm leftward midline shift at the foramen of Monro."/>
          <p:cNvSpPr txBox="1"/>
          <p:nvPr/>
        </p:nvSpPr>
        <p:spPr>
          <a:xfrm>
            <a:off x="25911402" y="8940992"/>
            <a:ext cx="6331353" cy="9207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defTabSz="457200">
              <a:lnSpc>
                <a:spcPts val="2200"/>
              </a:lnSpc>
              <a:defRPr sz="1800">
                <a:latin typeface="Arial"/>
                <a:ea typeface="Arial"/>
                <a:cs typeface="Arial"/>
                <a:sym typeface="Arial"/>
              </a:defRPr>
            </a:lvl1pPr>
          </a:lstStyle>
          <a:p>
            <a:r>
              <a:t>Figure 1. CT head without contrast demonstrating an 8 cm heterogenous mass in the right calvarium with a 7 mm leftward midline shift at the foramen of Monro.</a:t>
            </a:r>
          </a:p>
        </p:txBody>
      </p:sp>
      <p:sp>
        <p:nvSpPr>
          <p:cNvPr id="215" name="Figure 2. Osseous mass with periosteal reaction in the right ilium seen on CT."/>
          <p:cNvSpPr txBox="1"/>
          <p:nvPr/>
        </p:nvSpPr>
        <p:spPr>
          <a:xfrm>
            <a:off x="26550177" y="14308698"/>
            <a:ext cx="2560698" cy="770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defTabSz="457200">
              <a:lnSpc>
                <a:spcPts val="2000"/>
              </a:lnSpc>
              <a:spcBef>
                <a:spcPts val="1200"/>
              </a:spcBef>
              <a:defRPr sz="1600">
                <a:latin typeface="Arial"/>
                <a:ea typeface="Arial"/>
                <a:cs typeface="Arial"/>
                <a:sym typeface="Arial"/>
              </a:defRPr>
            </a:lvl1pPr>
          </a:lstStyle>
          <a:p>
            <a:r>
              <a:t>Figure 2. Osseous mass with periosteal reaction in the right ilium seen on CT.</a:t>
            </a:r>
          </a:p>
        </p:txBody>
      </p:sp>
      <p:sp>
        <p:nvSpPr>
          <p:cNvPr id="216" name="Figure 3. MRI thoracic spine"/>
          <p:cNvSpPr txBox="1"/>
          <p:nvPr/>
        </p:nvSpPr>
        <p:spPr>
          <a:xfrm>
            <a:off x="29919172" y="14415523"/>
            <a:ext cx="1778732" cy="6423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457200">
              <a:lnSpc>
                <a:spcPts val="2300"/>
              </a:lnSpc>
              <a:spcBef>
                <a:spcPts val="1200"/>
              </a:spcBef>
              <a:defRPr sz="1900">
                <a:latin typeface="Arial"/>
                <a:ea typeface="Arial"/>
                <a:cs typeface="Arial"/>
                <a:sym typeface="Arial"/>
              </a:defRPr>
            </a:lvl1pPr>
          </a:lstStyle>
          <a:p>
            <a:r>
              <a:t>Figure 3. MRI thoracic spine</a:t>
            </a:r>
          </a:p>
        </p:txBody>
      </p:sp>
      <p:sp>
        <p:nvSpPr>
          <p:cNvPr id="217" name="Rectangle 47"/>
          <p:cNvSpPr/>
          <p:nvPr/>
        </p:nvSpPr>
        <p:spPr>
          <a:xfrm>
            <a:off x="27873647" y="15619896"/>
            <a:ext cx="4511356" cy="5962515"/>
          </a:xfrm>
          <a:prstGeom prst="rect">
            <a:avLst/>
          </a:prstGeom>
          <a:solidFill>
            <a:srgbClr val="FFFFFF"/>
          </a:solidFill>
          <a:ln w="12700">
            <a:miter lim="400000"/>
          </a:ln>
        </p:spPr>
        <p:txBody>
          <a:bodyPr lIns="45719" rIns="45719" anchor="ctr"/>
          <a:lstStyle/>
          <a:p>
            <a:pPr algn="ctr">
              <a:defRPr sz="6400">
                <a:solidFill>
                  <a:srgbClr val="FFFFFF"/>
                </a:solidFill>
              </a:defRPr>
            </a:pPr>
            <a:endParaRPr/>
          </a:p>
        </p:txBody>
      </p:sp>
      <p:pic>
        <p:nvPicPr>
          <p:cNvPr id="218" name="My_PDF.png" descr="My_PDF.png"/>
          <p:cNvPicPr>
            <a:picLocks noChangeAspect="1"/>
          </p:cNvPicPr>
          <p:nvPr/>
        </p:nvPicPr>
        <p:blipFill>
          <a:blip r:embed="rId7"/>
          <a:stretch>
            <a:fillRect/>
          </a:stretch>
        </p:blipFill>
        <p:spPr>
          <a:xfrm>
            <a:off x="28042796" y="16836150"/>
            <a:ext cx="4247034" cy="4247035"/>
          </a:xfrm>
          <a:prstGeom prst="rect">
            <a:avLst/>
          </a:prstGeom>
          <a:ln w="12700">
            <a:miter lim="400000"/>
          </a:ln>
        </p:spPr>
      </p:pic>
      <p:sp>
        <p:nvSpPr>
          <p:cNvPr id="219" name="TextBox 56"/>
          <p:cNvSpPr txBox="1"/>
          <p:nvPr/>
        </p:nvSpPr>
        <p:spPr>
          <a:xfrm>
            <a:off x="28848977" y="16266706"/>
            <a:ext cx="2560697" cy="701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4000">
                <a:solidFill>
                  <a:srgbClr val="235078"/>
                </a:solidFill>
                <a:latin typeface="Impact"/>
                <a:ea typeface="Impact"/>
                <a:cs typeface="Impact"/>
                <a:sym typeface="Impact"/>
              </a:defRPr>
            </a:lvl1pPr>
          </a:lstStyle>
          <a:p>
            <a:r>
              <a:t>References</a:t>
            </a:r>
          </a:p>
        </p:txBody>
      </p:sp>
      <p:pic>
        <p:nvPicPr>
          <p:cNvPr id="220" name="Picture 219" descr="61C.png"/>
          <p:cNvPicPr>
            <a:picLocks noChangeAspect="1"/>
          </p:cNvPicPr>
          <p:nvPr/>
        </p:nvPicPr>
        <p:blipFill>
          <a:blip r:embed="rId8"/>
          <a:stretch>
            <a:fillRect/>
          </a:stretch>
        </p:blipFill>
        <p:spPr>
          <a:xfrm>
            <a:off x="29279088" y="576072"/>
            <a:ext cx="2103120" cy="3108960"/>
          </a:xfrm>
          <a:prstGeom prst="rect">
            <a:avLst/>
          </a:prstGeom>
        </p:spPr>
      </p:pic>
    </p:spTree>
  </p:cSld>
  <p:clrMapOvr>
    <a:masterClrMapping/>
  </p:clrMapOvr>
  <p:transition spd="med"/>
</p:sld>
</file>

<file path=ppt/theme/theme1.xml><?xml version="1.0" encoding="utf-8"?>
<a:theme xmlns:a="http://schemas.openxmlformats.org/drawingml/2006/main" name="Blank Presentation">
  <a:themeElements>
    <a:clrScheme name="Blank Presentation">
      <a:dk1>
        <a:srgbClr val="000000"/>
      </a:dk1>
      <a:lt1>
        <a:srgbClr val="FFFFFF"/>
      </a:lt1>
      <a:dk2>
        <a:srgbClr val="A7A7A7"/>
      </a:dk2>
      <a:lt2>
        <a:srgbClr val="535353"/>
      </a:lt2>
      <a:accent1>
        <a:srgbClr val="7FD13B"/>
      </a:accent1>
      <a:accent2>
        <a:srgbClr val="EA157A"/>
      </a:accent2>
      <a:accent3>
        <a:srgbClr val="FEB80A"/>
      </a:accent3>
      <a:accent4>
        <a:srgbClr val="00ADDC"/>
      </a:accent4>
      <a:accent5>
        <a:srgbClr val="738AC8"/>
      </a:accent5>
      <a:accent6>
        <a:srgbClr val="1AB39F"/>
      </a:accent6>
      <a:hlink>
        <a:srgbClr val="0000FF"/>
      </a:hlink>
      <a:folHlink>
        <a:srgbClr val="FF00FF"/>
      </a:folHlink>
    </a:clrScheme>
    <a:fontScheme name="Blank Presentation">
      <a:majorFont>
        <a:latin typeface="Times New Roman"/>
        <a:ea typeface="Times New Roman"/>
        <a:cs typeface="Times New Roman"/>
      </a:majorFont>
      <a:minorFont>
        <a:latin typeface="Helvetica"/>
        <a:ea typeface="Helvetica"/>
        <a:cs typeface="Helvetica"/>
      </a:minorFont>
    </a:fontScheme>
    <a:fmtScheme name="Blank Present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lank Presentation">
  <a:themeElements>
    <a:clrScheme name="Blank Presentation">
      <a:dk1>
        <a:srgbClr val="000000"/>
      </a:dk1>
      <a:lt1>
        <a:srgbClr val="FFFFFF"/>
      </a:lt1>
      <a:dk2>
        <a:srgbClr val="A7A7A7"/>
      </a:dk2>
      <a:lt2>
        <a:srgbClr val="535353"/>
      </a:lt2>
      <a:accent1>
        <a:srgbClr val="7FD13B"/>
      </a:accent1>
      <a:accent2>
        <a:srgbClr val="EA157A"/>
      </a:accent2>
      <a:accent3>
        <a:srgbClr val="FEB80A"/>
      </a:accent3>
      <a:accent4>
        <a:srgbClr val="00ADDC"/>
      </a:accent4>
      <a:accent5>
        <a:srgbClr val="738AC8"/>
      </a:accent5>
      <a:accent6>
        <a:srgbClr val="1AB39F"/>
      </a:accent6>
      <a:hlink>
        <a:srgbClr val="0000FF"/>
      </a:hlink>
      <a:folHlink>
        <a:srgbClr val="FF00FF"/>
      </a:folHlink>
    </a:clrScheme>
    <a:fontScheme name="Blank Presentation">
      <a:majorFont>
        <a:latin typeface="Times New Roman"/>
        <a:ea typeface="Times New Roman"/>
        <a:cs typeface="Times New Roman"/>
      </a:majorFont>
      <a:minorFont>
        <a:latin typeface="Helvetica"/>
        <a:ea typeface="Helvetica"/>
        <a:cs typeface="Helvetica"/>
      </a:minorFont>
    </a:fontScheme>
    <a:fmtScheme name="Blank Present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700" b="0" i="0" u="none" strike="noStrike" cap="none" spc="0" normalizeH="0" baseline="0">
            <a:ln>
              <a:noFill/>
            </a:ln>
            <a:solidFill>
              <a:srgbClr val="000000"/>
            </a:solidFill>
            <a:effectLst/>
            <a:uFillTx/>
            <a:latin typeface="+mj-lt"/>
            <a:ea typeface="+mj-ea"/>
            <a:cs typeface="+mj-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1001</Words>
  <Application>Microsoft Macintosh PowerPoint</Application>
  <PresentationFormat>Custom</PresentationFormat>
  <Paragraphs>32</Paragraphs>
  <Slides>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Times New Roman</vt:lpstr>
      <vt:lpstr>Blank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39</cp:revision>
  <dcterms:modified xsi:type="dcterms:W3CDTF">2025-04-25T04:27:26Z</dcterms:modified>
</cp:coreProperties>
</file>