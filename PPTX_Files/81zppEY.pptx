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MgNBaJnFO38s/CxNFzGWopGXQ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86"/>
    <p:restoredTop sz="94651"/>
  </p:normalViewPr>
  <p:slideViewPr>
    <p:cSldViewPr snapToGrid="0">
      <p:cViewPr>
        <p:scale>
          <a:sx n="48" d="100"/>
          <a:sy n="48" d="100"/>
        </p:scale>
        <p:origin x="3312" y="-15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D4E292C3-BF21-B324-87E2-CADBDBC8DAC6}"/>
              </a:ext>
            </a:extLst>
          </p:cNvPr>
          <p:cNvGrpSpPr/>
          <p:nvPr/>
        </p:nvGrpSpPr>
        <p:grpSpPr>
          <a:xfrm>
            <a:off x="487680" y="335280"/>
            <a:ext cx="32034480" cy="21305520"/>
            <a:chOff x="2499360" y="376366"/>
            <a:chExt cx="27987480" cy="21192868"/>
          </a:xfrm>
        </p:grpSpPr>
        <p:sp>
          <p:nvSpPr>
            <p:cNvPr id="89" name="Google Shape;89;p1"/>
            <p:cNvSpPr/>
            <p:nvPr/>
          </p:nvSpPr>
          <p:spPr>
            <a:xfrm>
              <a:off x="2499360" y="9507141"/>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Methodology</a:t>
              </a:r>
              <a:endParaRPr sz="933"/>
            </a:p>
          </p:txBody>
        </p:sp>
        <p:sp>
          <p:nvSpPr>
            <p:cNvPr id="90" name="Google Shape;90;p1"/>
            <p:cNvSpPr/>
            <p:nvPr/>
          </p:nvSpPr>
          <p:spPr>
            <a:xfrm>
              <a:off x="2499360" y="10496786"/>
              <a:ext cx="8839200" cy="11072448"/>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67">
                  <a:solidFill>
                    <a:schemeClr val="dk1"/>
                  </a:solidFill>
                </a:rPr>
                <a:t>Table 1 summarizes data from 10 patients with Group 1 Pulmonary Arterial Hypertension (PAH), noting demographics, treatment regimens, risk score, RHC data, and functional assessments.</a:t>
              </a:r>
              <a:endParaRPr sz="2667">
                <a:solidFill>
                  <a:schemeClr val="dk1"/>
                </a:solidFill>
              </a:endParaRPr>
            </a:p>
            <a:p>
              <a:pPr>
                <a:spcBef>
                  <a:spcPts val="800"/>
                </a:spcBef>
                <a:buClr>
                  <a:schemeClr val="dk1"/>
                </a:buClr>
                <a:buSzPts val="1100"/>
              </a:pPr>
              <a:r>
                <a:rPr lang="en-US" sz="2667">
                  <a:solidFill>
                    <a:schemeClr val="dk1"/>
                  </a:solidFill>
                </a:rPr>
                <a:t>The age ranged from 28 to 84 years, with a predominance of females (8/10). The majority were Hispanic (6), followed by White (3), and African-American (1). Most cases were idiopathic (7), while 3 were associated with connective tissue disease. Prostacyclin therapy was administered to 7 patients—5 received subcutaneous agents (Remodulin or Treprostinil) and 2 received oral Orenitram. Guanylate cyclase stimulators (Adempas) were used in 3 patients. Triple therapy was used in 3 patients, double therapy was used in 6 patients while one patient was on single agent adempas. All the patients received at least 3 doses of sotatercept. The mean number of doses given to the patients was 4.</a:t>
              </a:r>
              <a:endParaRPr sz="2667">
                <a:solidFill>
                  <a:schemeClr val="dk1"/>
                </a:solidFill>
              </a:endParaRPr>
            </a:p>
            <a:p>
              <a:pPr>
                <a:spcBef>
                  <a:spcPts val="800"/>
                </a:spcBef>
                <a:spcAft>
                  <a:spcPts val="800"/>
                </a:spcAft>
                <a:buClr>
                  <a:schemeClr val="dk1"/>
                </a:buClr>
                <a:buSzPts val="1100"/>
              </a:pPr>
              <a:r>
                <a:rPr lang="en-US" sz="2667">
                  <a:solidFill>
                    <a:schemeClr val="dk1"/>
                  </a:solidFill>
                </a:rPr>
                <a:t>Reveal Lite 2 scores varied from 3 to 9, and all patients had elevated mean pulmonary artery pressures (36–80 mmHg). Pulmonary vascular resistance ranged from 4.5 to 20 Wood units, with PV compliance between 0.56 and 1.96. Cardiac output spanned 3.4 to 6.94 L/min. Most patients were WHO Functional Class II–III, and 6-minute walk distances ranged from 225 to 560 meters. BNP levels were elevated in several cases, reaching up to 438 pg/mL.</a:t>
              </a:r>
              <a:endParaRPr sz="2667">
                <a:solidFill>
                  <a:srgbClr val="222222"/>
                </a:solidFill>
                <a:highlight>
                  <a:srgbClr val="FFFFFF"/>
                </a:highlight>
              </a:endParaRPr>
            </a:p>
          </p:txBody>
        </p:sp>
        <p:sp>
          <p:nvSpPr>
            <p:cNvPr id="91" name="Google Shape;91;p1"/>
            <p:cNvSpPr/>
            <p:nvPr/>
          </p:nvSpPr>
          <p:spPr>
            <a:xfrm>
              <a:off x="2499360" y="4328160"/>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p1"/>
            <p:cNvSpPr/>
            <p:nvPr/>
          </p:nvSpPr>
          <p:spPr>
            <a:xfrm>
              <a:off x="2499367" y="5314850"/>
              <a:ext cx="8839200" cy="4041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67" dirty="0">
                  <a:solidFill>
                    <a:schemeClr val="dk1"/>
                  </a:solidFill>
                </a:rPr>
                <a:t>Pulmonary arterial hypertension (PAH) is characterized by progressive narrowing of pulmonary vasculature leading to right heart failure &amp; Death. Historically, 3 pathways were targeted for treatment – Endothelin, Nitric oxide, and Prostacyclin. </a:t>
              </a:r>
              <a:r>
                <a:rPr lang="en-US" sz="2667" dirty="0" err="1">
                  <a:solidFill>
                    <a:schemeClr val="dk1"/>
                  </a:solidFill>
                </a:rPr>
                <a:t>Sotatercept</a:t>
              </a:r>
              <a:r>
                <a:rPr lang="en-US" sz="2667" dirty="0">
                  <a:solidFill>
                    <a:schemeClr val="dk1"/>
                  </a:solidFill>
                </a:rPr>
                <a:t> (SOT) is the new activin inhibitor recently added as the fourth pathway. Central Valley of California (CVC) is an underserved part of California with severe access to care challenges </a:t>
              </a:r>
              <a:r>
                <a:rPr lang="en-US" sz="2667" i="1" dirty="0">
                  <a:solidFill>
                    <a:schemeClr val="dk1"/>
                  </a:solidFill>
                </a:rPr>
                <a:t>(CVC had a PHCCC)</a:t>
              </a:r>
              <a:r>
                <a:rPr lang="en-US" sz="2667" dirty="0">
                  <a:solidFill>
                    <a:schemeClr val="dk1"/>
                  </a:solidFill>
                </a:rPr>
                <a:t>. Our case series describes early CVC experience with this novel drug.</a:t>
              </a:r>
              <a:endParaRPr sz="2667" dirty="0">
                <a:solidFill>
                  <a:schemeClr val="lt1"/>
                </a:solidFill>
              </a:endParaRPr>
            </a:p>
          </p:txBody>
        </p:sp>
        <p:sp>
          <p:nvSpPr>
            <p:cNvPr id="93" name="Google Shape;93;p1"/>
            <p:cNvSpPr/>
            <p:nvPr/>
          </p:nvSpPr>
          <p:spPr>
            <a:xfrm>
              <a:off x="2499360" y="376366"/>
              <a:ext cx="27919680" cy="3809162"/>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p1"/>
            <p:cNvSpPr/>
            <p:nvPr/>
          </p:nvSpPr>
          <p:spPr>
            <a:xfrm>
              <a:off x="7996569" y="615808"/>
              <a:ext cx="20160200" cy="1477301"/>
            </a:xfrm>
            <a:prstGeom prst="rect">
              <a:avLst/>
            </a:prstGeom>
            <a:noFill/>
            <a:ln>
              <a:noFill/>
            </a:ln>
          </p:spPr>
          <p:txBody>
            <a:bodyPr spcFirstLastPara="1" wrap="square" lIns="60950" tIns="30467" rIns="60950" bIns="30467" anchor="t" anchorCtr="0">
              <a:spAutoFit/>
            </a:bodyPr>
            <a:lstStyle/>
            <a:p>
              <a:pPr algn="ctr">
                <a:buSzPts val="6900"/>
              </a:pPr>
              <a:r>
                <a:rPr lang="en-US" sz="4600" b="1" dirty="0">
                  <a:solidFill>
                    <a:schemeClr val="lt1"/>
                  </a:solidFill>
                  <a:highlight>
                    <a:srgbClr val="004671"/>
                  </a:highlight>
                  <a:latin typeface="Montserrat"/>
                  <a:ea typeface="Montserrat"/>
                  <a:cs typeface="Montserrat"/>
                  <a:sym typeface="Montserrat"/>
                </a:rPr>
                <a:t>The </a:t>
              </a:r>
              <a:r>
                <a:rPr lang="en-US" sz="4600" b="1" dirty="0" err="1">
                  <a:solidFill>
                    <a:schemeClr val="lt1"/>
                  </a:solidFill>
                  <a:highlight>
                    <a:srgbClr val="004671"/>
                  </a:highlight>
                  <a:latin typeface="Montserrat"/>
                  <a:ea typeface="Montserrat"/>
                  <a:cs typeface="Montserrat"/>
                  <a:sym typeface="Montserrat"/>
                </a:rPr>
                <a:t>PHourth</a:t>
              </a:r>
              <a:r>
                <a:rPr lang="en-US" sz="4600" b="1" dirty="0">
                  <a:solidFill>
                    <a:schemeClr val="lt1"/>
                  </a:solidFill>
                  <a:highlight>
                    <a:srgbClr val="004671"/>
                  </a:highlight>
                  <a:latin typeface="Montserrat"/>
                  <a:ea typeface="Montserrat"/>
                  <a:cs typeface="Montserrat"/>
                  <a:sym typeface="Montserrat"/>
                </a:rPr>
                <a:t> pathway in PAH: Experience in the </a:t>
              </a:r>
            </a:p>
            <a:p>
              <a:pPr algn="ctr">
                <a:buSzPts val="6900"/>
              </a:pPr>
              <a:r>
                <a:rPr lang="en-US" sz="4600" b="1" dirty="0">
                  <a:solidFill>
                    <a:schemeClr val="lt1"/>
                  </a:solidFill>
                  <a:highlight>
                    <a:srgbClr val="004671"/>
                  </a:highlight>
                  <a:latin typeface="Montserrat"/>
                  <a:ea typeface="Montserrat"/>
                  <a:cs typeface="Montserrat"/>
                  <a:sym typeface="Montserrat"/>
                </a:rPr>
                <a:t>“underserved” Central Valley of California</a:t>
              </a:r>
              <a:endParaRPr sz="4600" b="1" dirty="0">
                <a:solidFill>
                  <a:schemeClr val="lt1"/>
                </a:solidFill>
                <a:highlight>
                  <a:srgbClr val="004671"/>
                </a:highlight>
                <a:latin typeface="Montserrat"/>
                <a:ea typeface="Montserrat"/>
                <a:cs typeface="Montserrat"/>
                <a:sym typeface="Montserrat"/>
              </a:endParaRPr>
            </a:p>
          </p:txBody>
        </p:sp>
        <p:sp>
          <p:nvSpPr>
            <p:cNvPr id="95" name="Google Shape;95;p1"/>
            <p:cNvSpPr/>
            <p:nvPr/>
          </p:nvSpPr>
          <p:spPr>
            <a:xfrm>
              <a:off x="9301568" y="2154326"/>
              <a:ext cx="17550200" cy="1764431"/>
            </a:xfrm>
            <a:prstGeom prst="rect">
              <a:avLst/>
            </a:prstGeom>
            <a:noFill/>
            <a:ln>
              <a:noFill/>
            </a:ln>
          </p:spPr>
          <p:txBody>
            <a:bodyPr spcFirstLastPara="1" wrap="square" lIns="60950" tIns="30467" rIns="60950" bIns="30467" anchor="t" anchorCtr="0">
              <a:spAutoFit/>
            </a:bodyPr>
            <a:lstStyle/>
            <a:p>
              <a:pPr algn="ctr">
                <a:buSzPts val="4800"/>
              </a:pPr>
              <a:r>
                <a:rPr lang="en-US" sz="3200" dirty="0">
                  <a:solidFill>
                    <a:schemeClr val="lt1"/>
                  </a:solidFill>
                  <a:highlight>
                    <a:srgbClr val="004671"/>
                  </a:highlight>
                  <a:latin typeface="Montserrat"/>
                  <a:ea typeface="Montserrat"/>
                  <a:cs typeface="Montserrat"/>
                  <a:sym typeface="Montserrat"/>
                </a:rPr>
                <a:t>Hamna Javed, MD; Mahwish Sheikh, MD; Andrew Clark, MD; Aftab Arif, MD;  Vijay Balasubramanian MD, MRCP (UK), FCCP</a:t>
              </a:r>
              <a:endParaRPr sz="3200"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p1"/>
            <p:cNvSpPr txBox="1"/>
            <p:nvPr/>
          </p:nvSpPr>
          <p:spPr>
            <a:xfrm>
              <a:off x="12093877" y="14697406"/>
              <a:ext cx="87306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illustrates key patient demographics and PAH-related clinical data.</a:t>
              </a:r>
              <a:endParaRPr sz="933"/>
            </a:p>
          </p:txBody>
        </p:sp>
        <p:sp>
          <p:nvSpPr>
            <p:cNvPr id="97" name="Google Shape;97;p1"/>
            <p:cNvSpPr/>
            <p:nvPr/>
          </p:nvSpPr>
          <p:spPr>
            <a:xfrm>
              <a:off x="11663201" y="15178150"/>
              <a:ext cx="97342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p1"/>
            <p:cNvSpPr/>
            <p:nvPr/>
          </p:nvSpPr>
          <p:spPr>
            <a:xfrm>
              <a:off x="11663200" y="16337750"/>
              <a:ext cx="9734200" cy="5231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endParaRPr sz="2667">
                <a:solidFill>
                  <a:srgbClr val="222222"/>
                </a:solidFill>
                <a:highlight>
                  <a:srgbClr val="FFFFFF"/>
                </a:highlight>
              </a:endParaRPr>
            </a:p>
            <a:p>
              <a:pPr>
                <a:buClr>
                  <a:schemeClr val="dk1"/>
                </a:buClr>
                <a:buSzPts val="1100"/>
              </a:pPr>
              <a:r>
                <a:rPr lang="en-US" sz="2667">
                  <a:solidFill>
                    <a:schemeClr val="dk1"/>
                  </a:solidFill>
                </a:rPr>
                <a:t>The Phase 3 STELLAR Trial led to the approval of sotatercept as an agent for the treatment of pulmonary arterial hypertension. The activin pathway is considered the fourth pathway in the treatment of PAH. This case series highlights the use of SOT in the underserved population of the Central Valley. In contrast to the STELLAR trial (96%) and ZENITH trial (84%) data was done on predominantly white individuals, 96% and 84% respectively. In contrast to that, our case series includes mostly hispanic females which is reflective of the population in the Central Valley. Although our small case series is based on the experience at a single center, it shows evident racial disparities and will lead to increased data on the effects of SOT in other ethnicities.</a:t>
              </a:r>
              <a:endParaRPr sz="2667">
                <a:solidFill>
                  <a:schemeClr val="lt1"/>
                </a:solidFill>
              </a:endParaRPr>
            </a:p>
            <a:p>
              <a:pPr algn="ctr">
                <a:buSzPts val="7258"/>
              </a:pPr>
              <a:endParaRPr sz="2667">
                <a:solidFill>
                  <a:schemeClr val="lt1"/>
                </a:solidFill>
              </a:endParaRPr>
            </a:p>
          </p:txBody>
        </p:sp>
        <p:sp>
          <p:nvSpPr>
            <p:cNvPr id="99" name="Google Shape;99;p1"/>
            <p:cNvSpPr/>
            <p:nvPr/>
          </p:nvSpPr>
          <p:spPr>
            <a:xfrm>
              <a:off x="21613840" y="15168396"/>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0" name="Google Shape;100;p1"/>
            <p:cNvSpPr/>
            <p:nvPr/>
          </p:nvSpPr>
          <p:spPr>
            <a:xfrm>
              <a:off x="21630633" y="16286950"/>
              <a:ext cx="8839200" cy="25036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333">
                  <a:solidFill>
                    <a:schemeClr val="dk1"/>
                  </a:solidFill>
                </a:rPr>
                <a:t>These cases illustrate favorable responses to SOT in patients with progressive PAH. Often, Symptom improvement was perceived as soon as after 1 st dose. Of the 10 patients, SOT had to be stopped in 1 patient due to significant Thrombocytopenia despite favorable clinical response. Our Real-world experience with SOT illustrates the efficacy of this intervention in keeping with the recommendations from the 7th World Symposium.</a:t>
              </a:r>
              <a:endParaRPr sz="2333">
                <a:solidFill>
                  <a:schemeClr val="dk1"/>
                </a:solidFill>
              </a:endParaRPr>
            </a:p>
          </p:txBody>
        </p:sp>
        <p:pic>
          <p:nvPicPr>
            <p:cNvPr id="101" name="Google Shape;101;p1" descr="Text&#10;&#10;Description automatically generated with medium confidence"/>
            <p:cNvPicPr preferRelativeResize="0"/>
            <p:nvPr/>
          </p:nvPicPr>
          <p:blipFill rotWithShape="1">
            <a:blip r:embed="rId3">
              <a:alphaModFix/>
            </a:blip>
            <a:srcRect/>
            <a:stretch/>
          </p:blipFill>
          <p:spPr>
            <a:xfrm>
              <a:off x="7039296" y="1325466"/>
              <a:ext cx="3222029" cy="1844068"/>
            </a:xfrm>
            <a:prstGeom prst="rect">
              <a:avLst/>
            </a:prstGeom>
            <a:noFill/>
            <a:ln>
              <a:noFill/>
            </a:ln>
          </p:spPr>
        </p:pic>
        <p:pic>
          <p:nvPicPr>
            <p:cNvPr id="102" name="Google Shape;102;p1"/>
            <p:cNvPicPr preferRelativeResize="0"/>
            <p:nvPr/>
          </p:nvPicPr>
          <p:blipFill rotWithShape="1">
            <a:blip r:embed="rId4">
              <a:alphaModFix/>
            </a:blip>
            <a:srcRect/>
            <a:stretch/>
          </p:blipFill>
          <p:spPr>
            <a:xfrm>
              <a:off x="2747461" y="617494"/>
              <a:ext cx="3638091" cy="3314050"/>
            </a:xfrm>
            <a:prstGeom prst="rect">
              <a:avLst/>
            </a:prstGeom>
            <a:noFill/>
            <a:ln>
              <a:noFill/>
            </a:ln>
          </p:spPr>
        </p:pic>
        <p:pic>
          <p:nvPicPr>
            <p:cNvPr id="103" name="Google Shape;103;p1"/>
            <p:cNvPicPr preferRelativeResize="0"/>
            <p:nvPr/>
          </p:nvPicPr>
          <p:blipFill>
            <a:blip r:embed="rId5">
              <a:alphaModFix/>
            </a:blip>
            <a:stretch>
              <a:fillRect/>
            </a:stretch>
          </p:blipFill>
          <p:spPr>
            <a:xfrm>
              <a:off x="11663200" y="4433433"/>
              <a:ext cx="18755833" cy="10263967"/>
            </a:xfrm>
            <a:prstGeom prst="rect">
              <a:avLst/>
            </a:prstGeom>
            <a:noFill/>
            <a:ln>
              <a:noFill/>
            </a:ln>
          </p:spPr>
        </p:pic>
        <p:sp>
          <p:nvSpPr>
            <p:cNvPr id="104" name="Google Shape;104;p1"/>
            <p:cNvSpPr/>
            <p:nvPr/>
          </p:nvSpPr>
          <p:spPr>
            <a:xfrm>
              <a:off x="21647640" y="18915065"/>
              <a:ext cx="8839200" cy="658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5" name="Google Shape;105;p1"/>
            <p:cNvSpPr/>
            <p:nvPr/>
          </p:nvSpPr>
          <p:spPr>
            <a:xfrm>
              <a:off x="21613633" y="19603567"/>
              <a:ext cx="8839200" cy="1965600"/>
            </a:xfrm>
            <a:prstGeom prst="rect">
              <a:avLst/>
            </a:prstGeom>
            <a:solidFill>
              <a:schemeClr val="lt1"/>
            </a:solidFill>
            <a:ln>
              <a:noFill/>
            </a:ln>
          </p:spPr>
          <p:txBody>
            <a:bodyPr spcFirstLastPara="1" wrap="square" lIns="60950" tIns="30467" rIns="60950" bIns="30467" anchor="ctr" anchorCtr="0">
              <a:noAutofit/>
            </a:bodyPr>
            <a:lstStyle/>
            <a:p>
              <a:pPr marL="304815" indent="-232845">
                <a:buClr>
                  <a:schemeClr val="dk1"/>
                </a:buClr>
                <a:buSzPts val="1900"/>
                <a:buAutoNum type="arabicPeriod"/>
              </a:pPr>
              <a:r>
                <a:rPr lang="en-US" sz="1267">
                  <a:solidFill>
                    <a:srgbClr val="212121"/>
                  </a:solidFill>
                  <a:highlight>
                    <a:srgbClr val="FFFFFF"/>
                  </a:highlight>
                </a:rPr>
                <a:t>Hoeper MM, Badesch DB, Ghofrani HA, Gibbs JSR, Gomberg-Maitland M, McLaughlin VV, Preston IR, Souza R, Waxman AB, Grünig E, Kopeć G, Meyer G, Olsson KM, Rosenkranz S, Xu Y, Miller B, Fowler M, Butler J, Koglin J, de Oliveira Pena J, Humbert M; STELLAR Trial Investigators. Phase 3 Trial of Sotatercept for Treatment of Pulmonary Arterial Hypertension. N Engl J Med. 2023 Apr 20;388(16):1478-1490. doi: 10.1056/NEJMoa2213558. Epub 2023 Mar 6. PMID: 36877098.</a:t>
              </a:r>
              <a:endParaRPr sz="1267">
                <a:solidFill>
                  <a:schemeClr val="dk1"/>
                </a:solidFill>
              </a:endParaRPr>
            </a:p>
            <a:p>
              <a:pPr marL="304815" indent="-232845">
                <a:buClr>
                  <a:schemeClr val="dk1"/>
                </a:buClr>
                <a:buSzPts val="1900"/>
                <a:buAutoNum type="arabicPeriod"/>
              </a:pPr>
              <a:r>
                <a:rPr lang="en-US" sz="1267">
                  <a:solidFill>
                    <a:srgbClr val="212121"/>
                  </a:solidFill>
                  <a:highlight>
                    <a:srgbClr val="FFFFFF"/>
                  </a:highlight>
                </a:rPr>
                <a:t>Humbert M, McLaughlin VV, Badesch DB, Ghofrani HA, Gibbs JSR, Gomberg-Maitland M, Preston IR, Souza R, Waxman AB, Moles VM, Savale L, Vizza CD, Rosenkranz S, Shi Y, Miller B, Mackenzie HS, Kim SS, Loureiro MJ, Patel MJ, Koglin J, Cornell AG, Hoeper MM; ZENITH Trial Investigators. Sotatercept in Patients with Pulmonary Arterial Hypertension at High Risk for Death. N Engl J Med. 2025 Mar 31. doi: 10.1056/NEJMoa2415160. Epub ahead of print. PMID: 40167274.</a:t>
              </a:r>
              <a:endParaRPr sz="1267">
                <a:solidFill>
                  <a:schemeClr val="dk1"/>
                </a:solidFill>
              </a:endParaRPr>
            </a:p>
          </p:txBody>
        </p:sp>
      </p:grpSp>
      <p:pic>
        <p:nvPicPr>
          <p:cNvPr id="106" name="Picture 105" descr="9R.png"/>
          <p:cNvPicPr>
            <a:picLocks noChangeAspect="1"/>
          </p:cNvPicPr>
          <p:nvPr/>
        </p:nvPicPr>
        <p:blipFill>
          <a:blip r:embed="rId6"/>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861</Words>
  <Application>Microsoft Macintosh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Montserrat</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2025-04-26T17:11:47Z</dcterms:modified>
</cp:coreProperties>
</file>