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jpg" ContentType="image/jpg"/>
  <Override PartName="/ppt/media/image5.jpg" ContentType="image/jpg"/>
  <Override PartName="/ppt/media/image6.jpg" ContentType="image/jpg"/>
  <Override PartName="/ppt/media/image7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32918400" cy="21945600"/>
  <p:notesSz cx="20104100" cy="13398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4717" userDrawn="1">
          <p15:clr>
            <a:srgbClr val="A4A3A4"/>
          </p15:clr>
        </p15:guide>
        <p15:guide id="2" pos="35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82"/>
    <p:restoredTop sz="94687"/>
  </p:normalViewPr>
  <p:slideViewPr>
    <p:cSldViewPr>
      <p:cViewPr varScale="1">
        <p:scale>
          <a:sx n="47" d="100"/>
          <a:sy n="47" d="100"/>
        </p:scale>
        <p:origin x="1720" y="296"/>
      </p:cViewPr>
      <p:guideLst>
        <p:guide orient="horz" pos="4717"/>
        <p:guide pos="353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468879" y="6803137"/>
            <a:ext cx="27980642" cy="8693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49" b="0" i="0">
                <a:solidFill>
                  <a:srgbClr val="225078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937760" y="12289537"/>
            <a:ext cx="230428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72389" y="591653"/>
            <a:ext cx="19216608" cy="869341"/>
          </a:xfrm>
        </p:spPr>
        <p:txBody>
          <a:bodyPr lIns="0" tIns="0" rIns="0" bIns="0"/>
          <a:lstStyle>
            <a:lvl1pPr>
              <a:defRPr sz="5649" b="0" i="0">
                <a:solidFill>
                  <a:srgbClr val="225078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72389" y="591653"/>
            <a:ext cx="19216608" cy="869341"/>
          </a:xfrm>
        </p:spPr>
        <p:txBody>
          <a:bodyPr lIns="0" tIns="0" rIns="0" bIns="0"/>
          <a:lstStyle>
            <a:lvl1pPr>
              <a:defRPr sz="5649" b="0" i="0">
                <a:solidFill>
                  <a:srgbClr val="225078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645920" y="5047488"/>
            <a:ext cx="1431950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6952975" y="5047488"/>
            <a:ext cx="1431950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72389" y="591653"/>
            <a:ext cx="19216608" cy="869341"/>
          </a:xfrm>
        </p:spPr>
        <p:txBody>
          <a:bodyPr lIns="0" tIns="0" rIns="0" bIns="0"/>
          <a:lstStyle>
            <a:lvl1pPr>
              <a:defRPr sz="5649" b="0" i="0">
                <a:solidFill>
                  <a:srgbClr val="225078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32918331" cy="219456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551148" y="8123192"/>
            <a:ext cx="7802264" cy="362165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551148" y="4606714"/>
            <a:ext cx="7802264" cy="33667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72389" y="591653"/>
            <a:ext cx="19216608" cy="530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0" i="0">
                <a:solidFill>
                  <a:srgbClr val="225078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0269" y="4582088"/>
            <a:ext cx="1474881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1192256" y="20409409"/>
            <a:ext cx="1053388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645921" y="20409409"/>
            <a:ext cx="757123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3701250" y="20409409"/>
            <a:ext cx="757123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48619">
        <a:defRPr>
          <a:latin typeface="+mn-lt"/>
          <a:ea typeface="+mn-ea"/>
          <a:cs typeface="+mn-cs"/>
        </a:defRPr>
      </a:lvl2pPr>
      <a:lvl3pPr marL="1497239">
        <a:defRPr>
          <a:latin typeface="+mn-lt"/>
          <a:ea typeface="+mn-ea"/>
          <a:cs typeface="+mn-cs"/>
        </a:defRPr>
      </a:lvl3pPr>
      <a:lvl4pPr marL="2245858">
        <a:defRPr>
          <a:latin typeface="+mn-lt"/>
          <a:ea typeface="+mn-ea"/>
          <a:cs typeface="+mn-cs"/>
        </a:defRPr>
      </a:lvl4pPr>
      <a:lvl5pPr marL="2994477">
        <a:defRPr>
          <a:latin typeface="+mn-lt"/>
          <a:ea typeface="+mn-ea"/>
          <a:cs typeface="+mn-cs"/>
        </a:defRPr>
      </a:lvl5pPr>
      <a:lvl6pPr marL="3743096">
        <a:defRPr>
          <a:latin typeface="+mn-lt"/>
          <a:ea typeface="+mn-ea"/>
          <a:cs typeface="+mn-cs"/>
        </a:defRPr>
      </a:lvl6pPr>
      <a:lvl7pPr marL="4491716">
        <a:defRPr>
          <a:latin typeface="+mn-lt"/>
          <a:ea typeface="+mn-ea"/>
          <a:cs typeface="+mn-cs"/>
        </a:defRPr>
      </a:lvl7pPr>
      <a:lvl8pPr marL="5240335">
        <a:defRPr>
          <a:latin typeface="+mn-lt"/>
          <a:ea typeface="+mn-ea"/>
          <a:cs typeface="+mn-cs"/>
        </a:defRPr>
      </a:lvl8pPr>
      <a:lvl9pPr marL="5988954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48619">
        <a:defRPr>
          <a:latin typeface="+mn-lt"/>
          <a:ea typeface="+mn-ea"/>
          <a:cs typeface="+mn-cs"/>
        </a:defRPr>
      </a:lvl2pPr>
      <a:lvl3pPr marL="1497239">
        <a:defRPr>
          <a:latin typeface="+mn-lt"/>
          <a:ea typeface="+mn-ea"/>
          <a:cs typeface="+mn-cs"/>
        </a:defRPr>
      </a:lvl3pPr>
      <a:lvl4pPr marL="2245858">
        <a:defRPr>
          <a:latin typeface="+mn-lt"/>
          <a:ea typeface="+mn-ea"/>
          <a:cs typeface="+mn-cs"/>
        </a:defRPr>
      </a:lvl4pPr>
      <a:lvl5pPr marL="2994477">
        <a:defRPr>
          <a:latin typeface="+mn-lt"/>
          <a:ea typeface="+mn-ea"/>
          <a:cs typeface="+mn-cs"/>
        </a:defRPr>
      </a:lvl5pPr>
      <a:lvl6pPr marL="3743096">
        <a:defRPr>
          <a:latin typeface="+mn-lt"/>
          <a:ea typeface="+mn-ea"/>
          <a:cs typeface="+mn-cs"/>
        </a:defRPr>
      </a:lvl6pPr>
      <a:lvl7pPr marL="4491716">
        <a:defRPr>
          <a:latin typeface="+mn-lt"/>
          <a:ea typeface="+mn-ea"/>
          <a:cs typeface="+mn-cs"/>
        </a:defRPr>
      </a:lvl7pPr>
      <a:lvl8pPr marL="5240335">
        <a:defRPr>
          <a:latin typeface="+mn-lt"/>
          <a:ea typeface="+mn-ea"/>
          <a:cs typeface="+mn-cs"/>
        </a:defRPr>
      </a:lvl8pPr>
      <a:lvl9pPr marL="5988954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i.org/10.15406/ghoa.2018.09.00293" TargetMode="External"/><Relationship Id="rId3" Type="http://schemas.openxmlformats.org/officeDocument/2006/relationships/hyperlink" Target="https://doi.org/10.21037/atm-20-5144" TargetMode="External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0896" y="431827"/>
            <a:ext cx="19216608" cy="1771729"/>
          </a:xfrm>
          <a:prstGeom prst="rect">
            <a:avLst/>
          </a:prstGeom>
        </p:spPr>
        <p:txBody>
          <a:bodyPr vert="horz" wrap="square" lIns="0" tIns="20795" rIns="0" bIns="0" rtlCol="0">
            <a:spAutoFit/>
          </a:bodyPr>
          <a:lstStyle/>
          <a:p>
            <a:pPr marL="20795" algn="ctr">
              <a:spcBef>
                <a:spcPts val="164"/>
              </a:spcBef>
            </a:pPr>
            <a:r>
              <a:rPr dirty="0"/>
              <a:t>Exploring</a:t>
            </a:r>
            <a:r>
              <a:rPr spc="-74" dirty="0"/>
              <a:t> </a:t>
            </a:r>
            <a:r>
              <a:rPr spc="-16" dirty="0"/>
              <a:t>Hepatotoxicity:</a:t>
            </a:r>
          </a:p>
          <a:p>
            <a:pPr algn="ctr">
              <a:spcBef>
                <a:spcPts val="57"/>
              </a:spcBef>
            </a:pPr>
            <a:r>
              <a:rPr dirty="0"/>
              <a:t>A</a:t>
            </a:r>
            <a:r>
              <a:rPr spc="-65" dirty="0"/>
              <a:t> </a:t>
            </a:r>
            <a:r>
              <a:rPr dirty="0"/>
              <a:t>Case</a:t>
            </a:r>
            <a:r>
              <a:rPr spc="-65" dirty="0"/>
              <a:t> </a:t>
            </a:r>
            <a:r>
              <a:rPr dirty="0"/>
              <a:t>Report</a:t>
            </a:r>
            <a:r>
              <a:rPr spc="-65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spc="-57" dirty="0"/>
              <a:t>Piperacillin/Tazobactam-</a:t>
            </a:r>
            <a:r>
              <a:rPr dirty="0"/>
              <a:t>Induced</a:t>
            </a:r>
            <a:r>
              <a:rPr spc="-65" dirty="0"/>
              <a:t> </a:t>
            </a:r>
            <a:r>
              <a:rPr spc="-16" dirty="0"/>
              <a:t>Liver</a:t>
            </a:r>
            <a:r>
              <a:rPr spc="-57" dirty="0"/>
              <a:t> </a:t>
            </a:r>
            <a:r>
              <a:rPr spc="-16" dirty="0"/>
              <a:t>Injury</a:t>
            </a:r>
          </a:p>
        </p:txBody>
      </p:sp>
      <p:sp>
        <p:nvSpPr>
          <p:cNvPr id="3" name="object 3"/>
          <p:cNvSpPr/>
          <p:nvPr/>
        </p:nvSpPr>
        <p:spPr>
          <a:xfrm>
            <a:off x="15565159" y="19439477"/>
            <a:ext cx="16765925" cy="2123164"/>
          </a:xfrm>
          <a:custGeom>
            <a:avLst/>
            <a:gdLst/>
            <a:ahLst/>
            <a:cxnLst/>
            <a:rect l="l" t="t" r="r" b="b"/>
            <a:pathLst>
              <a:path w="10239375" h="1296669">
                <a:moveTo>
                  <a:pt x="10238958" y="1296294"/>
                </a:moveTo>
                <a:lnTo>
                  <a:pt x="0" y="1296294"/>
                </a:lnTo>
                <a:lnTo>
                  <a:pt x="0" y="0"/>
                </a:lnTo>
                <a:lnTo>
                  <a:pt x="10238958" y="0"/>
                </a:lnTo>
                <a:lnTo>
                  <a:pt x="10238958" y="12962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831366" y="19370520"/>
            <a:ext cx="15812477" cy="1396770"/>
          </a:xfrm>
          <a:prstGeom prst="rect">
            <a:avLst/>
          </a:prstGeom>
        </p:spPr>
        <p:txBody>
          <a:bodyPr vert="horz" wrap="square" lIns="0" tIns="221466" rIns="0" bIns="0" rtlCol="0">
            <a:spAutoFit/>
          </a:bodyPr>
          <a:lstStyle/>
          <a:p>
            <a:pPr>
              <a:spcBef>
                <a:spcPts val="1744"/>
              </a:spcBef>
            </a:pPr>
            <a:r>
              <a:rPr sz="3766" spc="-16" dirty="0">
                <a:solidFill>
                  <a:srgbClr val="225078"/>
                </a:solidFill>
                <a:latin typeface="Cambria"/>
                <a:cs typeface="Cambria"/>
              </a:rPr>
              <a:t>References</a:t>
            </a:r>
            <a:endParaRPr sz="3766">
              <a:latin typeface="Cambria"/>
              <a:cs typeface="Cambria"/>
            </a:endParaRPr>
          </a:p>
          <a:p>
            <a:pPr marL="51987" marR="8318">
              <a:spcBef>
                <a:spcPts val="688"/>
              </a:spcBef>
            </a:pP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Abdullah</a:t>
            </a:r>
            <a:r>
              <a:rPr sz="1637" spc="-49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AS.</a:t>
            </a:r>
            <a:r>
              <a:rPr sz="1637" spc="-41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spc="-33" dirty="0">
                <a:solidFill>
                  <a:srgbClr val="1382A4"/>
                </a:solidFill>
                <a:latin typeface="Verdana"/>
                <a:cs typeface="Verdana"/>
              </a:rPr>
              <a:t>Piperacillin-</a:t>
            </a:r>
            <a:r>
              <a:rPr sz="1637" spc="-16" dirty="0">
                <a:solidFill>
                  <a:srgbClr val="1382A4"/>
                </a:solidFill>
                <a:latin typeface="Verdana"/>
                <a:cs typeface="Verdana"/>
              </a:rPr>
              <a:t>tazobactam-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induced</a:t>
            </a:r>
            <a:r>
              <a:rPr sz="1637" spc="-41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spc="-16" dirty="0">
                <a:solidFill>
                  <a:srgbClr val="1382A4"/>
                </a:solidFill>
                <a:latin typeface="Verdana"/>
                <a:cs typeface="Verdana"/>
              </a:rPr>
              <a:t>cholestatic</a:t>
            </a:r>
            <a:r>
              <a:rPr sz="1637" spc="-41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spc="-16" dirty="0">
                <a:solidFill>
                  <a:srgbClr val="1382A4"/>
                </a:solidFill>
                <a:latin typeface="Verdana"/>
                <a:cs typeface="Verdana"/>
              </a:rPr>
              <a:t>jaundice:</a:t>
            </a:r>
            <a:r>
              <a:rPr sz="1637" spc="-41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a</a:t>
            </a:r>
            <a:r>
              <a:rPr sz="1637" spc="-41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report</a:t>
            </a:r>
            <a:r>
              <a:rPr sz="1637" spc="-41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of</a:t>
            </a:r>
            <a:r>
              <a:rPr sz="1637" spc="-41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2</a:t>
            </a:r>
            <a:r>
              <a:rPr sz="1637" spc="-41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cases</a:t>
            </a:r>
            <a:r>
              <a:rPr sz="1637" spc="-41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with</a:t>
            </a:r>
            <a:r>
              <a:rPr sz="1637" spc="-41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brief</a:t>
            </a:r>
            <a:r>
              <a:rPr sz="1637" spc="-41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spc="-16" dirty="0">
                <a:solidFill>
                  <a:srgbClr val="1382A4"/>
                </a:solidFill>
                <a:latin typeface="Verdana"/>
                <a:cs typeface="Verdana"/>
              </a:rPr>
              <a:t>literature</a:t>
            </a:r>
            <a:r>
              <a:rPr sz="1637" spc="-41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review.</a:t>
            </a:r>
            <a:r>
              <a:rPr sz="1637" spc="-41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spc="-16" dirty="0">
                <a:solidFill>
                  <a:srgbClr val="1382A4"/>
                </a:solidFill>
                <a:latin typeface="Verdana"/>
                <a:cs typeface="Verdana"/>
              </a:rPr>
              <a:t>Gastroenterol</a:t>
            </a:r>
            <a:r>
              <a:rPr sz="1637" spc="-41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Hepatol</a:t>
            </a:r>
            <a:r>
              <a:rPr sz="1637" spc="-41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Open</a:t>
            </a:r>
            <a:r>
              <a:rPr sz="1637" spc="-41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spc="-16" dirty="0">
                <a:solidFill>
                  <a:srgbClr val="1382A4"/>
                </a:solidFill>
                <a:latin typeface="Verdana"/>
                <a:cs typeface="Verdana"/>
              </a:rPr>
              <a:t>Access. 2018;9(2):52–53.</a:t>
            </a:r>
            <a:r>
              <a:rPr sz="1637" spc="-49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DOI:</a:t>
            </a:r>
            <a:r>
              <a:rPr sz="1637" spc="-33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spc="-16" dirty="0">
                <a:solidFill>
                  <a:srgbClr val="1382A4"/>
                </a:solidFill>
                <a:latin typeface="Verdana"/>
                <a:cs typeface="Verdana"/>
                <a:hlinkClick r:id="rId2"/>
              </a:rPr>
              <a:t>10.15406/ghoa.2018.09.00293</a:t>
            </a:r>
            <a:endParaRPr sz="1637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883620" y="20846177"/>
            <a:ext cx="15970519" cy="272927"/>
          </a:xfrm>
          <a:prstGeom prst="rect">
            <a:avLst/>
          </a:prstGeom>
        </p:spPr>
        <p:txBody>
          <a:bodyPr vert="horz" wrap="square" lIns="0" tIns="20795" rIns="0" bIns="0" rtlCol="0">
            <a:spAutoFit/>
          </a:bodyPr>
          <a:lstStyle/>
          <a:p>
            <a:pPr>
              <a:spcBef>
                <a:spcPts val="164"/>
              </a:spcBef>
            </a:pP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Park,</a:t>
            </a:r>
            <a:r>
              <a:rPr sz="1637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J.</a:t>
            </a:r>
            <a:r>
              <a:rPr sz="1637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H.,</a:t>
            </a:r>
            <a:r>
              <a:rPr sz="1637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Hong,</a:t>
            </a:r>
            <a:r>
              <a:rPr sz="1637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S.,</a:t>
            </a:r>
            <a:r>
              <a:rPr sz="1637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Jun,</a:t>
            </a:r>
            <a:r>
              <a:rPr sz="1637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D.</a:t>
            </a:r>
            <a:r>
              <a:rPr sz="1637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spc="-82" dirty="0">
                <a:solidFill>
                  <a:srgbClr val="1382A4"/>
                </a:solidFill>
                <a:latin typeface="Verdana"/>
                <a:cs typeface="Verdana"/>
              </a:rPr>
              <a:t>W.,</a:t>
            </a:r>
            <a:r>
              <a:rPr sz="1637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spc="-16" dirty="0">
                <a:solidFill>
                  <a:srgbClr val="1382A4"/>
                </a:solidFill>
                <a:latin typeface="Verdana"/>
                <a:cs typeface="Verdana"/>
              </a:rPr>
              <a:t>Yoon,</a:t>
            </a:r>
            <a:r>
              <a:rPr sz="1637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J.</a:t>
            </a:r>
            <a:r>
              <a:rPr sz="1637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H.,</a:t>
            </a:r>
            <a:r>
              <a:rPr sz="1637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Lee,</a:t>
            </a:r>
            <a:r>
              <a:rPr sz="1637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K.</a:t>
            </a:r>
            <a:r>
              <a:rPr sz="1637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N.,</a:t>
            </a:r>
            <a:r>
              <a:rPr sz="1637" spc="-57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Lee,</a:t>
            </a:r>
            <a:r>
              <a:rPr sz="1637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H.</a:t>
            </a:r>
            <a:r>
              <a:rPr sz="1637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L.,</a:t>
            </a:r>
            <a:r>
              <a:rPr sz="1637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Lee,</a:t>
            </a:r>
            <a:r>
              <a:rPr sz="1637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O.</a:t>
            </a:r>
            <a:r>
              <a:rPr sz="1637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spc="-106" dirty="0">
                <a:solidFill>
                  <a:srgbClr val="1382A4"/>
                </a:solidFill>
                <a:latin typeface="Verdana"/>
                <a:cs typeface="Verdana"/>
              </a:rPr>
              <a:t>Y.,</a:t>
            </a:r>
            <a:r>
              <a:rPr sz="1637" spc="-41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spc="-16" dirty="0">
                <a:solidFill>
                  <a:srgbClr val="1382A4"/>
                </a:solidFill>
                <a:latin typeface="Verdana"/>
                <a:cs typeface="Verdana"/>
              </a:rPr>
              <a:t>Yoon,</a:t>
            </a:r>
            <a:r>
              <a:rPr sz="1637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B.</a:t>
            </a:r>
            <a:r>
              <a:rPr sz="1637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C.,</a:t>
            </a:r>
            <a:r>
              <a:rPr sz="1637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&amp;</a:t>
            </a:r>
            <a:r>
              <a:rPr sz="1637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Choi,</a:t>
            </a:r>
            <a:r>
              <a:rPr sz="1637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H.</a:t>
            </a:r>
            <a:r>
              <a:rPr sz="1637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S.</a:t>
            </a:r>
            <a:r>
              <a:rPr sz="1637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(2021).</a:t>
            </a:r>
            <a:r>
              <a:rPr sz="1637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spc="-16" dirty="0">
                <a:solidFill>
                  <a:srgbClr val="1382A4"/>
                </a:solidFill>
                <a:latin typeface="Verdana"/>
                <a:cs typeface="Verdana"/>
              </a:rPr>
              <a:t>Prevalence</a:t>
            </a:r>
            <a:r>
              <a:rPr sz="1637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and</a:t>
            </a:r>
            <a:r>
              <a:rPr sz="1637" spc="-57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clinical</a:t>
            </a:r>
            <a:r>
              <a:rPr sz="1637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spc="-16" dirty="0">
                <a:solidFill>
                  <a:srgbClr val="1382A4"/>
                </a:solidFill>
                <a:latin typeface="Verdana"/>
                <a:cs typeface="Verdana"/>
              </a:rPr>
              <a:t>characteristics</a:t>
            </a:r>
            <a:r>
              <a:rPr sz="1637" spc="16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spc="-41" dirty="0">
                <a:solidFill>
                  <a:srgbClr val="1382A4"/>
                </a:solidFill>
                <a:latin typeface="Verdana"/>
                <a:cs typeface="Verdana"/>
              </a:rPr>
              <a:t>of</a:t>
            </a:r>
            <a:endParaRPr sz="1637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883621" y="21020856"/>
            <a:ext cx="13777692" cy="272927"/>
          </a:xfrm>
          <a:prstGeom prst="rect">
            <a:avLst/>
          </a:prstGeom>
        </p:spPr>
        <p:txBody>
          <a:bodyPr vert="horz" wrap="square" lIns="0" tIns="20795" rIns="0" bIns="0" rtlCol="0">
            <a:spAutoFit/>
          </a:bodyPr>
          <a:lstStyle/>
          <a:p>
            <a:pPr>
              <a:spcBef>
                <a:spcPts val="164"/>
              </a:spcBef>
            </a:pPr>
            <a:r>
              <a:rPr sz="1637" spc="-16" dirty="0">
                <a:solidFill>
                  <a:srgbClr val="1382A4"/>
                </a:solidFill>
                <a:latin typeface="Verdana"/>
                <a:cs typeface="Verdana"/>
              </a:rPr>
              <a:t>antibiotics</a:t>
            </a:r>
            <a:r>
              <a:rPr sz="1637" spc="-2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associated</a:t>
            </a:r>
            <a:r>
              <a:rPr sz="1637" spc="-2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drug</a:t>
            </a:r>
            <a:r>
              <a:rPr sz="1637" spc="-2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induced</a:t>
            </a:r>
            <a:r>
              <a:rPr sz="1637" spc="-2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liver</a:t>
            </a:r>
            <a:r>
              <a:rPr sz="1637" spc="-2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spc="-16" dirty="0">
                <a:solidFill>
                  <a:srgbClr val="1382A4"/>
                </a:solidFill>
                <a:latin typeface="Verdana"/>
                <a:cs typeface="Verdana"/>
              </a:rPr>
              <a:t>injury.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i="1" dirty="0">
                <a:solidFill>
                  <a:srgbClr val="1382A4"/>
                </a:solidFill>
                <a:latin typeface="Verdana"/>
                <a:cs typeface="Verdana"/>
              </a:rPr>
              <a:t>Annals</a:t>
            </a:r>
            <a:r>
              <a:rPr sz="1637" i="1" spc="-2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i="1" dirty="0">
                <a:solidFill>
                  <a:srgbClr val="1382A4"/>
                </a:solidFill>
                <a:latin typeface="Verdana"/>
                <a:cs typeface="Verdana"/>
              </a:rPr>
              <a:t>of</a:t>
            </a:r>
            <a:r>
              <a:rPr sz="1637" i="1" spc="-2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i="1" spc="-16" dirty="0">
                <a:solidFill>
                  <a:srgbClr val="1382A4"/>
                </a:solidFill>
                <a:latin typeface="Verdana"/>
                <a:cs typeface="Verdana"/>
              </a:rPr>
              <a:t>translational</a:t>
            </a:r>
            <a:r>
              <a:rPr sz="1637" i="1" spc="-2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i="1" dirty="0">
                <a:solidFill>
                  <a:srgbClr val="1382A4"/>
                </a:solidFill>
                <a:latin typeface="Verdana"/>
                <a:cs typeface="Verdana"/>
              </a:rPr>
              <a:t>medicine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,</a:t>
            </a:r>
            <a:r>
              <a:rPr sz="1637" spc="-2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i="1" dirty="0">
                <a:solidFill>
                  <a:srgbClr val="1382A4"/>
                </a:solidFill>
                <a:latin typeface="Verdana"/>
                <a:cs typeface="Verdana"/>
              </a:rPr>
              <a:t>9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(8),</a:t>
            </a:r>
            <a:r>
              <a:rPr sz="1637" spc="-2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dirty="0">
                <a:solidFill>
                  <a:srgbClr val="1382A4"/>
                </a:solidFill>
                <a:latin typeface="Verdana"/>
                <a:cs typeface="Verdana"/>
              </a:rPr>
              <a:t>642.</a:t>
            </a:r>
            <a:r>
              <a:rPr sz="1637" spc="-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1637" u="sng" spc="-33" dirty="0">
                <a:solidFill>
                  <a:srgbClr val="1382A4"/>
                </a:solidFill>
                <a:uFill>
                  <a:solidFill>
                    <a:srgbClr val="1382A4"/>
                  </a:solidFill>
                </a:uFill>
                <a:latin typeface="Verdana"/>
                <a:cs typeface="Verdana"/>
                <a:hlinkClick r:id="rId3"/>
              </a:rPr>
              <a:t>https://doi.org/10.21037/atm-20-5144</a:t>
            </a:r>
            <a:endParaRPr sz="1637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565159" y="11958014"/>
            <a:ext cx="16765925" cy="706446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98592" rIns="0" bIns="0" rtlCol="0">
            <a:spAutoFit/>
          </a:bodyPr>
          <a:lstStyle/>
          <a:p>
            <a:pPr marL="373270">
              <a:spcBef>
                <a:spcPts val="1564"/>
              </a:spcBef>
            </a:pPr>
            <a:r>
              <a:rPr sz="3766" spc="-16" dirty="0">
                <a:solidFill>
                  <a:srgbClr val="225078"/>
                </a:solidFill>
                <a:latin typeface="Cambria"/>
                <a:cs typeface="Cambria"/>
              </a:rPr>
              <a:t>Discussion</a:t>
            </a:r>
            <a:endParaRPr sz="3766">
              <a:latin typeface="Cambria"/>
              <a:cs typeface="Cambria"/>
            </a:endParaRPr>
          </a:p>
          <a:p>
            <a:pPr marL="384707" marR="1001278">
              <a:spcBef>
                <a:spcPts val="793"/>
              </a:spcBef>
            </a:pP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Piperacillin-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tazobactam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comprises</a:t>
            </a:r>
            <a:r>
              <a:rPr sz="2456" spc="-90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of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a</a:t>
            </a:r>
            <a:r>
              <a:rPr sz="2456" spc="-90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fourth-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generation,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extended-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spectrum</a:t>
            </a:r>
            <a:r>
              <a:rPr sz="2456" spc="-90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penicillin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and</a:t>
            </a:r>
            <a:r>
              <a:rPr sz="2456" spc="-90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82" dirty="0">
                <a:solidFill>
                  <a:srgbClr val="1382A4"/>
                </a:solidFill>
                <a:latin typeface="Verdana"/>
                <a:cs typeface="Verdana"/>
              </a:rPr>
              <a:t>a</a:t>
            </a:r>
            <a:r>
              <a:rPr sz="2456" spc="819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beta-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lactamase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41" dirty="0">
                <a:solidFill>
                  <a:srgbClr val="1382A4"/>
                </a:solidFill>
                <a:latin typeface="Verdana"/>
                <a:cs typeface="Verdana"/>
              </a:rPr>
              <a:t>inhibitor.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Literature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has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previously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indicated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rare</a:t>
            </a:r>
            <a:r>
              <a:rPr sz="2456" spc="-90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occurrences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of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idiosyncratic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liver</a:t>
            </a:r>
            <a:endParaRPr sz="2456">
              <a:latin typeface="Verdana"/>
              <a:cs typeface="Verdana"/>
            </a:endParaRPr>
          </a:p>
          <a:p>
            <a:pPr marL="384707" marR="464768"/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injury</a:t>
            </a:r>
            <a:r>
              <a:rPr sz="2456" spc="-74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in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individuals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who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receive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piperacillin,</a:t>
            </a:r>
            <a:r>
              <a:rPr sz="2456" spc="-74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yet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this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antibiotic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combination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has</a:t>
            </a:r>
            <a:r>
              <a:rPr sz="2456" spc="-74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not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definitively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linked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to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 hepatotoxicity.</a:t>
            </a:r>
            <a:endParaRPr sz="2456">
              <a:latin typeface="Verdana"/>
              <a:cs typeface="Verdana"/>
            </a:endParaRPr>
          </a:p>
          <a:p>
            <a:pPr marL="384707" marR="402383">
              <a:spcBef>
                <a:spcPts val="1965"/>
              </a:spcBef>
            </a:pP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Other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antibiotic</a:t>
            </a:r>
            <a:r>
              <a:rPr sz="2456" spc="-90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combinations,</a:t>
            </a:r>
            <a:r>
              <a:rPr sz="2456" spc="-90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most</a:t>
            </a:r>
            <a:r>
              <a:rPr sz="2456" spc="-90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commonly</a:t>
            </a:r>
            <a:r>
              <a:rPr sz="2456" spc="-90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amoxicillin/clavulanate,</a:t>
            </a:r>
            <a:r>
              <a:rPr sz="2456" spc="-90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have</a:t>
            </a:r>
            <a:r>
              <a:rPr sz="2456" spc="-90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demonstrated</a:t>
            </a:r>
            <a:r>
              <a:rPr sz="2456" spc="-90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82" dirty="0">
                <a:solidFill>
                  <a:srgbClr val="1382A4"/>
                </a:solidFill>
                <a:latin typeface="Verdana"/>
                <a:cs typeface="Verdana"/>
              </a:rPr>
              <a:t>a</a:t>
            </a:r>
            <a:r>
              <a:rPr sz="2456" spc="819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relatively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high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number</a:t>
            </a:r>
            <a:r>
              <a:rPr sz="2456" spc="-90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of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incidences</a:t>
            </a:r>
            <a:r>
              <a:rPr sz="2456" spc="-90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of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drug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induced</a:t>
            </a:r>
            <a:r>
              <a:rPr sz="2456" spc="-90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liver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injury.</a:t>
            </a:r>
            <a:r>
              <a:rPr sz="2456" spc="-90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In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general,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41" dirty="0">
                <a:solidFill>
                  <a:srgbClr val="1382A4"/>
                </a:solidFill>
                <a:latin typeface="Verdana"/>
                <a:cs typeface="Verdana"/>
              </a:rPr>
              <a:t>however,</a:t>
            </a:r>
            <a:r>
              <a:rPr sz="2456" spc="-90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research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41" dirty="0">
                <a:solidFill>
                  <a:srgbClr val="1382A4"/>
                </a:solidFill>
                <a:latin typeface="Verdana"/>
                <a:cs typeface="Verdana"/>
              </a:rPr>
              <a:t>on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antibiotics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linked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to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33" dirty="0">
                <a:solidFill>
                  <a:srgbClr val="1382A4"/>
                </a:solidFill>
                <a:latin typeface="Verdana"/>
                <a:cs typeface="Verdana"/>
              </a:rPr>
              <a:t>drug-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induced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liver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injury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(DILI)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is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considerably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restricted.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33" dirty="0">
                <a:solidFill>
                  <a:srgbClr val="1382A4"/>
                </a:solidFill>
                <a:latin typeface="Verdana"/>
                <a:cs typeface="Verdana"/>
              </a:rPr>
              <a:t>Additionally,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DILI</a:t>
            </a:r>
            <a:r>
              <a:rPr sz="2456" spc="57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often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manifests</a:t>
            </a:r>
            <a:r>
              <a:rPr sz="2456" spc="-90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in</a:t>
            </a:r>
            <a:r>
              <a:rPr sz="2456" spc="-82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patients</a:t>
            </a:r>
            <a:r>
              <a:rPr sz="2456" spc="-90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already</a:t>
            </a:r>
            <a:r>
              <a:rPr sz="2456" spc="-82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experiencing</a:t>
            </a:r>
            <a:r>
              <a:rPr sz="2456" spc="-90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liver</a:t>
            </a:r>
            <a:r>
              <a:rPr sz="2456" spc="-82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damage,</a:t>
            </a:r>
            <a:r>
              <a:rPr sz="2456" spc="-90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complicating</a:t>
            </a:r>
            <a:r>
              <a:rPr sz="2456" spc="-82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efforts</a:t>
            </a:r>
            <a:r>
              <a:rPr sz="2456" spc="-82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to</a:t>
            </a:r>
            <a:r>
              <a:rPr sz="2456" spc="-90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establish</a:t>
            </a:r>
            <a:r>
              <a:rPr sz="2456" spc="-82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a</a:t>
            </a:r>
            <a:r>
              <a:rPr sz="2456" spc="-90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definitive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correlation</a:t>
            </a:r>
            <a:r>
              <a:rPr sz="2456" spc="-106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between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antibiotic</a:t>
            </a:r>
            <a:r>
              <a:rPr sz="2456" spc="-106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usage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and</a:t>
            </a:r>
            <a:r>
              <a:rPr sz="2456" spc="-106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liver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injury.</a:t>
            </a:r>
            <a:endParaRPr sz="2456">
              <a:latin typeface="Verdana"/>
              <a:cs typeface="Verdana"/>
            </a:endParaRPr>
          </a:p>
          <a:p>
            <a:pPr marL="384707" marR="449172">
              <a:spcBef>
                <a:spcPts val="1965"/>
              </a:spcBef>
            </a:pP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This</a:t>
            </a:r>
            <a:r>
              <a:rPr sz="2456" spc="-82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case</a:t>
            </a:r>
            <a:r>
              <a:rPr sz="2456" spc="-74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study</a:t>
            </a:r>
            <a:r>
              <a:rPr sz="2456" spc="-74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thus</a:t>
            </a:r>
            <a:r>
              <a:rPr sz="2456" spc="-74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contributes</a:t>
            </a:r>
            <a:r>
              <a:rPr sz="2456" spc="-74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to</a:t>
            </a:r>
            <a:r>
              <a:rPr sz="2456" spc="-74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elucidating</a:t>
            </a:r>
            <a:r>
              <a:rPr sz="2456" spc="-74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the</a:t>
            </a:r>
            <a:r>
              <a:rPr sz="2456" spc="-82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potential</a:t>
            </a:r>
            <a:r>
              <a:rPr sz="2456" spc="-74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exacerbation</a:t>
            </a:r>
            <a:r>
              <a:rPr sz="2456" spc="-74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of</a:t>
            </a:r>
            <a:r>
              <a:rPr sz="2456" spc="-74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the</a:t>
            </a:r>
            <a:r>
              <a:rPr sz="2456" spc="-74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clinical</a:t>
            </a:r>
            <a:r>
              <a:rPr sz="2456" spc="-74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condition</a:t>
            </a:r>
            <a:r>
              <a:rPr sz="2456" spc="-74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41" dirty="0">
                <a:solidFill>
                  <a:srgbClr val="1382A4"/>
                </a:solidFill>
                <a:latin typeface="Verdana"/>
                <a:cs typeface="Verdana"/>
              </a:rPr>
              <a:t>of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critically</a:t>
            </a:r>
            <a:r>
              <a:rPr sz="2456" spc="-90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ill</a:t>
            </a:r>
            <a:r>
              <a:rPr sz="2456" spc="-90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patients</a:t>
            </a:r>
            <a:r>
              <a:rPr sz="2456" spc="-90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following</a:t>
            </a:r>
            <a:r>
              <a:rPr sz="2456" spc="-90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administration</a:t>
            </a:r>
            <a:r>
              <a:rPr sz="2456" spc="-90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of</a:t>
            </a:r>
            <a:r>
              <a:rPr sz="2456" spc="-90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piperacillin-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tazobactam.</a:t>
            </a:r>
            <a:r>
              <a:rPr sz="2456" spc="-90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While</a:t>
            </a:r>
            <a:r>
              <a:rPr sz="2456" spc="-90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acknowledged</a:t>
            </a:r>
            <a:r>
              <a:rPr sz="2456" spc="-90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for</a:t>
            </a:r>
            <a:r>
              <a:rPr sz="2456" spc="-90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41" dirty="0">
                <a:solidFill>
                  <a:srgbClr val="1382A4"/>
                </a:solidFill>
                <a:latin typeface="Verdana"/>
                <a:cs typeface="Verdana"/>
              </a:rPr>
              <a:t>its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antimicrobial</a:t>
            </a:r>
            <a:r>
              <a:rPr sz="2456" spc="-82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33" dirty="0">
                <a:solidFill>
                  <a:srgbClr val="1382A4"/>
                </a:solidFill>
                <a:latin typeface="Verdana"/>
                <a:cs typeface="Verdana"/>
              </a:rPr>
              <a:t>efficacy,</a:t>
            </a:r>
            <a:r>
              <a:rPr sz="2456" spc="-74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the</a:t>
            </a:r>
            <a:r>
              <a:rPr sz="2456" spc="-82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manifestation</a:t>
            </a:r>
            <a:r>
              <a:rPr sz="2456" spc="-74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of</a:t>
            </a:r>
            <a:r>
              <a:rPr sz="2456" spc="-74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adverse</a:t>
            </a:r>
            <a:r>
              <a:rPr sz="2456" spc="-82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effects</a:t>
            </a:r>
            <a:r>
              <a:rPr sz="2456" spc="-74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prompts</a:t>
            </a:r>
            <a:r>
              <a:rPr sz="2456" spc="-74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critical</a:t>
            </a:r>
            <a:r>
              <a:rPr sz="2456" spc="-82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appraisal</a:t>
            </a:r>
            <a:r>
              <a:rPr sz="2456" spc="-74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of</a:t>
            </a:r>
            <a:r>
              <a:rPr sz="2456" spc="-74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its</a:t>
            </a:r>
            <a:r>
              <a:rPr sz="2456" spc="-82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utility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within</a:t>
            </a:r>
            <a:r>
              <a:rPr sz="2456" spc="-74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the</a:t>
            </a:r>
            <a:r>
              <a:rPr sz="2456" spc="-74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intensive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care</a:t>
            </a:r>
            <a:r>
              <a:rPr sz="2456" spc="-74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setting.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With</a:t>
            </a:r>
            <a:r>
              <a:rPr sz="2456" spc="-74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limited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research</a:t>
            </a:r>
            <a:r>
              <a:rPr sz="2456" spc="-74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in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this</a:t>
            </a:r>
            <a:r>
              <a:rPr sz="2456" spc="-74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area,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further</a:t>
            </a:r>
            <a:r>
              <a:rPr sz="2456" spc="-74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investigation</a:t>
            </a:r>
            <a:r>
              <a:rPr sz="2456" spc="-74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is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warranted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to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better</a:t>
            </a:r>
            <a:r>
              <a:rPr sz="2456" spc="-57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understand</a:t>
            </a:r>
            <a:r>
              <a:rPr sz="2456" spc="-57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and</a:t>
            </a:r>
            <a:r>
              <a:rPr sz="2456" spc="-57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mitigate</a:t>
            </a:r>
            <a:r>
              <a:rPr sz="2456" spc="-57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the</a:t>
            </a:r>
            <a:r>
              <a:rPr sz="2456" spc="-57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risk</a:t>
            </a:r>
            <a:r>
              <a:rPr sz="2456" spc="-57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of</a:t>
            </a:r>
            <a:r>
              <a:rPr sz="2456" spc="-57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liver</a:t>
            </a:r>
            <a:r>
              <a:rPr sz="2456" spc="-57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injury</a:t>
            </a:r>
            <a:r>
              <a:rPr sz="2456" spc="-57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associated</a:t>
            </a:r>
            <a:r>
              <a:rPr sz="2456" spc="-57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with</a:t>
            </a:r>
            <a:r>
              <a:rPr sz="2456" spc="-57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piperacillin-tazobactam therapy.</a:t>
            </a:r>
            <a:endParaRPr sz="2456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625911" y="9462917"/>
            <a:ext cx="8704765" cy="2087826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81100" rIns="0" bIns="0" rtlCol="0">
            <a:spAutoFit/>
          </a:bodyPr>
          <a:lstStyle/>
          <a:p>
            <a:pPr marL="140366" marR="291130">
              <a:lnSpc>
                <a:spcPct val="114999"/>
              </a:lnSpc>
              <a:spcBef>
                <a:spcPts val="639"/>
              </a:spcBef>
            </a:pPr>
            <a:r>
              <a:rPr sz="2129" b="1" dirty="0">
                <a:solidFill>
                  <a:srgbClr val="1382A4"/>
                </a:solidFill>
                <a:latin typeface="Verdana"/>
                <a:cs typeface="Verdana"/>
              </a:rPr>
              <a:t>Figure</a:t>
            </a:r>
            <a:r>
              <a:rPr sz="2129" b="1" spc="-82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129" b="1" dirty="0">
                <a:solidFill>
                  <a:srgbClr val="1382A4"/>
                </a:solidFill>
                <a:latin typeface="Verdana"/>
                <a:cs typeface="Verdana"/>
              </a:rPr>
              <a:t>1</a:t>
            </a:r>
            <a:r>
              <a:rPr sz="2129" b="1" spc="-82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129" b="1" spc="-33" dirty="0">
                <a:solidFill>
                  <a:srgbClr val="1382A4"/>
                </a:solidFill>
                <a:latin typeface="Verdana"/>
                <a:cs typeface="Verdana"/>
              </a:rPr>
              <a:t>(a-</a:t>
            </a:r>
            <a:r>
              <a:rPr sz="2129" b="1" dirty="0">
                <a:solidFill>
                  <a:srgbClr val="1382A4"/>
                </a:solidFill>
                <a:latin typeface="Verdana"/>
                <a:cs typeface="Verdana"/>
              </a:rPr>
              <a:t>c):</a:t>
            </a:r>
            <a:r>
              <a:rPr sz="2129" b="1" spc="-82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129" b="1" dirty="0">
                <a:solidFill>
                  <a:srgbClr val="1382A4"/>
                </a:solidFill>
                <a:latin typeface="Verdana"/>
                <a:cs typeface="Verdana"/>
              </a:rPr>
              <a:t>Trends</a:t>
            </a:r>
            <a:r>
              <a:rPr sz="2129" b="1" spc="-82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129" b="1" dirty="0">
                <a:solidFill>
                  <a:srgbClr val="1382A4"/>
                </a:solidFill>
                <a:latin typeface="Verdana"/>
                <a:cs typeface="Verdana"/>
              </a:rPr>
              <a:t>in</a:t>
            </a:r>
            <a:r>
              <a:rPr sz="2129" b="1" spc="-82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129" b="1" dirty="0">
                <a:solidFill>
                  <a:srgbClr val="1382A4"/>
                </a:solidFill>
                <a:latin typeface="Verdana"/>
                <a:cs typeface="Verdana"/>
              </a:rPr>
              <a:t>liver</a:t>
            </a:r>
            <a:r>
              <a:rPr sz="2129" b="1" spc="-82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129" b="1" dirty="0">
                <a:solidFill>
                  <a:srgbClr val="1382A4"/>
                </a:solidFill>
                <a:latin typeface="Verdana"/>
                <a:cs typeface="Verdana"/>
              </a:rPr>
              <a:t>function</a:t>
            </a:r>
            <a:r>
              <a:rPr sz="2129" b="1" spc="-82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129" b="1" dirty="0">
                <a:solidFill>
                  <a:srgbClr val="1382A4"/>
                </a:solidFill>
                <a:latin typeface="Verdana"/>
                <a:cs typeface="Verdana"/>
              </a:rPr>
              <a:t>markers</a:t>
            </a:r>
            <a:r>
              <a:rPr sz="2129" b="1" spc="-82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129" b="1" spc="-16" dirty="0">
                <a:solidFill>
                  <a:srgbClr val="1382A4"/>
                </a:solidFill>
                <a:latin typeface="Verdana"/>
                <a:cs typeface="Verdana"/>
              </a:rPr>
              <a:t>during hospitalization.</a:t>
            </a:r>
            <a:endParaRPr sz="2129">
              <a:latin typeface="Verdana"/>
              <a:cs typeface="Verdana"/>
            </a:endParaRPr>
          </a:p>
          <a:p>
            <a:pPr marL="917059" indent="-500119">
              <a:spcBef>
                <a:spcPts val="1285"/>
              </a:spcBef>
              <a:buAutoNum type="alphaLcParenBoth"/>
              <a:tabLst>
                <a:tab pos="917059" algn="l"/>
              </a:tabLst>
            </a:pPr>
            <a:r>
              <a:rPr sz="2129" spc="-33" dirty="0">
                <a:solidFill>
                  <a:srgbClr val="1382A4"/>
                </a:solidFill>
                <a:latin typeface="Verdana"/>
                <a:cs typeface="Verdana"/>
              </a:rPr>
              <a:t>ALP.</a:t>
            </a:r>
            <a:endParaRPr sz="2129">
              <a:latin typeface="Verdana"/>
              <a:cs typeface="Verdana"/>
            </a:endParaRPr>
          </a:p>
          <a:p>
            <a:pPr marL="930575" indent="-506358">
              <a:spcBef>
                <a:spcPts val="383"/>
              </a:spcBef>
              <a:buAutoNum type="alphaLcParenBoth"/>
              <a:tabLst>
                <a:tab pos="930575" algn="l"/>
              </a:tabLst>
            </a:pPr>
            <a:r>
              <a:rPr sz="2129" spc="-33" dirty="0">
                <a:solidFill>
                  <a:srgbClr val="1382A4"/>
                </a:solidFill>
                <a:latin typeface="Verdana"/>
                <a:cs typeface="Verdana"/>
              </a:rPr>
              <a:t>Total</a:t>
            </a:r>
            <a:r>
              <a:rPr sz="2129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129" spc="-16" dirty="0">
                <a:solidFill>
                  <a:srgbClr val="1382A4"/>
                </a:solidFill>
                <a:latin typeface="Verdana"/>
                <a:cs typeface="Verdana"/>
              </a:rPr>
              <a:t>bilirubin.</a:t>
            </a:r>
            <a:endParaRPr sz="2129">
              <a:latin typeface="Verdana"/>
              <a:cs typeface="Verdana"/>
            </a:endParaRPr>
          </a:p>
          <a:p>
            <a:pPr marL="903542" indent="-479324">
              <a:spcBef>
                <a:spcPts val="375"/>
              </a:spcBef>
              <a:buAutoNum type="alphaLcParenBoth"/>
              <a:tabLst>
                <a:tab pos="903542" algn="l"/>
              </a:tabLst>
            </a:pPr>
            <a:r>
              <a:rPr sz="2129" spc="-16" dirty="0">
                <a:solidFill>
                  <a:srgbClr val="1382A4"/>
                </a:solidFill>
                <a:latin typeface="Verdana"/>
                <a:cs typeface="Verdana"/>
              </a:rPr>
              <a:t>AST/ALT.</a:t>
            </a:r>
            <a:endParaRPr sz="2129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23889" y="2272313"/>
            <a:ext cx="22875481" cy="1700905"/>
          </a:xfrm>
          <a:prstGeom prst="rect">
            <a:avLst/>
          </a:prstGeom>
        </p:spPr>
        <p:txBody>
          <a:bodyPr vert="horz" wrap="square" lIns="0" tIns="158042" rIns="0" bIns="0" rtlCol="0">
            <a:spAutoFit/>
          </a:bodyPr>
          <a:lstStyle/>
          <a:p>
            <a:pPr marL="83180" algn="ctr">
              <a:spcBef>
                <a:spcPts val="1244"/>
              </a:spcBef>
            </a:pPr>
            <a:r>
              <a:rPr lang="en-US" sz="3766" dirty="0" err="1">
                <a:solidFill>
                  <a:srgbClr val="225078"/>
                </a:solidFill>
                <a:latin typeface="Calibri"/>
                <a:cs typeface="Calibri"/>
              </a:rPr>
              <a:t>Zunayet</a:t>
            </a:r>
            <a:r>
              <a:rPr lang="en-US" sz="3766" spc="229" dirty="0">
                <a:solidFill>
                  <a:srgbClr val="225078"/>
                </a:solidFill>
                <a:latin typeface="Calibri"/>
                <a:cs typeface="Calibri"/>
              </a:rPr>
              <a:t> </a:t>
            </a:r>
            <a:r>
              <a:rPr lang="en-US" sz="3766" dirty="0">
                <a:solidFill>
                  <a:srgbClr val="225078"/>
                </a:solidFill>
                <a:latin typeface="Calibri"/>
                <a:cs typeface="Calibri"/>
              </a:rPr>
              <a:t>Karim</a:t>
            </a:r>
            <a:r>
              <a:rPr lang="en-US" sz="3684" baseline="31481" dirty="0">
                <a:solidFill>
                  <a:srgbClr val="225078"/>
                </a:solidFill>
                <a:latin typeface="Calibri"/>
                <a:cs typeface="Calibri"/>
              </a:rPr>
              <a:t>2</a:t>
            </a:r>
            <a:r>
              <a:rPr lang="en-US" sz="3684" dirty="0">
                <a:solidFill>
                  <a:srgbClr val="225078"/>
                </a:solidFill>
                <a:latin typeface="Calibri"/>
                <a:cs typeface="Calibri"/>
              </a:rPr>
              <a:t>,</a:t>
            </a:r>
            <a:r>
              <a:rPr lang="en-US" sz="3684" baseline="31481" dirty="0">
                <a:solidFill>
                  <a:srgbClr val="225078"/>
                </a:solidFill>
                <a:latin typeface="Calibri"/>
                <a:cs typeface="Calibri"/>
              </a:rPr>
              <a:t> </a:t>
            </a:r>
            <a:r>
              <a:rPr lang="en-US" sz="3766" spc="-33" dirty="0">
                <a:solidFill>
                  <a:srgbClr val="225078"/>
                </a:solidFill>
                <a:latin typeface="Calibri"/>
                <a:cs typeface="Calibri"/>
              </a:rPr>
              <a:t>A</a:t>
            </a:r>
            <a:r>
              <a:rPr sz="3766" spc="-33" dirty="0">
                <a:solidFill>
                  <a:srgbClr val="225078"/>
                </a:solidFill>
                <a:latin typeface="Calibri"/>
                <a:cs typeface="Calibri"/>
              </a:rPr>
              <a:t>lina</a:t>
            </a:r>
            <a:r>
              <a:rPr sz="3766" spc="-262" dirty="0">
                <a:solidFill>
                  <a:srgbClr val="225078"/>
                </a:solidFill>
                <a:latin typeface="Calibri"/>
                <a:cs typeface="Calibri"/>
              </a:rPr>
              <a:t> </a:t>
            </a:r>
            <a:r>
              <a:rPr sz="3766" spc="-57" dirty="0">
                <a:solidFill>
                  <a:srgbClr val="225078"/>
                </a:solidFill>
                <a:latin typeface="Calibri"/>
                <a:cs typeface="Calibri"/>
              </a:rPr>
              <a:t>Truong</a:t>
            </a:r>
            <a:r>
              <a:rPr sz="3684" spc="-85" baseline="31481" dirty="0">
                <a:solidFill>
                  <a:srgbClr val="225078"/>
                </a:solidFill>
                <a:latin typeface="Calibri"/>
                <a:cs typeface="Calibri"/>
              </a:rPr>
              <a:t>1</a:t>
            </a:r>
            <a:r>
              <a:rPr sz="3766" spc="-57" dirty="0">
                <a:solidFill>
                  <a:srgbClr val="225078"/>
                </a:solidFill>
                <a:latin typeface="Calibri"/>
                <a:cs typeface="Calibri"/>
              </a:rPr>
              <a:t>,</a:t>
            </a:r>
            <a:r>
              <a:rPr sz="3766" spc="-549" dirty="0">
                <a:solidFill>
                  <a:srgbClr val="225078"/>
                </a:solidFill>
                <a:latin typeface="Calibri"/>
                <a:cs typeface="Calibri"/>
              </a:rPr>
              <a:t> </a:t>
            </a:r>
            <a:r>
              <a:rPr sz="3766" spc="-16" dirty="0">
                <a:solidFill>
                  <a:srgbClr val="225078"/>
                </a:solidFill>
                <a:latin typeface="Calibri"/>
                <a:cs typeface="Calibri"/>
              </a:rPr>
              <a:t>Aishwarya</a:t>
            </a:r>
            <a:r>
              <a:rPr sz="3766" spc="-360" dirty="0">
                <a:solidFill>
                  <a:srgbClr val="225078"/>
                </a:solidFill>
                <a:latin typeface="Calibri"/>
                <a:cs typeface="Calibri"/>
              </a:rPr>
              <a:t> </a:t>
            </a:r>
            <a:r>
              <a:rPr sz="3766" spc="-131" dirty="0">
                <a:solidFill>
                  <a:srgbClr val="225078"/>
                </a:solidFill>
                <a:latin typeface="Calibri"/>
                <a:cs typeface="Calibri"/>
              </a:rPr>
              <a:t>Vemulapalli</a:t>
            </a:r>
            <a:r>
              <a:rPr sz="3684" spc="-196" baseline="31481" dirty="0">
                <a:solidFill>
                  <a:srgbClr val="225078"/>
                </a:solidFill>
                <a:latin typeface="Calibri"/>
                <a:cs typeface="Calibri"/>
              </a:rPr>
              <a:t>1</a:t>
            </a:r>
            <a:r>
              <a:rPr sz="3766" spc="-131" dirty="0">
                <a:solidFill>
                  <a:srgbClr val="225078"/>
                </a:solidFill>
                <a:latin typeface="Calibri"/>
                <a:cs typeface="Calibri"/>
              </a:rPr>
              <a:t>,</a:t>
            </a:r>
            <a:r>
              <a:rPr sz="3766" spc="-557" dirty="0">
                <a:solidFill>
                  <a:srgbClr val="225078"/>
                </a:solidFill>
                <a:latin typeface="Calibri"/>
                <a:cs typeface="Calibri"/>
              </a:rPr>
              <a:t> </a:t>
            </a:r>
            <a:r>
              <a:rPr sz="3766" dirty="0">
                <a:solidFill>
                  <a:srgbClr val="225078"/>
                </a:solidFill>
                <a:latin typeface="Calibri"/>
                <a:cs typeface="Calibri"/>
              </a:rPr>
              <a:t>Arianna</a:t>
            </a:r>
            <a:r>
              <a:rPr sz="3766" spc="229" dirty="0">
                <a:solidFill>
                  <a:srgbClr val="225078"/>
                </a:solidFill>
                <a:latin typeface="Calibri"/>
                <a:cs typeface="Calibri"/>
              </a:rPr>
              <a:t> </a:t>
            </a:r>
            <a:r>
              <a:rPr sz="3766" dirty="0">
                <a:solidFill>
                  <a:srgbClr val="225078"/>
                </a:solidFill>
                <a:latin typeface="Calibri"/>
                <a:cs typeface="Calibri"/>
              </a:rPr>
              <a:t>Crediford</a:t>
            </a:r>
            <a:r>
              <a:rPr sz="3684" baseline="31481" dirty="0">
                <a:solidFill>
                  <a:srgbClr val="225078"/>
                </a:solidFill>
                <a:latin typeface="Calibri"/>
                <a:cs typeface="Calibri"/>
              </a:rPr>
              <a:t>2</a:t>
            </a:r>
            <a:r>
              <a:rPr sz="3766" dirty="0">
                <a:solidFill>
                  <a:srgbClr val="225078"/>
                </a:solidFill>
                <a:latin typeface="Calibri"/>
                <a:cs typeface="Calibri"/>
              </a:rPr>
              <a:t>,</a:t>
            </a:r>
            <a:r>
              <a:rPr sz="3766" spc="-164" dirty="0">
                <a:solidFill>
                  <a:srgbClr val="225078"/>
                </a:solidFill>
                <a:latin typeface="Calibri"/>
                <a:cs typeface="Calibri"/>
              </a:rPr>
              <a:t> </a:t>
            </a:r>
            <a:r>
              <a:rPr sz="3766" dirty="0">
                <a:solidFill>
                  <a:srgbClr val="225078"/>
                </a:solidFill>
                <a:latin typeface="Calibri"/>
                <a:cs typeface="Calibri"/>
              </a:rPr>
              <a:t>Nicholas</a:t>
            </a:r>
            <a:r>
              <a:rPr sz="3766" spc="229" dirty="0">
                <a:solidFill>
                  <a:srgbClr val="225078"/>
                </a:solidFill>
                <a:latin typeface="Calibri"/>
                <a:cs typeface="Calibri"/>
              </a:rPr>
              <a:t> </a:t>
            </a:r>
            <a:r>
              <a:rPr sz="3766" dirty="0">
                <a:solidFill>
                  <a:srgbClr val="225078"/>
                </a:solidFill>
                <a:latin typeface="Calibri"/>
                <a:cs typeface="Calibri"/>
              </a:rPr>
              <a:t>Gill</a:t>
            </a:r>
            <a:r>
              <a:rPr sz="3684" baseline="31481" dirty="0">
                <a:solidFill>
                  <a:srgbClr val="225078"/>
                </a:solidFill>
                <a:latin typeface="Calibri"/>
                <a:cs typeface="Calibri"/>
              </a:rPr>
              <a:t>2</a:t>
            </a:r>
            <a:r>
              <a:rPr sz="3766" dirty="0">
                <a:solidFill>
                  <a:srgbClr val="225078"/>
                </a:solidFill>
                <a:latin typeface="Calibri"/>
                <a:cs typeface="Calibri"/>
              </a:rPr>
              <a:t>,</a:t>
            </a:r>
            <a:r>
              <a:rPr sz="3766" spc="-557" dirty="0">
                <a:solidFill>
                  <a:srgbClr val="225078"/>
                </a:solidFill>
                <a:latin typeface="Calibri"/>
                <a:cs typeface="Calibri"/>
              </a:rPr>
              <a:t> </a:t>
            </a:r>
            <a:r>
              <a:rPr sz="3766" spc="-16" dirty="0">
                <a:solidFill>
                  <a:srgbClr val="225078"/>
                </a:solidFill>
                <a:latin typeface="Calibri"/>
                <a:cs typeface="Calibri"/>
              </a:rPr>
              <a:t>Abdullah</a:t>
            </a:r>
            <a:r>
              <a:rPr sz="3766" spc="229" dirty="0">
                <a:solidFill>
                  <a:srgbClr val="225078"/>
                </a:solidFill>
                <a:latin typeface="Calibri"/>
                <a:cs typeface="Calibri"/>
              </a:rPr>
              <a:t> </a:t>
            </a:r>
            <a:r>
              <a:rPr sz="3766" spc="-41" dirty="0">
                <a:solidFill>
                  <a:srgbClr val="225078"/>
                </a:solidFill>
                <a:latin typeface="Calibri"/>
                <a:cs typeface="Calibri"/>
              </a:rPr>
              <a:t>Kadan</a:t>
            </a:r>
            <a:r>
              <a:rPr sz="3684" spc="-61" baseline="31481" dirty="0">
                <a:solidFill>
                  <a:srgbClr val="225078"/>
                </a:solidFill>
                <a:latin typeface="Calibri"/>
                <a:cs typeface="Calibri"/>
              </a:rPr>
              <a:t>2</a:t>
            </a:r>
            <a:endParaRPr sz="3684" baseline="31481" dirty="0">
              <a:latin typeface="Calibri"/>
              <a:cs typeface="Calibri"/>
            </a:endParaRPr>
          </a:p>
          <a:p>
            <a:pPr marL="8929364" marR="6404854" indent="-2518272" algn="ctr">
              <a:lnSpc>
                <a:spcPts val="3160"/>
              </a:lnSpc>
              <a:spcBef>
                <a:spcPts val="1056"/>
              </a:spcBef>
            </a:pPr>
            <a:r>
              <a:rPr sz="3684" baseline="31481" dirty="0">
                <a:solidFill>
                  <a:srgbClr val="225078"/>
                </a:solidFill>
                <a:latin typeface="Calibri"/>
                <a:cs typeface="Calibri"/>
              </a:rPr>
              <a:t>1</a:t>
            </a:r>
            <a:r>
              <a:rPr sz="2784" dirty="0">
                <a:solidFill>
                  <a:srgbClr val="225078"/>
                </a:solidFill>
                <a:latin typeface="Calibri"/>
                <a:cs typeface="Calibri"/>
              </a:rPr>
              <a:t>California</a:t>
            </a:r>
            <a:r>
              <a:rPr sz="2784" spc="187" dirty="0">
                <a:solidFill>
                  <a:srgbClr val="225078"/>
                </a:solidFill>
                <a:latin typeface="Calibri"/>
                <a:cs typeface="Calibri"/>
              </a:rPr>
              <a:t> </a:t>
            </a:r>
            <a:r>
              <a:rPr sz="2784" spc="-82" dirty="0" err="1">
                <a:solidFill>
                  <a:srgbClr val="225078"/>
                </a:solidFill>
                <a:latin typeface="Calibri"/>
                <a:cs typeface="Calibri"/>
              </a:rPr>
              <a:t>Northstate</a:t>
            </a:r>
            <a:r>
              <a:rPr sz="2784" spc="196" dirty="0">
                <a:solidFill>
                  <a:srgbClr val="225078"/>
                </a:solidFill>
                <a:latin typeface="Calibri"/>
                <a:cs typeface="Calibri"/>
              </a:rPr>
              <a:t> </a:t>
            </a:r>
            <a:r>
              <a:rPr sz="2784" spc="-49" dirty="0">
                <a:solidFill>
                  <a:srgbClr val="225078"/>
                </a:solidFill>
                <a:latin typeface="Calibri"/>
                <a:cs typeface="Calibri"/>
              </a:rPr>
              <a:t>University,</a:t>
            </a:r>
            <a:r>
              <a:rPr sz="2784" spc="-98" dirty="0">
                <a:solidFill>
                  <a:srgbClr val="225078"/>
                </a:solidFill>
                <a:latin typeface="Calibri"/>
                <a:cs typeface="Calibri"/>
              </a:rPr>
              <a:t> </a:t>
            </a:r>
            <a:r>
              <a:rPr sz="2784" dirty="0">
                <a:solidFill>
                  <a:srgbClr val="225078"/>
                </a:solidFill>
                <a:latin typeface="Calibri"/>
                <a:cs typeface="Calibri"/>
              </a:rPr>
              <a:t>College</a:t>
            </a:r>
            <a:r>
              <a:rPr sz="2784" spc="187" dirty="0">
                <a:solidFill>
                  <a:srgbClr val="225078"/>
                </a:solidFill>
                <a:latin typeface="Calibri"/>
                <a:cs typeface="Calibri"/>
              </a:rPr>
              <a:t> </a:t>
            </a:r>
            <a:r>
              <a:rPr sz="2784" dirty="0">
                <a:solidFill>
                  <a:srgbClr val="225078"/>
                </a:solidFill>
                <a:latin typeface="Calibri"/>
                <a:cs typeface="Calibri"/>
              </a:rPr>
              <a:t>of</a:t>
            </a:r>
            <a:r>
              <a:rPr sz="2784" spc="196" dirty="0">
                <a:solidFill>
                  <a:srgbClr val="225078"/>
                </a:solidFill>
                <a:latin typeface="Calibri"/>
                <a:cs typeface="Calibri"/>
              </a:rPr>
              <a:t> </a:t>
            </a:r>
            <a:r>
              <a:rPr sz="2784" spc="-74" dirty="0">
                <a:solidFill>
                  <a:srgbClr val="225078"/>
                </a:solidFill>
                <a:latin typeface="Calibri"/>
                <a:cs typeface="Calibri"/>
              </a:rPr>
              <a:t>Medicine,</a:t>
            </a:r>
            <a:r>
              <a:rPr sz="2784" spc="-106" dirty="0">
                <a:solidFill>
                  <a:srgbClr val="225078"/>
                </a:solidFill>
                <a:latin typeface="Calibri"/>
                <a:cs typeface="Calibri"/>
              </a:rPr>
              <a:t> </a:t>
            </a:r>
            <a:r>
              <a:rPr sz="2784" dirty="0">
                <a:solidFill>
                  <a:srgbClr val="225078"/>
                </a:solidFill>
                <a:latin typeface="Calibri"/>
                <a:cs typeface="Calibri"/>
              </a:rPr>
              <a:t>Elk</a:t>
            </a:r>
            <a:r>
              <a:rPr sz="2784" spc="196" dirty="0">
                <a:solidFill>
                  <a:srgbClr val="225078"/>
                </a:solidFill>
                <a:latin typeface="Calibri"/>
                <a:cs typeface="Calibri"/>
              </a:rPr>
              <a:t> </a:t>
            </a:r>
            <a:r>
              <a:rPr sz="2784" dirty="0">
                <a:solidFill>
                  <a:srgbClr val="225078"/>
                </a:solidFill>
                <a:latin typeface="Calibri"/>
                <a:cs typeface="Calibri"/>
              </a:rPr>
              <a:t>Grove,</a:t>
            </a:r>
            <a:r>
              <a:rPr sz="2784" spc="-98" dirty="0">
                <a:solidFill>
                  <a:srgbClr val="225078"/>
                </a:solidFill>
                <a:latin typeface="Calibri"/>
                <a:cs typeface="Calibri"/>
              </a:rPr>
              <a:t> </a:t>
            </a:r>
            <a:r>
              <a:rPr sz="2784" spc="334" dirty="0">
                <a:solidFill>
                  <a:srgbClr val="225078"/>
                </a:solidFill>
                <a:latin typeface="Calibri"/>
                <a:cs typeface="Calibri"/>
              </a:rPr>
              <a:t>CA </a:t>
            </a:r>
            <a:r>
              <a:rPr lang="en-US" sz="2947" baseline="31481" dirty="0">
                <a:solidFill>
                  <a:srgbClr val="225078"/>
                </a:solidFill>
                <a:latin typeface="Calibri"/>
                <a:cs typeface="Calibri"/>
              </a:rPr>
              <a:t>2</a:t>
            </a:r>
            <a:r>
              <a:rPr sz="2784" spc="-57" dirty="0">
                <a:solidFill>
                  <a:srgbClr val="225078"/>
                </a:solidFill>
                <a:latin typeface="Calibri"/>
                <a:cs typeface="Calibri"/>
              </a:rPr>
              <a:t>St.</a:t>
            </a:r>
            <a:r>
              <a:rPr sz="2784" spc="-416" dirty="0">
                <a:solidFill>
                  <a:srgbClr val="225078"/>
                </a:solidFill>
                <a:latin typeface="Calibri"/>
                <a:cs typeface="Calibri"/>
              </a:rPr>
              <a:t> </a:t>
            </a:r>
            <a:r>
              <a:rPr sz="2784" dirty="0">
                <a:solidFill>
                  <a:srgbClr val="225078"/>
                </a:solidFill>
                <a:latin typeface="Calibri"/>
                <a:cs typeface="Calibri"/>
              </a:rPr>
              <a:t>Agnes </a:t>
            </a:r>
            <a:r>
              <a:rPr sz="2784" spc="-57" dirty="0">
                <a:solidFill>
                  <a:srgbClr val="225078"/>
                </a:solidFill>
                <a:latin typeface="Calibri"/>
                <a:cs typeface="Calibri"/>
              </a:rPr>
              <a:t>Medical</a:t>
            </a:r>
            <a:r>
              <a:rPr sz="2784" spc="82" dirty="0">
                <a:solidFill>
                  <a:srgbClr val="225078"/>
                </a:solidFill>
                <a:latin typeface="Calibri"/>
                <a:cs typeface="Calibri"/>
              </a:rPr>
              <a:t> </a:t>
            </a:r>
            <a:r>
              <a:rPr sz="2784" dirty="0">
                <a:solidFill>
                  <a:srgbClr val="225078"/>
                </a:solidFill>
                <a:latin typeface="Calibri"/>
                <a:cs typeface="Calibri"/>
              </a:rPr>
              <a:t>Center,</a:t>
            </a:r>
            <a:r>
              <a:rPr sz="2784" spc="-156" dirty="0">
                <a:solidFill>
                  <a:srgbClr val="225078"/>
                </a:solidFill>
                <a:latin typeface="Calibri"/>
                <a:cs typeface="Calibri"/>
              </a:rPr>
              <a:t> </a:t>
            </a:r>
            <a:r>
              <a:rPr sz="2784" spc="-41" dirty="0">
                <a:solidFill>
                  <a:srgbClr val="225078"/>
                </a:solidFill>
                <a:latin typeface="Calibri"/>
                <a:cs typeface="Calibri"/>
              </a:rPr>
              <a:t>Fresno,</a:t>
            </a:r>
            <a:r>
              <a:rPr sz="2784" spc="-139" dirty="0">
                <a:solidFill>
                  <a:srgbClr val="225078"/>
                </a:solidFill>
                <a:latin typeface="Calibri"/>
                <a:cs typeface="Calibri"/>
              </a:rPr>
              <a:t> </a:t>
            </a:r>
            <a:r>
              <a:rPr sz="2784" spc="334" dirty="0">
                <a:solidFill>
                  <a:srgbClr val="225078"/>
                </a:solidFill>
                <a:latin typeface="Calibri"/>
                <a:cs typeface="Calibri"/>
              </a:rPr>
              <a:t>CA</a:t>
            </a:r>
            <a:endParaRPr sz="2784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0269" y="4584106"/>
            <a:ext cx="14748816" cy="6418128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0611" rIns="0" bIns="0" rtlCol="0">
            <a:spAutoFit/>
          </a:bodyPr>
          <a:lstStyle/>
          <a:p>
            <a:pPr marL="140366">
              <a:spcBef>
                <a:spcPts val="950"/>
              </a:spcBef>
            </a:pPr>
            <a:r>
              <a:rPr sz="3766" dirty="0">
                <a:solidFill>
                  <a:srgbClr val="225078"/>
                </a:solidFill>
                <a:latin typeface="Cambria"/>
                <a:cs typeface="Cambria"/>
              </a:rPr>
              <a:t>Clinical</a:t>
            </a:r>
            <a:r>
              <a:rPr sz="3766" spc="-115" dirty="0">
                <a:solidFill>
                  <a:srgbClr val="225078"/>
                </a:solidFill>
                <a:latin typeface="Cambria"/>
                <a:cs typeface="Cambria"/>
              </a:rPr>
              <a:t> </a:t>
            </a:r>
            <a:r>
              <a:rPr sz="3766" spc="-16" dirty="0">
                <a:solidFill>
                  <a:srgbClr val="225078"/>
                </a:solidFill>
                <a:latin typeface="Cambria"/>
                <a:cs typeface="Cambria"/>
              </a:rPr>
              <a:t>Presentation</a:t>
            </a:r>
            <a:r>
              <a:rPr sz="3766" spc="-115" dirty="0">
                <a:solidFill>
                  <a:srgbClr val="225078"/>
                </a:solidFill>
                <a:latin typeface="Cambria"/>
                <a:cs typeface="Cambria"/>
              </a:rPr>
              <a:t> </a:t>
            </a:r>
            <a:r>
              <a:rPr sz="3766" dirty="0">
                <a:solidFill>
                  <a:srgbClr val="225078"/>
                </a:solidFill>
                <a:latin typeface="Cambria"/>
                <a:cs typeface="Cambria"/>
              </a:rPr>
              <a:t>&amp;</a:t>
            </a:r>
            <a:r>
              <a:rPr sz="3766" spc="-115" dirty="0">
                <a:solidFill>
                  <a:srgbClr val="225078"/>
                </a:solidFill>
                <a:latin typeface="Cambria"/>
                <a:cs typeface="Cambria"/>
              </a:rPr>
              <a:t> </a:t>
            </a:r>
            <a:r>
              <a:rPr sz="3766" spc="-16" dirty="0">
                <a:solidFill>
                  <a:srgbClr val="225078"/>
                </a:solidFill>
                <a:latin typeface="Cambria"/>
                <a:cs typeface="Cambria"/>
              </a:rPr>
              <a:t>Management</a:t>
            </a:r>
            <a:endParaRPr sz="3766">
              <a:latin typeface="Cambria"/>
              <a:cs typeface="Cambria"/>
            </a:endParaRPr>
          </a:p>
          <a:p>
            <a:pPr marL="140366">
              <a:spcBef>
                <a:spcPts val="57"/>
              </a:spcBef>
            </a:pP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We</a:t>
            </a:r>
            <a:r>
              <a:rPr sz="2456" spc="-57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present</a:t>
            </a:r>
            <a:r>
              <a:rPr sz="2456" spc="-57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a</a:t>
            </a:r>
            <a:r>
              <a:rPr sz="2456" spc="-49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case</a:t>
            </a:r>
            <a:r>
              <a:rPr sz="2456" spc="-57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of</a:t>
            </a:r>
            <a:r>
              <a:rPr sz="2456" spc="-49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a</a:t>
            </a:r>
            <a:r>
              <a:rPr sz="2456" spc="-57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33" dirty="0">
                <a:solidFill>
                  <a:srgbClr val="1382A4"/>
                </a:solidFill>
                <a:latin typeface="Verdana"/>
                <a:cs typeface="Verdana"/>
              </a:rPr>
              <a:t>46-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year-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old</a:t>
            </a:r>
            <a:r>
              <a:rPr sz="2456" spc="-49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female</a:t>
            </a:r>
            <a:r>
              <a:rPr sz="2456" spc="-57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with</a:t>
            </a:r>
            <a:r>
              <a:rPr sz="2456" spc="-49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a</a:t>
            </a:r>
            <a:r>
              <a:rPr sz="2456" spc="-57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history</a:t>
            </a:r>
            <a:r>
              <a:rPr sz="2456" spc="-49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of</a:t>
            </a:r>
            <a:r>
              <a:rPr sz="2456" spc="-57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status</a:t>
            </a:r>
            <a:r>
              <a:rPr sz="2456" spc="-49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asthmaticus</a:t>
            </a:r>
            <a:r>
              <a:rPr sz="2456" spc="-57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presented</a:t>
            </a:r>
            <a:endParaRPr sz="2456">
              <a:latin typeface="Verdana"/>
              <a:cs typeface="Verdana"/>
            </a:endParaRPr>
          </a:p>
          <a:p>
            <a:pPr marL="140366" marR="260977">
              <a:lnSpc>
                <a:spcPct val="114999"/>
              </a:lnSpc>
            </a:pP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with</a:t>
            </a:r>
            <a:r>
              <a:rPr sz="2456" spc="-131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tachypnea,</a:t>
            </a:r>
            <a:r>
              <a:rPr sz="2456" spc="-123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hypoxia,</a:t>
            </a:r>
            <a:r>
              <a:rPr sz="2456" spc="-131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and</a:t>
            </a:r>
            <a:r>
              <a:rPr sz="2456" spc="-123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respiratory</a:t>
            </a:r>
            <a:r>
              <a:rPr sz="2456" spc="-131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acidosis.</a:t>
            </a:r>
            <a:r>
              <a:rPr sz="2456" spc="-123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Piperacillin-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tazobactam</a:t>
            </a:r>
            <a:r>
              <a:rPr sz="2456" spc="-131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(Zosyn)</a:t>
            </a:r>
            <a:r>
              <a:rPr sz="2456" spc="-123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initiated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for</a:t>
            </a:r>
            <a:r>
              <a:rPr sz="2456" spc="-106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suspected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RLL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pneumonia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noted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on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chest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49" dirty="0">
                <a:solidFill>
                  <a:srgbClr val="1382A4"/>
                </a:solidFill>
                <a:latin typeface="Verdana"/>
                <a:cs typeface="Verdana"/>
              </a:rPr>
              <a:t>x-</a:t>
            </a:r>
            <a:r>
              <a:rPr sz="2456" spc="-41" dirty="0">
                <a:solidFill>
                  <a:srgbClr val="1382A4"/>
                </a:solidFill>
                <a:latin typeface="Verdana"/>
                <a:cs typeface="Verdana"/>
              </a:rPr>
              <a:t>ray.</a:t>
            </a:r>
            <a:r>
              <a:rPr sz="2456" spc="-106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Initial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management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included intramuscular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epinephrine,</a:t>
            </a:r>
            <a:r>
              <a:rPr sz="2456" spc="-90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magnesium,</a:t>
            </a:r>
            <a:r>
              <a:rPr sz="2456" spc="-90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albuterol,</a:t>
            </a:r>
            <a:r>
              <a:rPr sz="2456" spc="-90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57" dirty="0">
                <a:solidFill>
                  <a:srgbClr val="1382A4"/>
                </a:solidFill>
                <a:latin typeface="Verdana"/>
                <a:cs typeface="Verdana"/>
              </a:rPr>
              <a:t>CPAP,</a:t>
            </a:r>
            <a:r>
              <a:rPr sz="2456" spc="-90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49" dirty="0">
                <a:solidFill>
                  <a:srgbClr val="1382A4"/>
                </a:solidFill>
                <a:latin typeface="Verdana"/>
                <a:cs typeface="Verdana"/>
              </a:rPr>
              <a:t>BiPAP,</a:t>
            </a:r>
            <a:r>
              <a:rPr sz="2456" spc="-90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intravenous</a:t>
            </a:r>
            <a:r>
              <a:rPr sz="2456" spc="-90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Solu-Medrol,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and</a:t>
            </a:r>
            <a:r>
              <a:rPr sz="2456" spc="-74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Precedex.</a:t>
            </a:r>
            <a:endParaRPr sz="2456">
              <a:latin typeface="Verdana"/>
              <a:cs typeface="Verdana"/>
            </a:endParaRPr>
          </a:p>
          <a:p>
            <a:pPr marL="140366" marR="157002">
              <a:spcBef>
                <a:spcPts val="2407"/>
              </a:spcBef>
            </a:pP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During</a:t>
            </a:r>
            <a:r>
              <a:rPr sz="2456" spc="-106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her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ICU</a:t>
            </a:r>
            <a:r>
              <a:rPr sz="2456" spc="-106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33" dirty="0">
                <a:solidFill>
                  <a:srgbClr val="1382A4"/>
                </a:solidFill>
                <a:latin typeface="Verdana"/>
                <a:cs typeface="Verdana"/>
              </a:rPr>
              <a:t>stay,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she</a:t>
            </a:r>
            <a:r>
              <a:rPr sz="2456" spc="-106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developed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respiratory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alkalosis</a:t>
            </a:r>
            <a:r>
              <a:rPr sz="2456" spc="-106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and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oliguria,</a:t>
            </a:r>
            <a:r>
              <a:rPr sz="2456" spc="-106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requiring hemodialysis.</a:t>
            </a:r>
            <a:r>
              <a:rPr sz="2456" spc="-147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Laboratory</a:t>
            </a:r>
            <a:r>
              <a:rPr sz="2456" spc="-11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results</a:t>
            </a:r>
            <a:r>
              <a:rPr sz="2456" spc="-11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showed</a:t>
            </a:r>
            <a:r>
              <a:rPr sz="2456" spc="-106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mildly</a:t>
            </a:r>
            <a:r>
              <a:rPr sz="2456" spc="-11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elevated</a:t>
            </a:r>
            <a:r>
              <a:rPr sz="2456" spc="-11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74" dirty="0">
                <a:solidFill>
                  <a:srgbClr val="1382A4"/>
                </a:solidFill>
                <a:latin typeface="Verdana"/>
                <a:cs typeface="Verdana"/>
              </a:rPr>
              <a:t>AST,</a:t>
            </a:r>
            <a:r>
              <a:rPr sz="2456" spc="-106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39" dirty="0">
                <a:solidFill>
                  <a:srgbClr val="1382A4"/>
                </a:solidFill>
                <a:latin typeface="Verdana"/>
                <a:cs typeface="Verdana"/>
              </a:rPr>
              <a:t>ALT,</a:t>
            </a:r>
            <a:r>
              <a:rPr sz="2456" spc="-74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and</a:t>
            </a:r>
            <a:r>
              <a:rPr sz="2456" spc="-11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total</a:t>
            </a:r>
            <a:r>
              <a:rPr sz="2456" spc="-11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bilirubin</a:t>
            </a:r>
            <a:r>
              <a:rPr sz="2456" spc="-106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33" dirty="0">
                <a:solidFill>
                  <a:srgbClr val="1382A4"/>
                </a:solidFill>
                <a:latin typeface="Verdana"/>
                <a:cs typeface="Verdana"/>
              </a:rPr>
              <a:t>(see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Figure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1),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with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imaging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revealing</a:t>
            </a:r>
            <a:r>
              <a:rPr sz="2456" spc="-57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hepatomegaly.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She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was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treated</a:t>
            </a:r>
            <a:r>
              <a:rPr sz="2456" spc="-57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for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acute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liver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failure</a:t>
            </a:r>
            <a:r>
              <a:rPr sz="2456" spc="49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33" dirty="0">
                <a:solidFill>
                  <a:srgbClr val="1382A4"/>
                </a:solidFill>
                <a:latin typeface="Verdana"/>
                <a:cs typeface="Verdana"/>
              </a:rPr>
              <a:t>with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N-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acetylcysteine</a:t>
            </a:r>
            <a:r>
              <a:rPr sz="2456" spc="-74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and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received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antibiotics</a:t>
            </a:r>
            <a:r>
              <a:rPr sz="2456" spc="-74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for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pneumonia.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A</a:t>
            </a:r>
            <a:r>
              <a:rPr sz="2456" spc="-74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liver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biopsy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suggested</a:t>
            </a:r>
            <a:endParaRPr sz="2456">
              <a:latin typeface="Verdana"/>
              <a:cs typeface="Verdana"/>
            </a:endParaRPr>
          </a:p>
          <a:p>
            <a:pPr marL="140366"/>
            <a:r>
              <a:rPr sz="2456" spc="-33" dirty="0">
                <a:solidFill>
                  <a:srgbClr val="1382A4"/>
                </a:solidFill>
                <a:latin typeface="Verdana"/>
                <a:cs typeface="Verdana"/>
              </a:rPr>
              <a:t>drug-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induced</a:t>
            </a:r>
            <a:r>
              <a:rPr sz="2456" spc="-106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hepatic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steatosis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(Figure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41" dirty="0">
                <a:solidFill>
                  <a:srgbClr val="1382A4"/>
                </a:solidFill>
                <a:latin typeface="Verdana"/>
                <a:cs typeface="Verdana"/>
              </a:rPr>
              <a:t>2).</a:t>
            </a:r>
            <a:endParaRPr sz="2456">
              <a:latin typeface="Verdana"/>
              <a:cs typeface="Verdana"/>
            </a:endParaRPr>
          </a:p>
          <a:p>
            <a:pPr marL="140366" marR="911860">
              <a:spcBef>
                <a:spcPts val="1965"/>
              </a:spcBef>
            </a:pP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Her</a:t>
            </a:r>
            <a:r>
              <a:rPr sz="2456" spc="-74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course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was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further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complicated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by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severe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oropharyngeal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dysphagia,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necessitating nasogastric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tube</a:t>
            </a:r>
            <a:r>
              <a:rPr sz="2456" spc="-57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(NGT)</a:t>
            </a:r>
            <a:r>
              <a:rPr sz="2456" spc="-57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placement.</a:t>
            </a:r>
            <a:r>
              <a:rPr sz="2456" spc="-57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She</a:t>
            </a:r>
            <a:r>
              <a:rPr sz="2456" spc="-57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was</a:t>
            </a:r>
            <a:r>
              <a:rPr sz="2456" spc="-57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continued</a:t>
            </a:r>
            <a:r>
              <a:rPr sz="2456" spc="-57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on</a:t>
            </a:r>
            <a:r>
              <a:rPr sz="2456" spc="-57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Solu-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Medrol</a:t>
            </a:r>
            <a:r>
              <a:rPr sz="2456" spc="-57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10</a:t>
            </a:r>
            <a:r>
              <a:rPr sz="2456" spc="-57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mg</a:t>
            </a:r>
            <a:r>
              <a:rPr sz="2456" spc="-57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daily</a:t>
            </a:r>
            <a:r>
              <a:rPr sz="2456" spc="-57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41" dirty="0">
                <a:solidFill>
                  <a:srgbClr val="1382A4"/>
                </a:solidFill>
                <a:latin typeface="Verdana"/>
                <a:cs typeface="Verdana"/>
              </a:rPr>
              <a:t>and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remains</a:t>
            </a:r>
            <a:r>
              <a:rPr sz="2456" spc="-131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in</a:t>
            </a:r>
            <a:r>
              <a:rPr sz="2456" spc="-123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physical</a:t>
            </a:r>
            <a:r>
              <a:rPr sz="2456" spc="-123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therapy.</a:t>
            </a:r>
            <a:endParaRPr sz="2456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023549" y="11350050"/>
            <a:ext cx="11762661" cy="8891919"/>
            <a:chOff x="1235832" y="6929646"/>
            <a:chExt cx="7183755" cy="543052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5832" y="6929646"/>
              <a:ext cx="3524535" cy="265651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94505" y="6929646"/>
              <a:ext cx="3524509" cy="26517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94505" y="9717709"/>
              <a:ext cx="3524509" cy="264217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35844" y="9722510"/>
              <a:ext cx="3524511" cy="2635022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23658540" y="4707337"/>
            <a:ext cx="256818" cy="24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67"/>
              </a:lnSpc>
            </a:pPr>
            <a:r>
              <a:rPr sz="1965" spc="-41" dirty="0">
                <a:solidFill>
                  <a:srgbClr val="1F487C"/>
                </a:solidFill>
                <a:latin typeface="Calibri"/>
                <a:cs typeface="Calibri"/>
              </a:rPr>
              <a:t>(c)</a:t>
            </a:r>
            <a:endParaRPr sz="1965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561630" y="4584615"/>
            <a:ext cx="312964" cy="323389"/>
          </a:xfrm>
          <a:prstGeom prst="rect">
            <a:avLst/>
          </a:prstGeom>
        </p:spPr>
        <p:txBody>
          <a:bodyPr vert="horz" wrap="square" lIns="0" tIns="20795" rIns="0" bIns="0" rtlCol="0">
            <a:spAutoFit/>
          </a:bodyPr>
          <a:lstStyle/>
          <a:p>
            <a:pPr marL="20795">
              <a:spcBef>
                <a:spcPts val="164"/>
              </a:spcBef>
            </a:pPr>
            <a:r>
              <a:rPr sz="1965" spc="-41" dirty="0">
                <a:solidFill>
                  <a:srgbClr val="1F487C"/>
                </a:solidFill>
                <a:latin typeface="Calibri"/>
                <a:cs typeface="Calibri"/>
              </a:rPr>
              <a:t>(a)</a:t>
            </a:r>
            <a:endParaRPr sz="1965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561630" y="8091890"/>
            <a:ext cx="324401" cy="323389"/>
          </a:xfrm>
          <a:prstGeom prst="rect">
            <a:avLst/>
          </a:prstGeom>
        </p:spPr>
        <p:txBody>
          <a:bodyPr vert="horz" wrap="square" lIns="0" tIns="20795" rIns="0" bIns="0" rtlCol="0">
            <a:spAutoFit/>
          </a:bodyPr>
          <a:lstStyle/>
          <a:p>
            <a:pPr marL="20795">
              <a:spcBef>
                <a:spcPts val="164"/>
              </a:spcBef>
            </a:pPr>
            <a:r>
              <a:rPr sz="1965" spc="-41" dirty="0">
                <a:solidFill>
                  <a:srgbClr val="225078"/>
                </a:solidFill>
                <a:latin typeface="Calibri"/>
                <a:cs typeface="Calibri"/>
              </a:rPr>
              <a:t>(b)</a:t>
            </a:r>
            <a:endParaRPr sz="1965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0270" y="20464791"/>
            <a:ext cx="14748816" cy="884986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7889" rIns="0" bIns="0" rtlCol="0">
            <a:spAutoFit/>
          </a:bodyPr>
          <a:lstStyle/>
          <a:p>
            <a:pPr marL="139326" marR="490762">
              <a:spcBef>
                <a:spcPts val="1007"/>
              </a:spcBef>
            </a:pPr>
            <a:r>
              <a:rPr sz="2456" b="1" dirty="0">
                <a:solidFill>
                  <a:srgbClr val="1382A4"/>
                </a:solidFill>
                <a:latin typeface="Verdana"/>
                <a:cs typeface="Verdana"/>
              </a:rPr>
              <a:t>Figure</a:t>
            </a:r>
            <a:r>
              <a:rPr sz="2456" b="1" spc="-74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b="1" dirty="0">
                <a:solidFill>
                  <a:srgbClr val="1382A4"/>
                </a:solidFill>
                <a:latin typeface="Verdana"/>
                <a:cs typeface="Verdana"/>
              </a:rPr>
              <a:t>2</a:t>
            </a:r>
            <a:r>
              <a:rPr sz="2456" b="1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b="1" spc="-16" dirty="0">
                <a:solidFill>
                  <a:srgbClr val="1382A4"/>
                </a:solidFill>
                <a:latin typeface="Verdana"/>
                <a:cs typeface="Verdana"/>
              </a:rPr>
              <a:t>(a-</a:t>
            </a:r>
            <a:r>
              <a:rPr sz="2456" b="1" dirty="0">
                <a:solidFill>
                  <a:srgbClr val="1382A4"/>
                </a:solidFill>
                <a:latin typeface="Verdana"/>
                <a:cs typeface="Verdana"/>
              </a:rPr>
              <a:t>d):</a:t>
            </a:r>
            <a:r>
              <a:rPr sz="2456" b="1" spc="-33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Histological</a:t>
            </a:r>
            <a:r>
              <a:rPr sz="2456" spc="-74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sections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of</a:t>
            </a:r>
            <a:r>
              <a:rPr sz="2456" spc="-74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the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liver</a:t>
            </a:r>
            <a:r>
              <a:rPr sz="2456" spc="-74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demonstrating</a:t>
            </a:r>
            <a:r>
              <a:rPr sz="2456" spc="-82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33" dirty="0">
                <a:solidFill>
                  <a:srgbClr val="1382A4"/>
                </a:solidFill>
                <a:latin typeface="Verdana"/>
                <a:cs typeface="Verdana"/>
              </a:rPr>
              <a:t>drug-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induced</a:t>
            </a:r>
            <a:r>
              <a:rPr sz="2456" spc="-74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liver</a:t>
            </a:r>
            <a:r>
              <a:rPr sz="2456" spc="-65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injury,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characterized</a:t>
            </a:r>
            <a:r>
              <a:rPr sz="2456" spc="-106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by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hepatocellular</a:t>
            </a:r>
            <a:r>
              <a:rPr sz="2456" spc="-106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steatosis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with</a:t>
            </a:r>
            <a:r>
              <a:rPr sz="2456" spc="-106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dirty="0">
                <a:solidFill>
                  <a:srgbClr val="1382A4"/>
                </a:solidFill>
                <a:latin typeface="Verdana"/>
                <a:cs typeface="Verdana"/>
              </a:rPr>
              <a:t>large</a:t>
            </a:r>
            <a:r>
              <a:rPr sz="2456" spc="-98" dirty="0">
                <a:solidFill>
                  <a:srgbClr val="1382A4"/>
                </a:solidFill>
                <a:latin typeface="Verdana"/>
                <a:cs typeface="Verdana"/>
              </a:rPr>
              <a:t> </a:t>
            </a:r>
            <a:r>
              <a:rPr sz="2456" spc="-16" dirty="0">
                <a:solidFill>
                  <a:srgbClr val="1382A4"/>
                </a:solidFill>
                <a:latin typeface="Verdana"/>
                <a:cs typeface="Verdana"/>
              </a:rPr>
              <a:t>vacuoles.</a:t>
            </a:r>
            <a:endParaRPr sz="2456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23570" y="11350051"/>
            <a:ext cx="434614" cy="32338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0795" rIns="0" bIns="0" rtlCol="0">
            <a:spAutoFit/>
          </a:bodyPr>
          <a:lstStyle/>
          <a:p>
            <a:pPr marL="62385">
              <a:spcBef>
                <a:spcPts val="164"/>
              </a:spcBef>
            </a:pPr>
            <a:r>
              <a:rPr sz="1965" spc="-41" dirty="0">
                <a:solidFill>
                  <a:srgbClr val="1F487C"/>
                </a:solidFill>
                <a:latin typeface="Calibri"/>
                <a:cs typeface="Calibri"/>
              </a:rPr>
              <a:t>(a)</a:t>
            </a:r>
            <a:endParaRPr sz="1965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14250" y="11350051"/>
            <a:ext cx="434614" cy="32338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0795" rIns="0" bIns="0" rtlCol="0">
            <a:spAutoFit/>
          </a:bodyPr>
          <a:lstStyle/>
          <a:p>
            <a:pPr marL="62385">
              <a:spcBef>
                <a:spcPts val="164"/>
              </a:spcBef>
            </a:pPr>
            <a:r>
              <a:rPr sz="1965" spc="-41" dirty="0">
                <a:solidFill>
                  <a:srgbClr val="1F487C"/>
                </a:solidFill>
                <a:latin typeface="Calibri"/>
                <a:cs typeface="Calibri"/>
              </a:rPr>
              <a:t>(b)</a:t>
            </a:r>
            <a:endParaRPr sz="1965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23570" y="15907401"/>
            <a:ext cx="434614" cy="32338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0795" rIns="0" bIns="0" rtlCol="0">
            <a:spAutoFit/>
          </a:bodyPr>
          <a:lstStyle/>
          <a:p>
            <a:pPr marL="62385">
              <a:spcBef>
                <a:spcPts val="164"/>
              </a:spcBef>
            </a:pPr>
            <a:r>
              <a:rPr sz="1965" spc="-41" dirty="0">
                <a:solidFill>
                  <a:srgbClr val="1F487C"/>
                </a:solidFill>
                <a:latin typeface="Calibri"/>
                <a:cs typeface="Calibri"/>
              </a:rPr>
              <a:t>(c)</a:t>
            </a:r>
            <a:endParaRPr sz="1965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014250" y="15907401"/>
            <a:ext cx="434614" cy="32338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0795" rIns="0" bIns="0" rtlCol="0">
            <a:spAutoFit/>
          </a:bodyPr>
          <a:lstStyle/>
          <a:p>
            <a:pPr marL="62385">
              <a:spcBef>
                <a:spcPts val="164"/>
              </a:spcBef>
            </a:pPr>
            <a:r>
              <a:rPr sz="1965" spc="-41" dirty="0">
                <a:solidFill>
                  <a:srgbClr val="1F487C"/>
                </a:solidFill>
                <a:latin typeface="Calibri"/>
                <a:cs typeface="Calibri"/>
              </a:rPr>
              <a:t>(d)</a:t>
            </a:r>
            <a:endParaRPr sz="1965">
              <a:latin typeface="Calibri"/>
              <a:cs typeface="Calibri"/>
            </a:endParaRPr>
          </a:p>
        </p:txBody>
      </p:sp>
      <p:pic>
        <p:nvPicPr>
          <p:cNvPr id="24" name="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608679" y="4584106"/>
            <a:ext cx="8704370" cy="4648280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23637746" y="4584595"/>
            <a:ext cx="298407" cy="323389"/>
          </a:xfrm>
          <a:prstGeom prst="rect">
            <a:avLst/>
          </a:prstGeom>
        </p:spPr>
        <p:txBody>
          <a:bodyPr vert="horz" wrap="square" lIns="0" tIns="20795" rIns="0" bIns="0" rtlCol="0">
            <a:spAutoFit/>
          </a:bodyPr>
          <a:lstStyle/>
          <a:p>
            <a:pPr marL="20795">
              <a:spcBef>
                <a:spcPts val="164"/>
              </a:spcBef>
            </a:pPr>
            <a:r>
              <a:rPr sz="1965" spc="-41" dirty="0">
                <a:solidFill>
                  <a:srgbClr val="225078"/>
                </a:solidFill>
                <a:latin typeface="Calibri"/>
                <a:cs typeface="Calibri"/>
              </a:rPr>
              <a:t>(c)</a:t>
            </a:r>
            <a:endParaRPr sz="1965">
              <a:latin typeface="Calibri"/>
              <a:cs typeface="Calibri"/>
            </a:endParaRPr>
          </a:p>
        </p:txBody>
      </p:sp>
      <p:pic>
        <p:nvPicPr>
          <p:cNvPr id="26" name="Picture 25" descr="70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279088" y="576072"/>
            <a:ext cx="2103120" cy="3108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382A4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582</Words>
  <Application>Microsoft Macintosh PowerPoint</Application>
  <PresentationFormat>Custom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Cambria</vt:lpstr>
      <vt:lpstr>Verdana</vt:lpstr>
      <vt:lpstr>Office Theme</vt:lpstr>
      <vt:lpstr>Exploring Hepatotoxicity: A Case Report of Piperacillin/Tazobactam-Induced Liver Injury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SAMC Poster Draft II.pptx</dc:title>
  <cp:lastModifiedBy>Phil Kim</cp:lastModifiedBy>
  <cp:revision>2</cp:revision>
  <dcterms:created xsi:type="dcterms:W3CDTF">2025-04-12T04:36:53Z</dcterms:created>
  <dcterms:modified xsi:type="dcterms:W3CDTF">2025-04-27T18:49:54Z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LastSaved">
    <vt:filetime>2025-04-12T00:00:00Z</vt:filetime>
  </property>
</Properties>
</file>