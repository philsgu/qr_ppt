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9296400" cy="7010400"/>
  <p:embeddedFontLst>
    <p:embeddedFont>
      <p:font typeface="Raleway" pitchFamily="2" charset="77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g2Tgv1w9gYsPiCW6SwLMZixVK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B7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/>
    <p:restoredTop sz="94680"/>
  </p:normalViewPr>
  <p:slideViewPr>
    <p:cSldViewPr snapToGrid="0">
      <p:cViewPr>
        <p:scale>
          <a:sx n="37" d="100"/>
          <a:sy n="37" d="100"/>
        </p:scale>
        <p:origin x="6240" y="896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029075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265738" y="0"/>
            <a:ext cx="4029075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679429" y="525463"/>
            <a:ext cx="39390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657975"/>
            <a:ext cx="4029075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265738" y="6657975"/>
            <a:ext cx="4029075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5265738" y="6657975"/>
            <a:ext cx="4029075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78113" y="525463"/>
            <a:ext cx="3941762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dt" idx="10"/>
          </p:nvPr>
        </p:nvSpPr>
        <p:spPr>
          <a:xfrm>
            <a:off x="1646464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ftr" idx="11"/>
          </p:nvPr>
        </p:nvSpPr>
        <p:spPr>
          <a:xfrm>
            <a:off x="11247666" y="19984316"/>
            <a:ext cx="1042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23592066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ctrTitle"/>
          </p:nvPr>
        </p:nvSpPr>
        <p:spPr>
          <a:xfrm>
            <a:off x="2468338" y="6817305"/>
            <a:ext cx="27981600" cy="47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4938036" y="12436187"/>
            <a:ext cx="23042400" cy="56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ctr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2600"/>
              <a:buFont typeface="Arial"/>
              <a:buNone/>
              <a:defRPr/>
            </a:lvl1pPr>
            <a:lvl2pPr lvl="1" algn="ctr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0900"/>
              <a:buFont typeface="Arial"/>
              <a:buNone/>
              <a:defRPr/>
            </a:lvl2pPr>
            <a:lvl3pPr lvl="2" algn="ctr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None/>
              <a:defRPr/>
            </a:lvl8pPr>
            <a:lvl9pPr lvl="8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dt" idx="10"/>
          </p:nvPr>
        </p:nvSpPr>
        <p:spPr>
          <a:xfrm>
            <a:off x="1646464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ftr" idx="11"/>
          </p:nvPr>
        </p:nvSpPr>
        <p:spPr>
          <a:xfrm>
            <a:off x="11247666" y="19984316"/>
            <a:ext cx="1042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3592066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646466" y="878898"/>
            <a:ext cx="29625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1646466" y="5120987"/>
            <a:ext cx="29625600" cy="144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457200" lvl="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2pPr>
            <a:lvl3pPr marL="1371600" lvl="2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4pPr>
            <a:lvl5pPr marL="2286000" lvl="4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5pPr>
            <a:lvl6pPr marL="2743200" lvl="5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6pPr>
            <a:lvl7pPr marL="3200400" lvl="6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7pPr>
            <a:lvl8pPr marL="3657600" lvl="7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8pPr>
            <a:lvl9pPr marL="4114800" lvl="8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1646464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11247666" y="19984316"/>
            <a:ext cx="1042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23592066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2600325" y="14102196"/>
            <a:ext cx="27980400" cy="43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31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2600325" y="9301596"/>
            <a:ext cx="27980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1646464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ftr" idx="11"/>
          </p:nvPr>
        </p:nvSpPr>
        <p:spPr>
          <a:xfrm>
            <a:off x="11247666" y="19984316"/>
            <a:ext cx="1042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23592066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646466" y="878898"/>
            <a:ext cx="29625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1646467" y="5120987"/>
            <a:ext cx="14747400" cy="144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457200" lvl="0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/>
            </a:lvl1pPr>
            <a:lvl2pPr marL="914400" lvl="1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  <a:defRPr sz="19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16524517" y="5120987"/>
            <a:ext cx="14747400" cy="144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457200" lvl="0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/>
            </a:lvl1pPr>
            <a:lvl2pPr marL="914400" lvl="1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  <a:defRPr sz="19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1646464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11247666" y="19984316"/>
            <a:ext cx="1042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23592066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1646466" y="878898"/>
            <a:ext cx="29625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1646464" y="4912303"/>
            <a:ext cx="14544600" cy="20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sz="19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1646464" y="6959313"/>
            <a:ext cx="14544600" cy="12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457200" lvl="0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16721819" y="4912303"/>
            <a:ext cx="14550000" cy="20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sz="19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16721819" y="6959313"/>
            <a:ext cx="14550000" cy="12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457200" lvl="0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1646464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11247666" y="19984316"/>
            <a:ext cx="1042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23592066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1646466" y="878898"/>
            <a:ext cx="29625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1646464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11247666" y="19984316"/>
            <a:ext cx="1042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23592066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1646466" y="873703"/>
            <a:ext cx="10830000" cy="3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12869636" y="873703"/>
            <a:ext cx="18402300" cy="18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457200" lvl="0" indent="-3873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1646466" y="4591917"/>
            <a:ext cx="10830000" cy="15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1646464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11247666" y="19984316"/>
            <a:ext cx="1042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23592066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6452509" y="15362095"/>
            <a:ext cx="19750800" cy="18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6452509" y="1961285"/>
            <a:ext cx="19750800" cy="131670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6452509" y="17175307"/>
            <a:ext cx="19750800" cy="25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1646464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11247666" y="19984316"/>
            <a:ext cx="1042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23592066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1646466" y="878898"/>
            <a:ext cx="29625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9218038" y="-2450713"/>
            <a:ext cx="14482200" cy="29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457200" lvl="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2pPr>
            <a:lvl3pPr marL="1371600" lvl="2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4pPr>
            <a:lvl5pPr marL="2286000" lvl="4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5pPr>
            <a:lvl6pPr marL="2743200" lvl="5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6pPr>
            <a:lvl7pPr marL="3200400" lvl="6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7pPr>
            <a:lvl8pPr marL="3657600" lvl="7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8pPr>
            <a:lvl9pPr marL="4114800" lvl="8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1646464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11247666" y="19984316"/>
            <a:ext cx="1042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23592066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18206486" y="6537948"/>
            <a:ext cx="18724500" cy="7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3328492" y="-803052"/>
            <a:ext cx="18724500" cy="22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457200" lvl="0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2pPr>
            <a:lvl3pPr marL="1371600" lvl="2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4pPr>
            <a:lvl5pPr marL="2286000" lvl="4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5pPr>
            <a:lvl6pPr marL="2743200" lvl="5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6pPr>
            <a:lvl7pPr marL="3200400" lvl="6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7pPr>
            <a:lvl8pPr marL="3657600" lvl="7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8pPr>
            <a:lvl9pPr marL="4114800" lvl="8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1646464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11247666" y="19984316"/>
            <a:ext cx="1042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23592066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1646466" y="878898"/>
            <a:ext cx="29625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7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7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7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7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7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7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7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7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7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1646466" y="5120987"/>
            <a:ext cx="29625600" cy="144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457200" marR="0" lvl="0" indent="-1028700" algn="l" rtl="0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2600"/>
              <a:buFont typeface="Arial"/>
              <a:buChar char="•"/>
              <a:defRPr sz="1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920750" algn="l" rtl="0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0900"/>
              <a:buFont typeface="Arial"/>
              <a:buChar char="–"/>
              <a:defRPr sz="10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82550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sz="9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7302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Char char="–"/>
              <a:defRPr sz="7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7302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Char char="»"/>
              <a:defRPr sz="7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7302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Char char="»"/>
              <a:defRPr sz="7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7302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Char char="»"/>
              <a:defRPr sz="7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7302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Char char="»"/>
              <a:defRPr sz="7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7302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Char char="»"/>
              <a:defRPr sz="7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1646464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1247666" y="19984316"/>
            <a:ext cx="10423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6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3592066" y="19984316"/>
            <a:ext cx="768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225" tIns="171100" rIns="342225" bIns="1711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3760"/>
          <a:stretch/>
        </p:blipFill>
        <p:spPr>
          <a:xfrm>
            <a:off x="0" y="3664328"/>
            <a:ext cx="32918400" cy="1828868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5528061" y="1729574"/>
            <a:ext cx="22032900" cy="1409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ctr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Nathalie Y. Ly, MD</a:t>
            </a:r>
            <a:r>
              <a:rPr lang="en-US" sz="2400" baseline="30000" dirty="0">
                <a:solidFill>
                  <a:schemeClr val="dk1"/>
                </a:solidFill>
              </a:rPr>
              <a:t>1,2</a:t>
            </a:r>
            <a:r>
              <a:rPr lang="en-US" sz="2400" dirty="0">
                <a:solidFill>
                  <a:schemeClr val="dk1"/>
                </a:solidFill>
              </a:rPr>
              <a:t>, Kim T. Nguyen, BS</a:t>
            </a:r>
            <a:r>
              <a:rPr lang="en-US" sz="2400" baseline="30000" dirty="0">
                <a:solidFill>
                  <a:schemeClr val="dk1"/>
                </a:solidFill>
              </a:rPr>
              <a:t>1,4</a:t>
            </a:r>
            <a:r>
              <a:rPr lang="en-US" sz="2400" dirty="0">
                <a:solidFill>
                  <a:schemeClr val="dk1"/>
                </a:solidFill>
              </a:rPr>
              <a:t>, Aneesh Syal</a:t>
            </a:r>
            <a:r>
              <a:rPr lang="en-US" sz="2400" baseline="30000" dirty="0">
                <a:solidFill>
                  <a:schemeClr val="dk1"/>
                </a:solidFill>
              </a:rPr>
              <a:t>5</a:t>
            </a:r>
            <a:r>
              <a:rPr lang="en-US" sz="2400" dirty="0">
                <a:solidFill>
                  <a:schemeClr val="dk1"/>
                </a:solidFill>
              </a:rPr>
              <a:t>, BS, Sophia Fruechte, DO</a:t>
            </a:r>
            <a:r>
              <a:rPr lang="en-US" sz="2400" baseline="30000" dirty="0">
                <a:solidFill>
                  <a:schemeClr val="dk1"/>
                </a:solidFill>
              </a:rPr>
              <a:t>1,3</a:t>
            </a:r>
            <a:r>
              <a:rPr lang="en-US" sz="2400" dirty="0">
                <a:solidFill>
                  <a:schemeClr val="dk1"/>
                </a:solidFill>
              </a:rPr>
              <a:t>, Briana </a:t>
            </a:r>
            <a:r>
              <a:rPr lang="en-US" sz="2400" dirty="0" err="1">
                <a:solidFill>
                  <a:schemeClr val="dk1"/>
                </a:solidFill>
              </a:rPr>
              <a:t>Paiewonsky</a:t>
            </a:r>
            <a:r>
              <a:rPr lang="en-US" sz="2400" dirty="0">
                <a:solidFill>
                  <a:schemeClr val="dk1"/>
                </a:solidFill>
              </a:rPr>
              <a:t>, MD</a:t>
            </a:r>
            <a:r>
              <a:rPr lang="en-US" sz="2400" baseline="30000" dirty="0">
                <a:solidFill>
                  <a:schemeClr val="dk1"/>
                </a:solidFill>
              </a:rPr>
              <a:t>1</a:t>
            </a:r>
            <a:r>
              <a:rPr lang="en-US" sz="2400" dirty="0">
                <a:solidFill>
                  <a:schemeClr val="dk1"/>
                </a:solidFill>
              </a:rPr>
              <a:t>,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Maria K. </a:t>
            </a:r>
            <a:r>
              <a:rPr lang="en-US" sz="2400" dirty="0" err="1">
                <a:solidFill>
                  <a:schemeClr val="dk1"/>
                </a:solidFill>
              </a:rPr>
              <a:t>Hordinsky</a:t>
            </a:r>
            <a:r>
              <a:rPr lang="en-US" sz="2400" dirty="0">
                <a:solidFill>
                  <a:schemeClr val="dk1"/>
                </a:solidFill>
              </a:rPr>
              <a:t>, MD</a:t>
            </a:r>
            <a:r>
              <a:rPr lang="en-US" sz="2400" baseline="30000" dirty="0">
                <a:solidFill>
                  <a:schemeClr val="dk1"/>
                </a:solidFill>
              </a:rPr>
              <a:t>1</a:t>
            </a:r>
            <a:r>
              <a:rPr lang="en-US" sz="2400" dirty="0">
                <a:solidFill>
                  <a:schemeClr val="dk1"/>
                </a:solidFill>
              </a:rPr>
              <a:t>, Christopher Staley, PhD</a:t>
            </a:r>
            <a:r>
              <a:rPr lang="en-US" sz="2400" baseline="30000" dirty="0">
                <a:solidFill>
                  <a:schemeClr val="dk1"/>
                </a:solidFill>
              </a:rPr>
              <a:t>5</a:t>
            </a:r>
            <a:r>
              <a:rPr lang="en-US" sz="2400" dirty="0">
                <a:solidFill>
                  <a:schemeClr val="dk1"/>
                </a:solidFill>
              </a:rPr>
              <a:t>, Neil Sadick, MD</a:t>
            </a:r>
            <a:r>
              <a:rPr lang="en-US" sz="2400" baseline="30000" dirty="0">
                <a:solidFill>
                  <a:schemeClr val="dk1"/>
                </a:solidFill>
              </a:rPr>
              <a:t>6</a:t>
            </a:r>
            <a:r>
              <a:rPr lang="en-US" sz="2400" dirty="0">
                <a:solidFill>
                  <a:schemeClr val="dk1"/>
                </a:solidFill>
              </a:rPr>
              <a:t>, Suleima Arruda, MD</a:t>
            </a:r>
            <a:r>
              <a:rPr lang="en-US" sz="2400" baseline="30000" dirty="0">
                <a:solidFill>
                  <a:schemeClr val="dk1"/>
                </a:solidFill>
              </a:rPr>
              <a:t>6</a:t>
            </a:r>
            <a:r>
              <a:rPr lang="en-US" sz="2400" dirty="0">
                <a:solidFill>
                  <a:schemeClr val="dk1"/>
                </a:solidFill>
              </a:rPr>
              <a:t>, Ronda S. Farah MD</a:t>
            </a:r>
            <a:r>
              <a:rPr lang="en-US" sz="2400" baseline="30000" dirty="0">
                <a:solidFill>
                  <a:schemeClr val="dk1"/>
                </a:solidFill>
              </a:rPr>
              <a:t>1,7</a:t>
            </a:r>
            <a:endParaRPr sz="2400" baseline="30000" dirty="0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C0C0C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7914369" y="156625"/>
            <a:ext cx="17089661" cy="2266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ctr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300" b="1" dirty="0">
                <a:solidFill>
                  <a:srgbClr val="264D65"/>
                </a:solidFill>
              </a:rPr>
              <a:t>Examining the impact of </a:t>
            </a:r>
            <a:r>
              <a:rPr lang="en-US" sz="4300" b="1" dirty="0" err="1">
                <a:solidFill>
                  <a:srgbClr val="264D65"/>
                </a:solidFill>
              </a:rPr>
              <a:t>hydradermabrasion</a:t>
            </a:r>
            <a:r>
              <a:rPr lang="en-US" sz="4300" b="1" dirty="0">
                <a:solidFill>
                  <a:srgbClr val="264D65"/>
                </a:solidFill>
              </a:rPr>
              <a:t> on scalp </a:t>
            </a:r>
            <a:br>
              <a:rPr lang="en-US" sz="4300" b="1" dirty="0">
                <a:solidFill>
                  <a:srgbClr val="264D65"/>
                </a:solidFill>
              </a:rPr>
            </a:br>
            <a:r>
              <a:rPr lang="en-US" sz="4300" b="1" dirty="0">
                <a:solidFill>
                  <a:srgbClr val="264D65"/>
                </a:solidFill>
              </a:rPr>
              <a:t>health and the scalp microbiome: a prospective cohort study</a:t>
            </a:r>
            <a:endParaRPr sz="4300" b="1" dirty="0">
              <a:solidFill>
                <a:srgbClr val="264D65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1" dirty="0">
              <a:solidFill>
                <a:srgbClr val="264D65"/>
              </a:solidFill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610509" y="2720182"/>
            <a:ext cx="24631200" cy="775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aseline="30000" dirty="0">
                <a:solidFill>
                  <a:srgbClr val="8BB7CE"/>
                </a:solidFill>
              </a:rPr>
              <a:t>1</a:t>
            </a:r>
            <a:r>
              <a:rPr lang="en-US" sz="2000" dirty="0">
                <a:solidFill>
                  <a:srgbClr val="8BB7CE"/>
                </a:solidFill>
              </a:rPr>
              <a:t>University of Minnesota, Department of Dermatology, Minneapolis, MN, </a:t>
            </a:r>
            <a:r>
              <a:rPr lang="en-US" sz="2000" baseline="30000" dirty="0">
                <a:solidFill>
                  <a:srgbClr val="8BB7CE"/>
                </a:solidFill>
              </a:rPr>
              <a:t>2</a:t>
            </a:r>
            <a:r>
              <a:rPr lang="en-US" sz="2000" dirty="0">
                <a:solidFill>
                  <a:srgbClr val="8BB7CE"/>
                </a:solidFill>
              </a:rPr>
              <a:t>Saint Agnes Medical Center, Fresno, CA, </a:t>
            </a:r>
            <a:r>
              <a:rPr lang="en-US" sz="2000" baseline="30000" dirty="0">
                <a:solidFill>
                  <a:srgbClr val="8BB7CE"/>
                </a:solidFill>
              </a:rPr>
              <a:t>3</a:t>
            </a:r>
            <a:r>
              <a:rPr lang="en-US" sz="2000" dirty="0">
                <a:solidFill>
                  <a:srgbClr val="8BB7CE"/>
                </a:solidFill>
              </a:rPr>
              <a:t>University of North Dakota, Fargo, ND, </a:t>
            </a:r>
            <a:r>
              <a:rPr lang="en-US" sz="2000" baseline="30000" dirty="0">
                <a:solidFill>
                  <a:srgbClr val="8BB7CE"/>
                </a:solidFill>
              </a:rPr>
              <a:t>4</a:t>
            </a:r>
            <a:r>
              <a:rPr lang="en-US" sz="2000" dirty="0">
                <a:solidFill>
                  <a:srgbClr val="8BB7CE"/>
                </a:solidFill>
              </a:rPr>
              <a:t>University of Nebraska, Omaha, NE, </a:t>
            </a:r>
            <a:r>
              <a:rPr lang="en-US" sz="2000" baseline="30000" dirty="0">
                <a:solidFill>
                  <a:srgbClr val="8BB7CE"/>
                </a:solidFill>
              </a:rPr>
              <a:t>5</a:t>
            </a:r>
            <a:r>
              <a:rPr lang="en-US" sz="2000" dirty="0">
                <a:solidFill>
                  <a:srgbClr val="8BB7CE"/>
                </a:solidFill>
              </a:rPr>
              <a:t>University of Minnesota, Division of Basic and Translational Research, Department of Surgery, Minneapolis, MN, </a:t>
            </a:r>
            <a:r>
              <a:rPr lang="en-US" sz="2000" baseline="30000" dirty="0">
                <a:solidFill>
                  <a:srgbClr val="8BB7CE"/>
                </a:solidFill>
              </a:rPr>
              <a:t>6</a:t>
            </a:r>
            <a:r>
              <a:rPr lang="en-US" sz="2000" dirty="0">
                <a:solidFill>
                  <a:srgbClr val="8BB7CE"/>
                </a:solidFill>
              </a:rPr>
              <a:t>Sadick Dermatology, New York, NY, </a:t>
            </a:r>
            <a:r>
              <a:rPr lang="en-US" sz="2000" baseline="30000" dirty="0">
                <a:solidFill>
                  <a:srgbClr val="8BB7CE"/>
                </a:solidFill>
              </a:rPr>
              <a:t>7</a:t>
            </a:r>
            <a:r>
              <a:rPr lang="en-US" sz="2000" dirty="0">
                <a:solidFill>
                  <a:srgbClr val="8BB7CE"/>
                </a:solidFill>
              </a:rPr>
              <a:t>Minneapolis Veterans Affairs Health Care System, Minneapolis, MN</a:t>
            </a:r>
            <a:endParaRPr sz="3000" i="1" u="none" strike="noStrike" cap="none" dirty="0">
              <a:solidFill>
                <a:srgbClr val="8BB7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037181" y="4145228"/>
            <a:ext cx="9790200" cy="6474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8BB7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275" tIns="33625" rIns="67275" bIns="33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endParaRPr sz="6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830531" y="5093473"/>
            <a:ext cx="8203500" cy="4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Cicatricial (scarring) alopecia is caused by the destruction of hair follicles.</a:t>
            </a:r>
            <a:r>
              <a:rPr lang="en-US" sz="26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explanations for the development of cicatricial alopecia include immune-mediated factors, such as a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dysbiotic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scalp.</a:t>
            </a:r>
            <a:r>
              <a:rPr lang="en-US" sz="26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1,2</a:t>
            </a:r>
            <a:endParaRPr sz="2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Cleansing technologies, such as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hydradermabrasion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are commonly marketed to reduce inflammation and improve scalp health.</a:t>
            </a:r>
            <a:r>
              <a:rPr lang="en-US" sz="26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 dirty="0"/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do not have a clear understanding of how these cleansing devices affect the scalp microbiome in scalp diseases.</a:t>
            </a:r>
            <a:endParaRPr sz="1000" dirty="0"/>
          </a:p>
        </p:txBody>
      </p:sp>
      <p:sp>
        <p:nvSpPr>
          <p:cNvPr id="95" name="Google Shape;95;p1"/>
          <p:cNvSpPr/>
          <p:nvPr/>
        </p:nvSpPr>
        <p:spPr>
          <a:xfrm>
            <a:off x="852128" y="4302343"/>
            <a:ext cx="98856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sng" strike="noStrike" cap="none">
                <a:solidFill>
                  <a:srgbClr val="264D65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000"/>
          </a:p>
        </p:txBody>
      </p:sp>
      <p:sp>
        <p:nvSpPr>
          <p:cNvPr id="96" name="Google Shape;96;p1"/>
          <p:cNvSpPr/>
          <p:nvPr/>
        </p:nvSpPr>
        <p:spPr>
          <a:xfrm>
            <a:off x="1037181" y="11343714"/>
            <a:ext cx="9790200" cy="2709900"/>
          </a:xfrm>
          <a:prstGeom prst="roundRect">
            <a:avLst>
              <a:gd name="adj" fmla="val 16667"/>
            </a:avLst>
          </a:prstGeom>
          <a:solidFill>
            <a:srgbClr val="8BB7CE"/>
          </a:solidFill>
          <a:ln w="38100" cap="flat" cmpd="sng">
            <a:solidFill>
              <a:srgbClr val="8BB7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275" tIns="33625" rIns="67275" bIns="33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endParaRPr sz="6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273951" y="11487221"/>
            <a:ext cx="90420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sng" strike="noStrike" cap="none">
                <a:solidFill>
                  <a:srgbClr val="264D65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1000"/>
          </a:p>
        </p:txBody>
      </p:sp>
      <p:sp>
        <p:nvSpPr>
          <p:cNvPr id="98" name="Google Shape;98;p1"/>
          <p:cNvSpPr txBox="1"/>
          <p:nvPr/>
        </p:nvSpPr>
        <p:spPr>
          <a:xfrm>
            <a:off x="4610509" y="15019285"/>
            <a:ext cx="25527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sng" strike="noStrike" cap="none">
                <a:solidFill>
                  <a:srgbClr val="264D65"/>
                </a:solidFill>
                <a:latin typeface="Arial"/>
                <a:ea typeface="Arial"/>
                <a:cs typeface="Arial"/>
                <a:sym typeface="Arial"/>
              </a:rPr>
              <a:t>METHODS</a:t>
            </a:r>
            <a:endParaRPr sz="1000"/>
          </a:p>
        </p:txBody>
      </p:sp>
      <p:sp>
        <p:nvSpPr>
          <p:cNvPr id="99" name="Google Shape;99;p1"/>
          <p:cNvSpPr/>
          <p:nvPr/>
        </p:nvSpPr>
        <p:spPr>
          <a:xfrm>
            <a:off x="11651750" y="4135075"/>
            <a:ext cx="9790200" cy="6837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8BB7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275" tIns="33625" rIns="67275" bIns="33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endParaRPr sz="6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92855" y="20286302"/>
            <a:ext cx="1857829" cy="185782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22150669" y="9917519"/>
            <a:ext cx="9790200" cy="3629400"/>
          </a:xfrm>
          <a:prstGeom prst="roundRect">
            <a:avLst>
              <a:gd name="adj" fmla="val 16667"/>
            </a:avLst>
          </a:prstGeom>
          <a:solidFill>
            <a:srgbClr val="8BB7CE"/>
          </a:solidFill>
          <a:ln w="38100" cap="flat" cmpd="sng">
            <a:solidFill>
              <a:srgbClr val="8BB7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275" tIns="33625" rIns="67275" bIns="33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endParaRPr sz="6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29307" y="9226320"/>
            <a:ext cx="1244185" cy="1149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9418470">
            <a:off x="3072483" y="20386524"/>
            <a:ext cx="1857829" cy="185782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991775" y="14772300"/>
            <a:ext cx="9790200" cy="6837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8BB7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275" tIns="33625" rIns="67275" bIns="33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endParaRPr sz="6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365883" y="14918213"/>
            <a:ext cx="90420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sng" strike="noStrike" cap="none">
                <a:solidFill>
                  <a:srgbClr val="264D65"/>
                </a:solidFill>
                <a:latin typeface="Arial"/>
                <a:ea typeface="Arial"/>
                <a:cs typeface="Arial"/>
                <a:sym typeface="Arial"/>
              </a:rPr>
              <a:t>METHODS</a:t>
            </a:r>
            <a:endParaRPr sz="1000"/>
          </a:p>
        </p:txBody>
      </p:sp>
      <p:sp>
        <p:nvSpPr>
          <p:cNvPr id="106" name="Google Shape;106;p1"/>
          <p:cNvSpPr txBox="1"/>
          <p:nvPr/>
        </p:nvSpPr>
        <p:spPr>
          <a:xfrm>
            <a:off x="12023511" y="4329950"/>
            <a:ext cx="90420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sng" strike="noStrike" cap="none">
                <a:solidFill>
                  <a:srgbClr val="264D65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1000"/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27525" y="15887058"/>
            <a:ext cx="2756369" cy="285721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 txBox="1"/>
          <p:nvPr/>
        </p:nvSpPr>
        <p:spPr>
          <a:xfrm>
            <a:off x="1984759" y="12160921"/>
            <a:ext cx="7804200" cy="16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objectives are to elucidate the effect of mechanical cleansing on the scalp microbiome, and to characterize the microbiome of healthy patients for future scalp disease research.</a:t>
            </a:r>
            <a:endParaRPr sz="1000" dirty="0"/>
          </a:p>
        </p:txBody>
      </p:sp>
      <p:sp>
        <p:nvSpPr>
          <p:cNvPr id="109" name="Google Shape;109;p1"/>
          <p:cNvSpPr txBox="1"/>
          <p:nvPr/>
        </p:nvSpPr>
        <p:spPr>
          <a:xfrm>
            <a:off x="5219643" y="15805729"/>
            <a:ext cx="5562300" cy="56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Prospective cohort study</a:t>
            </a:r>
            <a:endParaRPr sz="1000"/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Healthy adults</a:t>
            </a:r>
            <a:endParaRPr sz="1000"/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Split-scalp study: 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Hydradermabrasion (Venus Glow</a:t>
            </a:r>
            <a:r>
              <a:rPr lang="en-US" sz="26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on the right scalp, with no intervention on the left</a:t>
            </a:r>
            <a:endParaRPr sz="1000"/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600" b="1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lang="en-US"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visit: 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Baseline + treatment</a:t>
            </a:r>
            <a:endParaRPr sz="1000"/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2nd visit: 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Post-treatment (5-7 days after)</a:t>
            </a:r>
            <a:endParaRPr sz="1000"/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3rd visit: 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Follow-up (7 days after 2</a:t>
            </a:r>
            <a:r>
              <a:rPr lang="en-US" sz="26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visit)</a:t>
            </a:r>
            <a:endParaRPr sz="1000"/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Collected at each visit: </a:t>
            </a:r>
            <a:endParaRPr sz="1000"/>
          </a:p>
          <a:p>
            <a:pPr marL="5842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Scalp swabs (</a:t>
            </a:r>
            <a:r>
              <a:rPr lang="en-US" sz="2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1000"/>
          </a:p>
          <a:p>
            <a:pPr marL="5842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trichoscopy images </a:t>
            </a:r>
            <a:endParaRPr sz="1000"/>
          </a:p>
        </p:txBody>
      </p:sp>
      <p:sp>
        <p:nvSpPr>
          <p:cNvPr id="110" name="Google Shape;110;p1"/>
          <p:cNvSpPr txBox="1"/>
          <p:nvPr/>
        </p:nvSpPr>
        <p:spPr>
          <a:xfrm>
            <a:off x="1463161" y="19020742"/>
            <a:ext cx="3482912" cy="15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1.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Scalp swabs were taken 10 cm from the nasal bridge and 3 cm from the midline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 dirty="0"/>
          </a:p>
        </p:txBody>
      </p:sp>
      <p:sp>
        <p:nvSpPr>
          <p:cNvPr id="111" name="Google Shape;111;p1"/>
          <p:cNvSpPr/>
          <p:nvPr/>
        </p:nvSpPr>
        <p:spPr>
          <a:xfrm>
            <a:off x="22150675" y="14076108"/>
            <a:ext cx="9790200" cy="4460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8BB7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275" tIns="33625" rIns="67275" bIns="33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endParaRPr sz="6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22488435" y="10069931"/>
            <a:ext cx="90420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u="sng">
                <a:solidFill>
                  <a:srgbClr val="264D65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1000"/>
          </a:p>
        </p:txBody>
      </p:sp>
      <p:sp>
        <p:nvSpPr>
          <p:cNvPr id="113" name="Google Shape;113;p1"/>
          <p:cNvSpPr txBox="1"/>
          <p:nvPr/>
        </p:nvSpPr>
        <p:spPr>
          <a:xfrm>
            <a:off x="23189138" y="10926421"/>
            <a:ext cx="7804200" cy="2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419100" marR="0" lvl="0" indent="-4191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findings suggest that mechanical intervention does not significantly alter the scalp microbiome.</a:t>
            </a:r>
            <a:endParaRPr sz="1000"/>
          </a:p>
          <a:p>
            <a:pPr marL="419100" marR="0" lvl="0" indent="-4191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study also establishes a baseline for a healthy scalp microbiome and is a foundation for future microbiome studies.</a:t>
            </a:r>
            <a:endParaRPr sz="1000"/>
          </a:p>
        </p:txBody>
      </p:sp>
      <p:sp>
        <p:nvSpPr>
          <p:cNvPr id="114" name="Google Shape;114;p1"/>
          <p:cNvSpPr txBox="1"/>
          <p:nvPr/>
        </p:nvSpPr>
        <p:spPr>
          <a:xfrm>
            <a:off x="12540775" y="5044375"/>
            <a:ext cx="8007472" cy="56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= 154 scalp swabs</a:t>
            </a:r>
            <a:endParaRPr sz="1000" dirty="0"/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Differences in community composition were noted among individual patient samples (ANOSIM R=0.52, p&lt;0.001).</a:t>
            </a:r>
            <a:endParaRPr sz="1000" dirty="0"/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comparing right scalps pre- and post-</a:t>
            </a:r>
            <a:r>
              <a:rPr lang="en-US" sz="2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hydradermabrasion</a:t>
            </a:r>
            <a:r>
              <a:rPr lang="en-US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no significant differences in microbiome composition were observed (ANOSIM R=0.02, p=0.181; </a:t>
            </a:r>
            <a:r>
              <a:rPr lang="en-US" sz="2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</a:t>
            </a:r>
            <a:r>
              <a:rPr lang="en-US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000" dirty="0"/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Similarly, the relative abundance of predominant taxa did not show significant variation between treatment groups.</a:t>
            </a:r>
            <a:endParaRPr sz="1000" dirty="0"/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healthy scalps, </a:t>
            </a:r>
            <a:r>
              <a:rPr lang="en-US" sz="2600" i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Lawsonella</a:t>
            </a:r>
            <a:r>
              <a:rPr lang="en-US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6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Staphylococcus</a:t>
            </a:r>
            <a:r>
              <a:rPr lang="en-US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emerged as the two most abundant genera (Kruskal-Wallis p&gt;0.05; </a:t>
            </a:r>
            <a:r>
              <a:rPr lang="en-US" sz="2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1</a:t>
            </a:r>
            <a:r>
              <a:rPr lang="en-US" sz="2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000" dirty="0"/>
          </a:p>
        </p:txBody>
      </p:sp>
      <p:sp>
        <p:nvSpPr>
          <p:cNvPr id="115" name="Google Shape;115;p1"/>
          <p:cNvSpPr/>
          <p:nvPr/>
        </p:nvSpPr>
        <p:spPr>
          <a:xfrm>
            <a:off x="11593936" y="11314403"/>
            <a:ext cx="9790200" cy="9931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8BB7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275" tIns="33625" rIns="67275" bIns="33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endParaRPr sz="6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11639351" y="11487221"/>
            <a:ext cx="90420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u="sng">
                <a:solidFill>
                  <a:srgbClr val="264D65"/>
                </a:solidFill>
                <a:latin typeface="Arial"/>
                <a:ea typeface="Arial"/>
                <a:cs typeface="Arial"/>
                <a:sym typeface="Arial"/>
              </a:rPr>
              <a:t>RESULTS (CONTINUED)</a:t>
            </a:r>
            <a:endParaRPr sz="1000"/>
          </a:p>
        </p:txBody>
      </p:sp>
      <p:pic>
        <p:nvPicPr>
          <p:cNvPr id="117" name="Google Shape;117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472615" y="12092770"/>
            <a:ext cx="6374825" cy="324143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"/>
          <p:cNvSpPr txBox="1"/>
          <p:nvPr/>
        </p:nvSpPr>
        <p:spPr>
          <a:xfrm>
            <a:off x="25466581" y="14187535"/>
            <a:ext cx="3158400" cy="5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u="sng">
                <a:solidFill>
                  <a:srgbClr val="264D65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1000"/>
          </a:p>
        </p:txBody>
      </p:sp>
      <p:sp>
        <p:nvSpPr>
          <p:cNvPr id="119" name="Google Shape;119;p1"/>
          <p:cNvSpPr/>
          <p:nvPr/>
        </p:nvSpPr>
        <p:spPr>
          <a:xfrm>
            <a:off x="22570185" y="14922332"/>
            <a:ext cx="8878500" cy="3053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Eisenstein M. The skin microbiome and its relationship with the human body explained. </a:t>
            </a: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2020;588(7838):S210-S211. doi:10.1038/d41586-020-03524-6</a:t>
            </a:r>
            <a:endParaRPr sz="9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Pinto D, Calabrese FM, De Angelis M, Celano G, Giuliani G, Rinaldi F. Lichen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planopilaris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first biopsy layer microbiota inspection. </a:t>
            </a:r>
            <a:r>
              <a:rPr lang="en-US" sz="2400" i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PLoS</a:t>
            </a: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2022;17(7):e0269933. Published 2022 Jul 18. doi:10.1371/journal.pone.0269933</a:t>
            </a:r>
            <a:endParaRPr sz="9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https://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www.venusconcept.com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-au/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venus-glow.htm</a:t>
            </a:r>
            <a:endParaRPr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22265548" y="18970775"/>
            <a:ext cx="9790200" cy="2244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8BB7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275" tIns="33625" rIns="67275" bIns="33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endParaRPr sz="6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22461310" y="19160472"/>
            <a:ext cx="9082800" cy="5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u="sng">
                <a:solidFill>
                  <a:srgbClr val="264D65"/>
                </a:solidFill>
                <a:latin typeface="Arial"/>
                <a:ea typeface="Arial"/>
                <a:cs typeface="Arial"/>
                <a:sym typeface="Arial"/>
              </a:rPr>
              <a:t>ACKNOWLEDGEMENTS</a:t>
            </a:r>
            <a:endParaRPr sz="1000"/>
          </a:p>
        </p:txBody>
      </p:sp>
      <p:sp>
        <p:nvSpPr>
          <p:cNvPr id="122" name="Google Shape;122;p1"/>
          <p:cNvSpPr/>
          <p:nvPr/>
        </p:nvSpPr>
        <p:spPr>
          <a:xfrm>
            <a:off x="22516593" y="19785066"/>
            <a:ext cx="9443400" cy="10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research was supported in part by the Department of Dermatology at the University of Minnesota and the American Academy of Dermatology. </a:t>
            </a:r>
            <a:endParaRPr sz="1000"/>
          </a:p>
        </p:txBody>
      </p:sp>
      <p:sp>
        <p:nvSpPr>
          <p:cNvPr id="123" name="Google Shape;123;p1"/>
          <p:cNvSpPr txBox="1"/>
          <p:nvPr/>
        </p:nvSpPr>
        <p:spPr>
          <a:xfrm>
            <a:off x="12664778" y="15369452"/>
            <a:ext cx="7990500" cy="19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2.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Non-metric multidimensional scaling (NMDS) plots of Bray-Curtis dissimilarities of microbiome composition, colored by right swabs pre- (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untreated) and post-(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/right treated) hydradermabrasion.</a:t>
            </a: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12582572" y="17437635"/>
            <a:ext cx="8323500" cy="11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1.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 of predominant genera (mean ± standard deviation) among all samples, with sample sizes in parentheses.</a:t>
            </a: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392535" y="18597694"/>
            <a:ext cx="6303951" cy="2467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"/>
          <p:cNvSpPr/>
          <p:nvPr/>
        </p:nvSpPr>
        <p:spPr>
          <a:xfrm>
            <a:off x="22266325" y="4145225"/>
            <a:ext cx="9790200" cy="5028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8BB7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275" tIns="33625" rIns="67275" bIns="33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</a:pPr>
            <a:endParaRPr sz="6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22570251" y="4359571"/>
            <a:ext cx="90420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275" tIns="33625" rIns="67275" bIns="33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u="sng">
                <a:solidFill>
                  <a:srgbClr val="264D65"/>
                </a:solidFill>
                <a:latin typeface="Arial"/>
                <a:ea typeface="Arial"/>
                <a:cs typeface="Arial"/>
                <a:sym typeface="Arial"/>
              </a:rPr>
              <a:t>RESULTS (CONTINUED)</a:t>
            </a:r>
            <a:endParaRPr sz="1000"/>
          </a:p>
        </p:txBody>
      </p:sp>
      <p:pic>
        <p:nvPicPr>
          <p:cNvPr id="128" name="Google Shape;128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003550" y="5044375"/>
            <a:ext cx="3598597" cy="3802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"/>
          <p:cNvSpPr txBox="1"/>
          <p:nvPr/>
        </p:nvSpPr>
        <p:spPr>
          <a:xfrm>
            <a:off x="27067550" y="5059050"/>
            <a:ext cx="3925800" cy="30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/>
              <a:t>Figure 3</a:t>
            </a:r>
            <a:r>
              <a:rPr lang="en-US" sz="2400"/>
              <a:t>. Patient’s right (a) and left (b) scalp before hydradermabrasion treatment on the right scalp. Patient’s right (c) and left (d) scalp after hydradermabrasion at follow-up visit. Decreased loose and perifollicular scale on right.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0" name="Picture 129" descr="21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79088" y="576072"/>
            <a:ext cx="210312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705</Words>
  <Application>Microsoft Macintosh PowerPoint</Application>
  <PresentationFormat>Custom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Raleway</vt:lpstr>
      <vt:lpstr>Arial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Ward_Lab</dc:creator>
  <cp:lastModifiedBy>Phil Kim</cp:lastModifiedBy>
  <cp:revision>2</cp:revision>
  <dcterms:created xsi:type="dcterms:W3CDTF">2007-04-18T22:04:43Z</dcterms:created>
  <dcterms:modified xsi:type="dcterms:W3CDTF">2025-04-26T21:07:39Z</dcterms:modified>
</cp:coreProperties>
</file>