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32918400" cy="21945600"/>
  <p:notesSz cx="6858000" cy="9144000"/>
  <p:embeddedFontLst>
    <p:embeddedFont>
      <p:font typeface="Libre Baskerville" panose="02000000000000000000" pitchFamily="2" charset="0"/>
      <p:regular r:id="rId4"/>
      <p:bold r:id="rId5"/>
      <p:italic r:id="rId6"/>
    </p:embeddedFont>
    <p:embeddedFont>
      <p:font typeface="Montserrat Light" pitchFamily="2" charset="77"/>
      <p:regular r:id="rId7"/>
      <p:bold r:id="rId8"/>
      <p:italic r:id="rId9"/>
      <p:boldItalic r:id="rId1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747775"/>
          </p15:clr>
        </p15:guide>
        <p15:guide id="2" pos="1036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46"/>
    <p:restoredTop sz="94700"/>
  </p:normalViewPr>
  <p:slideViewPr>
    <p:cSldViewPr snapToGrid="0">
      <p:cViewPr varScale="1">
        <p:scale>
          <a:sx n="59" d="100"/>
          <a:sy n="59" d="100"/>
        </p:scale>
        <p:origin x="1288" y="232"/>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font" Target="fonts/font5.fntdata"/><Relationship Id="rId9" Type="http://schemas.openxmlformats.org/officeDocument/2006/relationships/font" Target="fonts/font6.fntdata"/><Relationship Id="rId10" Type="http://schemas.openxmlformats.org/officeDocument/2006/relationships/font" Target="fonts/font7.fntdata"/><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4db14e597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sz="6000">
                <a:solidFill>
                  <a:schemeClr val="dk1"/>
                </a:solidFill>
                <a:latin typeface="Times New Roman"/>
                <a:ea typeface="Times New Roman"/>
                <a:cs typeface="Times New Roman"/>
                <a:sym typeface="Times New Roman"/>
              </a:rPr>
              <a:t>1</a:t>
            </a:fld>
            <a:endParaRPr sz="6000">
              <a:solidFill>
                <a:schemeClr val="dk1"/>
              </a:solidFill>
              <a:latin typeface="Times New Roman"/>
              <a:ea typeface="Times New Roman"/>
              <a:cs typeface="Times New Roman"/>
              <a:sym typeface="Times New Roman"/>
            </a:endParaRPr>
          </a:p>
        </p:txBody>
      </p:sp>
      <p:sp>
        <p:nvSpPr>
          <p:cNvPr id="52" name="Google Shape;52;g34db14e5976_0_0:notes"/>
          <p:cNvSpPr>
            <a:spLocks noGrp="1" noRot="1" noChangeAspect="1"/>
          </p:cNvSpPr>
          <p:nvPr>
            <p:ph type="sldImg" idx="2"/>
          </p:nvPr>
        </p:nvSpPr>
        <p:spPr>
          <a:xfrm>
            <a:off x="1814513" y="3757613"/>
            <a:ext cx="28124150" cy="18748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 name="Google Shape;53;g34db14e597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857" b="0" i="0" u="none" strike="noStrike" cap="non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122149" y="3176853"/>
            <a:ext cx="30674160" cy="875776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18720"/>
            </a:lvl1pPr>
            <a:lvl2pPr lvl="1" algn="ctr">
              <a:spcBef>
                <a:spcPts val="0"/>
              </a:spcBef>
              <a:spcAft>
                <a:spcPts val="0"/>
              </a:spcAft>
              <a:buSzPts val="5200"/>
              <a:buNone/>
              <a:defRPr sz="18720"/>
            </a:lvl2pPr>
            <a:lvl3pPr lvl="2" algn="ctr">
              <a:spcBef>
                <a:spcPts val="0"/>
              </a:spcBef>
              <a:spcAft>
                <a:spcPts val="0"/>
              </a:spcAft>
              <a:buSzPts val="5200"/>
              <a:buNone/>
              <a:defRPr sz="18720"/>
            </a:lvl3pPr>
            <a:lvl4pPr lvl="3" algn="ctr">
              <a:spcBef>
                <a:spcPts val="0"/>
              </a:spcBef>
              <a:spcAft>
                <a:spcPts val="0"/>
              </a:spcAft>
              <a:buSzPts val="5200"/>
              <a:buNone/>
              <a:defRPr sz="18720"/>
            </a:lvl4pPr>
            <a:lvl5pPr lvl="4" algn="ctr">
              <a:spcBef>
                <a:spcPts val="0"/>
              </a:spcBef>
              <a:spcAft>
                <a:spcPts val="0"/>
              </a:spcAft>
              <a:buSzPts val="5200"/>
              <a:buNone/>
              <a:defRPr sz="18720"/>
            </a:lvl5pPr>
            <a:lvl6pPr lvl="5" algn="ctr">
              <a:spcBef>
                <a:spcPts val="0"/>
              </a:spcBef>
              <a:spcAft>
                <a:spcPts val="0"/>
              </a:spcAft>
              <a:buSzPts val="5200"/>
              <a:buNone/>
              <a:defRPr sz="18720"/>
            </a:lvl6pPr>
            <a:lvl7pPr lvl="6" algn="ctr">
              <a:spcBef>
                <a:spcPts val="0"/>
              </a:spcBef>
              <a:spcAft>
                <a:spcPts val="0"/>
              </a:spcAft>
              <a:buSzPts val="5200"/>
              <a:buNone/>
              <a:defRPr sz="18720"/>
            </a:lvl7pPr>
            <a:lvl8pPr lvl="7" algn="ctr">
              <a:spcBef>
                <a:spcPts val="0"/>
              </a:spcBef>
              <a:spcAft>
                <a:spcPts val="0"/>
              </a:spcAft>
              <a:buSzPts val="5200"/>
              <a:buNone/>
              <a:defRPr sz="18720"/>
            </a:lvl8pPr>
            <a:lvl9pPr lvl="8" algn="ctr">
              <a:spcBef>
                <a:spcPts val="0"/>
              </a:spcBef>
              <a:spcAft>
                <a:spcPts val="0"/>
              </a:spcAft>
              <a:buSzPts val="5200"/>
              <a:buNone/>
              <a:defRPr sz="18720"/>
            </a:lvl9pPr>
          </a:lstStyle>
          <a:p>
            <a:endParaRPr/>
          </a:p>
        </p:txBody>
      </p:sp>
      <p:sp>
        <p:nvSpPr>
          <p:cNvPr id="11" name="Google Shape;11;p2"/>
          <p:cNvSpPr txBox="1">
            <a:spLocks noGrp="1"/>
          </p:cNvSpPr>
          <p:nvPr>
            <p:ph type="subTitle" idx="1"/>
          </p:nvPr>
        </p:nvSpPr>
        <p:spPr>
          <a:xfrm>
            <a:off x="1122120" y="12092267"/>
            <a:ext cx="30674160" cy="3381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10080"/>
            </a:lvl1pPr>
            <a:lvl2pPr lvl="1" algn="ctr">
              <a:lnSpc>
                <a:spcPct val="100000"/>
              </a:lnSpc>
              <a:spcBef>
                <a:spcPts val="0"/>
              </a:spcBef>
              <a:spcAft>
                <a:spcPts val="0"/>
              </a:spcAft>
              <a:buSzPts val="2800"/>
              <a:buNone/>
              <a:defRPr sz="10080"/>
            </a:lvl2pPr>
            <a:lvl3pPr lvl="2" algn="ctr">
              <a:lnSpc>
                <a:spcPct val="100000"/>
              </a:lnSpc>
              <a:spcBef>
                <a:spcPts val="0"/>
              </a:spcBef>
              <a:spcAft>
                <a:spcPts val="0"/>
              </a:spcAft>
              <a:buSzPts val="2800"/>
              <a:buNone/>
              <a:defRPr sz="10080"/>
            </a:lvl3pPr>
            <a:lvl4pPr lvl="3" algn="ctr">
              <a:lnSpc>
                <a:spcPct val="100000"/>
              </a:lnSpc>
              <a:spcBef>
                <a:spcPts val="0"/>
              </a:spcBef>
              <a:spcAft>
                <a:spcPts val="0"/>
              </a:spcAft>
              <a:buSzPts val="2800"/>
              <a:buNone/>
              <a:defRPr sz="10080"/>
            </a:lvl4pPr>
            <a:lvl5pPr lvl="4" algn="ctr">
              <a:lnSpc>
                <a:spcPct val="100000"/>
              </a:lnSpc>
              <a:spcBef>
                <a:spcPts val="0"/>
              </a:spcBef>
              <a:spcAft>
                <a:spcPts val="0"/>
              </a:spcAft>
              <a:buSzPts val="2800"/>
              <a:buNone/>
              <a:defRPr sz="10080"/>
            </a:lvl5pPr>
            <a:lvl6pPr lvl="5" algn="ctr">
              <a:lnSpc>
                <a:spcPct val="100000"/>
              </a:lnSpc>
              <a:spcBef>
                <a:spcPts val="0"/>
              </a:spcBef>
              <a:spcAft>
                <a:spcPts val="0"/>
              </a:spcAft>
              <a:buSzPts val="2800"/>
              <a:buNone/>
              <a:defRPr sz="10080"/>
            </a:lvl6pPr>
            <a:lvl7pPr lvl="6" algn="ctr">
              <a:lnSpc>
                <a:spcPct val="100000"/>
              </a:lnSpc>
              <a:spcBef>
                <a:spcPts val="0"/>
              </a:spcBef>
              <a:spcAft>
                <a:spcPts val="0"/>
              </a:spcAft>
              <a:buSzPts val="2800"/>
              <a:buNone/>
              <a:defRPr sz="10080"/>
            </a:lvl7pPr>
            <a:lvl8pPr lvl="7" algn="ctr">
              <a:lnSpc>
                <a:spcPct val="100000"/>
              </a:lnSpc>
              <a:spcBef>
                <a:spcPts val="0"/>
              </a:spcBef>
              <a:spcAft>
                <a:spcPts val="0"/>
              </a:spcAft>
              <a:buSzPts val="2800"/>
              <a:buNone/>
              <a:defRPr sz="10080"/>
            </a:lvl8pPr>
            <a:lvl9pPr lvl="8" algn="ctr">
              <a:lnSpc>
                <a:spcPct val="100000"/>
              </a:lnSpc>
              <a:spcBef>
                <a:spcPts val="0"/>
              </a:spcBef>
              <a:spcAft>
                <a:spcPts val="0"/>
              </a:spcAft>
              <a:buSzPts val="2800"/>
              <a:buNone/>
              <a:defRPr sz="10080"/>
            </a:lvl9pPr>
          </a:lstStyle>
          <a:p>
            <a:endParaRPr/>
          </a:p>
        </p:txBody>
      </p:sp>
      <p:sp>
        <p:nvSpPr>
          <p:cNvPr id="12" name="Google Shape;12;p2"/>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122120" y="9176960"/>
            <a:ext cx="30674160" cy="359168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12960"/>
            </a:lvl1pPr>
            <a:lvl2pPr lvl="1" algn="ctr">
              <a:spcBef>
                <a:spcPts val="0"/>
              </a:spcBef>
              <a:spcAft>
                <a:spcPts val="0"/>
              </a:spcAft>
              <a:buSzPts val="3600"/>
              <a:buNone/>
              <a:defRPr sz="12960"/>
            </a:lvl2pPr>
            <a:lvl3pPr lvl="2" algn="ctr">
              <a:spcBef>
                <a:spcPts val="0"/>
              </a:spcBef>
              <a:spcAft>
                <a:spcPts val="0"/>
              </a:spcAft>
              <a:buSzPts val="3600"/>
              <a:buNone/>
              <a:defRPr sz="12960"/>
            </a:lvl3pPr>
            <a:lvl4pPr lvl="3" algn="ctr">
              <a:spcBef>
                <a:spcPts val="0"/>
              </a:spcBef>
              <a:spcAft>
                <a:spcPts val="0"/>
              </a:spcAft>
              <a:buSzPts val="3600"/>
              <a:buNone/>
              <a:defRPr sz="12960"/>
            </a:lvl4pPr>
            <a:lvl5pPr lvl="4" algn="ctr">
              <a:spcBef>
                <a:spcPts val="0"/>
              </a:spcBef>
              <a:spcAft>
                <a:spcPts val="0"/>
              </a:spcAft>
              <a:buSzPts val="3600"/>
              <a:buNone/>
              <a:defRPr sz="12960"/>
            </a:lvl5pPr>
            <a:lvl6pPr lvl="5" algn="ctr">
              <a:spcBef>
                <a:spcPts val="0"/>
              </a:spcBef>
              <a:spcAft>
                <a:spcPts val="0"/>
              </a:spcAft>
              <a:buSzPts val="3600"/>
              <a:buNone/>
              <a:defRPr sz="12960"/>
            </a:lvl6pPr>
            <a:lvl7pPr lvl="6" algn="ctr">
              <a:spcBef>
                <a:spcPts val="0"/>
              </a:spcBef>
              <a:spcAft>
                <a:spcPts val="0"/>
              </a:spcAft>
              <a:buSzPts val="3600"/>
              <a:buNone/>
              <a:defRPr sz="12960"/>
            </a:lvl7pPr>
            <a:lvl8pPr lvl="7" algn="ctr">
              <a:spcBef>
                <a:spcPts val="0"/>
              </a:spcBef>
              <a:spcAft>
                <a:spcPts val="0"/>
              </a:spcAft>
              <a:buSzPts val="3600"/>
              <a:buNone/>
              <a:defRPr sz="12960"/>
            </a:lvl8pPr>
            <a:lvl9pPr lvl="8" algn="ctr">
              <a:spcBef>
                <a:spcPts val="0"/>
              </a:spcBef>
              <a:spcAft>
                <a:spcPts val="0"/>
              </a:spcAft>
              <a:buSzPts val="3600"/>
              <a:buNone/>
              <a:defRPr sz="12960"/>
            </a:lvl9pPr>
          </a:lstStyle>
          <a:p>
            <a:endParaRPr/>
          </a:p>
        </p:txBody>
      </p:sp>
      <p:sp>
        <p:nvSpPr>
          <p:cNvPr id="15" name="Google Shape;15;p3"/>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1122120" y="4917227"/>
            <a:ext cx="30674160" cy="14576640"/>
          </a:xfrm>
          <a:prstGeom prst="rect">
            <a:avLst/>
          </a:prstGeom>
        </p:spPr>
        <p:txBody>
          <a:bodyPr spcFirstLastPara="1" wrap="square" lIns="91425" tIns="91425" rIns="91425" bIns="91425" anchor="t" anchorCtr="0">
            <a:normAutofit/>
          </a:bodyPr>
          <a:lstStyle>
            <a:lvl1pPr marL="1645920" lvl="0" indent="-1234440">
              <a:spcBef>
                <a:spcPts val="0"/>
              </a:spcBef>
              <a:spcAft>
                <a:spcPts val="0"/>
              </a:spcAft>
              <a:buSzPts val="1800"/>
              <a:buChar char="●"/>
              <a:defRPr/>
            </a:lvl1pPr>
            <a:lvl2pPr marL="3291840" lvl="1" indent="-1143000">
              <a:spcBef>
                <a:spcPts val="0"/>
              </a:spcBef>
              <a:spcAft>
                <a:spcPts val="0"/>
              </a:spcAft>
              <a:buSzPts val="1400"/>
              <a:buChar char="○"/>
              <a:defRPr/>
            </a:lvl2pPr>
            <a:lvl3pPr marL="4937760" lvl="2" indent="-1143000">
              <a:spcBef>
                <a:spcPts val="0"/>
              </a:spcBef>
              <a:spcAft>
                <a:spcPts val="0"/>
              </a:spcAft>
              <a:buSzPts val="1400"/>
              <a:buChar char="■"/>
              <a:defRPr/>
            </a:lvl3pPr>
            <a:lvl4pPr marL="6583680" lvl="3" indent="-1143000">
              <a:spcBef>
                <a:spcPts val="0"/>
              </a:spcBef>
              <a:spcAft>
                <a:spcPts val="0"/>
              </a:spcAft>
              <a:buSzPts val="1400"/>
              <a:buChar char="●"/>
              <a:defRPr/>
            </a:lvl4pPr>
            <a:lvl5pPr marL="8229600" lvl="4" indent="-1143000">
              <a:spcBef>
                <a:spcPts val="0"/>
              </a:spcBef>
              <a:spcAft>
                <a:spcPts val="0"/>
              </a:spcAft>
              <a:buSzPts val="1400"/>
              <a:buChar char="○"/>
              <a:defRPr/>
            </a:lvl5pPr>
            <a:lvl6pPr marL="9875520" lvl="5" indent="-1143000">
              <a:spcBef>
                <a:spcPts val="0"/>
              </a:spcBef>
              <a:spcAft>
                <a:spcPts val="0"/>
              </a:spcAft>
              <a:buSzPts val="1400"/>
              <a:buChar char="■"/>
              <a:defRPr/>
            </a:lvl6pPr>
            <a:lvl7pPr marL="11521440" lvl="6" indent="-1143000">
              <a:spcBef>
                <a:spcPts val="0"/>
              </a:spcBef>
              <a:spcAft>
                <a:spcPts val="0"/>
              </a:spcAft>
              <a:buSzPts val="1400"/>
              <a:buChar char="●"/>
              <a:defRPr/>
            </a:lvl7pPr>
            <a:lvl8pPr marL="13167360" lvl="7" indent="-1143000">
              <a:spcBef>
                <a:spcPts val="0"/>
              </a:spcBef>
              <a:spcAft>
                <a:spcPts val="0"/>
              </a:spcAft>
              <a:buSzPts val="1400"/>
              <a:buChar char="○"/>
              <a:defRPr/>
            </a:lvl8pPr>
            <a:lvl9pPr marL="14813280" lvl="8" indent="-11430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1122120" y="4917227"/>
            <a:ext cx="14399640" cy="14576640"/>
          </a:xfrm>
          <a:prstGeom prst="rect">
            <a:avLst/>
          </a:prstGeom>
        </p:spPr>
        <p:txBody>
          <a:bodyPr spcFirstLastPara="1" wrap="square" lIns="91425" tIns="91425" rIns="91425" bIns="91425" anchor="t" anchorCtr="0">
            <a:normAutofit/>
          </a:bodyPr>
          <a:lstStyle>
            <a:lvl1pPr marL="1645920" lvl="0" indent="-1143000">
              <a:spcBef>
                <a:spcPts val="0"/>
              </a:spcBef>
              <a:spcAft>
                <a:spcPts val="0"/>
              </a:spcAft>
              <a:buSzPts val="1400"/>
              <a:buChar char="●"/>
              <a:defRPr sz="504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23" name="Google Shape;23;p5"/>
          <p:cNvSpPr txBox="1">
            <a:spLocks noGrp="1"/>
          </p:cNvSpPr>
          <p:nvPr>
            <p:ph type="body" idx="2"/>
          </p:nvPr>
        </p:nvSpPr>
        <p:spPr>
          <a:xfrm>
            <a:off x="17396640" y="4917227"/>
            <a:ext cx="14399640" cy="14576640"/>
          </a:xfrm>
          <a:prstGeom prst="rect">
            <a:avLst/>
          </a:prstGeom>
        </p:spPr>
        <p:txBody>
          <a:bodyPr spcFirstLastPara="1" wrap="square" lIns="91425" tIns="91425" rIns="91425" bIns="91425" anchor="t" anchorCtr="0">
            <a:normAutofit/>
          </a:bodyPr>
          <a:lstStyle>
            <a:lvl1pPr marL="1645920" lvl="0" indent="-1143000">
              <a:spcBef>
                <a:spcPts val="0"/>
              </a:spcBef>
              <a:spcAft>
                <a:spcPts val="0"/>
              </a:spcAft>
              <a:buSzPts val="1400"/>
              <a:buChar char="●"/>
              <a:defRPr sz="504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24" name="Google Shape;24;p5"/>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122120" y="2370560"/>
            <a:ext cx="10108800" cy="322432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8640"/>
            </a:lvl1pPr>
            <a:lvl2pPr lvl="1">
              <a:spcBef>
                <a:spcPts val="0"/>
              </a:spcBef>
              <a:spcAft>
                <a:spcPts val="0"/>
              </a:spcAft>
              <a:buSzPts val="2400"/>
              <a:buNone/>
              <a:defRPr sz="8640"/>
            </a:lvl2pPr>
            <a:lvl3pPr lvl="2">
              <a:spcBef>
                <a:spcPts val="0"/>
              </a:spcBef>
              <a:spcAft>
                <a:spcPts val="0"/>
              </a:spcAft>
              <a:buSzPts val="2400"/>
              <a:buNone/>
              <a:defRPr sz="8640"/>
            </a:lvl3pPr>
            <a:lvl4pPr lvl="3">
              <a:spcBef>
                <a:spcPts val="0"/>
              </a:spcBef>
              <a:spcAft>
                <a:spcPts val="0"/>
              </a:spcAft>
              <a:buSzPts val="2400"/>
              <a:buNone/>
              <a:defRPr sz="8640"/>
            </a:lvl4pPr>
            <a:lvl5pPr lvl="4">
              <a:spcBef>
                <a:spcPts val="0"/>
              </a:spcBef>
              <a:spcAft>
                <a:spcPts val="0"/>
              </a:spcAft>
              <a:buSzPts val="2400"/>
              <a:buNone/>
              <a:defRPr sz="8640"/>
            </a:lvl5pPr>
            <a:lvl6pPr lvl="5">
              <a:spcBef>
                <a:spcPts val="0"/>
              </a:spcBef>
              <a:spcAft>
                <a:spcPts val="0"/>
              </a:spcAft>
              <a:buSzPts val="2400"/>
              <a:buNone/>
              <a:defRPr sz="8640"/>
            </a:lvl6pPr>
            <a:lvl7pPr lvl="6">
              <a:spcBef>
                <a:spcPts val="0"/>
              </a:spcBef>
              <a:spcAft>
                <a:spcPts val="0"/>
              </a:spcAft>
              <a:buSzPts val="2400"/>
              <a:buNone/>
              <a:defRPr sz="8640"/>
            </a:lvl7pPr>
            <a:lvl8pPr lvl="7">
              <a:spcBef>
                <a:spcPts val="0"/>
              </a:spcBef>
              <a:spcAft>
                <a:spcPts val="0"/>
              </a:spcAft>
              <a:buSzPts val="2400"/>
              <a:buNone/>
              <a:defRPr sz="8640"/>
            </a:lvl8pPr>
            <a:lvl9pPr lvl="8">
              <a:spcBef>
                <a:spcPts val="0"/>
              </a:spcBef>
              <a:spcAft>
                <a:spcPts val="0"/>
              </a:spcAft>
              <a:buSzPts val="2400"/>
              <a:buNone/>
              <a:defRPr sz="8640"/>
            </a:lvl9pPr>
          </a:lstStyle>
          <a:p>
            <a:endParaRPr/>
          </a:p>
        </p:txBody>
      </p:sp>
      <p:sp>
        <p:nvSpPr>
          <p:cNvPr id="30" name="Google Shape;30;p7"/>
          <p:cNvSpPr txBox="1">
            <a:spLocks noGrp="1"/>
          </p:cNvSpPr>
          <p:nvPr>
            <p:ph type="body" idx="1"/>
          </p:nvPr>
        </p:nvSpPr>
        <p:spPr>
          <a:xfrm>
            <a:off x="1122120" y="5928960"/>
            <a:ext cx="10108800" cy="13565440"/>
          </a:xfrm>
          <a:prstGeom prst="rect">
            <a:avLst/>
          </a:prstGeom>
        </p:spPr>
        <p:txBody>
          <a:bodyPr spcFirstLastPara="1" wrap="square" lIns="91425" tIns="91425" rIns="91425" bIns="91425" anchor="t" anchorCtr="0">
            <a:normAutofit/>
          </a:bodyPr>
          <a:lstStyle>
            <a:lvl1pPr marL="1645920" lvl="0" indent="-1097280">
              <a:spcBef>
                <a:spcPts val="0"/>
              </a:spcBef>
              <a:spcAft>
                <a:spcPts val="0"/>
              </a:spcAft>
              <a:buSzPts val="1200"/>
              <a:buChar char="●"/>
              <a:defRPr sz="432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31" name="Google Shape;31;p7"/>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764900" y="1920640"/>
            <a:ext cx="22924080" cy="1745408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17280"/>
            </a:lvl1pPr>
            <a:lvl2pPr lvl="1">
              <a:spcBef>
                <a:spcPts val="0"/>
              </a:spcBef>
              <a:spcAft>
                <a:spcPts val="0"/>
              </a:spcAft>
              <a:buSzPts val="4800"/>
              <a:buNone/>
              <a:defRPr sz="17280"/>
            </a:lvl2pPr>
            <a:lvl3pPr lvl="2">
              <a:spcBef>
                <a:spcPts val="0"/>
              </a:spcBef>
              <a:spcAft>
                <a:spcPts val="0"/>
              </a:spcAft>
              <a:buSzPts val="4800"/>
              <a:buNone/>
              <a:defRPr sz="17280"/>
            </a:lvl3pPr>
            <a:lvl4pPr lvl="3">
              <a:spcBef>
                <a:spcPts val="0"/>
              </a:spcBef>
              <a:spcAft>
                <a:spcPts val="0"/>
              </a:spcAft>
              <a:buSzPts val="4800"/>
              <a:buNone/>
              <a:defRPr sz="17280"/>
            </a:lvl4pPr>
            <a:lvl5pPr lvl="4">
              <a:spcBef>
                <a:spcPts val="0"/>
              </a:spcBef>
              <a:spcAft>
                <a:spcPts val="0"/>
              </a:spcAft>
              <a:buSzPts val="4800"/>
              <a:buNone/>
              <a:defRPr sz="17280"/>
            </a:lvl5pPr>
            <a:lvl6pPr lvl="5">
              <a:spcBef>
                <a:spcPts val="0"/>
              </a:spcBef>
              <a:spcAft>
                <a:spcPts val="0"/>
              </a:spcAft>
              <a:buSzPts val="4800"/>
              <a:buNone/>
              <a:defRPr sz="17280"/>
            </a:lvl6pPr>
            <a:lvl7pPr lvl="6">
              <a:spcBef>
                <a:spcPts val="0"/>
              </a:spcBef>
              <a:spcAft>
                <a:spcPts val="0"/>
              </a:spcAft>
              <a:buSzPts val="4800"/>
              <a:buNone/>
              <a:defRPr sz="17280"/>
            </a:lvl7pPr>
            <a:lvl8pPr lvl="7">
              <a:spcBef>
                <a:spcPts val="0"/>
              </a:spcBef>
              <a:spcAft>
                <a:spcPts val="0"/>
              </a:spcAft>
              <a:buSzPts val="4800"/>
              <a:buNone/>
              <a:defRPr sz="17280"/>
            </a:lvl8pPr>
            <a:lvl9pPr lvl="8">
              <a:spcBef>
                <a:spcPts val="0"/>
              </a:spcBef>
              <a:spcAft>
                <a:spcPts val="0"/>
              </a:spcAft>
              <a:buSzPts val="4800"/>
              <a:buNone/>
              <a:defRPr sz="17280"/>
            </a:lvl9pPr>
          </a:lstStyle>
          <a:p>
            <a:endParaRPr/>
          </a:p>
        </p:txBody>
      </p:sp>
      <p:sp>
        <p:nvSpPr>
          <p:cNvPr id="34" name="Google Shape;34;p8"/>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6459200" y="-533"/>
            <a:ext cx="16459200" cy="21945600"/>
          </a:xfrm>
          <a:prstGeom prst="rect">
            <a:avLst/>
          </a:prstGeom>
          <a:solidFill>
            <a:schemeClr val="lt2"/>
          </a:solidFill>
          <a:ln>
            <a:noFill/>
          </a:ln>
        </p:spPr>
        <p:txBody>
          <a:bodyPr spcFirstLastPara="1" wrap="square" lIns="329130" tIns="329130" rIns="329130" bIns="329130" anchor="ctr" anchorCtr="0">
            <a:noAutofit/>
          </a:bodyPr>
          <a:lstStyle/>
          <a:p>
            <a:pPr marL="0" lvl="0" indent="0" algn="l" rtl="0">
              <a:spcBef>
                <a:spcPts val="0"/>
              </a:spcBef>
              <a:spcAft>
                <a:spcPts val="0"/>
              </a:spcAft>
              <a:buNone/>
            </a:pPr>
            <a:endParaRPr sz="19354"/>
          </a:p>
        </p:txBody>
      </p:sp>
      <p:sp>
        <p:nvSpPr>
          <p:cNvPr id="37" name="Google Shape;37;p9"/>
          <p:cNvSpPr txBox="1">
            <a:spLocks noGrp="1"/>
          </p:cNvSpPr>
          <p:nvPr>
            <p:ph type="title"/>
          </p:nvPr>
        </p:nvSpPr>
        <p:spPr>
          <a:xfrm>
            <a:off x="955800" y="5261547"/>
            <a:ext cx="14562720" cy="632448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15120"/>
            </a:lvl1pPr>
            <a:lvl2pPr lvl="1" algn="ctr">
              <a:spcBef>
                <a:spcPts val="0"/>
              </a:spcBef>
              <a:spcAft>
                <a:spcPts val="0"/>
              </a:spcAft>
              <a:buSzPts val="4200"/>
              <a:buNone/>
              <a:defRPr sz="15120"/>
            </a:lvl2pPr>
            <a:lvl3pPr lvl="2" algn="ctr">
              <a:spcBef>
                <a:spcPts val="0"/>
              </a:spcBef>
              <a:spcAft>
                <a:spcPts val="0"/>
              </a:spcAft>
              <a:buSzPts val="4200"/>
              <a:buNone/>
              <a:defRPr sz="15120"/>
            </a:lvl3pPr>
            <a:lvl4pPr lvl="3" algn="ctr">
              <a:spcBef>
                <a:spcPts val="0"/>
              </a:spcBef>
              <a:spcAft>
                <a:spcPts val="0"/>
              </a:spcAft>
              <a:buSzPts val="4200"/>
              <a:buNone/>
              <a:defRPr sz="15120"/>
            </a:lvl4pPr>
            <a:lvl5pPr lvl="4" algn="ctr">
              <a:spcBef>
                <a:spcPts val="0"/>
              </a:spcBef>
              <a:spcAft>
                <a:spcPts val="0"/>
              </a:spcAft>
              <a:buSzPts val="4200"/>
              <a:buNone/>
              <a:defRPr sz="15120"/>
            </a:lvl5pPr>
            <a:lvl6pPr lvl="5" algn="ctr">
              <a:spcBef>
                <a:spcPts val="0"/>
              </a:spcBef>
              <a:spcAft>
                <a:spcPts val="0"/>
              </a:spcAft>
              <a:buSzPts val="4200"/>
              <a:buNone/>
              <a:defRPr sz="15120"/>
            </a:lvl6pPr>
            <a:lvl7pPr lvl="6" algn="ctr">
              <a:spcBef>
                <a:spcPts val="0"/>
              </a:spcBef>
              <a:spcAft>
                <a:spcPts val="0"/>
              </a:spcAft>
              <a:buSzPts val="4200"/>
              <a:buNone/>
              <a:defRPr sz="15120"/>
            </a:lvl7pPr>
            <a:lvl8pPr lvl="7" algn="ctr">
              <a:spcBef>
                <a:spcPts val="0"/>
              </a:spcBef>
              <a:spcAft>
                <a:spcPts val="0"/>
              </a:spcAft>
              <a:buSzPts val="4200"/>
              <a:buNone/>
              <a:defRPr sz="15120"/>
            </a:lvl8pPr>
            <a:lvl9pPr lvl="8" algn="ctr">
              <a:spcBef>
                <a:spcPts val="0"/>
              </a:spcBef>
              <a:spcAft>
                <a:spcPts val="0"/>
              </a:spcAft>
              <a:buSzPts val="4200"/>
              <a:buNone/>
              <a:defRPr sz="15120"/>
            </a:lvl9pPr>
          </a:lstStyle>
          <a:p>
            <a:endParaRPr/>
          </a:p>
        </p:txBody>
      </p:sp>
      <p:sp>
        <p:nvSpPr>
          <p:cNvPr id="38" name="Google Shape;38;p9"/>
          <p:cNvSpPr txBox="1">
            <a:spLocks noGrp="1"/>
          </p:cNvSpPr>
          <p:nvPr>
            <p:ph type="subTitle" idx="1"/>
          </p:nvPr>
        </p:nvSpPr>
        <p:spPr>
          <a:xfrm>
            <a:off x="955800" y="11959787"/>
            <a:ext cx="14562720" cy="5269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7560"/>
            </a:lvl1pPr>
            <a:lvl2pPr lvl="1" algn="ctr">
              <a:lnSpc>
                <a:spcPct val="100000"/>
              </a:lnSpc>
              <a:spcBef>
                <a:spcPts val="0"/>
              </a:spcBef>
              <a:spcAft>
                <a:spcPts val="0"/>
              </a:spcAft>
              <a:buSzPts val="2100"/>
              <a:buNone/>
              <a:defRPr sz="7560"/>
            </a:lvl2pPr>
            <a:lvl3pPr lvl="2" algn="ctr">
              <a:lnSpc>
                <a:spcPct val="100000"/>
              </a:lnSpc>
              <a:spcBef>
                <a:spcPts val="0"/>
              </a:spcBef>
              <a:spcAft>
                <a:spcPts val="0"/>
              </a:spcAft>
              <a:buSzPts val="2100"/>
              <a:buNone/>
              <a:defRPr sz="7560"/>
            </a:lvl3pPr>
            <a:lvl4pPr lvl="3" algn="ctr">
              <a:lnSpc>
                <a:spcPct val="100000"/>
              </a:lnSpc>
              <a:spcBef>
                <a:spcPts val="0"/>
              </a:spcBef>
              <a:spcAft>
                <a:spcPts val="0"/>
              </a:spcAft>
              <a:buSzPts val="2100"/>
              <a:buNone/>
              <a:defRPr sz="7560"/>
            </a:lvl4pPr>
            <a:lvl5pPr lvl="4" algn="ctr">
              <a:lnSpc>
                <a:spcPct val="100000"/>
              </a:lnSpc>
              <a:spcBef>
                <a:spcPts val="0"/>
              </a:spcBef>
              <a:spcAft>
                <a:spcPts val="0"/>
              </a:spcAft>
              <a:buSzPts val="2100"/>
              <a:buNone/>
              <a:defRPr sz="7560"/>
            </a:lvl5pPr>
            <a:lvl6pPr lvl="5" algn="ctr">
              <a:lnSpc>
                <a:spcPct val="100000"/>
              </a:lnSpc>
              <a:spcBef>
                <a:spcPts val="0"/>
              </a:spcBef>
              <a:spcAft>
                <a:spcPts val="0"/>
              </a:spcAft>
              <a:buSzPts val="2100"/>
              <a:buNone/>
              <a:defRPr sz="7560"/>
            </a:lvl6pPr>
            <a:lvl7pPr lvl="6" algn="ctr">
              <a:lnSpc>
                <a:spcPct val="100000"/>
              </a:lnSpc>
              <a:spcBef>
                <a:spcPts val="0"/>
              </a:spcBef>
              <a:spcAft>
                <a:spcPts val="0"/>
              </a:spcAft>
              <a:buSzPts val="2100"/>
              <a:buNone/>
              <a:defRPr sz="7560"/>
            </a:lvl7pPr>
            <a:lvl8pPr lvl="7" algn="ctr">
              <a:lnSpc>
                <a:spcPct val="100000"/>
              </a:lnSpc>
              <a:spcBef>
                <a:spcPts val="0"/>
              </a:spcBef>
              <a:spcAft>
                <a:spcPts val="0"/>
              </a:spcAft>
              <a:buSzPts val="2100"/>
              <a:buNone/>
              <a:defRPr sz="7560"/>
            </a:lvl8pPr>
            <a:lvl9pPr lvl="8" algn="ctr">
              <a:lnSpc>
                <a:spcPct val="100000"/>
              </a:lnSpc>
              <a:spcBef>
                <a:spcPts val="0"/>
              </a:spcBef>
              <a:spcAft>
                <a:spcPts val="0"/>
              </a:spcAft>
              <a:buSzPts val="2100"/>
              <a:buNone/>
              <a:defRPr sz="7560"/>
            </a:lvl9pPr>
          </a:lstStyle>
          <a:p>
            <a:endParaRPr/>
          </a:p>
        </p:txBody>
      </p:sp>
      <p:sp>
        <p:nvSpPr>
          <p:cNvPr id="39" name="Google Shape;39;p9"/>
          <p:cNvSpPr txBox="1">
            <a:spLocks noGrp="1"/>
          </p:cNvSpPr>
          <p:nvPr>
            <p:ph type="body" idx="2"/>
          </p:nvPr>
        </p:nvSpPr>
        <p:spPr>
          <a:xfrm>
            <a:off x="17782200" y="3089387"/>
            <a:ext cx="13813200" cy="15765760"/>
          </a:xfrm>
          <a:prstGeom prst="rect">
            <a:avLst/>
          </a:prstGeom>
        </p:spPr>
        <p:txBody>
          <a:bodyPr spcFirstLastPara="1" wrap="square" lIns="91425" tIns="91425" rIns="91425" bIns="91425" anchor="ctr" anchorCtr="0">
            <a:normAutofit/>
          </a:bodyPr>
          <a:lstStyle>
            <a:lvl1pPr marL="1645920" lvl="0" indent="-1234440">
              <a:spcBef>
                <a:spcPts val="0"/>
              </a:spcBef>
              <a:spcAft>
                <a:spcPts val="0"/>
              </a:spcAft>
              <a:buSzPts val="1800"/>
              <a:buChar char="●"/>
              <a:defRPr/>
            </a:lvl1pPr>
            <a:lvl2pPr marL="3291840" lvl="1" indent="-1143000">
              <a:spcBef>
                <a:spcPts val="0"/>
              </a:spcBef>
              <a:spcAft>
                <a:spcPts val="0"/>
              </a:spcAft>
              <a:buSzPts val="1400"/>
              <a:buChar char="○"/>
              <a:defRPr/>
            </a:lvl2pPr>
            <a:lvl3pPr marL="4937760" lvl="2" indent="-1143000">
              <a:spcBef>
                <a:spcPts val="0"/>
              </a:spcBef>
              <a:spcAft>
                <a:spcPts val="0"/>
              </a:spcAft>
              <a:buSzPts val="1400"/>
              <a:buChar char="■"/>
              <a:defRPr/>
            </a:lvl3pPr>
            <a:lvl4pPr marL="6583680" lvl="3" indent="-1143000">
              <a:spcBef>
                <a:spcPts val="0"/>
              </a:spcBef>
              <a:spcAft>
                <a:spcPts val="0"/>
              </a:spcAft>
              <a:buSzPts val="1400"/>
              <a:buChar char="●"/>
              <a:defRPr/>
            </a:lvl4pPr>
            <a:lvl5pPr marL="8229600" lvl="4" indent="-1143000">
              <a:spcBef>
                <a:spcPts val="0"/>
              </a:spcBef>
              <a:spcAft>
                <a:spcPts val="0"/>
              </a:spcAft>
              <a:buSzPts val="1400"/>
              <a:buChar char="○"/>
              <a:defRPr/>
            </a:lvl5pPr>
            <a:lvl6pPr marL="9875520" lvl="5" indent="-1143000">
              <a:spcBef>
                <a:spcPts val="0"/>
              </a:spcBef>
              <a:spcAft>
                <a:spcPts val="0"/>
              </a:spcAft>
              <a:buSzPts val="1400"/>
              <a:buChar char="■"/>
              <a:defRPr/>
            </a:lvl6pPr>
            <a:lvl7pPr marL="11521440" lvl="6" indent="-1143000">
              <a:spcBef>
                <a:spcPts val="0"/>
              </a:spcBef>
              <a:spcAft>
                <a:spcPts val="0"/>
              </a:spcAft>
              <a:buSzPts val="1400"/>
              <a:buChar char="●"/>
              <a:defRPr/>
            </a:lvl7pPr>
            <a:lvl8pPr marL="13167360" lvl="7" indent="-1143000">
              <a:spcBef>
                <a:spcPts val="0"/>
              </a:spcBef>
              <a:spcAft>
                <a:spcPts val="0"/>
              </a:spcAft>
              <a:buSzPts val="1400"/>
              <a:buChar char="○"/>
              <a:defRPr/>
            </a:lvl8pPr>
            <a:lvl9pPr marL="14813280" lvl="8" indent="-11430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122120" y="18050453"/>
            <a:ext cx="21595680" cy="2581760"/>
          </a:xfrm>
          <a:prstGeom prst="rect">
            <a:avLst/>
          </a:prstGeom>
        </p:spPr>
        <p:txBody>
          <a:bodyPr spcFirstLastPara="1" wrap="square" lIns="91425" tIns="91425" rIns="91425" bIns="91425" anchor="ctr" anchorCtr="0">
            <a:normAutofit/>
          </a:bodyPr>
          <a:lstStyle>
            <a:lvl1pPr marL="1645920" lvl="0" indent="-82296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122120" y="4719467"/>
            <a:ext cx="30674160" cy="83776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43200"/>
            </a:lvl1pPr>
            <a:lvl2pPr lvl="1" algn="ctr">
              <a:spcBef>
                <a:spcPts val="0"/>
              </a:spcBef>
              <a:spcAft>
                <a:spcPts val="0"/>
              </a:spcAft>
              <a:buSzPts val="12000"/>
              <a:buNone/>
              <a:defRPr sz="43200"/>
            </a:lvl2pPr>
            <a:lvl3pPr lvl="2" algn="ctr">
              <a:spcBef>
                <a:spcPts val="0"/>
              </a:spcBef>
              <a:spcAft>
                <a:spcPts val="0"/>
              </a:spcAft>
              <a:buSzPts val="12000"/>
              <a:buNone/>
              <a:defRPr sz="43200"/>
            </a:lvl3pPr>
            <a:lvl4pPr lvl="3" algn="ctr">
              <a:spcBef>
                <a:spcPts val="0"/>
              </a:spcBef>
              <a:spcAft>
                <a:spcPts val="0"/>
              </a:spcAft>
              <a:buSzPts val="12000"/>
              <a:buNone/>
              <a:defRPr sz="43200"/>
            </a:lvl4pPr>
            <a:lvl5pPr lvl="4" algn="ctr">
              <a:spcBef>
                <a:spcPts val="0"/>
              </a:spcBef>
              <a:spcAft>
                <a:spcPts val="0"/>
              </a:spcAft>
              <a:buSzPts val="12000"/>
              <a:buNone/>
              <a:defRPr sz="43200"/>
            </a:lvl5pPr>
            <a:lvl6pPr lvl="5" algn="ctr">
              <a:spcBef>
                <a:spcPts val="0"/>
              </a:spcBef>
              <a:spcAft>
                <a:spcPts val="0"/>
              </a:spcAft>
              <a:buSzPts val="12000"/>
              <a:buNone/>
              <a:defRPr sz="43200"/>
            </a:lvl6pPr>
            <a:lvl7pPr lvl="6" algn="ctr">
              <a:spcBef>
                <a:spcPts val="0"/>
              </a:spcBef>
              <a:spcAft>
                <a:spcPts val="0"/>
              </a:spcAft>
              <a:buSzPts val="12000"/>
              <a:buNone/>
              <a:defRPr sz="43200"/>
            </a:lvl7pPr>
            <a:lvl8pPr lvl="7" algn="ctr">
              <a:spcBef>
                <a:spcPts val="0"/>
              </a:spcBef>
              <a:spcAft>
                <a:spcPts val="0"/>
              </a:spcAft>
              <a:buSzPts val="12000"/>
              <a:buNone/>
              <a:defRPr sz="43200"/>
            </a:lvl8pPr>
            <a:lvl9pPr lvl="8" algn="ctr">
              <a:spcBef>
                <a:spcPts val="0"/>
              </a:spcBef>
              <a:spcAft>
                <a:spcPts val="0"/>
              </a:spcAft>
              <a:buSzPts val="12000"/>
              <a:buNone/>
              <a:defRPr sz="43200"/>
            </a:lvl9pPr>
          </a:lstStyle>
          <a:p>
            <a:r>
              <a:t>xx%</a:t>
            </a:r>
          </a:p>
        </p:txBody>
      </p:sp>
      <p:sp>
        <p:nvSpPr>
          <p:cNvPr id="46" name="Google Shape;46;p11"/>
          <p:cNvSpPr txBox="1">
            <a:spLocks noGrp="1"/>
          </p:cNvSpPr>
          <p:nvPr>
            <p:ph type="body" idx="1"/>
          </p:nvPr>
        </p:nvSpPr>
        <p:spPr>
          <a:xfrm>
            <a:off x="1122120" y="13449493"/>
            <a:ext cx="30674160" cy="5550080"/>
          </a:xfrm>
          <a:prstGeom prst="rect">
            <a:avLst/>
          </a:prstGeom>
        </p:spPr>
        <p:txBody>
          <a:bodyPr spcFirstLastPara="1" wrap="square" lIns="91425" tIns="91425" rIns="91425" bIns="91425" anchor="t" anchorCtr="0">
            <a:normAutofit/>
          </a:bodyPr>
          <a:lstStyle>
            <a:lvl1pPr marL="1645920" lvl="0" indent="-1234440" algn="ctr">
              <a:spcBef>
                <a:spcPts val="0"/>
              </a:spcBef>
              <a:spcAft>
                <a:spcPts val="0"/>
              </a:spcAft>
              <a:buSzPts val="1800"/>
              <a:buChar char="●"/>
              <a:defRPr/>
            </a:lvl1pPr>
            <a:lvl2pPr marL="3291840" lvl="1" indent="-1143000" algn="ctr">
              <a:spcBef>
                <a:spcPts val="0"/>
              </a:spcBef>
              <a:spcAft>
                <a:spcPts val="0"/>
              </a:spcAft>
              <a:buSzPts val="1400"/>
              <a:buChar char="○"/>
              <a:defRPr/>
            </a:lvl2pPr>
            <a:lvl3pPr marL="4937760" lvl="2" indent="-1143000" algn="ctr">
              <a:spcBef>
                <a:spcPts val="0"/>
              </a:spcBef>
              <a:spcAft>
                <a:spcPts val="0"/>
              </a:spcAft>
              <a:buSzPts val="1400"/>
              <a:buChar char="■"/>
              <a:defRPr/>
            </a:lvl3pPr>
            <a:lvl4pPr marL="6583680" lvl="3" indent="-1143000" algn="ctr">
              <a:spcBef>
                <a:spcPts val="0"/>
              </a:spcBef>
              <a:spcAft>
                <a:spcPts val="0"/>
              </a:spcAft>
              <a:buSzPts val="1400"/>
              <a:buChar char="●"/>
              <a:defRPr/>
            </a:lvl4pPr>
            <a:lvl5pPr marL="8229600" lvl="4" indent="-1143000" algn="ctr">
              <a:spcBef>
                <a:spcPts val="0"/>
              </a:spcBef>
              <a:spcAft>
                <a:spcPts val="0"/>
              </a:spcAft>
              <a:buSzPts val="1400"/>
              <a:buChar char="○"/>
              <a:defRPr/>
            </a:lvl5pPr>
            <a:lvl6pPr marL="9875520" lvl="5" indent="-1143000" algn="ctr">
              <a:spcBef>
                <a:spcPts val="0"/>
              </a:spcBef>
              <a:spcAft>
                <a:spcPts val="0"/>
              </a:spcAft>
              <a:buSzPts val="1400"/>
              <a:buChar char="■"/>
              <a:defRPr/>
            </a:lvl6pPr>
            <a:lvl7pPr marL="11521440" lvl="6" indent="-1143000" algn="ctr">
              <a:spcBef>
                <a:spcPts val="0"/>
              </a:spcBef>
              <a:spcAft>
                <a:spcPts val="0"/>
              </a:spcAft>
              <a:buSzPts val="1400"/>
              <a:buChar char="●"/>
              <a:defRPr/>
            </a:lvl7pPr>
            <a:lvl8pPr marL="13167360" lvl="7" indent="-1143000" algn="ctr">
              <a:spcBef>
                <a:spcPts val="0"/>
              </a:spcBef>
              <a:spcAft>
                <a:spcPts val="0"/>
              </a:spcAft>
              <a:buSzPts val="1400"/>
              <a:buChar char="○"/>
              <a:defRPr/>
            </a:lvl8pPr>
            <a:lvl9pPr marL="14813280" lvl="8" indent="-11430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22120" y="1898773"/>
            <a:ext cx="30674160" cy="244352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1122120" y="4917227"/>
            <a:ext cx="30674160" cy="1457664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30500849" y="19896393"/>
            <a:ext cx="1975320" cy="1679360"/>
          </a:xfrm>
          <a:prstGeom prst="rect">
            <a:avLst/>
          </a:prstGeom>
          <a:noFill/>
          <a:ln>
            <a:noFill/>
          </a:ln>
        </p:spPr>
        <p:txBody>
          <a:bodyPr spcFirstLastPara="1" wrap="square" lIns="91425" tIns="91425" rIns="91425" bIns="91425" anchor="ctr" anchorCtr="0">
            <a:normAutofit/>
          </a:bodyPr>
          <a:lstStyle>
            <a:lvl1pPr lvl="0" algn="r">
              <a:buNone/>
              <a:defRPr sz="3600">
                <a:solidFill>
                  <a:schemeClr val="dk2"/>
                </a:solidFill>
              </a:defRPr>
            </a:lvl1pPr>
            <a:lvl2pPr lvl="1" algn="r">
              <a:buNone/>
              <a:defRPr sz="3600">
                <a:solidFill>
                  <a:schemeClr val="dk2"/>
                </a:solidFill>
              </a:defRPr>
            </a:lvl2pPr>
            <a:lvl3pPr lvl="2" algn="r">
              <a:buNone/>
              <a:defRPr sz="3600">
                <a:solidFill>
                  <a:schemeClr val="dk2"/>
                </a:solidFill>
              </a:defRPr>
            </a:lvl3pPr>
            <a:lvl4pPr lvl="3" algn="r">
              <a:buNone/>
              <a:defRPr sz="3600">
                <a:solidFill>
                  <a:schemeClr val="dk2"/>
                </a:solidFill>
              </a:defRPr>
            </a:lvl4pPr>
            <a:lvl5pPr lvl="4" algn="r">
              <a:buNone/>
              <a:defRPr sz="3600">
                <a:solidFill>
                  <a:schemeClr val="dk2"/>
                </a:solidFill>
              </a:defRPr>
            </a:lvl5pPr>
            <a:lvl6pPr lvl="5" algn="r">
              <a:buNone/>
              <a:defRPr sz="3600">
                <a:solidFill>
                  <a:schemeClr val="dk2"/>
                </a:solidFill>
              </a:defRPr>
            </a:lvl6pPr>
            <a:lvl7pPr lvl="6" algn="r">
              <a:buNone/>
              <a:defRPr sz="3600">
                <a:solidFill>
                  <a:schemeClr val="dk2"/>
                </a:solidFill>
              </a:defRPr>
            </a:lvl7pPr>
            <a:lvl8pPr lvl="7" algn="r">
              <a:buNone/>
              <a:defRPr sz="3600">
                <a:solidFill>
                  <a:schemeClr val="dk2"/>
                </a:solidFill>
              </a:defRPr>
            </a:lvl8pPr>
            <a:lvl9pPr lvl="8" algn="r">
              <a:buNone/>
              <a:defRPr sz="36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1482A5"/>
            </a:gs>
          </a:gsLst>
          <a:lin ang="5400012" scaled="0"/>
        </a:gradFill>
        <a:effectLst/>
      </p:bgPr>
    </p:bg>
    <p:spTree>
      <p:nvGrpSpPr>
        <p:cNvPr id="1" name="Shape 54"/>
        <p:cNvGrpSpPr/>
        <p:nvPr/>
      </p:nvGrpSpPr>
      <p:grpSpPr>
        <a:xfrm>
          <a:off x="0" y="0"/>
          <a:ext cx="0" cy="0"/>
          <a:chOff x="0" y="0"/>
          <a:chExt cx="0" cy="0"/>
        </a:xfrm>
      </p:grpSpPr>
      <p:sp>
        <p:nvSpPr>
          <p:cNvPr id="56" name="Google Shape;56;p13"/>
          <p:cNvSpPr txBox="1"/>
          <p:nvPr/>
        </p:nvSpPr>
        <p:spPr>
          <a:xfrm>
            <a:off x="5778450" y="863038"/>
            <a:ext cx="21037320" cy="1545480"/>
          </a:xfrm>
          <a:prstGeom prst="rect">
            <a:avLst/>
          </a:prstGeom>
          <a:noFill/>
          <a:ln>
            <a:noFill/>
          </a:ln>
        </p:spPr>
        <p:txBody>
          <a:bodyPr spcFirstLastPara="1" wrap="square" lIns="80910" tIns="40410" rIns="80910" bIns="40410" anchor="t" anchorCtr="0">
            <a:noAutofit/>
          </a:bodyPr>
          <a:lstStyle/>
          <a:p>
            <a:pPr algn="ctr">
              <a:lnSpc>
                <a:spcPct val="115000"/>
              </a:lnSpc>
              <a:buClr>
                <a:schemeClr val="dk1"/>
              </a:buClr>
              <a:buSzPts val="1100"/>
            </a:pPr>
            <a:r>
              <a:rPr lang="en" sz="4400" b="1" dirty="0">
                <a:solidFill>
                  <a:srgbClr val="424242"/>
                </a:solidFill>
                <a:highlight>
                  <a:srgbClr val="FFFFFF"/>
                </a:highlight>
              </a:rPr>
              <a:t>Right Adnexal Torsion with Appendicitis, Rare Non-Obstetric </a:t>
            </a:r>
          </a:p>
          <a:p>
            <a:pPr algn="ctr">
              <a:lnSpc>
                <a:spcPct val="115000"/>
              </a:lnSpc>
              <a:buClr>
                <a:schemeClr val="dk1"/>
              </a:buClr>
              <a:buSzPts val="1100"/>
            </a:pPr>
            <a:r>
              <a:rPr lang="en" sz="4400" b="1" dirty="0">
                <a:solidFill>
                  <a:srgbClr val="424242"/>
                </a:solidFill>
                <a:highlight>
                  <a:srgbClr val="FFFFFF"/>
                </a:highlight>
              </a:rPr>
              <a:t>Complications in Pregnancy</a:t>
            </a:r>
            <a:endParaRPr sz="600" b="1" dirty="0"/>
          </a:p>
        </p:txBody>
      </p:sp>
      <p:sp>
        <p:nvSpPr>
          <p:cNvPr id="57" name="Google Shape;57;p13"/>
          <p:cNvSpPr txBox="1"/>
          <p:nvPr/>
        </p:nvSpPr>
        <p:spPr>
          <a:xfrm>
            <a:off x="7172460" y="2863481"/>
            <a:ext cx="18669960" cy="1667172"/>
          </a:xfrm>
          <a:prstGeom prst="rect">
            <a:avLst/>
          </a:prstGeom>
          <a:noFill/>
          <a:ln>
            <a:noFill/>
          </a:ln>
        </p:spPr>
        <p:txBody>
          <a:bodyPr spcFirstLastPara="1" wrap="square" lIns="80910" tIns="40410" rIns="80910" bIns="40410" anchor="t" anchorCtr="0">
            <a:spAutoFit/>
          </a:bodyPr>
          <a:lstStyle/>
          <a:p>
            <a:pPr algn="ctr">
              <a:buClr>
                <a:srgbClr val="1482A5"/>
              </a:buClr>
              <a:buSzPts val="1000"/>
            </a:pPr>
            <a:r>
              <a:rPr lang="en" sz="3240" dirty="0" err="1">
                <a:solidFill>
                  <a:srgbClr val="1482A5"/>
                </a:solidFill>
                <a:latin typeface="Montserrat Light"/>
                <a:ea typeface="Montserrat Light"/>
                <a:cs typeface="Montserrat Light"/>
                <a:sym typeface="Montserrat Light"/>
              </a:rPr>
              <a:t>Gullerana</a:t>
            </a:r>
            <a:r>
              <a:rPr lang="en" sz="3240" dirty="0">
                <a:solidFill>
                  <a:srgbClr val="1482A5"/>
                </a:solidFill>
                <a:latin typeface="Montserrat Light"/>
                <a:ea typeface="Montserrat Light"/>
                <a:cs typeface="Montserrat Light"/>
                <a:sym typeface="Montserrat Light"/>
              </a:rPr>
              <a:t> Ahmad, MD*, </a:t>
            </a:r>
            <a:r>
              <a:rPr lang="en" sz="3240" dirty="0" err="1">
                <a:solidFill>
                  <a:srgbClr val="1482A5"/>
                </a:solidFill>
                <a:latin typeface="Montserrat Light"/>
                <a:ea typeface="Montserrat Light"/>
                <a:cs typeface="Montserrat Light"/>
                <a:sym typeface="Montserrat Light"/>
              </a:rPr>
              <a:t>Dildeep</a:t>
            </a:r>
            <a:r>
              <a:rPr lang="en" sz="3240" dirty="0">
                <a:solidFill>
                  <a:srgbClr val="1482A5"/>
                </a:solidFill>
                <a:latin typeface="Montserrat Light"/>
                <a:ea typeface="Montserrat Light"/>
                <a:cs typeface="Montserrat Light"/>
                <a:sym typeface="Montserrat Light"/>
              </a:rPr>
              <a:t> Dhaliwal, MD MSc*, Ruqayya Gill, DO MBS FACEP*</a:t>
            </a:r>
            <a:endParaRPr sz="3240" dirty="0">
              <a:solidFill>
                <a:srgbClr val="1482A5"/>
              </a:solidFill>
              <a:latin typeface="Montserrat Light"/>
              <a:ea typeface="Montserrat Light"/>
              <a:cs typeface="Montserrat Light"/>
              <a:sym typeface="Montserrat Light"/>
            </a:endParaRPr>
          </a:p>
          <a:p>
            <a:pPr algn="ctr">
              <a:buClr>
                <a:srgbClr val="1482A5"/>
              </a:buClr>
              <a:buSzPts val="1000"/>
            </a:pPr>
            <a:r>
              <a:rPr lang="en" sz="3240" dirty="0">
                <a:solidFill>
                  <a:srgbClr val="1482A5"/>
                </a:solidFill>
                <a:latin typeface="Montserrat Light"/>
                <a:ea typeface="Montserrat Light"/>
                <a:cs typeface="Montserrat Light"/>
                <a:sym typeface="Montserrat Light"/>
              </a:rPr>
              <a:t>Jesse Kellar, MD MBA FACEP*, Russell Martin, MD FACS, Gilbert Moran, MD FACOG</a:t>
            </a:r>
            <a:endParaRPr sz="1080" dirty="0"/>
          </a:p>
          <a:p>
            <a:pPr algn="ctr">
              <a:spcBef>
                <a:spcPts val="720"/>
              </a:spcBef>
              <a:buClr>
                <a:srgbClr val="1482A5"/>
              </a:buClr>
              <a:buSzPts val="1000"/>
            </a:pPr>
            <a:r>
              <a:rPr lang="en" sz="3240" dirty="0">
                <a:solidFill>
                  <a:srgbClr val="1482A5"/>
                </a:solidFill>
                <a:latin typeface="Montserrat Light"/>
                <a:ea typeface="Montserrat Light"/>
                <a:cs typeface="Montserrat Light"/>
                <a:sym typeface="Montserrat Light"/>
              </a:rPr>
              <a:t>Emergency Medicine*, General Surgery, OBGYN</a:t>
            </a:r>
            <a:endParaRPr sz="1080" dirty="0"/>
          </a:p>
        </p:txBody>
      </p:sp>
      <p:pic>
        <p:nvPicPr>
          <p:cNvPr id="73" name="Google Shape;73;p13"/>
          <p:cNvPicPr preferRelativeResize="0"/>
          <p:nvPr/>
        </p:nvPicPr>
        <p:blipFill rotWithShape="1">
          <a:blip r:embed="rId3">
            <a:alphaModFix/>
          </a:blip>
          <a:srcRect/>
          <a:stretch/>
        </p:blipFill>
        <p:spPr>
          <a:xfrm>
            <a:off x="2172112" y="969743"/>
            <a:ext cx="2804868" cy="2804868"/>
          </a:xfrm>
          <a:prstGeom prst="rect">
            <a:avLst/>
          </a:prstGeom>
          <a:noFill/>
          <a:ln>
            <a:noFill/>
          </a:ln>
        </p:spPr>
      </p:pic>
      <p:grpSp>
        <p:nvGrpSpPr>
          <p:cNvPr id="2" name="Group 1">
            <a:extLst>
              <a:ext uri="{FF2B5EF4-FFF2-40B4-BE49-F238E27FC236}">
                <a16:creationId xmlns:a16="http://schemas.microsoft.com/office/drawing/2014/main" id="{079F8475-ACFA-B316-51E4-5CB9E5BCB082}"/>
              </a:ext>
            </a:extLst>
          </p:cNvPr>
          <p:cNvGrpSpPr/>
          <p:nvPr/>
        </p:nvGrpSpPr>
        <p:grpSpPr>
          <a:xfrm>
            <a:off x="315720" y="5063649"/>
            <a:ext cx="32152680" cy="16378179"/>
            <a:chOff x="533430" y="5150733"/>
            <a:chExt cx="32152680" cy="16378179"/>
          </a:xfrm>
        </p:grpSpPr>
        <p:sp>
          <p:nvSpPr>
            <p:cNvPr id="55" name="Google Shape;55;p13"/>
            <p:cNvSpPr/>
            <p:nvPr/>
          </p:nvSpPr>
          <p:spPr>
            <a:xfrm>
              <a:off x="533430" y="8401050"/>
              <a:ext cx="7671240" cy="13127862"/>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Calibri"/>
                <a:ea typeface="Calibri"/>
                <a:cs typeface="Calibri"/>
                <a:sym typeface="Calibri"/>
              </a:endParaRPr>
            </a:p>
          </p:txBody>
        </p:sp>
        <p:sp>
          <p:nvSpPr>
            <p:cNvPr id="58" name="Google Shape;58;p13"/>
            <p:cNvSpPr/>
            <p:nvPr/>
          </p:nvSpPr>
          <p:spPr>
            <a:xfrm>
              <a:off x="533430" y="5150734"/>
              <a:ext cx="7671240" cy="3115676"/>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Calibri"/>
                <a:ea typeface="Calibri"/>
                <a:cs typeface="Calibri"/>
                <a:sym typeface="Calibri"/>
              </a:endParaRPr>
            </a:p>
          </p:txBody>
        </p:sp>
        <p:sp>
          <p:nvSpPr>
            <p:cNvPr id="59" name="Google Shape;59;p13"/>
            <p:cNvSpPr/>
            <p:nvPr/>
          </p:nvSpPr>
          <p:spPr>
            <a:xfrm>
              <a:off x="16507440" y="5150733"/>
              <a:ext cx="8049240" cy="16378178"/>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Calibri"/>
                <a:ea typeface="Calibri"/>
                <a:cs typeface="Calibri"/>
                <a:sym typeface="Calibri"/>
              </a:endParaRPr>
            </a:p>
          </p:txBody>
        </p:sp>
        <p:sp>
          <p:nvSpPr>
            <p:cNvPr id="60" name="Google Shape;60;p13"/>
            <p:cNvSpPr/>
            <p:nvPr/>
          </p:nvSpPr>
          <p:spPr>
            <a:xfrm>
              <a:off x="24708150" y="5150733"/>
              <a:ext cx="7963920" cy="10034759"/>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Calibri"/>
                <a:ea typeface="Calibri"/>
                <a:cs typeface="Calibri"/>
                <a:sym typeface="Calibri"/>
              </a:endParaRPr>
            </a:p>
          </p:txBody>
        </p:sp>
        <p:sp>
          <p:nvSpPr>
            <p:cNvPr id="61" name="Google Shape;61;p13"/>
            <p:cNvSpPr/>
            <p:nvPr/>
          </p:nvSpPr>
          <p:spPr>
            <a:xfrm>
              <a:off x="8306730" y="5150734"/>
              <a:ext cx="8049240" cy="16378178"/>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Calibri"/>
                <a:ea typeface="Calibri"/>
                <a:cs typeface="Calibri"/>
                <a:sym typeface="Calibri"/>
              </a:endParaRPr>
            </a:p>
          </p:txBody>
        </p:sp>
        <p:sp>
          <p:nvSpPr>
            <p:cNvPr id="62" name="Google Shape;62;p13"/>
            <p:cNvSpPr/>
            <p:nvPr/>
          </p:nvSpPr>
          <p:spPr>
            <a:xfrm>
              <a:off x="24708150" y="15413680"/>
              <a:ext cx="7977960" cy="3385965"/>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Calibri"/>
                <a:ea typeface="Calibri"/>
                <a:cs typeface="Calibri"/>
                <a:sym typeface="Calibri"/>
              </a:endParaRPr>
            </a:p>
          </p:txBody>
        </p:sp>
        <p:sp>
          <p:nvSpPr>
            <p:cNvPr id="63" name="Google Shape;63;p13"/>
            <p:cNvSpPr txBox="1"/>
            <p:nvPr/>
          </p:nvSpPr>
          <p:spPr>
            <a:xfrm>
              <a:off x="24861510" y="5526992"/>
              <a:ext cx="7671240" cy="8951391"/>
            </a:xfrm>
            <a:prstGeom prst="rect">
              <a:avLst/>
            </a:prstGeom>
            <a:noFill/>
            <a:ln>
              <a:noFill/>
            </a:ln>
          </p:spPr>
          <p:txBody>
            <a:bodyPr spcFirstLastPara="1" wrap="square" lIns="86670" tIns="43290" rIns="86670" bIns="43290" anchor="t" anchorCtr="0">
              <a:spAutoFit/>
            </a:bodyPr>
            <a:lstStyle/>
            <a:p>
              <a:pPr>
                <a:buClr>
                  <a:schemeClr val="dk1"/>
                </a:buClr>
              </a:pPr>
              <a:r>
                <a:rPr lang="en" sz="1800" dirty="0">
                  <a:solidFill>
                    <a:srgbClr val="073763"/>
                  </a:solidFill>
                  <a:latin typeface="Montserrat Light"/>
                  <a:ea typeface="Montserrat Light"/>
                  <a:cs typeface="Montserrat Light"/>
                  <a:sym typeface="Montserrat Light"/>
                </a:rPr>
                <a:t>Ultrasound is often the first imaging modality used in pregnancy, given its easy accessibility, no radiation risk, and low cost. The sensitivity for ovarian torsion in pregnancy is reported as 62.5% and 44.9% for appendicitis respectively [7,8]. MRI, should be utilized earlier on since it has a sensitivity of 100% in adnexal torsion (AT) and 96% in appendicitis in pregnant women [9,10]. </a:t>
              </a:r>
              <a:endParaRPr sz="1800" dirty="0">
                <a:solidFill>
                  <a:srgbClr val="073763"/>
                </a:solidFill>
                <a:latin typeface="Montserrat Light"/>
                <a:ea typeface="Montserrat Light"/>
                <a:cs typeface="Montserrat Light"/>
                <a:sym typeface="Montserrat Light"/>
              </a:endParaRPr>
            </a:p>
            <a:p>
              <a:pPr>
                <a:buClr>
                  <a:schemeClr val="dk1"/>
                </a:buClr>
              </a:pPr>
              <a:endParaRPr sz="1800" dirty="0">
                <a:solidFill>
                  <a:srgbClr val="073763"/>
                </a:solidFill>
                <a:latin typeface="Montserrat Light"/>
                <a:ea typeface="Montserrat Light"/>
                <a:cs typeface="Montserrat Light"/>
                <a:sym typeface="Montserrat Light"/>
              </a:endParaRPr>
            </a:p>
            <a:p>
              <a:pPr>
                <a:buClr>
                  <a:schemeClr val="dk1"/>
                </a:buClr>
              </a:pPr>
              <a:r>
                <a:rPr lang="en" sz="1800" dirty="0">
                  <a:solidFill>
                    <a:srgbClr val="073763"/>
                  </a:solidFill>
                  <a:latin typeface="Montserrat Light"/>
                  <a:ea typeface="Montserrat Light"/>
                  <a:cs typeface="Montserrat Light"/>
                  <a:sym typeface="Montserrat Light"/>
                </a:rPr>
                <a:t>The diagnosis for this patient took approximately 32 hours since additional imaging was required and ultimately was definitely made intraoperatively. This delay in diagnosis can be attributed to several factors, such as nonspecific imaging/physical exam. Additionally the patient was afebrile and had multiple visits for pelvic pain on record. Her labs were largely non-contributory. Adnexal torsion on imaging has features of unilateral ovarian enlargement, ovarian edema, hemorrhage, infarction, pelvic free fluid, and mass [11]. These findings are similar to what was seen in our patients' imaging, such as trace-free fluid and tubular dilation with fluid/gas-filled structure in the right hemipelvis. </a:t>
              </a:r>
              <a:endParaRPr sz="1800" dirty="0">
                <a:solidFill>
                  <a:srgbClr val="073763"/>
                </a:solidFill>
                <a:latin typeface="Montserrat Light"/>
                <a:ea typeface="Montserrat Light"/>
                <a:cs typeface="Montserrat Light"/>
                <a:sym typeface="Montserrat Light"/>
              </a:endParaRPr>
            </a:p>
            <a:p>
              <a:endParaRPr sz="1800" dirty="0">
                <a:solidFill>
                  <a:srgbClr val="073763"/>
                </a:solidFill>
                <a:latin typeface="Montserrat Light"/>
                <a:ea typeface="Montserrat Light"/>
                <a:cs typeface="Montserrat Light"/>
                <a:sym typeface="Montserrat Light"/>
              </a:endParaRPr>
            </a:p>
            <a:p>
              <a:r>
                <a:rPr lang="en" sz="1800" dirty="0">
                  <a:solidFill>
                    <a:srgbClr val="073763"/>
                  </a:solidFill>
                  <a:latin typeface="Montserrat Light"/>
                  <a:ea typeface="Montserrat Light"/>
                  <a:cs typeface="Montserrat Light"/>
                  <a:sym typeface="Montserrat Light"/>
                </a:rPr>
                <a:t>Her pathology report was notable for a </a:t>
              </a:r>
              <a:r>
                <a:rPr lang="en" sz="1800" dirty="0" err="1">
                  <a:solidFill>
                    <a:srgbClr val="073763"/>
                  </a:solidFill>
                  <a:latin typeface="Montserrat Light"/>
                  <a:ea typeface="Montserrat Light"/>
                  <a:cs typeface="Montserrat Light"/>
                  <a:sym typeface="Montserrat Light"/>
                </a:rPr>
                <a:t>paratubal</a:t>
              </a:r>
              <a:r>
                <a:rPr lang="en" sz="1800" dirty="0">
                  <a:solidFill>
                    <a:srgbClr val="073763"/>
                  </a:solidFill>
                  <a:latin typeface="Montserrat Light"/>
                  <a:ea typeface="Montserrat Light"/>
                  <a:cs typeface="Montserrat Light"/>
                  <a:sym typeface="Montserrat Light"/>
                </a:rPr>
                <a:t> cyst and appendicitis, even though she underwent a right-sided </a:t>
              </a:r>
              <a:r>
                <a:rPr lang="en" sz="1800" dirty="0" err="1">
                  <a:solidFill>
                    <a:srgbClr val="073763"/>
                  </a:solidFill>
                  <a:latin typeface="Montserrat Light"/>
                  <a:ea typeface="Montserrat Light"/>
                  <a:cs typeface="Montserrat Light"/>
                  <a:sym typeface="Montserrat Light"/>
                </a:rPr>
                <a:t>salpingo</a:t>
              </a:r>
              <a:r>
                <a:rPr lang="en" sz="1800" dirty="0">
                  <a:solidFill>
                    <a:srgbClr val="073763"/>
                  </a:solidFill>
                  <a:latin typeface="Montserrat Light"/>
                  <a:ea typeface="Montserrat Light"/>
                  <a:cs typeface="Montserrat Light"/>
                  <a:sym typeface="Montserrat Light"/>
                </a:rPr>
                <a:t>-oophorectomy in 2022. It is plausible that the cyst formation was due to paramesonephric remnants, as ~76% of </a:t>
              </a:r>
              <a:r>
                <a:rPr lang="en" sz="1800" dirty="0" err="1">
                  <a:solidFill>
                    <a:srgbClr val="073763"/>
                  </a:solidFill>
                  <a:latin typeface="Montserrat Light"/>
                  <a:ea typeface="Montserrat Light"/>
                  <a:cs typeface="Montserrat Light"/>
                  <a:sym typeface="Montserrat Light"/>
                </a:rPr>
                <a:t>paratubal</a:t>
              </a:r>
              <a:r>
                <a:rPr lang="en" sz="1800" dirty="0">
                  <a:solidFill>
                    <a:srgbClr val="073763"/>
                  </a:solidFill>
                  <a:latin typeface="Montserrat Light"/>
                  <a:ea typeface="Montserrat Light"/>
                  <a:cs typeface="Montserrat Light"/>
                  <a:sym typeface="Montserrat Light"/>
                </a:rPr>
                <a:t> cysts are, or the cyst formation could be due to ovarian remnant syndrome (ORS). ORS is a condition where remnants remain from improper tissue extraction from the previous surgery. Endometriosis can be a risk factor for ORS [12,13]. Regardless, she successfully underwent a laparoscopic appendectomy and removal of the </a:t>
              </a:r>
              <a:r>
                <a:rPr lang="en" sz="1800" dirty="0" err="1">
                  <a:solidFill>
                    <a:srgbClr val="073763"/>
                  </a:solidFill>
                  <a:latin typeface="Montserrat Light"/>
                  <a:ea typeface="Montserrat Light"/>
                  <a:cs typeface="Montserrat Light"/>
                  <a:sym typeface="Montserrat Light"/>
                </a:rPr>
                <a:t>paratubal</a:t>
              </a:r>
              <a:r>
                <a:rPr lang="en" sz="1800" dirty="0">
                  <a:solidFill>
                    <a:srgbClr val="073763"/>
                  </a:solidFill>
                  <a:latin typeface="Montserrat Light"/>
                  <a:ea typeface="Montserrat Light"/>
                  <a:cs typeface="Montserrat Light"/>
                  <a:sym typeface="Montserrat Light"/>
                </a:rPr>
                <a:t> cyst. Laparoscopic surgery is noted to have better surgical outcomes, shorter length of hospital stays, and postoperative complications [14]. Following her surgery, she continued to do well and safely delivered her son full term at 39WGA as planned. </a:t>
              </a:r>
              <a:endParaRPr sz="1800" dirty="0">
                <a:solidFill>
                  <a:srgbClr val="073763"/>
                </a:solidFill>
                <a:latin typeface="Montserrat Light"/>
                <a:ea typeface="Montserrat Light"/>
                <a:cs typeface="Montserrat Light"/>
                <a:sym typeface="Montserrat Light"/>
              </a:endParaRPr>
            </a:p>
          </p:txBody>
        </p:sp>
        <p:sp>
          <p:nvSpPr>
            <p:cNvPr id="64" name="Google Shape;64;p13"/>
            <p:cNvSpPr txBox="1"/>
            <p:nvPr/>
          </p:nvSpPr>
          <p:spPr>
            <a:xfrm>
              <a:off x="16593210" y="5543197"/>
              <a:ext cx="7671240" cy="641423"/>
            </a:xfrm>
            <a:prstGeom prst="rect">
              <a:avLst/>
            </a:prstGeom>
            <a:noFill/>
            <a:ln>
              <a:noFill/>
            </a:ln>
          </p:spPr>
          <p:txBody>
            <a:bodyPr spcFirstLastPara="1" wrap="square" lIns="86670" tIns="43290" rIns="86670" bIns="43290" anchor="t" anchorCtr="0">
              <a:spAutoFit/>
            </a:bodyPr>
            <a:lstStyle/>
            <a:p>
              <a:pPr algn="ctr"/>
              <a:r>
                <a:rPr lang="en" sz="3600" dirty="0">
                  <a:solidFill>
                    <a:srgbClr val="235078"/>
                  </a:solidFill>
                  <a:latin typeface="Libre Baskerville"/>
                  <a:ea typeface="Libre Baskerville"/>
                  <a:cs typeface="Libre Baskerville"/>
                  <a:sym typeface="Libre Baskerville"/>
                </a:rPr>
                <a:t>Discussion</a:t>
              </a:r>
              <a:endParaRPr sz="3600" dirty="0"/>
            </a:p>
          </p:txBody>
        </p:sp>
        <p:sp>
          <p:nvSpPr>
            <p:cNvPr id="65" name="Google Shape;65;p13"/>
            <p:cNvSpPr txBox="1"/>
            <p:nvPr/>
          </p:nvSpPr>
          <p:spPr>
            <a:xfrm>
              <a:off x="24826156" y="16403704"/>
              <a:ext cx="7807320" cy="2303417"/>
            </a:xfrm>
            <a:prstGeom prst="rect">
              <a:avLst/>
            </a:prstGeom>
            <a:noFill/>
            <a:ln>
              <a:noFill/>
            </a:ln>
          </p:spPr>
          <p:txBody>
            <a:bodyPr spcFirstLastPara="1" wrap="square" lIns="86670" tIns="43290" rIns="86670" bIns="43290" anchor="t" anchorCtr="0">
              <a:spAutoFit/>
            </a:bodyPr>
            <a:lstStyle/>
            <a:p>
              <a:r>
                <a:rPr lang="en" sz="1800" dirty="0">
                  <a:solidFill>
                    <a:srgbClr val="073763"/>
                  </a:solidFill>
                  <a:latin typeface="Montserrat Light"/>
                  <a:ea typeface="Montserrat Light"/>
                  <a:cs typeface="Montserrat Light"/>
                  <a:sym typeface="Montserrat Light"/>
                </a:rPr>
                <a:t>This case emphasizes the need for heightened clinical vigilance when evaluating pregnant patients with persistent abdominal pain, particularly in those with complex gynecologic histories. Concurrent intra-abdominal pathologies, though rare, should remain on the differential when symptoms are unexplained by a single diagnosis. Early surgical intervention may be warranted despite inconclusive imaging to prevent maternal and fetal morbidity.</a:t>
              </a:r>
              <a:endParaRPr sz="1800" dirty="0">
                <a:solidFill>
                  <a:srgbClr val="073763"/>
                </a:solidFill>
                <a:latin typeface="Montserrat Light"/>
                <a:ea typeface="Montserrat Light"/>
                <a:cs typeface="Montserrat Light"/>
                <a:sym typeface="Montserrat Light"/>
              </a:endParaRPr>
            </a:p>
          </p:txBody>
        </p:sp>
        <p:sp>
          <p:nvSpPr>
            <p:cNvPr id="66" name="Google Shape;66;p13"/>
            <p:cNvSpPr txBox="1"/>
            <p:nvPr/>
          </p:nvSpPr>
          <p:spPr>
            <a:xfrm>
              <a:off x="25022970" y="15648187"/>
              <a:ext cx="7191720" cy="641423"/>
            </a:xfrm>
            <a:prstGeom prst="rect">
              <a:avLst/>
            </a:prstGeom>
            <a:noFill/>
            <a:ln>
              <a:noFill/>
            </a:ln>
          </p:spPr>
          <p:txBody>
            <a:bodyPr spcFirstLastPara="1" wrap="square" lIns="86670" tIns="43290" rIns="86670" bIns="43290" anchor="t" anchorCtr="0">
              <a:spAutoFit/>
            </a:bodyPr>
            <a:lstStyle/>
            <a:p>
              <a:pPr algn="ctr"/>
              <a:r>
                <a:rPr lang="en" sz="3600" dirty="0">
                  <a:solidFill>
                    <a:srgbClr val="235078"/>
                  </a:solidFill>
                  <a:latin typeface="Libre Baskerville"/>
                  <a:ea typeface="Libre Baskerville"/>
                  <a:cs typeface="Libre Baskerville"/>
                  <a:sym typeface="Libre Baskerville"/>
                </a:rPr>
                <a:t>Conclusion</a:t>
              </a:r>
              <a:endParaRPr sz="3600" dirty="0"/>
            </a:p>
          </p:txBody>
        </p:sp>
        <p:sp>
          <p:nvSpPr>
            <p:cNvPr id="67" name="Google Shape;67;p13"/>
            <p:cNvSpPr txBox="1"/>
            <p:nvPr/>
          </p:nvSpPr>
          <p:spPr>
            <a:xfrm>
              <a:off x="731034" y="6095108"/>
              <a:ext cx="7379640" cy="2026418"/>
            </a:xfrm>
            <a:prstGeom prst="rect">
              <a:avLst/>
            </a:prstGeom>
            <a:noFill/>
            <a:ln>
              <a:noFill/>
            </a:ln>
          </p:spPr>
          <p:txBody>
            <a:bodyPr spcFirstLastPara="1" wrap="square" lIns="86670" tIns="43290" rIns="86670" bIns="43290" anchor="t" anchorCtr="0">
              <a:spAutoFit/>
            </a:bodyPr>
            <a:lstStyle/>
            <a:p>
              <a:r>
                <a:rPr lang="en" sz="1800" dirty="0">
                  <a:solidFill>
                    <a:srgbClr val="073763"/>
                  </a:solidFill>
                  <a:latin typeface="Montserrat Light"/>
                  <a:ea typeface="Montserrat Light"/>
                  <a:cs typeface="Montserrat Light"/>
                  <a:sym typeface="Montserrat Light"/>
                </a:rPr>
                <a:t>This case report describes a rare instance of concurrent right adnexal torsion and acute appendicitis in a 29-week pregnant patient with a history of endometriosis and multiple ectopic pregnancies. The case underscores the diagnostic challenges of acute abdominal pain in pregnancy and emphasizes the importance of maintaining a high index of suspicion for multiple pathologies, particularly when imaging is inconclusive.</a:t>
              </a:r>
              <a:endParaRPr sz="1800" dirty="0">
                <a:solidFill>
                  <a:srgbClr val="073763"/>
                </a:solidFill>
                <a:latin typeface="Montserrat Light"/>
                <a:ea typeface="Montserrat Light"/>
                <a:cs typeface="Montserrat Light"/>
                <a:sym typeface="Montserrat Light"/>
              </a:endParaRPr>
            </a:p>
          </p:txBody>
        </p:sp>
        <p:sp>
          <p:nvSpPr>
            <p:cNvPr id="68" name="Google Shape;68;p13"/>
            <p:cNvSpPr txBox="1"/>
            <p:nvPr/>
          </p:nvSpPr>
          <p:spPr>
            <a:xfrm>
              <a:off x="689850" y="5331247"/>
              <a:ext cx="7191720" cy="641423"/>
            </a:xfrm>
            <a:prstGeom prst="rect">
              <a:avLst/>
            </a:prstGeom>
            <a:noFill/>
            <a:ln>
              <a:noFill/>
            </a:ln>
          </p:spPr>
          <p:txBody>
            <a:bodyPr spcFirstLastPara="1" wrap="square" lIns="86670" tIns="43290" rIns="86670" bIns="43290" anchor="t" anchorCtr="0">
              <a:spAutoFit/>
            </a:bodyPr>
            <a:lstStyle/>
            <a:p>
              <a:pPr algn="ctr"/>
              <a:r>
                <a:rPr lang="en" sz="3600">
                  <a:solidFill>
                    <a:srgbClr val="235078"/>
                  </a:solidFill>
                  <a:latin typeface="Libre Baskerville"/>
                  <a:ea typeface="Libre Baskerville"/>
                  <a:cs typeface="Libre Baskerville"/>
                  <a:sym typeface="Libre Baskerville"/>
                </a:rPr>
                <a:t>Introduction</a:t>
              </a:r>
              <a:endParaRPr sz="3600"/>
            </a:p>
          </p:txBody>
        </p:sp>
        <p:sp>
          <p:nvSpPr>
            <p:cNvPr id="69" name="Google Shape;69;p13"/>
            <p:cNvSpPr txBox="1"/>
            <p:nvPr/>
          </p:nvSpPr>
          <p:spPr>
            <a:xfrm>
              <a:off x="658980" y="9093780"/>
              <a:ext cx="7496280" cy="8120394"/>
            </a:xfrm>
            <a:prstGeom prst="rect">
              <a:avLst/>
            </a:prstGeom>
            <a:noFill/>
            <a:ln>
              <a:noFill/>
            </a:ln>
          </p:spPr>
          <p:txBody>
            <a:bodyPr spcFirstLastPara="1" wrap="square" lIns="86670" tIns="43290" rIns="86670" bIns="43290" anchor="t" anchorCtr="0">
              <a:spAutoFit/>
            </a:bodyPr>
            <a:lstStyle/>
            <a:p>
              <a:r>
                <a:rPr lang="en" sz="1800" dirty="0">
                  <a:solidFill>
                    <a:srgbClr val="073763"/>
                  </a:solidFill>
                  <a:latin typeface="Montserrat Light"/>
                  <a:ea typeface="Montserrat Light"/>
                  <a:cs typeface="Montserrat Light"/>
                  <a:sym typeface="Montserrat Light"/>
                </a:rPr>
                <a:t>A 33-year-old G10P2 woman at 29+1 (WGA) presented with right lower quadrant pain that began </a:t>
              </a:r>
              <a:r>
                <a:rPr lang="en" sz="1800" dirty="0" err="1">
                  <a:solidFill>
                    <a:srgbClr val="073763"/>
                  </a:solidFill>
                  <a:latin typeface="Montserrat Light"/>
                  <a:ea typeface="Montserrat Light"/>
                  <a:cs typeface="Montserrat Light"/>
                  <a:sym typeface="Montserrat Light"/>
                </a:rPr>
                <a:t>periumbilically</a:t>
              </a:r>
              <a:r>
                <a:rPr lang="en" sz="1800" dirty="0">
                  <a:solidFill>
                    <a:srgbClr val="073763"/>
                  </a:solidFill>
                  <a:latin typeface="Montserrat Light"/>
                  <a:ea typeface="Montserrat Light"/>
                  <a:cs typeface="Montserrat Light"/>
                  <a:sym typeface="Montserrat Light"/>
                </a:rPr>
                <a:t> at 5:00 AM, migrated, and was associated with vomiting and worsening with standing. Her history included laparoscopically diagnosed endometriosis, prior four ectopic pregnancies, right </a:t>
              </a:r>
              <a:r>
                <a:rPr lang="en" sz="1800" dirty="0" err="1">
                  <a:solidFill>
                    <a:srgbClr val="073763"/>
                  </a:solidFill>
                  <a:latin typeface="Montserrat Light"/>
                  <a:ea typeface="Montserrat Light"/>
                  <a:cs typeface="Montserrat Light"/>
                  <a:sym typeface="Montserrat Light"/>
                </a:rPr>
                <a:t>salpingo</a:t>
              </a:r>
              <a:r>
                <a:rPr lang="en" sz="1800" dirty="0">
                  <a:solidFill>
                    <a:srgbClr val="073763"/>
                  </a:solidFill>
                  <a:latin typeface="Montserrat Light"/>
                  <a:ea typeface="Montserrat Light"/>
                  <a:cs typeface="Montserrat Light"/>
                  <a:sym typeface="Montserrat Light"/>
                </a:rPr>
                <a:t>-oophorectomy, medically treated chlamydial cervicitis and PID, HPV + PAP and subsequent LEEP procedure. She also had an intraoperatively observed and US diagnosed bicornuate uterus with the right side being significantly larger compared to the left. Her OB/GYN history was complicated (see table 1 for details). She was G10P2072 at the time of this visit. She had multiple emergency department visits for pelvic pain requiring multiple ultrasounds and CT scan unable to pinpoint her pelvic pain.</a:t>
              </a:r>
              <a:endParaRPr sz="1800" dirty="0">
                <a:solidFill>
                  <a:srgbClr val="073763"/>
                </a:solidFill>
                <a:latin typeface="Montserrat Light"/>
                <a:ea typeface="Montserrat Light"/>
                <a:cs typeface="Montserrat Light"/>
                <a:sym typeface="Montserrat Light"/>
              </a:endParaRPr>
            </a:p>
            <a:p>
              <a:br>
                <a:rPr lang="en" sz="1800" dirty="0">
                  <a:solidFill>
                    <a:srgbClr val="073763"/>
                  </a:solidFill>
                  <a:latin typeface="Montserrat Light"/>
                  <a:ea typeface="Montserrat Light"/>
                  <a:cs typeface="Montserrat Light"/>
                  <a:sym typeface="Montserrat Light"/>
                </a:rPr>
              </a:br>
              <a:r>
                <a:rPr lang="en" sz="1800" dirty="0">
                  <a:solidFill>
                    <a:srgbClr val="073763"/>
                  </a:solidFill>
                  <a:latin typeface="Montserrat Light"/>
                  <a:ea typeface="Montserrat Light"/>
                  <a:cs typeface="Montserrat Light"/>
                  <a:sym typeface="Montserrat Light"/>
                </a:rPr>
                <a:t>On exam, she had right lower quadrant tenderness without peritoneal signs. Labs were inconclusive however imaging showed a right ovarian cyst and a trace amount of free fluid in the right pelvis. There was also a gas filled tubular and dilated structure without clear communication to the cecum. General surgery was consulted due to persistent, worsening pain. The patient underwent surgical exploration which revealed right adnexal torsion with what appeared to be the ovary and acute appendicitis. Appendicitis was confirmed on pathology. The patient was admitted to OB for observation and concern for preterm labor. She had no acute events in the post-op period and was discharged 3 days later. She had her post-op check with general surgery without complications. Patient had a scheduled and uncomplicated repeat cesarean at 39 WGA two months after this diagnosis.</a:t>
              </a:r>
              <a:endParaRPr sz="1800" dirty="0">
                <a:solidFill>
                  <a:srgbClr val="1482A5"/>
                </a:solidFill>
                <a:latin typeface="Montserrat Light"/>
                <a:ea typeface="Montserrat Light"/>
                <a:cs typeface="Montserrat Light"/>
                <a:sym typeface="Montserrat Light"/>
              </a:endParaRPr>
            </a:p>
          </p:txBody>
        </p:sp>
        <p:sp>
          <p:nvSpPr>
            <p:cNvPr id="70" name="Google Shape;70;p13"/>
            <p:cNvSpPr txBox="1"/>
            <p:nvPr/>
          </p:nvSpPr>
          <p:spPr>
            <a:xfrm>
              <a:off x="689850" y="8401050"/>
              <a:ext cx="7379640" cy="641423"/>
            </a:xfrm>
            <a:prstGeom prst="rect">
              <a:avLst/>
            </a:prstGeom>
            <a:noFill/>
            <a:ln>
              <a:noFill/>
            </a:ln>
          </p:spPr>
          <p:txBody>
            <a:bodyPr spcFirstLastPara="1" wrap="square" lIns="86670" tIns="43290" rIns="86670" bIns="43290" anchor="t" anchorCtr="0">
              <a:spAutoFit/>
            </a:bodyPr>
            <a:lstStyle/>
            <a:p>
              <a:pPr algn="ctr"/>
              <a:r>
                <a:rPr lang="en" sz="3600">
                  <a:solidFill>
                    <a:srgbClr val="235078"/>
                  </a:solidFill>
                  <a:latin typeface="Libre Baskerville"/>
                  <a:ea typeface="Libre Baskerville"/>
                  <a:cs typeface="Libre Baskerville"/>
                  <a:sym typeface="Libre Baskerville"/>
                </a:rPr>
                <a:t>Case Presentation</a:t>
              </a:r>
              <a:endParaRPr sz="3600"/>
            </a:p>
          </p:txBody>
        </p:sp>
        <p:sp>
          <p:nvSpPr>
            <p:cNvPr id="71" name="Google Shape;71;p13"/>
            <p:cNvSpPr txBox="1"/>
            <p:nvPr/>
          </p:nvSpPr>
          <p:spPr>
            <a:xfrm>
              <a:off x="8356140" y="7033279"/>
              <a:ext cx="7963920" cy="9505388"/>
            </a:xfrm>
            <a:prstGeom prst="rect">
              <a:avLst/>
            </a:prstGeom>
            <a:noFill/>
            <a:ln>
              <a:noFill/>
            </a:ln>
          </p:spPr>
          <p:txBody>
            <a:bodyPr spcFirstLastPara="1" wrap="square" lIns="86670" tIns="43290" rIns="86670" bIns="43290" anchor="t" anchorCtr="0">
              <a:spAutoFit/>
            </a:bodyPr>
            <a:lstStyle/>
            <a:p>
              <a:r>
                <a:rPr lang="en" sz="1800" dirty="0">
                  <a:solidFill>
                    <a:srgbClr val="073763"/>
                  </a:solidFill>
                  <a:latin typeface="Montserrat Light"/>
                  <a:ea typeface="Montserrat Light"/>
                  <a:cs typeface="Montserrat Light"/>
                  <a:sym typeface="Montserrat Light"/>
                </a:rPr>
                <a:t>Patient's labs including CBC showed mild stable anemia compared to previous baseline Hemoglobin, CMP showed no acute abnormalities, PT and INR were normal. </a:t>
              </a:r>
              <a:endParaRPr sz="1800" dirty="0">
                <a:solidFill>
                  <a:srgbClr val="073763"/>
                </a:solidFill>
                <a:latin typeface="Montserrat Light"/>
                <a:ea typeface="Montserrat Light"/>
                <a:cs typeface="Montserrat Light"/>
                <a:sym typeface="Montserrat Light"/>
              </a:endParaRPr>
            </a:p>
            <a:p>
              <a:br>
                <a:rPr lang="en" sz="1800" dirty="0">
                  <a:solidFill>
                    <a:srgbClr val="073763"/>
                  </a:solidFill>
                  <a:latin typeface="Montserrat Light"/>
                  <a:ea typeface="Montserrat Light"/>
                  <a:cs typeface="Montserrat Light"/>
                  <a:sym typeface="Montserrat Light"/>
                </a:rPr>
              </a:br>
              <a:r>
                <a:rPr lang="en" sz="1800" dirty="0">
                  <a:solidFill>
                    <a:srgbClr val="073763"/>
                  </a:solidFill>
                  <a:latin typeface="Montserrat Light"/>
                  <a:ea typeface="Montserrat Light"/>
                  <a:cs typeface="Montserrat Light"/>
                  <a:sym typeface="Montserrat Light"/>
                </a:rPr>
                <a:t>Ultrasound of the abdomen revealed a normal-appearing uterus, a 3.2 cm right ovarian cyst with an otherwise normal right ovary, and a 1.9 cm left corpus luteal cyst with a normal left ovary. No free fluid was identified. The appendix was not visualized, and appendicitis could not be excluded. </a:t>
              </a:r>
              <a:endParaRPr sz="1800" dirty="0">
                <a:solidFill>
                  <a:srgbClr val="073763"/>
                </a:solidFill>
                <a:latin typeface="Montserrat Light"/>
                <a:ea typeface="Montserrat Light"/>
                <a:cs typeface="Montserrat Light"/>
                <a:sym typeface="Montserrat Light"/>
              </a:endParaRPr>
            </a:p>
            <a:p>
              <a:endParaRPr sz="1800" dirty="0">
                <a:solidFill>
                  <a:srgbClr val="073763"/>
                </a:solidFill>
                <a:latin typeface="Montserrat Light"/>
                <a:ea typeface="Montserrat Light"/>
                <a:cs typeface="Montserrat Light"/>
                <a:sym typeface="Montserrat Light"/>
              </a:endParaRPr>
            </a:p>
            <a:p>
              <a:r>
                <a:rPr lang="en" sz="1800" dirty="0">
                  <a:solidFill>
                    <a:srgbClr val="073763"/>
                  </a:solidFill>
                  <a:latin typeface="Montserrat Light"/>
                  <a:ea typeface="Montserrat Light"/>
                  <a:cs typeface="Montserrat Light"/>
                  <a:sym typeface="Montserrat Light"/>
                </a:rPr>
                <a:t>MRI of the abdomen without contrast was limited due to the patient's condition but showed no definite acute abdominal pathology. A small fluid focus was noted in the right lower quadrant, possibly representing focal fluid or a partially imaged bowel loop. The gravid uterus contained a fetus in breech position. </a:t>
              </a:r>
              <a:endParaRPr sz="1800" dirty="0">
                <a:solidFill>
                  <a:srgbClr val="073763"/>
                </a:solidFill>
                <a:latin typeface="Montserrat Light"/>
                <a:ea typeface="Montserrat Light"/>
                <a:cs typeface="Montserrat Light"/>
                <a:sym typeface="Montserrat Light"/>
              </a:endParaRPr>
            </a:p>
            <a:p>
              <a:endParaRPr sz="1800" dirty="0">
                <a:solidFill>
                  <a:srgbClr val="073763"/>
                </a:solidFill>
                <a:latin typeface="Montserrat Light"/>
                <a:ea typeface="Montserrat Light"/>
                <a:cs typeface="Montserrat Light"/>
                <a:sym typeface="Montserrat Light"/>
              </a:endParaRPr>
            </a:p>
            <a:p>
              <a:r>
                <a:rPr lang="en" sz="1800" dirty="0">
                  <a:solidFill>
                    <a:srgbClr val="073763"/>
                  </a:solidFill>
                  <a:latin typeface="Montserrat Light"/>
                  <a:ea typeface="Montserrat Light"/>
                  <a:cs typeface="Montserrat Light"/>
                  <a:sym typeface="Montserrat Light"/>
                </a:rPr>
                <a:t>MRI of the pelvis reported that the appendix was not definitively identified; however, a tubular, dilated, fluid- and gas-filled structure was seen in the right hemipelvis without clear communication with the cecum. Trace fluid was present in the right hemipelvis.</a:t>
              </a:r>
              <a:endParaRPr sz="1800" dirty="0">
                <a:solidFill>
                  <a:srgbClr val="073763"/>
                </a:solidFill>
                <a:latin typeface="Montserrat Light"/>
                <a:ea typeface="Montserrat Light"/>
                <a:cs typeface="Montserrat Light"/>
                <a:sym typeface="Montserrat Light"/>
              </a:endParaRPr>
            </a:p>
            <a:p>
              <a:endParaRPr sz="1800" dirty="0">
                <a:solidFill>
                  <a:srgbClr val="073763"/>
                </a:solidFill>
                <a:latin typeface="Montserrat Light"/>
                <a:ea typeface="Montserrat Light"/>
                <a:cs typeface="Montserrat Light"/>
                <a:sym typeface="Montserrat Light"/>
              </a:endParaRPr>
            </a:p>
            <a:p>
              <a:r>
                <a:rPr lang="en" sz="1800" dirty="0">
                  <a:solidFill>
                    <a:srgbClr val="073763"/>
                  </a:solidFill>
                  <a:latin typeface="Montserrat Light"/>
                  <a:ea typeface="Montserrat Light"/>
                  <a:cs typeface="Montserrat Light"/>
                  <a:sym typeface="Montserrat Light"/>
                </a:rPr>
                <a:t>The patient underwent surgical exploration, which revealed right adnexal torsion of what appeared to be the right ovary with ischemia and gangrene. There was no gross purulence in the pelvis and no perforation of the appendix, although the appendix appeared mildly dilated. The appendix was transected and removed. Pathology results confirmed acute appendicitis without malignancy. Examination of the right adnexal specimen revealed fallopian tube tissue with hemorrhage, a </a:t>
              </a:r>
              <a:r>
                <a:rPr lang="en" sz="1800" dirty="0" err="1">
                  <a:solidFill>
                    <a:srgbClr val="073763"/>
                  </a:solidFill>
                  <a:latin typeface="Montserrat Light"/>
                  <a:ea typeface="Montserrat Light"/>
                  <a:cs typeface="Montserrat Light"/>
                  <a:sym typeface="Montserrat Light"/>
                </a:rPr>
                <a:t>paratubal</a:t>
              </a:r>
              <a:r>
                <a:rPr lang="en" sz="1800" dirty="0">
                  <a:solidFill>
                    <a:srgbClr val="073763"/>
                  </a:solidFill>
                  <a:latin typeface="Montserrat Light"/>
                  <a:ea typeface="Montserrat Light"/>
                  <a:cs typeface="Montserrat Light"/>
                  <a:sym typeface="Montserrat Light"/>
                </a:rPr>
                <a:t> cyst, and reactive changes consistent with torsion. Grossly, the appendix measured 6.5 × 1 cm with a congested lumen and attached </a:t>
              </a:r>
              <a:r>
                <a:rPr lang="en" sz="1800" dirty="0" err="1">
                  <a:solidFill>
                    <a:srgbClr val="073763"/>
                  </a:solidFill>
                  <a:latin typeface="Montserrat Light"/>
                  <a:ea typeface="Montserrat Light"/>
                  <a:cs typeface="Montserrat Light"/>
                  <a:sym typeface="Montserrat Light"/>
                </a:rPr>
                <a:t>mesoappendiceal</a:t>
              </a:r>
              <a:r>
                <a:rPr lang="en" sz="1800" dirty="0">
                  <a:solidFill>
                    <a:srgbClr val="073763"/>
                  </a:solidFill>
                  <a:latin typeface="Montserrat Light"/>
                  <a:ea typeface="Montserrat Light"/>
                  <a:cs typeface="Montserrat Light"/>
                  <a:sym typeface="Montserrat Light"/>
                </a:rPr>
                <a:t> fat, and the </a:t>
              </a:r>
              <a:r>
                <a:rPr lang="en" sz="1800" dirty="0" err="1">
                  <a:solidFill>
                    <a:srgbClr val="073763"/>
                  </a:solidFill>
                  <a:latin typeface="Montserrat Light"/>
                  <a:ea typeface="Montserrat Light"/>
                  <a:cs typeface="Montserrat Light"/>
                  <a:sym typeface="Montserrat Light"/>
                </a:rPr>
                <a:t>torsed</a:t>
              </a:r>
              <a:r>
                <a:rPr lang="en" sz="1800" dirty="0">
                  <a:solidFill>
                    <a:srgbClr val="073763"/>
                  </a:solidFill>
                  <a:latin typeface="Montserrat Light"/>
                  <a:ea typeface="Montserrat Light"/>
                  <a:cs typeface="Montserrat Light"/>
                  <a:sym typeface="Montserrat Light"/>
                </a:rPr>
                <a:t> adnexal structure measured 5 × 3 cm with a purple-tan, smooth surface. The patient had right adnexal torsion secondary to development of a </a:t>
              </a:r>
              <a:r>
                <a:rPr lang="en" sz="1800" dirty="0" err="1">
                  <a:solidFill>
                    <a:srgbClr val="073763"/>
                  </a:solidFill>
                  <a:latin typeface="Montserrat Light"/>
                  <a:ea typeface="Montserrat Light"/>
                  <a:cs typeface="Montserrat Light"/>
                  <a:sym typeface="Montserrat Light"/>
                </a:rPr>
                <a:t>paratubal</a:t>
              </a:r>
              <a:r>
                <a:rPr lang="en" sz="1800" dirty="0">
                  <a:solidFill>
                    <a:srgbClr val="073763"/>
                  </a:solidFill>
                  <a:latin typeface="Montserrat Light"/>
                  <a:ea typeface="Montserrat Light"/>
                  <a:cs typeface="Montserrat Light"/>
                  <a:sym typeface="Montserrat Light"/>
                </a:rPr>
                <a:t> cyst (see image 2 for pathology report).</a:t>
              </a:r>
              <a:endParaRPr sz="1600" dirty="0">
                <a:solidFill>
                  <a:srgbClr val="1482A5"/>
                </a:solidFill>
                <a:latin typeface="Montserrat Light"/>
                <a:ea typeface="Montserrat Light"/>
                <a:cs typeface="Montserrat Light"/>
                <a:sym typeface="Montserrat Light"/>
              </a:endParaRPr>
            </a:p>
          </p:txBody>
        </p:sp>
        <p:sp>
          <p:nvSpPr>
            <p:cNvPr id="72" name="Google Shape;72;p13"/>
            <p:cNvSpPr txBox="1"/>
            <p:nvPr/>
          </p:nvSpPr>
          <p:spPr>
            <a:xfrm>
              <a:off x="8356140" y="5543197"/>
              <a:ext cx="7496280" cy="1195421"/>
            </a:xfrm>
            <a:prstGeom prst="rect">
              <a:avLst/>
            </a:prstGeom>
            <a:noFill/>
            <a:ln>
              <a:noFill/>
            </a:ln>
          </p:spPr>
          <p:txBody>
            <a:bodyPr spcFirstLastPara="1" wrap="square" lIns="86670" tIns="43290" rIns="86670" bIns="43290" anchor="t" anchorCtr="0">
              <a:spAutoFit/>
            </a:bodyPr>
            <a:lstStyle/>
            <a:p>
              <a:pPr algn="ctr"/>
              <a:r>
                <a:rPr lang="en" sz="3600" dirty="0">
                  <a:solidFill>
                    <a:srgbClr val="235078"/>
                  </a:solidFill>
                  <a:latin typeface="Libre Baskerville"/>
                  <a:ea typeface="Libre Baskerville"/>
                  <a:cs typeface="Libre Baskerville"/>
                  <a:sym typeface="Libre Baskerville"/>
                </a:rPr>
                <a:t>Results, Imaging</a:t>
              </a:r>
              <a:endParaRPr sz="3600" dirty="0">
                <a:solidFill>
                  <a:srgbClr val="235078"/>
                </a:solidFill>
                <a:latin typeface="Libre Baskerville"/>
                <a:ea typeface="Libre Baskerville"/>
                <a:cs typeface="Libre Baskerville"/>
                <a:sym typeface="Libre Baskerville"/>
              </a:endParaRPr>
            </a:p>
            <a:p>
              <a:pPr algn="ctr"/>
              <a:r>
                <a:rPr lang="en" sz="3600" dirty="0">
                  <a:solidFill>
                    <a:srgbClr val="235078"/>
                  </a:solidFill>
                  <a:latin typeface="Libre Baskerville"/>
                  <a:ea typeface="Libre Baskerville"/>
                  <a:cs typeface="Libre Baskerville"/>
                  <a:sym typeface="Libre Baskerville"/>
                </a:rPr>
                <a:t>Surgical Pathology </a:t>
              </a:r>
              <a:endParaRPr sz="3600" dirty="0">
                <a:solidFill>
                  <a:srgbClr val="235078"/>
                </a:solidFill>
                <a:latin typeface="Libre Baskerville"/>
                <a:ea typeface="Libre Baskerville"/>
                <a:cs typeface="Libre Baskerville"/>
                <a:sym typeface="Libre Baskerville"/>
              </a:endParaRPr>
            </a:p>
          </p:txBody>
        </p:sp>
        <p:pic>
          <p:nvPicPr>
            <p:cNvPr id="74" name="Google Shape;74;p13" title="Screenshot 2025-04-20 at 5.38.15 PM.png"/>
            <p:cNvPicPr preferRelativeResize="0"/>
            <p:nvPr/>
          </p:nvPicPr>
          <p:blipFill>
            <a:blip r:embed="rId4">
              <a:alphaModFix/>
            </a:blip>
            <a:stretch>
              <a:fillRect/>
            </a:stretch>
          </p:blipFill>
          <p:spPr>
            <a:xfrm>
              <a:off x="770935" y="17265481"/>
              <a:ext cx="7379636" cy="4166218"/>
            </a:xfrm>
            <a:prstGeom prst="rect">
              <a:avLst/>
            </a:prstGeom>
            <a:solidFill>
              <a:schemeClr val="lt1"/>
            </a:solidFill>
            <a:ln>
              <a:noFill/>
            </a:ln>
          </p:spPr>
        </p:pic>
        <p:pic>
          <p:nvPicPr>
            <p:cNvPr id="75" name="Google Shape;75;p13" title="Screenshot 2025-04-20 at 5.40.41 PM.png"/>
            <p:cNvPicPr preferRelativeResize="0"/>
            <p:nvPr/>
          </p:nvPicPr>
          <p:blipFill>
            <a:blip r:embed="rId5">
              <a:alphaModFix/>
            </a:blip>
            <a:stretch>
              <a:fillRect/>
            </a:stretch>
          </p:blipFill>
          <p:spPr>
            <a:xfrm>
              <a:off x="16628400" y="15552178"/>
              <a:ext cx="7807320" cy="5826874"/>
            </a:xfrm>
            <a:prstGeom prst="rect">
              <a:avLst/>
            </a:prstGeom>
            <a:solidFill>
              <a:schemeClr val="lt1"/>
            </a:solidFill>
            <a:ln>
              <a:noFill/>
            </a:ln>
          </p:spPr>
        </p:pic>
        <p:pic>
          <p:nvPicPr>
            <p:cNvPr id="76" name="Google Shape;76;p13" title="Screenshot 2025-04-20 at 5.41.16 PM.png"/>
            <p:cNvPicPr preferRelativeResize="0"/>
            <p:nvPr/>
          </p:nvPicPr>
          <p:blipFill>
            <a:blip r:embed="rId6">
              <a:alphaModFix/>
            </a:blip>
            <a:stretch>
              <a:fillRect/>
            </a:stretch>
          </p:blipFill>
          <p:spPr>
            <a:xfrm>
              <a:off x="8415817" y="17298479"/>
              <a:ext cx="7807313" cy="3671288"/>
            </a:xfrm>
            <a:prstGeom prst="rect">
              <a:avLst/>
            </a:prstGeom>
            <a:noFill/>
            <a:ln>
              <a:noFill/>
            </a:ln>
          </p:spPr>
        </p:pic>
        <p:sp>
          <p:nvSpPr>
            <p:cNvPr id="77" name="Google Shape;77;p13"/>
            <p:cNvSpPr txBox="1"/>
            <p:nvPr/>
          </p:nvSpPr>
          <p:spPr>
            <a:xfrm>
              <a:off x="16553070" y="6420152"/>
              <a:ext cx="7963920" cy="8982168"/>
            </a:xfrm>
            <a:prstGeom prst="rect">
              <a:avLst/>
            </a:prstGeom>
            <a:noFill/>
            <a:ln>
              <a:noFill/>
            </a:ln>
          </p:spPr>
          <p:txBody>
            <a:bodyPr spcFirstLastPara="1" wrap="square" lIns="86670" tIns="43290" rIns="86670" bIns="43290" anchor="t" anchorCtr="0">
              <a:spAutoFit/>
            </a:bodyPr>
            <a:lstStyle/>
            <a:p>
              <a:r>
                <a:rPr lang="en" sz="1800" dirty="0" err="1">
                  <a:solidFill>
                    <a:srgbClr val="073763"/>
                  </a:solidFill>
                  <a:latin typeface="Montserrat Light"/>
                  <a:ea typeface="Montserrat Light"/>
                  <a:cs typeface="Montserrat Light"/>
                  <a:sym typeface="Montserrat Light"/>
                </a:rPr>
                <a:t>Paratubal</a:t>
              </a:r>
              <a:r>
                <a:rPr lang="en" sz="1800" dirty="0">
                  <a:solidFill>
                    <a:srgbClr val="073763"/>
                  </a:solidFill>
                  <a:latin typeface="Montserrat Light"/>
                  <a:ea typeface="Montserrat Light"/>
                  <a:cs typeface="Montserrat Light"/>
                  <a:sym typeface="Montserrat Light"/>
                </a:rPr>
                <a:t> cysts are fluid-filled sacs, remnants of the mesonephric Wolffian and paramesonephric Mullerian ducts. </a:t>
              </a:r>
              <a:r>
                <a:rPr lang="en" sz="1800" dirty="0" err="1">
                  <a:solidFill>
                    <a:srgbClr val="073763"/>
                  </a:solidFill>
                  <a:latin typeface="Montserrat Light"/>
                  <a:ea typeface="Montserrat Light"/>
                  <a:cs typeface="Montserrat Light"/>
                  <a:sym typeface="Montserrat Light"/>
                </a:rPr>
                <a:t>Paratubal</a:t>
              </a:r>
              <a:r>
                <a:rPr lang="en" sz="1800" dirty="0">
                  <a:solidFill>
                    <a:srgbClr val="073763"/>
                  </a:solidFill>
                  <a:latin typeface="Montserrat Light"/>
                  <a:ea typeface="Montserrat Light"/>
                  <a:cs typeface="Montserrat Light"/>
                  <a:sym typeface="Montserrat Light"/>
                </a:rPr>
                <a:t> torsions (PTT) occur when the cyst twists around its pedicle. Processes such as PTT and appendicitis occurring individually are rare in pregnancy. Appendicitis occurs in ~0.05-0.15% of pregnancies and the incidence of PTT is ~3-5 per 10,000 pregnancies [1,2,3]. However, both occurring concurrently in a patient with a history of </a:t>
              </a:r>
              <a:r>
                <a:rPr lang="en" sz="1800" dirty="0" err="1">
                  <a:solidFill>
                    <a:srgbClr val="073763"/>
                  </a:solidFill>
                  <a:latin typeface="Montserrat Light"/>
                  <a:ea typeface="Montserrat Light"/>
                  <a:cs typeface="Montserrat Light"/>
                  <a:sym typeface="Montserrat Light"/>
                </a:rPr>
                <a:t>salpingo</a:t>
              </a:r>
              <a:r>
                <a:rPr lang="en" sz="1800" dirty="0">
                  <a:solidFill>
                    <a:srgbClr val="073763"/>
                  </a:solidFill>
                  <a:latin typeface="Montserrat Light"/>
                  <a:ea typeface="Montserrat Light"/>
                  <a:cs typeface="Montserrat Light"/>
                  <a:sym typeface="Montserrat Light"/>
                </a:rPr>
                <a:t>-oophorectomy is </a:t>
              </a:r>
              <a:r>
                <a:rPr lang="en" sz="2000" dirty="0">
                  <a:solidFill>
                    <a:srgbClr val="073763"/>
                  </a:solidFill>
                  <a:latin typeface="Montserrat Light"/>
                  <a:ea typeface="Montserrat Light"/>
                  <a:cs typeface="Montserrat Light"/>
                  <a:sym typeface="Montserrat Light"/>
                </a:rPr>
                <a:t>exceedingly</a:t>
              </a:r>
              <a:r>
                <a:rPr lang="en" sz="1800" dirty="0">
                  <a:solidFill>
                    <a:srgbClr val="073763"/>
                  </a:solidFill>
                  <a:latin typeface="Montserrat Light"/>
                  <a:ea typeface="Montserrat Light"/>
                  <a:cs typeface="Montserrat Light"/>
                  <a:sym typeface="Montserrat Light"/>
                </a:rPr>
                <a:t> rare and this case presents the first instance in literature. </a:t>
              </a:r>
              <a:endParaRPr sz="1800" dirty="0">
                <a:solidFill>
                  <a:srgbClr val="073763"/>
                </a:solidFill>
                <a:latin typeface="Montserrat Light"/>
                <a:ea typeface="Montserrat Light"/>
                <a:cs typeface="Montserrat Light"/>
                <a:sym typeface="Montserrat Light"/>
              </a:endParaRPr>
            </a:p>
            <a:p>
              <a:endParaRPr sz="1800" dirty="0">
                <a:solidFill>
                  <a:srgbClr val="073763"/>
                </a:solidFill>
                <a:latin typeface="Montserrat Light"/>
                <a:ea typeface="Montserrat Light"/>
                <a:cs typeface="Montserrat Light"/>
                <a:sym typeface="Montserrat Light"/>
              </a:endParaRPr>
            </a:p>
            <a:p>
              <a:r>
                <a:rPr lang="en" sz="1800" dirty="0">
                  <a:solidFill>
                    <a:srgbClr val="073763"/>
                  </a:solidFill>
                  <a:latin typeface="Montserrat Light"/>
                  <a:ea typeface="Montserrat Light"/>
                  <a:cs typeface="Montserrat Light"/>
                  <a:sym typeface="Montserrat Light"/>
                </a:rPr>
                <a:t>A timely diagnosis is imperative since the patient is at risk of perforation from appendicitis, a lower chance of preserving the ovary, and ultimately leads to a higher risk of maternal and fetal mortality [4]. Thus, having a high clinical suspicion for multiple co-occurring underlying processes is of the utmost importance, though it can be clinically challenging. The clinical challenge is often difficult due to various reasons, such as physiological/anatomical changes, overlapping symptoms, and varying imaging diagnostic accuracy.</a:t>
              </a:r>
              <a:endParaRPr sz="1800" dirty="0">
                <a:solidFill>
                  <a:srgbClr val="073763"/>
                </a:solidFill>
                <a:latin typeface="Montserrat Light"/>
                <a:ea typeface="Montserrat Light"/>
                <a:cs typeface="Montserrat Light"/>
                <a:sym typeface="Montserrat Light"/>
              </a:endParaRPr>
            </a:p>
            <a:p>
              <a:endParaRPr sz="1800" dirty="0">
                <a:solidFill>
                  <a:srgbClr val="073763"/>
                </a:solidFill>
                <a:latin typeface="Montserrat Light"/>
                <a:ea typeface="Montserrat Light"/>
                <a:cs typeface="Montserrat Light"/>
                <a:sym typeface="Montserrat Light"/>
              </a:endParaRPr>
            </a:p>
            <a:p>
              <a:r>
                <a:rPr lang="en" sz="1800" dirty="0">
                  <a:solidFill>
                    <a:srgbClr val="073763"/>
                  </a:solidFill>
                  <a:latin typeface="Montserrat Light"/>
                  <a:ea typeface="Montserrat Light"/>
                  <a:cs typeface="Montserrat Light"/>
                  <a:sym typeface="Montserrat Light"/>
                </a:rPr>
                <a:t>Our patient was 29 weeks pregnant with a past medical history of endometriosis, bicornuate uterus, and a right </a:t>
              </a:r>
              <a:r>
                <a:rPr lang="en" sz="1800" dirty="0" err="1">
                  <a:solidFill>
                    <a:srgbClr val="073763"/>
                  </a:solidFill>
                  <a:latin typeface="Montserrat Light"/>
                  <a:ea typeface="Montserrat Light"/>
                  <a:cs typeface="Montserrat Light"/>
                  <a:sym typeface="Montserrat Light"/>
                </a:rPr>
                <a:t>salpingo</a:t>
              </a:r>
              <a:r>
                <a:rPr lang="en" sz="1800" dirty="0">
                  <a:solidFill>
                    <a:srgbClr val="073763"/>
                  </a:solidFill>
                  <a:latin typeface="Montserrat Light"/>
                  <a:ea typeface="Montserrat Light"/>
                  <a:cs typeface="Montserrat Light"/>
                  <a:sym typeface="Montserrat Light"/>
                </a:rPr>
                <a:t>-oophorectomy due to ectopic pregnancy.  She presented to the emergency department with right lower quadrant (RLQ) pain  along with nausea and vomiting since that morning. Misdiagnosis often occurs when the patient's nonspecific symptoms mimic other pathologies such as pregnancy-related symptoms, appendicitis, urinary tract infection, placental abruption, ovarian cyst rupture, pyelonephritis, or round ligament pain [5,6]. Furthermore, a gravid uterus can also alter normal abdominal anatomy, further contributing to a misleading diagnosis. Clinicians often diagnose PTT during surgical exploration, trying to rule out other pathologies, such as appendicitis similar to this patient's case [5].</a:t>
              </a:r>
              <a:endParaRPr sz="1800" dirty="0">
                <a:solidFill>
                  <a:srgbClr val="073763"/>
                </a:solidFill>
                <a:latin typeface="Montserrat Light"/>
                <a:ea typeface="Montserrat Light"/>
                <a:cs typeface="Montserrat Light"/>
                <a:sym typeface="Montserrat Light"/>
              </a:endParaRPr>
            </a:p>
          </p:txBody>
        </p:sp>
        <p:sp>
          <p:nvSpPr>
            <p:cNvPr id="78" name="Google Shape;78;p13"/>
            <p:cNvSpPr/>
            <p:nvPr/>
          </p:nvSpPr>
          <p:spPr>
            <a:xfrm>
              <a:off x="24720300" y="19027833"/>
              <a:ext cx="7965810" cy="2474280"/>
            </a:xfrm>
            <a:prstGeom prst="rect">
              <a:avLst/>
            </a:prstGeom>
            <a:solidFill>
              <a:schemeClr val="lt1"/>
            </a:solidFill>
            <a:ln>
              <a:noFill/>
            </a:ln>
          </p:spPr>
          <p:txBody>
            <a:bodyPr spcFirstLastPara="1" wrap="square" lIns="86670" tIns="43290" rIns="86670" bIns="43290" anchor="ctr" anchorCtr="0">
              <a:noAutofit/>
            </a:bodyPr>
            <a:lstStyle/>
            <a:p>
              <a:pPr algn="ctr"/>
              <a:endParaRPr sz="6120">
                <a:solidFill>
                  <a:schemeClr val="dk1"/>
                </a:solidFill>
                <a:latin typeface="Calibri"/>
                <a:ea typeface="Calibri"/>
                <a:cs typeface="Calibri"/>
                <a:sym typeface="Calibri"/>
              </a:endParaRPr>
            </a:p>
          </p:txBody>
        </p:sp>
        <p:sp>
          <p:nvSpPr>
            <p:cNvPr id="79" name="Google Shape;79;p13"/>
            <p:cNvSpPr txBox="1"/>
            <p:nvPr/>
          </p:nvSpPr>
          <p:spPr>
            <a:xfrm>
              <a:off x="25209000" y="19134123"/>
              <a:ext cx="7071840" cy="641423"/>
            </a:xfrm>
            <a:prstGeom prst="rect">
              <a:avLst/>
            </a:prstGeom>
            <a:noFill/>
            <a:ln>
              <a:noFill/>
            </a:ln>
          </p:spPr>
          <p:txBody>
            <a:bodyPr spcFirstLastPara="1" wrap="square" lIns="86670" tIns="43290" rIns="86670" bIns="43290" anchor="t" anchorCtr="0">
              <a:spAutoFit/>
            </a:bodyPr>
            <a:lstStyle/>
            <a:p>
              <a:pPr algn="ctr"/>
              <a:r>
                <a:rPr lang="en" sz="3600" dirty="0">
                  <a:solidFill>
                    <a:srgbClr val="235078"/>
                  </a:solidFill>
                  <a:latin typeface="Libre Baskerville"/>
                  <a:ea typeface="Libre Baskerville"/>
                  <a:cs typeface="Libre Baskerville"/>
                  <a:sym typeface="Libre Baskerville"/>
                </a:rPr>
                <a:t>References</a:t>
              </a:r>
              <a:endParaRPr sz="3600" dirty="0">
                <a:solidFill>
                  <a:srgbClr val="235078"/>
                </a:solidFill>
              </a:endParaRPr>
            </a:p>
          </p:txBody>
        </p:sp>
        <p:pic>
          <p:nvPicPr>
            <p:cNvPr id="80" name="Google Shape;80;p13" title="qrcode_197898974_d011bb091e2afa201fa855b7c1a8704c.png"/>
            <p:cNvPicPr preferRelativeResize="0"/>
            <p:nvPr/>
          </p:nvPicPr>
          <p:blipFill>
            <a:blip r:embed="rId7">
              <a:alphaModFix/>
            </a:blip>
            <a:stretch>
              <a:fillRect/>
            </a:stretch>
          </p:blipFill>
          <p:spPr>
            <a:xfrm>
              <a:off x="28025213" y="19775546"/>
              <a:ext cx="1409207" cy="1417700"/>
            </a:xfrm>
            <a:prstGeom prst="rect">
              <a:avLst/>
            </a:prstGeom>
            <a:noFill/>
            <a:ln>
              <a:noFill/>
            </a:ln>
          </p:spPr>
        </p:pic>
      </p:grpSp>
      <p:pic>
        <p:nvPicPr>
          <p:cNvPr id="81" name="Picture 80" descr="25C.png"/>
          <p:cNvPicPr>
            <a:picLocks noChangeAspect="1"/>
          </p:cNvPicPr>
          <p:nvPr/>
        </p:nvPicPr>
        <p:blipFill>
          <a:blip r:embed="rId8"/>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1450</Words>
  <Application>Microsoft Macintosh PowerPoint</Application>
  <PresentationFormat>Custom</PresentationFormat>
  <Paragraphs>35</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Montserrat Light</vt:lpstr>
      <vt:lpstr>Arial</vt:lpstr>
      <vt:lpstr>Libre Baskerville</vt:lpstr>
      <vt:lpstr>Times New Roman</vt:lpstr>
      <vt:lpstr>Calibri</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2</cp:revision>
  <dcterms:modified xsi:type="dcterms:W3CDTF">2025-04-27T02:36:13Z</dcterms:modified>
</cp:coreProperties>
</file>