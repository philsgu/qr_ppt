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12"/>
    <p:restoredTop sz="94703"/>
  </p:normalViewPr>
  <p:slideViewPr>
    <p:cSldViewPr snapToGrid="0">
      <p:cViewPr>
        <p:scale>
          <a:sx n="71" d="100"/>
          <a:sy n="71" d="100"/>
        </p:scale>
        <p:origin x="1176" y="-3336"/>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6"/>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6"/>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9"/>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13994608" y="3159765"/>
            <a:ext cx="16664940" cy="15595600"/>
          </a:xfrm>
          <a:prstGeom prst="rect">
            <a:avLst/>
          </a:prstGeom>
          <a:noFill/>
          <a:ln>
            <a:noFill/>
          </a:ln>
        </p:spPr>
      </p:sp>
      <p:sp>
        <p:nvSpPr>
          <p:cNvPr id="68" name="Google Shape;68;p10"/>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jpg"/><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2" name="Group 1">
            <a:extLst>
              <a:ext uri="{FF2B5EF4-FFF2-40B4-BE49-F238E27FC236}">
                <a16:creationId xmlns:a16="http://schemas.microsoft.com/office/drawing/2014/main" id="{59B7D2A6-200A-BD71-9970-7C7FF9625BD6}"/>
              </a:ext>
            </a:extLst>
          </p:cNvPr>
          <p:cNvGrpSpPr/>
          <p:nvPr/>
        </p:nvGrpSpPr>
        <p:grpSpPr>
          <a:xfrm>
            <a:off x="537882" y="161213"/>
            <a:ext cx="31654377" cy="21810246"/>
            <a:chOff x="2399458" y="376366"/>
            <a:chExt cx="28064200" cy="21547008"/>
          </a:xfrm>
        </p:grpSpPr>
        <p:sp>
          <p:nvSpPr>
            <p:cNvPr id="89" name="Google Shape;89;p13"/>
            <p:cNvSpPr/>
            <p:nvPr/>
          </p:nvSpPr>
          <p:spPr>
            <a:xfrm>
              <a:off x="21579760" y="19343471"/>
              <a:ext cx="8839200" cy="2383600"/>
            </a:xfrm>
            <a:prstGeom prst="rect">
              <a:avLst/>
            </a:prstGeom>
            <a:solidFill>
              <a:schemeClr val="lt1"/>
            </a:solidFill>
            <a:ln>
              <a:noFill/>
            </a:ln>
          </p:spPr>
          <p:txBody>
            <a:bodyPr spcFirstLastPara="1" wrap="square" lIns="60950" tIns="30467" rIns="60950" bIns="30467" anchor="ctr" anchorCtr="0">
              <a:noAutofit/>
            </a:bodyPr>
            <a:lstStyle/>
            <a:p>
              <a:pPr algn="ctr">
                <a:buSzPts val="7258"/>
              </a:pPr>
              <a:endParaRPr sz="4839">
                <a:solidFill>
                  <a:schemeClr val="dk1"/>
                </a:solidFill>
                <a:latin typeface="Calibri"/>
                <a:ea typeface="Calibri"/>
                <a:cs typeface="Calibri"/>
                <a:sym typeface="Calibri"/>
              </a:endParaRPr>
            </a:p>
          </p:txBody>
        </p:sp>
        <p:sp>
          <p:nvSpPr>
            <p:cNvPr id="90" name="Google Shape;90;p13"/>
            <p:cNvSpPr/>
            <p:nvPr/>
          </p:nvSpPr>
          <p:spPr>
            <a:xfrm>
              <a:off x="2499360" y="9507141"/>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Case presentation</a:t>
              </a:r>
              <a:endParaRPr sz="933"/>
            </a:p>
          </p:txBody>
        </p:sp>
        <p:sp>
          <p:nvSpPr>
            <p:cNvPr id="91" name="Google Shape;91;p13"/>
            <p:cNvSpPr/>
            <p:nvPr/>
          </p:nvSpPr>
          <p:spPr>
            <a:xfrm>
              <a:off x="2499360" y="10941774"/>
              <a:ext cx="8839200" cy="109816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spcBef>
                  <a:spcPts val="600"/>
                </a:spcBef>
                <a:buClr>
                  <a:schemeClr val="dk1"/>
                </a:buClr>
                <a:buSzPts val="1100"/>
              </a:pPr>
              <a:r>
                <a:rPr lang="en-US" sz="2200" dirty="0">
                  <a:solidFill>
                    <a:srgbClr val="222222"/>
                  </a:solidFill>
                  <a:highlight>
                    <a:srgbClr val="FFFFFF"/>
                  </a:highlight>
                </a:rPr>
                <a:t>A 94-year-old female with a history of hypertension, iron deficiency anemia, and osteoarthritis presented to the hospital after suffering cardiac arrest following a cortisone injection at her primary care office. Shortly after receiving the injection, she developed sneezing, coughing, shortness of breath, and then became unresponsive. CPR was initiated at the clinic, and intramuscular epinephrine was given. EMS continued resuscitation, and ROSC was achieved after three doses of epinephrine. The patient was intubated upon ED arrival and admitted to the ICU.</a:t>
              </a:r>
            </a:p>
            <a:p>
              <a:pPr>
                <a:lnSpc>
                  <a:spcPct val="115000"/>
                </a:lnSpc>
                <a:spcBef>
                  <a:spcPts val="600"/>
                </a:spcBef>
                <a:buClr>
                  <a:schemeClr val="dk1"/>
                </a:buClr>
                <a:buSzPts val="1100"/>
              </a:pPr>
              <a:endParaRPr sz="2200" dirty="0">
                <a:solidFill>
                  <a:srgbClr val="222222"/>
                </a:solidFill>
                <a:highlight>
                  <a:srgbClr val="FFFFFF"/>
                </a:highlight>
              </a:endParaRPr>
            </a:p>
            <a:p>
              <a:pPr>
                <a:lnSpc>
                  <a:spcPct val="115000"/>
                </a:lnSpc>
                <a:spcBef>
                  <a:spcPts val="600"/>
                </a:spcBef>
                <a:buClr>
                  <a:schemeClr val="dk1"/>
                </a:buClr>
                <a:buSzPts val="1100"/>
              </a:pPr>
              <a:r>
                <a:rPr lang="en-US" sz="2200" dirty="0">
                  <a:solidFill>
                    <a:srgbClr val="222222"/>
                  </a:solidFill>
                  <a:highlight>
                    <a:srgbClr val="FFFFFF"/>
                  </a:highlight>
                </a:rPr>
                <a:t>Initial labs were notable for respiratory acidosis (</a:t>
              </a:r>
              <a:r>
                <a:rPr lang="en-US" sz="2200" dirty="0" err="1">
                  <a:solidFill>
                    <a:srgbClr val="222222"/>
                  </a:solidFill>
                  <a:highlight>
                    <a:srgbClr val="FFFFFF"/>
                  </a:highlight>
                </a:rPr>
                <a:t>pCO</a:t>
              </a:r>
              <a:r>
                <a:rPr lang="en-US" sz="2200" dirty="0">
                  <a:solidFill>
                    <a:srgbClr val="222222"/>
                  </a:solidFill>
                  <a:highlight>
                    <a:srgbClr val="FFFFFF"/>
                  </a:highlight>
                </a:rPr>
                <a:t>₂ 55), elevated phosphorus (6.1), mild transaminitis (AST 52), elevated lactate (4.5), and a troponin of 25. A central and arterial line were placed, and she was started on an epinephrine drip for presumed anaphylaxis and bicarbonate for lactic acidosis. CT head showed no acute findings. She underwent targeted temperature management but developed myoclonic movements. EEG showed generalized myoclonic epilepsy in the setting of severe encephalopathy with a burst suppression pattern.</a:t>
              </a:r>
            </a:p>
            <a:p>
              <a:pPr>
                <a:lnSpc>
                  <a:spcPct val="115000"/>
                </a:lnSpc>
                <a:spcBef>
                  <a:spcPts val="600"/>
                </a:spcBef>
                <a:buClr>
                  <a:schemeClr val="dk1"/>
                </a:buClr>
                <a:buSzPts val="1100"/>
              </a:pPr>
              <a:endParaRPr sz="2200" dirty="0">
                <a:solidFill>
                  <a:srgbClr val="222222"/>
                </a:solidFill>
                <a:highlight>
                  <a:srgbClr val="FFFFFF"/>
                </a:highlight>
              </a:endParaRPr>
            </a:p>
            <a:p>
              <a:pPr>
                <a:lnSpc>
                  <a:spcPct val="115000"/>
                </a:lnSpc>
                <a:spcBef>
                  <a:spcPts val="600"/>
                </a:spcBef>
                <a:buClr>
                  <a:schemeClr val="dk1"/>
                </a:buClr>
                <a:buSzPts val="1100"/>
              </a:pPr>
              <a:r>
                <a:rPr lang="en-US" sz="2200" dirty="0">
                  <a:solidFill>
                    <a:srgbClr val="222222"/>
                  </a:solidFill>
                  <a:highlight>
                    <a:srgbClr val="FFFFFF"/>
                  </a:highlight>
                </a:rPr>
                <a:t>Despite stopping sedation, the patient remained unresponsive. She developed atrial fibrillation with RVR and was started on an amiodarone drip. MRI brain showed subtle diffusion restriction and increased T2 signal in the frontal and occipital lobes, concerning for global anoxic brain injury. She was started on Keppra for seizure prophylaxis. Bronchoscopy revealed mild mucus plugging without significant obstruction. Given persistent unresponsiveness and poor neurological prognosis, palliative care was consulted. After family discussions, care was transitioned to comfort measures, and the patient passed away.</a:t>
              </a:r>
              <a:endParaRPr sz="2200" dirty="0">
                <a:solidFill>
                  <a:srgbClr val="222222"/>
                </a:solidFill>
                <a:highlight>
                  <a:srgbClr val="FFFFFF"/>
                </a:highlight>
              </a:endParaRPr>
            </a:p>
            <a:p>
              <a:pPr>
                <a:lnSpc>
                  <a:spcPct val="115000"/>
                </a:lnSpc>
                <a:spcBef>
                  <a:spcPts val="600"/>
                </a:spcBef>
                <a:buClr>
                  <a:schemeClr val="dk1"/>
                </a:buClr>
                <a:buSzPts val="1100"/>
              </a:pPr>
              <a:endParaRPr sz="733" dirty="0">
                <a:solidFill>
                  <a:schemeClr val="dk1"/>
                </a:solidFill>
              </a:endParaRPr>
            </a:p>
            <a:p>
              <a:pPr>
                <a:lnSpc>
                  <a:spcPct val="115000"/>
                </a:lnSpc>
                <a:spcBef>
                  <a:spcPts val="800"/>
                </a:spcBef>
                <a:spcAft>
                  <a:spcPts val="800"/>
                </a:spcAft>
                <a:buClr>
                  <a:schemeClr val="dk1"/>
                </a:buClr>
                <a:buSzPts val="1100"/>
              </a:pPr>
              <a:endParaRPr sz="3067" dirty="0">
                <a:solidFill>
                  <a:schemeClr val="dk1"/>
                </a:solidFill>
                <a:latin typeface="Calibri"/>
                <a:ea typeface="Calibri"/>
                <a:cs typeface="Calibri"/>
                <a:sym typeface="Calibri"/>
              </a:endParaRPr>
            </a:p>
          </p:txBody>
        </p:sp>
        <p:sp>
          <p:nvSpPr>
            <p:cNvPr id="92" name="Google Shape;92;p13"/>
            <p:cNvSpPr/>
            <p:nvPr/>
          </p:nvSpPr>
          <p:spPr>
            <a:xfrm>
              <a:off x="2499360" y="4514178"/>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3" name="Google Shape;93;p13"/>
            <p:cNvSpPr/>
            <p:nvPr/>
          </p:nvSpPr>
          <p:spPr>
            <a:xfrm>
              <a:off x="2499360" y="5866198"/>
              <a:ext cx="8839200" cy="35008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buClr>
                  <a:schemeClr val="dk1"/>
                </a:buClr>
                <a:buSzPts val="1100"/>
              </a:pPr>
              <a:endParaRPr sz="2000" dirty="0">
                <a:solidFill>
                  <a:srgbClr val="222222"/>
                </a:solidFill>
                <a:highlight>
                  <a:srgbClr val="FFFFFF"/>
                </a:highlight>
              </a:endParaRPr>
            </a:p>
            <a:p>
              <a:pPr>
                <a:lnSpc>
                  <a:spcPct val="115000"/>
                </a:lnSpc>
                <a:spcBef>
                  <a:spcPts val="600"/>
                </a:spcBef>
                <a:buClr>
                  <a:schemeClr val="dk1"/>
                </a:buClr>
                <a:buSzPts val="1100"/>
              </a:pPr>
              <a:endParaRPr sz="2000" dirty="0">
                <a:solidFill>
                  <a:srgbClr val="222222"/>
                </a:solidFill>
                <a:highlight>
                  <a:srgbClr val="FFFFFF"/>
                </a:highlight>
              </a:endParaRPr>
            </a:p>
            <a:p>
              <a:pPr>
                <a:lnSpc>
                  <a:spcPct val="115000"/>
                </a:lnSpc>
                <a:spcBef>
                  <a:spcPts val="600"/>
                </a:spcBef>
                <a:buClr>
                  <a:schemeClr val="dk1"/>
                </a:buClr>
                <a:buSzPts val="1100"/>
              </a:pPr>
              <a:r>
                <a:rPr lang="en-US" sz="2000" dirty="0">
                  <a:solidFill>
                    <a:srgbClr val="222222"/>
                  </a:solidFill>
                  <a:highlight>
                    <a:srgbClr val="FFFFFF"/>
                  </a:highlight>
                </a:rPr>
                <a:t>Kenalog (triamcinolone acetonide) injections are commonly used to treat chronic allergic, rheumatologic, dermatologic, and other inflammatory conditions due to their strong anti-inflammatory and anti-allergic effects. Although rare, hypersensitivity reactions can occur either to the steroid itself or to components in the preparation. Immediate allergic reactions are infrequent but may present as pruritus, rash, dyspnea, and, in rare cases, anaphylaxis and shock.</a:t>
              </a:r>
            </a:p>
            <a:p>
              <a:pPr>
                <a:lnSpc>
                  <a:spcPct val="115000"/>
                </a:lnSpc>
                <a:spcBef>
                  <a:spcPts val="600"/>
                </a:spcBef>
                <a:buClr>
                  <a:schemeClr val="dk1"/>
                </a:buClr>
                <a:buSzPts val="1100"/>
              </a:pPr>
              <a:endParaRPr sz="2000" dirty="0">
                <a:solidFill>
                  <a:srgbClr val="222222"/>
                </a:solidFill>
                <a:highlight>
                  <a:srgbClr val="FFFFFF"/>
                </a:highlight>
              </a:endParaRPr>
            </a:p>
            <a:p>
              <a:pPr>
                <a:lnSpc>
                  <a:spcPct val="115000"/>
                </a:lnSpc>
                <a:spcBef>
                  <a:spcPts val="600"/>
                </a:spcBef>
                <a:buClr>
                  <a:schemeClr val="dk1"/>
                </a:buClr>
                <a:buSzPts val="1100"/>
              </a:pPr>
              <a:r>
                <a:rPr lang="en-US" sz="2000" dirty="0">
                  <a:solidFill>
                    <a:srgbClr val="222222"/>
                  </a:solidFill>
                  <a:highlight>
                    <a:srgbClr val="FFFFFF"/>
                  </a:highlight>
                </a:rPr>
                <a:t>We present a case of severe anaphylaxis occurring immediately after a Kenalog injection at a primary care clinic, leading to cardiac arrest, anoxic brain injury, and eventual death after transitioning to comfort care.</a:t>
              </a:r>
              <a:endParaRPr sz="2000" dirty="0">
                <a:solidFill>
                  <a:srgbClr val="222222"/>
                </a:solidFill>
                <a:highlight>
                  <a:srgbClr val="FFFFFF"/>
                </a:highlight>
              </a:endParaRPr>
            </a:p>
            <a:p>
              <a:pPr>
                <a:lnSpc>
                  <a:spcPct val="115000"/>
                </a:lnSpc>
                <a:spcBef>
                  <a:spcPts val="600"/>
                </a:spcBef>
                <a:buClr>
                  <a:schemeClr val="dk1"/>
                </a:buClr>
                <a:buSzPts val="1100"/>
              </a:pPr>
              <a:endParaRPr sz="2000" dirty="0">
                <a:solidFill>
                  <a:schemeClr val="dk1"/>
                </a:solidFill>
              </a:endParaRPr>
            </a:p>
            <a:p>
              <a:pPr>
                <a:lnSpc>
                  <a:spcPct val="115000"/>
                </a:lnSpc>
                <a:spcBef>
                  <a:spcPts val="800"/>
                </a:spcBef>
                <a:spcAft>
                  <a:spcPts val="800"/>
                </a:spcAft>
                <a:buClr>
                  <a:schemeClr val="dk1"/>
                </a:buClr>
                <a:buSzPts val="1100"/>
              </a:pPr>
              <a:endParaRPr sz="2000" dirty="0">
                <a:solidFill>
                  <a:schemeClr val="dk1"/>
                </a:solidFill>
                <a:latin typeface="Calibri"/>
                <a:ea typeface="Calibri"/>
                <a:cs typeface="Calibri"/>
                <a:sym typeface="Calibri"/>
              </a:endParaRPr>
            </a:p>
          </p:txBody>
        </p:sp>
        <p:sp>
          <p:nvSpPr>
            <p:cNvPr id="94" name="Google Shape;94;p13"/>
            <p:cNvSpPr/>
            <p:nvPr/>
          </p:nvSpPr>
          <p:spPr>
            <a:xfrm>
              <a:off x="2499360" y="376366"/>
              <a:ext cx="27919600" cy="38092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5" name="Google Shape;95;p13"/>
            <p:cNvSpPr/>
            <p:nvPr/>
          </p:nvSpPr>
          <p:spPr>
            <a:xfrm>
              <a:off x="2399458" y="450553"/>
              <a:ext cx="28064200" cy="1692200"/>
            </a:xfrm>
            <a:prstGeom prst="rect">
              <a:avLst/>
            </a:prstGeom>
            <a:noFill/>
            <a:ln>
              <a:noFill/>
            </a:ln>
          </p:spPr>
          <p:txBody>
            <a:bodyPr spcFirstLastPara="1" wrap="square" lIns="60950" tIns="30467" rIns="60950" bIns="30467" anchor="t" anchorCtr="0">
              <a:noAutofit/>
            </a:bodyPr>
            <a:lstStyle/>
            <a:p>
              <a:pPr marL="304815">
                <a:lnSpc>
                  <a:spcPct val="115000"/>
                </a:lnSpc>
                <a:spcBef>
                  <a:spcPts val="800"/>
                </a:spcBef>
                <a:buSzPts val="1100"/>
              </a:pPr>
              <a:br>
                <a:rPr lang="en-US" sz="733" b="1" dirty="0">
                  <a:solidFill>
                    <a:schemeClr val="dk1"/>
                  </a:solidFill>
                </a:rPr>
              </a:br>
              <a:endParaRPr sz="733" b="1" dirty="0">
                <a:solidFill>
                  <a:schemeClr val="dk1"/>
                </a:solidFill>
              </a:endParaRPr>
            </a:p>
            <a:p>
              <a:pPr algn="ctr">
                <a:spcBef>
                  <a:spcPts val="800"/>
                </a:spcBef>
                <a:buSzPts val="7800"/>
              </a:pPr>
              <a:r>
                <a:rPr lang="en-US" sz="5200" b="1" dirty="0">
                  <a:solidFill>
                    <a:schemeClr val="lt1"/>
                  </a:solidFill>
                  <a:latin typeface="Helvetica Neue"/>
                  <a:ea typeface="Helvetica Neue"/>
                  <a:cs typeface="Helvetica Neue"/>
                  <a:sym typeface="Helvetica Neue"/>
                </a:rPr>
                <a:t>The Shot that shocked the System: Corticosteroid-Induced </a:t>
              </a:r>
              <a:br>
                <a:rPr lang="en-US" sz="5200" b="1" dirty="0">
                  <a:solidFill>
                    <a:schemeClr val="lt1"/>
                  </a:solidFill>
                  <a:latin typeface="Helvetica Neue"/>
                  <a:ea typeface="Helvetica Neue"/>
                  <a:cs typeface="Helvetica Neue"/>
                  <a:sym typeface="Helvetica Neue"/>
                </a:rPr>
              </a:br>
              <a:r>
                <a:rPr lang="en-US" sz="5200" b="1" dirty="0">
                  <a:solidFill>
                    <a:schemeClr val="lt1"/>
                  </a:solidFill>
                  <a:latin typeface="Helvetica Neue"/>
                  <a:ea typeface="Helvetica Neue"/>
                  <a:cs typeface="Helvetica Neue"/>
                  <a:sym typeface="Helvetica Neue"/>
                </a:rPr>
                <a:t>Anaphylaxis leading to Anoxic Brain Injury</a:t>
              </a:r>
              <a:endParaRPr sz="5200" b="1" dirty="0">
                <a:solidFill>
                  <a:schemeClr val="lt1"/>
                </a:solidFill>
                <a:latin typeface="Helvetica Neue"/>
                <a:ea typeface="Helvetica Neue"/>
                <a:cs typeface="Helvetica Neue"/>
                <a:sym typeface="Helvetica Neue"/>
              </a:endParaRPr>
            </a:p>
          </p:txBody>
        </p:sp>
        <p:sp>
          <p:nvSpPr>
            <p:cNvPr id="96" name="Google Shape;96;p13"/>
            <p:cNvSpPr/>
            <p:nvPr/>
          </p:nvSpPr>
          <p:spPr>
            <a:xfrm>
              <a:off x="2499367" y="2652217"/>
              <a:ext cx="27919600" cy="1080400"/>
            </a:xfrm>
            <a:prstGeom prst="rect">
              <a:avLst/>
            </a:prstGeom>
            <a:noFill/>
            <a:ln>
              <a:noFill/>
            </a:ln>
          </p:spPr>
          <p:txBody>
            <a:bodyPr spcFirstLastPara="1" wrap="square" lIns="60950" tIns="30467" rIns="60950" bIns="30467" anchor="t" anchorCtr="0">
              <a:noAutofit/>
            </a:bodyPr>
            <a:lstStyle/>
            <a:p>
              <a:pPr algn="ctr">
                <a:buSzPts val="5100"/>
              </a:pPr>
              <a:r>
                <a:rPr lang="en-US" sz="3400">
                  <a:solidFill>
                    <a:schemeClr val="lt1"/>
                  </a:solidFill>
                </a:rPr>
                <a:t>Ayesha Shahzad</a:t>
              </a:r>
              <a:r>
                <a:rPr lang="en-US" sz="3400">
                  <a:solidFill>
                    <a:schemeClr val="lt1"/>
                  </a:solidFill>
                  <a:highlight>
                    <a:srgbClr val="004671"/>
                  </a:highlight>
                </a:rPr>
                <a:t> MD; </a:t>
              </a:r>
              <a:r>
                <a:rPr lang="en-US" sz="3400">
                  <a:solidFill>
                    <a:schemeClr val="lt1"/>
                  </a:solidFill>
                </a:rPr>
                <a:t>Mareza Tatulyan</a:t>
              </a:r>
              <a:r>
                <a:rPr lang="en-US" sz="3400">
                  <a:solidFill>
                    <a:schemeClr val="lt1"/>
                  </a:solidFill>
                  <a:highlight>
                    <a:srgbClr val="004671"/>
                  </a:highlight>
                </a:rPr>
                <a:t> MD; Sukhmeet Dhillon MD; Reema Salim MD; Mehdi Hakimipour MD</a:t>
              </a:r>
              <a:endParaRPr sz="3934">
                <a:solidFill>
                  <a:schemeClr val="lt1"/>
                </a:solidFill>
                <a:latin typeface="Helvetica Neue"/>
                <a:ea typeface="Helvetica Neue"/>
                <a:cs typeface="Helvetica Neue"/>
                <a:sym typeface="Helvetica Neue"/>
              </a:endParaRPr>
            </a:p>
            <a:p>
              <a:pPr algn="ctr">
                <a:buSzPts val="4700"/>
              </a:pPr>
              <a:r>
                <a:rPr lang="en-US" sz="3133" i="1">
                  <a:solidFill>
                    <a:schemeClr val="lt1"/>
                  </a:solidFill>
                  <a:latin typeface="Helvetica Neue"/>
                  <a:ea typeface="Helvetica Neue"/>
                  <a:cs typeface="Helvetica Neue"/>
                  <a:sym typeface="Helvetica Neue"/>
                </a:rPr>
                <a:t>Saint Agnes Medical Center, Fresno, CA</a:t>
              </a:r>
              <a:endParaRPr sz="733"/>
            </a:p>
          </p:txBody>
        </p:sp>
        <p:sp>
          <p:nvSpPr>
            <p:cNvPr id="97" name="Google Shape;97;p13"/>
            <p:cNvSpPr txBox="1"/>
            <p:nvPr/>
          </p:nvSpPr>
          <p:spPr>
            <a:xfrm>
              <a:off x="12093883" y="10941774"/>
              <a:ext cx="8730600" cy="984859"/>
            </a:xfrm>
            <a:prstGeom prst="rect">
              <a:avLst/>
            </a:prstGeom>
            <a:noFill/>
            <a:ln>
              <a:noFill/>
            </a:ln>
          </p:spPr>
          <p:txBody>
            <a:bodyPr spcFirstLastPara="1" wrap="square" lIns="60950" tIns="30467" rIns="60950" bIns="30467" anchor="t" anchorCtr="0">
              <a:spAutoFit/>
            </a:bodyPr>
            <a:lstStyle/>
            <a:p>
              <a:pPr>
                <a:buSzPts val="3000"/>
              </a:pPr>
              <a:r>
                <a:rPr lang="en-US" sz="2000" b="1">
                  <a:solidFill>
                    <a:schemeClr val="dk1"/>
                  </a:solidFill>
                  <a:latin typeface="Calibri"/>
                  <a:ea typeface="Calibri"/>
                  <a:cs typeface="Calibri"/>
                  <a:sym typeface="Calibri"/>
                </a:rPr>
                <a:t>Figure 1:  There is subtle diffusion restriction in the cortex of the frontal lobes and occipital lobes with mildly increased T2 signal and minimal thickening.  These findings raise concern for diffuse process such as anoxic brain injury.</a:t>
              </a:r>
              <a:endParaRPr sz="933"/>
            </a:p>
          </p:txBody>
        </p:sp>
        <p:sp>
          <p:nvSpPr>
            <p:cNvPr id="98" name="Google Shape;98;p13"/>
            <p:cNvSpPr/>
            <p:nvPr/>
          </p:nvSpPr>
          <p:spPr>
            <a:xfrm>
              <a:off x="21624457" y="4514179"/>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Discussion</a:t>
              </a:r>
              <a:endParaRPr sz="933"/>
            </a:p>
          </p:txBody>
        </p:sp>
        <p:sp>
          <p:nvSpPr>
            <p:cNvPr id="99" name="Google Shape;99;p13"/>
            <p:cNvSpPr/>
            <p:nvPr/>
          </p:nvSpPr>
          <p:spPr>
            <a:xfrm>
              <a:off x="21624458" y="5866198"/>
              <a:ext cx="8839200" cy="4020665"/>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buClr>
                  <a:schemeClr val="dk1"/>
                </a:buClr>
                <a:buSzPts val="1100"/>
              </a:pPr>
              <a:endParaRPr sz="1533" dirty="0">
                <a:solidFill>
                  <a:srgbClr val="222222"/>
                </a:solidFill>
                <a:highlight>
                  <a:srgbClr val="FFFFFF"/>
                </a:highlight>
              </a:endParaRPr>
            </a:p>
            <a:p>
              <a:pPr>
                <a:lnSpc>
                  <a:spcPct val="115000"/>
                </a:lnSpc>
                <a:spcBef>
                  <a:spcPts val="600"/>
                </a:spcBef>
                <a:buClr>
                  <a:schemeClr val="dk1"/>
                </a:buClr>
                <a:buSzPts val="1100"/>
              </a:pPr>
              <a:endParaRPr sz="1533" dirty="0">
                <a:solidFill>
                  <a:srgbClr val="222222"/>
                </a:solidFill>
                <a:highlight>
                  <a:srgbClr val="FFFFFF"/>
                </a:highlight>
              </a:endParaRPr>
            </a:p>
            <a:p>
              <a:pPr>
                <a:lnSpc>
                  <a:spcPct val="115000"/>
                </a:lnSpc>
                <a:spcBef>
                  <a:spcPts val="600"/>
                </a:spcBef>
                <a:buClr>
                  <a:schemeClr val="dk1"/>
                </a:buClr>
                <a:buSzPts val="1100"/>
              </a:pPr>
              <a:r>
                <a:rPr lang="en-US" sz="1800" dirty="0">
                  <a:solidFill>
                    <a:srgbClr val="222222"/>
                  </a:solidFill>
                  <a:highlight>
                    <a:srgbClr val="FFFFFF"/>
                  </a:highlight>
                </a:rPr>
                <a:t>Corticosteroid injections are widely used in clinical practice and are generally safe. However, rare cases of hypersensitivity reactions have been reported, which can be either immediate or delayed. Delayed reactions are more commonly associated with topical steroids, while immediate systemic reactions can occur even after prior tolerance. Symptoms may include erythema, rashes, pruritus, and in rare instances, severe anaphylaxis.</a:t>
              </a:r>
              <a:endParaRPr sz="1800" dirty="0">
                <a:solidFill>
                  <a:srgbClr val="222222"/>
                </a:solidFill>
                <a:highlight>
                  <a:srgbClr val="FFFFFF"/>
                </a:highlight>
              </a:endParaRPr>
            </a:p>
            <a:p>
              <a:pPr>
                <a:lnSpc>
                  <a:spcPct val="115000"/>
                </a:lnSpc>
                <a:spcBef>
                  <a:spcPts val="600"/>
                </a:spcBef>
                <a:buClr>
                  <a:schemeClr val="dk1"/>
                </a:buClr>
                <a:buSzPts val="1100"/>
              </a:pPr>
              <a:r>
                <a:rPr lang="en-US" sz="1800" dirty="0">
                  <a:solidFill>
                    <a:srgbClr val="222222"/>
                  </a:solidFill>
                  <a:highlight>
                    <a:srgbClr val="FFFFFF"/>
                  </a:highlight>
                </a:rPr>
                <a:t>In this case, the patient had a history of receiving steroid injections without prior complications but developed severe anaphylaxis immediately after administration, leading to cardiac arrest and anoxic brain injury. Proposed mechanisms include true anaphylaxis to the steroid itself or to additives used in the preparation.</a:t>
              </a:r>
              <a:endParaRPr sz="1800" dirty="0">
                <a:solidFill>
                  <a:srgbClr val="222222"/>
                </a:solidFill>
                <a:highlight>
                  <a:srgbClr val="FFFFFF"/>
                </a:highlight>
              </a:endParaRPr>
            </a:p>
            <a:p>
              <a:pPr>
                <a:lnSpc>
                  <a:spcPct val="115000"/>
                </a:lnSpc>
                <a:spcBef>
                  <a:spcPts val="600"/>
                </a:spcBef>
                <a:buClr>
                  <a:schemeClr val="dk1"/>
                </a:buClr>
                <a:buSzPts val="1100"/>
              </a:pPr>
              <a:r>
                <a:rPr lang="en-US" sz="1800" dirty="0">
                  <a:solidFill>
                    <a:srgbClr val="222222"/>
                  </a:solidFill>
                  <a:highlight>
                    <a:srgbClr val="FFFFFF"/>
                  </a:highlight>
                </a:rPr>
                <a:t>This case highlights that even commonly used medications like corticosteroids can rarely cause life-threatening reactions. Clinicians should remain vigilant and be prepared to recognize and manage hypersensitivity reactions promptly, even in patients with prior tolerance.</a:t>
              </a:r>
              <a:endParaRPr sz="1800" dirty="0">
                <a:solidFill>
                  <a:srgbClr val="222222"/>
                </a:solidFill>
                <a:highlight>
                  <a:srgbClr val="FFFFFF"/>
                </a:highlight>
              </a:endParaRPr>
            </a:p>
            <a:p>
              <a:pPr algn="ctr">
                <a:spcBef>
                  <a:spcPts val="600"/>
                </a:spcBef>
                <a:buSzPts val="7258"/>
              </a:pPr>
              <a:endParaRPr sz="4839" dirty="0">
                <a:solidFill>
                  <a:schemeClr val="lt1"/>
                </a:solidFill>
                <a:latin typeface="Calibri"/>
                <a:ea typeface="Calibri"/>
                <a:cs typeface="Calibri"/>
                <a:sym typeface="Calibri"/>
              </a:endParaRPr>
            </a:p>
          </p:txBody>
        </p:sp>
        <p:sp>
          <p:nvSpPr>
            <p:cNvPr id="100" name="Google Shape;100;p13"/>
            <p:cNvSpPr/>
            <p:nvPr/>
          </p:nvSpPr>
          <p:spPr>
            <a:xfrm>
              <a:off x="21579807" y="13032446"/>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References</a:t>
              </a:r>
              <a:endParaRPr sz="933"/>
            </a:p>
          </p:txBody>
        </p:sp>
        <p:sp>
          <p:nvSpPr>
            <p:cNvPr id="101" name="Google Shape;101;p13"/>
            <p:cNvSpPr/>
            <p:nvPr/>
          </p:nvSpPr>
          <p:spPr>
            <a:xfrm>
              <a:off x="21579800" y="14337452"/>
              <a:ext cx="8839200" cy="4734400"/>
            </a:xfrm>
            <a:prstGeom prst="rect">
              <a:avLst/>
            </a:prstGeom>
            <a:solidFill>
              <a:schemeClr val="lt1"/>
            </a:solidFill>
            <a:ln>
              <a:noFill/>
            </a:ln>
          </p:spPr>
          <p:txBody>
            <a:bodyPr spcFirstLastPara="1" wrap="square" lIns="60950" tIns="30467" rIns="60950" bIns="30467" anchor="ctr" anchorCtr="0">
              <a:noAutofit/>
            </a:bodyPr>
            <a:lstStyle/>
            <a:p>
              <a:pPr marL="304815" indent="-241312">
                <a:lnSpc>
                  <a:spcPct val="115000"/>
                </a:lnSpc>
                <a:spcBef>
                  <a:spcPts val="667"/>
                </a:spcBef>
                <a:buClr>
                  <a:srgbClr val="222222"/>
                </a:buClr>
                <a:buSzPts val="2100"/>
                <a:buFont typeface="Arial"/>
                <a:buAutoNum type="arabicPeriod"/>
              </a:pPr>
              <a:r>
                <a:rPr lang="en-US" sz="1400" dirty="0" err="1">
                  <a:solidFill>
                    <a:srgbClr val="222222"/>
                  </a:solidFill>
                  <a:highlight>
                    <a:srgbClr val="FFFFFF"/>
                  </a:highlight>
                </a:rPr>
                <a:t>Laisuan</a:t>
              </a:r>
              <a:r>
                <a:rPr lang="en-US" sz="1400" dirty="0">
                  <a:solidFill>
                    <a:srgbClr val="222222"/>
                  </a:solidFill>
                  <a:highlight>
                    <a:srgbClr val="FFFFFF"/>
                  </a:highlight>
                </a:rPr>
                <a:t> W, Wongsa C, </a:t>
              </a:r>
              <a:r>
                <a:rPr lang="en-US" sz="1400" dirty="0" err="1">
                  <a:solidFill>
                    <a:srgbClr val="222222"/>
                  </a:solidFill>
                  <a:highlight>
                    <a:srgbClr val="FFFFFF"/>
                  </a:highlight>
                </a:rPr>
                <a:t>Dchapaphapeaktak</a:t>
              </a:r>
              <a:r>
                <a:rPr lang="en-US" sz="1400" dirty="0">
                  <a:solidFill>
                    <a:srgbClr val="222222"/>
                  </a:solidFill>
                  <a:highlight>
                    <a:srgbClr val="FFFFFF"/>
                  </a:highlight>
                </a:rPr>
                <a:t> N, </a:t>
              </a:r>
              <a:r>
                <a:rPr lang="en-US" sz="1400" dirty="0" err="1">
                  <a:solidFill>
                    <a:srgbClr val="222222"/>
                  </a:solidFill>
                  <a:highlight>
                    <a:srgbClr val="FFFFFF"/>
                  </a:highlight>
                </a:rPr>
                <a:t>Tongdee</a:t>
              </a:r>
              <a:r>
                <a:rPr lang="en-US" sz="1400" dirty="0">
                  <a:solidFill>
                    <a:srgbClr val="222222"/>
                  </a:solidFill>
                  <a:highlight>
                    <a:srgbClr val="FFFFFF"/>
                  </a:highlight>
                </a:rPr>
                <a:t> M, </a:t>
              </a:r>
              <a:r>
                <a:rPr lang="en-US" sz="1400" dirty="0" err="1">
                  <a:solidFill>
                    <a:srgbClr val="222222"/>
                  </a:solidFill>
                  <a:highlight>
                    <a:srgbClr val="FFFFFF"/>
                  </a:highlight>
                </a:rPr>
                <a:t>Chatmapanrangsee</a:t>
              </a:r>
              <a:r>
                <a:rPr lang="en-US" sz="1400" dirty="0">
                  <a:solidFill>
                    <a:srgbClr val="222222"/>
                  </a:solidFill>
                  <a:highlight>
                    <a:srgbClr val="FFFFFF"/>
                  </a:highlight>
                </a:rPr>
                <a:t> J, </a:t>
              </a:r>
              <a:r>
                <a:rPr lang="en-US" sz="1400" dirty="0" err="1">
                  <a:solidFill>
                    <a:srgbClr val="222222"/>
                  </a:solidFill>
                  <a:highlight>
                    <a:srgbClr val="FFFFFF"/>
                  </a:highlight>
                </a:rPr>
                <a:t>Rerkpattanapipat</a:t>
              </a:r>
              <a:r>
                <a:rPr lang="en-US" sz="1400" dirty="0">
                  <a:solidFill>
                    <a:srgbClr val="222222"/>
                  </a:solidFill>
                  <a:highlight>
                    <a:srgbClr val="FFFFFF"/>
                  </a:highlight>
                </a:rPr>
                <a:t> T. Anaphylaxis following intralesional triamcinolone acetonide (</a:t>
              </a:r>
              <a:r>
                <a:rPr lang="en-US" sz="1400" dirty="0" err="1">
                  <a:solidFill>
                    <a:srgbClr val="222222"/>
                  </a:solidFill>
                  <a:highlight>
                    <a:srgbClr val="FFFFFF"/>
                  </a:highlight>
                </a:rPr>
                <a:t>Kenacort</a:t>
              </a:r>
              <a:r>
                <a:rPr lang="en-US" sz="1400" dirty="0">
                  <a:solidFill>
                    <a:srgbClr val="222222"/>
                  </a:solidFill>
                  <a:highlight>
                    <a:srgbClr val="FFFFFF"/>
                  </a:highlight>
                </a:rPr>
                <a:t>) injection. Asia Pac Allergy. 2017 Apr;7(2):115-118. </a:t>
              </a:r>
              <a:r>
                <a:rPr lang="en-US" sz="1400" dirty="0" err="1">
                  <a:solidFill>
                    <a:srgbClr val="222222"/>
                  </a:solidFill>
                  <a:highlight>
                    <a:srgbClr val="FFFFFF"/>
                  </a:highlight>
                </a:rPr>
                <a:t>doi</a:t>
              </a:r>
              <a:r>
                <a:rPr lang="en-US" sz="1400" dirty="0">
                  <a:solidFill>
                    <a:srgbClr val="222222"/>
                  </a:solidFill>
                  <a:highlight>
                    <a:srgbClr val="FFFFFF"/>
                  </a:highlight>
                </a:rPr>
                <a:t>: 10.5415/apallergy.2017.7.2.115. </a:t>
              </a:r>
              <a:r>
                <a:rPr lang="en-US" sz="1400" dirty="0" err="1">
                  <a:solidFill>
                    <a:srgbClr val="222222"/>
                  </a:solidFill>
                  <a:highlight>
                    <a:srgbClr val="FFFFFF"/>
                  </a:highlight>
                </a:rPr>
                <a:t>Epub</a:t>
              </a:r>
              <a:r>
                <a:rPr lang="en-US" sz="1400" dirty="0">
                  <a:solidFill>
                    <a:srgbClr val="222222"/>
                  </a:solidFill>
                  <a:highlight>
                    <a:srgbClr val="FFFFFF"/>
                  </a:highlight>
                </a:rPr>
                <a:t> 2017 Apr 6. PMID: 28487843; PMCID: PMC5410410.</a:t>
              </a:r>
              <a:endParaRPr sz="1400" dirty="0">
                <a:solidFill>
                  <a:srgbClr val="222222"/>
                </a:solidFill>
                <a:highlight>
                  <a:srgbClr val="FFFFFF"/>
                </a:highlight>
              </a:endParaRPr>
            </a:p>
            <a:p>
              <a:pPr marL="304815" indent="-241312">
                <a:lnSpc>
                  <a:spcPct val="115000"/>
                </a:lnSpc>
                <a:buClr>
                  <a:srgbClr val="222222"/>
                </a:buClr>
                <a:buSzPts val="2100"/>
                <a:buFont typeface="Arial"/>
                <a:buAutoNum type="arabicPeriod"/>
              </a:pPr>
              <a:r>
                <a:rPr lang="en-US" sz="1400" dirty="0">
                  <a:solidFill>
                    <a:srgbClr val="222222"/>
                  </a:solidFill>
                  <a:highlight>
                    <a:srgbClr val="FFFFFF"/>
                  </a:highlight>
                </a:rPr>
                <a:t>Kamm GL, </a:t>
              </a:r>
              <a:r>
                <a:rPr lang="en-US" sz="1400" dirty="0" err="1">
                  <a:solidFill>
                    <a:srgbClr val="222222"/>
                  </a:solidFill>
                  <a:highlight>
                    <a:srgbClr val="FFFFFF"/>
                  </a:highlight>
                </a:rPr>
                <a:t>Hagmeyer</a:t>
              </a:r>
              <a:r>
                <a:rPr lang="en-US" sz="1400" dirty="0">
                  <a:solidFill>
                    <a:srgbClr val="222222"/>
                  </a:solidFill>
                  <a:highlight>
                    <a:srgbClr val="FFFFFF"/>
                  </a:highlight>
                </a:rPr>
                <a:t> KO. Allergic-type reactions to corticosteroids. Ann </a:t>
              </a:r>
              <a:r>
                <a:rPr lang="en-US" sz="1400" dirty="0" err="1">
                  <a:solidFill>
                    <a:srgbClr val="222222"/>
                  </a:solidFill>
                  <a:highlight>
                    <a:srgbClr val="FFFFFF"/>
                  </a:highlight>
                </a:rPr>
                <a:t>Pharmacother</a:t>
              </a:r>
              <a:r>
                <a:rPr lang="en-US" sz="1400" dirty="0">
                  <a:solidFill>
                    <a:srgbClr val="222222"/>
                  </a:solidFill>
                  <a:highlight>
                    <a:srgbClr val="FFFFFF"/>
                  </a:highlight>
                </a:rPr>
                <a:t>. 1999 Apr;33(4):451-60. </a:t>
              </a:r>
              <a:r>
                <a:rPr lang="en-US" sz="1400" dirty="0" err="1">
                  <a:solidFill>
                    <a:srgbClr val="222222"/>
                  </a:solidFill>
                  <a:highlight>
                    <a:srgbClr val="FFFFFF"/>
                  </a:highlight>
                </a:rPr>
                <a:t>doi</a:t>
              </a:r>
              <a:r>
                <a:rPr lang="en-US" sz="1400" dirty="0">
                  <a:solidFill>
                    <a:srgbClr val="222222"/>
                  </a:solidFill>
                  <a:highlight>
                    <a:srgbClr val="FFFFFF"/>
                  </a:highlight>
                </a:rPr>
                <a:t>: 10.1345/aph.18276. PMID: 10332537.</a:t>
              </a:r>
              <a:endParaRPr sz="1400" dirty="0">
                <a:solidFill>
                  <a:srgbClr val="222222"/>
                </a:solidFill>
                <a:highlight>
                  <a:srgbClr val="FFFFFF"/>
                </a:highlight>
              </a:endParaRPr>
            </a:p>
            <a:p>
              <a:pPr marL="304815" indent="-241312">
                <a:lnSpc>
                  <a:spcPct val="115000"/>
                </a:lnSpc>
                <a:buClr>
                  <a:srgbClr val="222222"/>
                </a:buClr>
                <a:buSzPts val="2100"/>
                <a:buFont typeface="Arial"/>
                <a:buAutoNum type="arabicPeriod"/>
              </a:pPr>
              <a:r>
                <a:rPr lang="en-US" sz="1400" dirty="0">
                  <a:solidFill>
                    <a:srgbClr val="222222"/>
                  </a:solidFill>
                  <a:highlight>
                    <a:srgbClr val="FFFFFF"/>
                  </a:highlight>
                </a:rPr>
                <a:t>Swiss Med Wkly. 2023;153:40025</a:t>
              </a:r>
              <a:endParaRPr sz="1400" dirty="0">
                <a:solidFill>
                  <a:srgbClr val="222222"/>
                </a:solidFill>
                <a:highlight>
                  <a:srgbClr val="FFFFFF"/>
                </a:highlight>
              </a:endParaRPr>
            </a:p>
            <a:p>
              <a:pPr marL="304815" indent="-241312">
                <a:lnSpc>
                  <a:spcPct val="115000"/>
                </a:lnSpc>
                <a:buClr>
                  <a:srgbClr val="222222"/>
                </a:buClr>
                <a:buSzPts val="2100"/>
                <a:buFont typeface="Arial"/>
                <a:buAutoNum type="arabicPeriod"/>
              </a:pPr>
              <a:r>
                <a:rPr lang="en-US" sz="1400" dirty="0">
                  <a:solidFill>
                    <a:srgbClr val="222222"/>
                  </a:solidFill>
                  <a:highlight>
                    <a:srgbClr val="FFFFFF"/>
                  </a:highlight>
                </a:rPr>
                <a:t>Patterson DL, Yunginger JW, Dunn WF, Jones RT, Hunt LW. Anaphylaxis induced by the carboxymethylcellulose component of injectable triamcinolone acetonide suspension (Kenalog). Ann Allergy Asthma Immunol. 1995 Feb;74(2):163-6. PMID: 7697477.</a:t>
              </a:r>
              <a:endParaRPr sz="1400" dirty="0">
                <a:solidFill>
                  <a:srgbClr val="222222"/>
                </a:solidFill>
                <a:highlight>
                  <a:srgbClr val="FFFFFF"/>
                </a:highlight>
              </a:endParaRPr>
            </a:p>
            <a:p>
              <a:pPr marL="304815" indent="-241312">
                <a:lnSpc>
                  <a:spcPct val="115000"/>
                </a:lnSpc>
                <a:buClr>
                  <a:srgbClr val="222222"/>
                </a:buClr>
                <a:buSzPts val="2100"/>
                <a:buFont typeface="Arial"/>
                <a:buAutoNum type="arabicPeriod"/>
              </a:pPr>
              <a:r>
                <a:rPr lang="en-US" sz="1400" dirty="0">
                  <a:solidFill>
                    <a:srgbClr val="222222"/>
                  </a:solidFill>
                  <a:highlight>
                    <a:srgbClr val="FFFFFF"/>
                  </a:highlight>
                </a:rPr>
                <a:t>Brandt N, Garvey LH, Bindslev-Jensen U, Kjaer HF, Bindslev-Jensen C, Mortz CG. Three cases of anaphylaxis following injection of a depot corticosteroid with evidence of </a:t>
              </a:r>
              <a:r>
                <a:rPr lang="en-US" sz="1400" dirty="0" err="1">
                  <a:solidFill>
                    <a:srgbClr val="222222"/>
                  </a:solidFill>
                  <a:highlight>
                    <a:srgbClr val="FFFFFF"/>
                  </a:highlight>
                </a:rPr>
                <a:t>IgE</a:t>
              </a:r>
              <a:r>
                <a:rPr lang="en-US" sz="1400" dirty="0">
                  <a:solidFill>
                    <a:srgbClr val="222222"/>
                  </a:solidFill>
                  <a:highlight>
                    <a:srgbClr val="FFFFFF"/>
                  </a:highlight>
                </a:rPr>
                <a:t> sensitization to macrogols rather than the active steroid. Clin </a:t>
              </a:r>
              <a:r>
                <a:rPr lang="en-US" sz="1400" dirty="0" err="1">
                  <a:solidFill>
                    <a:srgbClr val="222222"/>
                  </a:solidFill>
                  <a:highlight>
                    <a:srgbClr val="FFFFFF"/>
                  </a:highlight>
                </a:rPr>
                <a:t>Transl</a:t>
              </a:r>
              <a:r>
                <a:rPr lang="en-US" sz="1400" dirty="0">
                  <a:solidFill>
                    <a:srgbClr val="222222"/>
                  </a:solidFill>
                  <a:highlight>
                    <a:srgbClr val="FFFFFF"/>
                  </a:highlight>
                </a:rPr>
                <a:t> Allergy. 2017 Jan 10;7:2. </a:t>
              </a:r>
              <a:r>
                <a:rPr lang="en-US" sz="1400" dirty="0" err="1">
                  <a:solidFill>
                    <a:srgbClr val="222222"/>
                  </a:solidFill>
                  <a:highlight>
                    <a:srgbClr val="FFFFFF"/>
                  </a:highlight>
                </a:rPr>
                <a:t>doi</a:t>
              </a:r>
              <a:r>
                <a:rPr lang="en-US" sz="1400" dirty="0">
                  <a:solidFill>
                    <a:srgbClr val="222222"/>
                  </a:solidFill>
                  <a:highlight>
                    <a:srgbClr val="FFFFFF"/>
                  </a:highlight>
                </a:rPr>
                <a:t>: 10.1186/s13601-016-0138-3. PMID: 28078080; PMCID: PMC5223300.</a:t>
              </a:r>
              <a:endParaRPr sz="1400" dirty="0">
                <a:solidFill>
                  <a:srgbClr val="222222"/>
                </a:solidFill>
                <a:highlight>
                  <a:srgbClr val="FFFFFF"/>
                </a:highlight>
              </a:endParaRPr>
            </a:p>
            <a:p>
              <a:pPr marL="304815" indent="-241312">
                <a:lnSpc>
                  <a:spcPct val="115000"/>
                </a:lnSpc>
                <a:buClr>
                  <a:srgbClr val="222222"/>
                </a:buClr>
                <a:buSzPts val="2100"/>
                <a:buFont typeface="Arial"/>
                <a:buAutoNum type="arabicPeriod"/>
              </a:pPr>
              <a:r>
                <a:rPr lang="en-US" sz="1400" dirty="0">
                  <a:solidFill>
                    <a:srgbClr val="222222"/>
                  </a:solidFill>
                  <a:highlight>
                    <a:srgbClr val="FFFFFF"/>
                  </a:highlight>
                </a:rPr>
                <a:t>Son JH, Park SY, Cho YS, Chung BY, Kim HO, Park CW. Immediate Hypersensitivity Reactions Induced by Triamcinolone in a Patient with Atopic Dermatitis. J Korean Med Sci. 2018 Mar 19;33(12):e87. </a:t>
              </a:r>
              <a:r>
                <a:rPr lang="en-US" sz="1400" dirty="0" err="1">
                  <a:solidFill>
                    <a:srgbClr val="222222"/>
                  </a:solidFill>
                  <a:highlight>
                    <a:srgbClr val="FFFFFF"/>
                  </a:highlight>
                </a:rPr>
                <a:t>doi</a:t>
              </a:r>
              <a:r>
                <a:rPr lang="en-US" sz="1400" dirty="0">
                  <a:solidFill>
                    <a:srgbClr val="222222"/>
                  </a:solidFill>
                  <a:highlight>
                    <a:srgbClr val="FFFFFF"/>
                  </a:highlight>
                </a:rPr>
                <a:t>: 10.3346/jkms.2018.33.e87. Erratum in: J Korean Med Sci. 2022 Nov 28;37(46):e350. </a:t>
              </a:r>
              <a:r>
                <a:rPr lang="en-US" sz="1400" dirty="0" err="1">
                  <a:solidFill>
                    <a:srgbClr val="222222"/>
                  </a:solidFill>
                  <a:highlight>
                    <a:srgbClr val="FFFFFF"/>
                  </a:highlight>
                </a:rPr>
                <a:t>doi</a:t>
              </a:r>
              <a:r>
                <a:rPr lang="en-US" sz="1400" dirty="0">
                  <a:solidFill>
                    <a:srgbClr val="222222"/>
                  </a:solidFill>
                  <a:highlight>
                    <a:srgbClr val="FFFFFF"/>
                  </a:highlight>
                </a:rPr>
                <a:t>: 10.3346/jkms.2022.37.e350. PMID: 29542298; PMCID: PMC5852418.</a:t>
              </a:r>
              <a:endParaRPr sz="1400" dirty="0">
                <a:solidFill>
                  <a:srgbClr val="222222"/>
                </a:solidFill>
                <a:highlight>
                  <a:srgbClr val="FFFFFF"/>
                </a:highlight>
              </a:endParaRPr>
            </a:p>
          </p:txBody>
        </p:sp>
        <p:sp>
          <p:nvSpPr>
            <p:cNvPr id="102" name="Google Shape;102;p13"/>
            <p:cNvSpPr/>
            <p:nvPr/>
          </p:nvSpPr>
          <p:spPr>
            <a:xfrm>
              <a:off x="21579760" y="9999170"/>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dirty="0">
                  <a:solidFill>
                    <a:schemeClr val="lt1"/>
                  </a:solidFill>
                  <a:latin typeface="Calibri"/>
                  <a:ea typeface="Calibri"/>
                  <a:cs typeface="Calibri"/>
                  <a:sym typeface="Calibri"/>
                </a:rPr>
                <a:t>Conclusion</a:t>
              </a:r>
              <a:endParaRPr sz="933" dirty="0"/>
            </a:p>
          </p:txBody>
        </p:sp>
        <p:sp>
          <p:nvSpPr>
            <p:cNvPr id="103" name="Google Shape;103;p13"/>
            <p:cNvSpPr/>
            <p:nvPr/>
          </p:nvSpPr>
          <p:spPr>
            <a:xfrm>
              <a:off x="21579800" y="11096824"/>
              <a:ext cx="8839200" cy="1777208"/>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spcBef>
                  <a:spcPts val="800"/>
                </a:spcBef>
                <a:spcAft>
                  <a:spcPts val="800"/>
                </a:spcAft>
                <a:buClr>
                  <a:schemeClr val="dk1"/>
                </a:buClr>
                <a:buSzPts val="1100"/>
              </a:pPr>
              <a:r>
                <a:rPr lang="en-US" sz="2400" dirty="0">
                  <a:solidFill>
                    <a:srgbClr val="222222"/>
                  </a:solidFill>
                  <a:highlight>
                    <a:srgbClr val="FFFFFF"/>
                  </a:highlight>
                </a:rPr>
                <a:t>Severe allergic reactions to corticosteroid injections, although rare, can occur even in previously tolerant patients. Early recognition and management are crucial to prevent catastrophic outcomes.</a:t>
              </a:r>
              <a:endParaRPr sz="3600" dirty="0">
                <a:solidFill>
                  <a:schemeClr val="dk1"/>
                </a:solidFill>
                <a:latin typeface="Calibri"/>
                <a:ea typeface="Calibri"/>
                <a:cs typeface="Calibri"/>
                <a:sym typeface="Calibri"/>
              </a:endParaRPr>
            </a:p>
          </p:txBody>
        </p:sp>
        <p:pic>
          <p:nvPicPr>
            <p:cNvPr id="104" name="Google Shape;104;p13" descr="Logo, company name&#10;&#10;Description automatically generated"/>
            <p:cNvPicPr preferRelativeResize="0"/>
            <p:nvPr/>
          </p:nvPicPr>
          <p:blipFill rotWithShape="1">
            <a:blip r:embed="rId3">
              <a:alphaModFix/>
            </a:blip>
            <a:srcRect b="54543"/>
            <a:stretch/>
          </p:blipFill>
          <p:spPr>
            <a:xfrm>
              <a:off x="23192590" y="19296458"/>
              <a:ext cx="3748117" cy="1692222"/>
            </a:xfrm>
            <a:prstGeom prst="rect">
              <a:avLst/>
            </a:prstGeom>
            <a:noFill/>
            <a:ln>
              <a:noFill/>
            </a:ln>
          </p:spPr>
        </p:pic>
        <p:pic>
          <p:nvPicPr>
            <p:cNvPr id="105" name="Google Shape;105;p13" descr="Logo, company name&#10;&#10;Description automatically generated"/>
            <p:cNvPicPr preferRelativeResize="0"/>
            <p:nvPr/>
          </p:nvPicPr>
          <p:blipFill rotWithShape="1">
            <a:blip r:embed="rId3">
              <a:alphaModFix/>
            </a:blip>
            <a:srcRect t="47565" b="13424"/>
            <a:stretch/>
          </p:blipFill>
          <p:spPr>
            <a:xfrm>
              <a:off x="25180285" y="19211908"/>
              <a:ext cx="3955647" cy="1532673"/>
            </a:xfrm>
            <a:prstGeom prst="rect">
              <a:avLst/>
            </a:prstGeom>
            <a:noFill/>
            <a:ln>
              <a:noFill/>
            </a:ln>
          </p:spPr>
        </p:pic>
        <p:sp>
          <p:nvSpPr>
            <p:cNvPr id="106" name="Google Shape;106;p13"/>
            <p:cNvSpPr txBox="1"/>
            <p:nvPr/>
          </p:nvSpPr>
          <p:spPr>
            <a:xfrm>
              <a:off x="11683365" y="4520369"/>
              <a:ext cx="1610800" cy="1710400"/>
            </a:xfrm>
            <a:prstGeom prst="rect">
              <a:avLst/>
            </a:prstGeom>
            <a:noFill/>
            <a:ln>
              <a:noFill/>
            </a:ln>
          </p:spPr>
          <p:txBody>
            <a:bodyPr spcFirstLastPara="1" wrap="square" lIns="60950" tIns="60950" rIns="60950" bIns="60950" anchor="ctr" anchorCtr="0">
              <a:noAutofit/>
            </a:bodyPr>
            <a:lstStyle/>
            <a:p>
              <a:pPr>
                <a:buSzPts val="1400"/>
              </a:pPr>
              <a:r>
                <a:rPr lang="en-US" sz="933"/>
                <a:t> </a:t>
              </a:r>
              <a:endParaRPr sz="933"/>
            </a:p>
          </p:txBody>
        </p:sp>
        <p:pic>
          <p:nvPicPr>
            <p:cNvPr id="107" name="Google Shape;107;p13"/>
            <p:cNvPicPr preferRelativeResize="0"/>
            <p:nvPr/>
          </p:nvPicPr>
          <p:blipFill rotWithShape="1">
            <a:blip r:embed="rId4">
              <a:alphaModFix/>
            </a:blip>
            <a:srcRect/>
            <a:stretch/>
          </p:blipFill>
          <p:spPr>
            <a:xfrm>
              <a:off x="11710932" y="4514178"/>
              <a:ext cx="9496375" cy="6215426"/>
            </a:xfrm>
            <a:prstGeom prst="rect">
              <a:avLst/>
            </a:prstGeom>
            <a:noFill/>
            <a:ln>
              <a:noFill/>
            </a:ln>
          </p:spPr>
        </p:pic>
        <p:pic>
          <p:nvPicPr>
            <p:cNvPr id="108" name="Google Shape;108;p13"/>
            <p:cNvPicPr preferRelativeResize="0"/>
            <p:nvPr/>
          </p:nvPicPr>
          <p:blipFill rotWithShape="1">
            <a:blip r:embed="rId5">
              <a:alphaModFix/>
            </a:blip>
            <a:srcRect/>
            <a:stretch/>
          </p:blipFill>
          <p:spPr>
            <a:xfrm>
              <a:off x="11683365" y="12135621"/>
              <a:ext cx="9313998" cy="9138061"/>
            </a:xfrm>
            <a:prstGeom prst="rect">
              <a:avLst/>
            </a:prstGeom>
            <a:noFill/>
            <a:ln>
              <a:noFill/>
            </a:ln>
          </p:spPr>
        </p:pic>
      </p:grpSp>
      <p:pic>
        <p:nvPicPr>
          <p:cNvPr id="109" name="Picture 108" descr="19C.png"/>
          <p:cNvPicPr>
            <a:picLocks noChangeAspect="1"/>
          </p:cNvPicPr>
          <p:nvPr/>
        </p:nvPicPr>
        <p:blipFill>
          <a:blip r:embed="rId6"/>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962</Words>
  <Application>Microsoft Macintosh PowerPoint</Application>
  <PresentationFormat>Custom</PresentationFormat>
  <Paragraphs>34</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Arial</vt:lpstr>
      <vt:lpstr>Helvetica Neue</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1</cp:revision>
  <dcterms:modified xsi:type="dcterms:W3CDTF">2025-04-26T16:48:12Z</dcterms:modified>
</cp:coreProperties>
</file>