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8" r:id="rId2"/>
  </p:sldIdLst>
  <p:sldSz cx="32918400" cy="219456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iSNY9NRWbquKByKwsORgJ7/6Yno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60"/>
    <p:restoredTop sz="94652"/>
  </p:normalViewPr>
  <p:slideViewPr>
    <p:cSldViewPr snapToGrid="0">
      <p:cViewPr varScale="1">
        <p:scale>
          <a:sx n="50" d="100"/>
          <a:sy n="50" d="100"/>
        </p:scale>
        <p:origin x="2232" y="200"/>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19" Type="http://customschemas.google.com/relationships/presentationmetadata" Target="metadata"/><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3: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1" name="Google Shape;14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84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84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3840" b="0" i="0" u="none" strike="noStrike" cap="none">
                <a:solidFill>
                  <a:srgbClr val="888888"/>
                </a:solidFill>
                <a:latin typeface="Calibri"/>
                <a:ea typeface="Calibri"/>
                <a:cs typeface="Calibri"/>
                <a:sym typeface="Calibri"/>
              </a:defRPr>
            </a:lvl1pPr>
            <a:lvl2pPr marL="0" marR="0" lvl="1" indent="0" algn="r" rtl="0">
              <a:spcBef>
                <a:spcPts val="0"/>
              </a:spcBef>
              <a:buNone/>
              <a:defRPr sz="3840" b="0" i="0" u="none" strike="noStrike" cap="none">
                <a:solidFill>
                  <a:srgbClr val="888888"/>
                </a:solidFill>
                <a:latin typeface="Calibri"/>
                <a:ea typeface="Calibri"/>
                <a:cs typeface="Calibri"/>
                <a:sym typeface="Calibri"/>
              </a:defRPr>
            </a:lvl2pPr>
            <a:lvl3pPr marL="0" marR="0" lvl="2" indent="0" algn="r" rtl="0">
              <a:spcBef>
                <a:spcPts val="0"/>
              </a:spcBef>
              <a:buNone/>
              <a:defRPr sz="3840" b="0" i="0" u="none" strike="noStrike" cap="none">
                <a:solidFill>
                  <a:srgbClr val="888888"/>
                </a:solidFill>
                <a:latin typeface="Calibri"/>
                <a:ea typeface="Calibri"/>
                <a:cs typeface="Calibri"/>
                <a:sym typeface="Calibri"/>
              </a:defRPr>
            </a:lvl3pPr>
            <a:lvl4pPr marL="0" marR="0" lvl="3" indent="0" algn="r" rtl="0">
              <a:spcBef>
                <a:spcPts val="0"/>
              </a:spcBef>
              <a:buNone/>
              <a:defRPr sz="3840" b="0" i="0" u="none" strike="noStrike" cap="none">
                <a:solidFill>
                  <a:srgbClr val="888888"/>
                </a:solidFill>
                <a:latin typeface="Calibri"/>
                <a:ea typeface="Calibri"/>
                <a:cs typeface="Calibri"/>
                <a:sym typeface="Calibri"/>
              </a:defRPr>
            </a:lvl4pPr>
            <a:lvl5pPr marL="0" marR="0" lvl="4" indent="0" algn="r" rtl="0">
              <a:spcBef>
                <a:spcPts val="0"/>
              </a:spcBef>
              <a:buNone/>
              <a:defRPr sz="3840" b="0" i="0" u="none" strike="noStrike" cap="none">
                <a:solidFill>
                  <a:srgbClr val="888888"/>
                </a:solidFill>
                <a:latin typeface="Calibri"/>
                <a:ea typeface="Calibri"/>
                <a:cs typeface="Calibri"/>
                <a:sym typeface="Calibri"/>
              </a:defRPr>
            </a:lvl5pPr>
            <a:lvl6pPr marL="0" marR="0" lvl="5" indent="0" algn="r" rtl="0">
              <a:spcBef>
                <a:spcPts val="0"/>
              </a:spcBef>
              <a:buNone/>
              <a:defRPr sz="3840" b="0" i="0" u="none" strike="noStrike" cap="none">
                <a:solidFill>
                  <a:srgbClr val="888888"/>
                </a:solidFill>
                <a:latin typeface="Calibri"/>
                <a:ea typeface="Calibri"/>
                <a:cs typeface="Calibri"/>
                <a:sym typeface="Calibri"/>
              </a:defRPr>
            </a:lvl6pPr>
            <a:lvl7pPr marL="0" marR="0" lvl="6" indent="0" algn="r" rtl="0">
              <a:spcBef>
                <a:spcPts val="0"/>
              </a:spcBef>
              <a:buNone/>
              <a:defRPr sz="3840" b="0" i="0" u="none" strike="noStrike" cap="none">
                <a:solidFill>
                  <a:srgbClr val="888888"/>
                </a:solidFill>
                <a:latin typeface="Calibri"/>
                <a:ea typeface="Calibri"/>
                <a:cs typeface="Calibri"/>
                <a:sym typeface="Calibri"/>
              </a:defRPr>
            </a:lvl7pPr>
            <a:lvl8pPr marL="0" marR="0" lvl="7" indent="0" algn="r" rtl="0">
              <a:spcBef>
                <a:spcPts val="0"/>
              </a:spcBef>
              <a:buNone/>
              <a:defRPr sz="3840" b="0" i="0" u="none" strike="noStrike" cap="none">
                <a:solidFill>
                  <a:srgbClr val="888888"/>
                </a:solidFill>
                <a:latin typeface="Calibri"/>
                <a:ea typeface="Calibri"/>
                <a:cs typeface="Calibri"/>
                <a:sym typeface="Calibri"/>
              </a:defRPr>
            </a:lvl8pPr>
            <a:lvl9pPr marL="0" marR="0" lvl="8" indent="0" algn="r" rtl="0">
              <a:spcBef>
                <a:spcPts val="0"/>
              </a:spcBef>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jpe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
          <p:cNvSpPr/>
          <p:nvPr/>
        </p:nvSpPr>
        <p:spPr>
          <a:xfrm>
            <a:off x="1006457" y="9207144"/>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dirty="0">
                <a:solidFill>
                  <a:schemeClr val="lt1"/>
                </a:solidFill>
                <a:latin typeface="Calibri"/>
                <a:ea typeface="Calibri"/>
                <a:cs typeface="Calibri"/>
                <a:sym typeface="Calibri"/>
              </a:rPr>
              <a:t>Methods</a:t>
            </a:r>
            <a:endParaRPr sz="667" dirty="0"/>
          </a:p>
        </p:txBody>
      </p:sp>
      <p:sp>
        <p:nvSpPr>
          <p:cNvPr id="144" name="Google Shape;144;p3"/>
          <p:cNvSpPr/>
          <p:nvPr/>
        </p:nvSpPr>
        <p:spPr>
          <a:xfrm>
            <a:off x="1006457" y="10196789"/>
            <a:ext cx="8839200" cy="11072448"/>
          </a:xfrm>
          <a:prstGeom prst="rect">
            <a:avLst/>
          </a:prstGeom>
          <a:solidFill>
            <a:schemeClr val="lt1"/>
          </a:solidFill>
          <a:ln>
            <a:noFill/>
          </a:ln>
        </p:spPr>
        <p:txBody>
          <a:bodyPr spcFirstLastPara="1" wrap="square" lIns="60950" tIns="30467" rIns="60950" bIns="30467" anchor="ctr" anchorCtr="0">
            <a:noAutofit/>
          </a:bodyPr>
          <a:lstStyle/>
          <a:p>
            <a:pPr algn="l" rtl="0" fontAlgn="base"/>
            <a:r>
              <a:rPr lang="en-US" sz="3600" b="1" dirty="0">
                <a:latin typeface="+mn-lt"/>
              </a:rPr>
              <a:t>Participants:</a:t>
            </a:r>
            <a:r>
              <a:rPr lang="en-US" sz="3600" dirty="0">
                <a:latin typeface="+mn-lt"/>
              </a:rPr>
              <a:t> 22 internal medicine residents at Saint Agnes Hospital.​​</a:t>
            </a:r>
          </a:p>
          <a:p>
            <a:pPr algn="l" rtl="0" fontAlgn="base"/>
            <a:endParaRPr lang="en-US" sz="1200" dirty="0">
              <a:latin typeface="+mn-lt"/>
            </a:endParaRPr>
          </a:p>
          <a:p>
            <a:pPr algn="l" rtl="0" fontAlgn="base"/>
            <a:r>
              <a:rPr lang="en-US" sz="3600" b="1" dirty="0">
                <a:latin typeface="+mn-lt"/>
              </a:rPr>
              <a:t>Intervention:</a:t>
            </a:r>
            <a:r>
              <a:rPr lang="en-US" sz="3600" dirty="0">
                <a:latin typeface="+mn-lt"/>
              </a:rPr>
              <a:t> A </a:t>
            </a:r>
            <a:r>
              <a:rPr lang="en-US" sz="3600" b="1" dirty="0">
                <a:latin typeface="+mn-lt"/>
              </a:rPr>
              <a:t>short, structured lecture</a:t>
            </a:r>
            <a:r>
              <a:rPr lang="en-US" sz="3600" dirty="0">
                <a:latin typeface="+mn-lt"/>
              </a:rPr>
              <a:t> by the hospital endocrinologist covering:​​</a:t>
            </a:r>
          </a:p>
          <a:p>
            <a:pPr algn="l" rtl="0" fontAlgn="base">
              <a:buFont typeface="Arial" panose="020B0604020202020204" pitchFamily="34" charset="0"/>
              <a:buChar char="•"/>
            </a:pPr>
            <a:r>
              <a:rPr lang="en-US" sz="3600" dirty="0">
                <a:latin typeface="+mn-lt"/>
              </a:rPr>
              <a:t>DKA pathophysiology​​</a:t>
            </a:r>
          </a:p>
          <a:p>
            <a:pPr algn="l" rtl="0" fontAlgn="base">
              <a:buFont typeface="Arial" panose="020B0604020202020204" pitchFamily="34" charset="0"/>
              <a:buChar char="•"/>
            </a:pPr>
            <a:r>
              <a:rPr lang="en-US" sz="3600" dirty="0">
                <a:latin typeface="+mn-lt"/>
              </a:rPr>
              <a:t>Diagnostic criteria​​</a:t>
            </a:r>
          </a:p>
          <a:p>
            <a:pPr algn="l" rtl="0" fontAlgn="base">
              <a:buFont typeface="Arial" panose="020B0604020202020204" pitchFamily="34" charset="0"/>
              <a:buChar char="•"/>
            </a:pPr>
            <a:r>
              <a:rPr lang="en-US" sz="3600" dirty="0">
                <a:latin typeface="+mn-lt"/>
              </a:rPr>
              <a:t>Management principles (fluids, insulin, electrolytes)​​</a:t>
            </a:r>
          </a:p>
          <a:p>
            <a:pPr algn="l" rtl="0" fontAlgn="base">
              <a:buFont typeface="Arial" panose="020B0604020202020204" pitchFamily="34" charset="0"/>
              <a:buChar char="•"/>
            </a:pPr>
            <a:r>
              <a:rPr lang="en-US" sz="3600" dirty="0">
                <a:latin typeface="+mn-lt"/>
              </a:rPr>
              <a:t>Transitioning to subcutaneous insulin​​</a:t>
            </a:r>
          </a:p>
          <a:p>
            <a:pPr algn="l" rtl="0" fontAlgn="base"/>
            <a:endParaRPr lang="en-US" sz="1200" b="1" dirty="0">
              <a:latin typeface="+mn-lt"/>
            </a:endParaRPr>
          </a:p>
          <a:p>
            <a:pPr algn="l" rtl="0" fontAlgn="base"/>
            <a:r>
              <a:rPr lang="en-US" sz="3600" b="1" dirty="0">
                <a:latin typeface="+mn-lt"/>
              </a:rPr>
              <a:t>Assessment:</a:t>
            </a:r>
            <a:r>
              <a:rPr lang="en-US" sz="3600" dirty="0">
                <a:latin typeface="+mn-lt"/>
              </a:rPr>
              <a:t>​​</a:t>
            </a:r>
          </a:p>
          <a:p>
            <a:pPr algn="l" rtl="0" fontAlgn="base">
              <a:buFont typeface="Arial" panose="020B0604020202020204" pitchFamily="34" charset="0"/>
              <a:buChar char="•"/>
            </a:pPr>
            <a:r>
              <a:rPr lang="en-US" sz="3600" b="1" dirty="0">
                <a:latin typeface="+mn-lt"/>
              </a:rPr>
              <a:t>Pre-Lecture Questionnaire (10 questions)</a:t>
            </a:r>
            <a:r>
              <a:rPr lang="en-US" sz="3600" dirty="0">
                <a:latin typeface="+mn-lt"/>
              </a:rPr>
              <a:t> → Baseline knowledge assessment​​</a:t>
            </a:r>
          </a:p>
          <a:p>
            <a:pPr algn="l" rtl="0" fontAlgn="base">
              <a:buFont typeface="Arial" panose="020B0604020202020204" pitchFamily="34" charset="0"/>
              <a:buChar char="•"/>
            </a:pPr>
            <a:r>
              <a:rPr lang="en-US" sz="3600" b="1" dirty="0">
                <a:latin typeface="+mn-lt"/>
              </a:rPr>
              <a:t>Post-Lecture Questionnaire (same 10 questions)</a:t>
            </a:r>
            <a:r>
              <a:rPr lang="en-US" sz="3600" dirty="0">
                <a:latin typeface="+mn-lt"/>
              </a:rPr>
              <a:t> → Knowledge improvement assessment​​</a:t>
            </a:r>
          </a:p>
          <a:p>
            <a:pPr algn="l" rtl="0" fontAlgn="base"/>
            <a:endParaRPr lang="en-US" sz="1200" dirty="0">
              <a:latin typeface="+mn-lt"/>
            </a:endParaRPr>
          </a:p>
          <a:p>
            <a:pPr algn="l" rtl="0" fontAlgn="base"/>
            <a:r>
              <a:rPr lang="en-US" sz="3600" b="1" dirty="0">
                <a:latin typeface="+mn-lt"/>
              </a:rPr>
              <a:t>Primary Outcome:</a:t>
            </a:r>
            <a:r>
              <a:rPr lang="en-US" sz="3600" dirty="0">
                <a:latin typeface="+mn-lt"/>
              </a:rPr>
              <a:t> Change in mean test scores before and after the intervention.​</a:t>
            </a:r>
          </a:p>
        </p:txBody>
      </p:sp>
      <p:sp>
        <p:nvSpPr>
          <p:cNvPr id="145" name="Google Shape;145;p3"/>
          <p:cNvSpPr/>
          <p:nvPr/>
        </p:nvSpPr>
        <p:spPr>
          <a:xfrm>
            <a:off x="1006457" y="4164259"/>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a:solidFill>
                  <a:schemeClr val="lt1"/>
                </a:solidFill>
                <a:latin typeface="Calibri"/>
                <a:ea typeface="Calibri"/>
                <a:cs typeface="Calibri"/>
                <a:sym typeface="Calibri"/>
              </a:rPr>
              <a:t>Introduction</a:t>
            </a:r>
            <a:endParaRPr sz="667"/>
          </a:p>
        </p:txBody>
      </p:sp>
      <p:sp>
        <p:nvSpPr>
          <p:cNvPr id="146" name="Google Shape;146;p3"/>
          <p:cNvSpPr/>
          <p:nvPr/>
        </p:nvSpPr>
        <p:spPr>
          <a:xfrm>
            <a:off x="1006457" y="5256124"/>
            <a:ext cx="8839200" cy="3831599"/>
          </a:xfrm>
          <a:prstGeom prst="rect">
            <a:avLst/>
          </a:prstGeom>
          <a:solidFill>
            <a:schemeClr val="lt1"/>
          </a:solidFill>
          <a:ln>
            <a:noFill/>
          </a:ln>
        </p:spPr>
        <p:txBody>
          <a:bodyPr spcFirstLastPara="1" wrap="square" lIns="60950" tIns="30467" rIns="60950" bIns="30467" anchor="ctr" anchorCtr="0">
            <a:noAutofit/>
          </a:bodyPr>
          <a:lstStyle/>
          <a:p>
            <a:r>
              <a:rPr lang="en-US" sz="2667" dirty="0">
                <a:latin typeface="Arial" panose="020B0604020202020204" pitchFamily="34" charset="0"/>
              </a:rPr>
              <a:t>Diabetic ketoacidosis (DKA) is a life-threatening emergency requiring rapid identification and management. Despite established guidelines, variability in physician knowledge and approach may impact patient outcomes. Our Quality Improvement (QI) project aimed to enhance internal medicine (IM) residents' understanding of DKA pathophysiology, diagnosis, and management through a structured educational lecture.</a:t>
            </a:r>
            <a:endParaRPr sz="2667" dirty="0">
              <a:solidFill>
                <a:schemeClr val="lt1"/>
              </a:solidFill>
              <a:latin typeface="Calibri"/>
              <a:ea typeface="Calibri"/>
              <a:cs typeface="Calibri"/>
              <a:sym typeface="Calibri"/>
            </a:endParaRPr>
          </a:p>
        </p:txBody>
      </p:sp>
      <p:sp>
        <p:nvSpPr>
          <p:cNvPr id="147" name="Google Shape;147;p3"/>
          <p:cNvSpPr/>
          <p:nvPr/>
        </p:nvSpPr>
        <p:spPr>
          <a:xfrm>
            <a:off x="914401" y="543535"/>
            <a:ext cx="30997542" cy="3261360"/>
          </a:xfrm>
          <a:prstGeom prst="rect">
            <a:avLst/>
          </a:prstGeom>
          <a:solidFill>
            <a:srgbClr val="004671"/>
          </a:solidFill>
          <a:ln>
            <a:noFill/>
          </a:ln>
        </p:spPr>
        <p:txBody>
          <a:bodyPr spcFirstLastPara="1" wrap="square" lIns="60950" tIns="30467" rIns="60950" bIns="30467" anchor="ctr" anchorCtr="0">
            <a:noAutofit/>
          </a:bodyPr>
          <a:lstStyle/>
          <a:p>
            <a:pPr algn="ctr"/>
            <a:endParaRPr sz="4839" dirty="0">
              <a:solidFill>
                <a:schemeClr val="lt1"/>
              </a:solidFill>
              <a:latin typeface="Calibri"/>
              <a:ea typeface="Calibri"/>
              <a:cs typeface="Calibri"/>
              <a:sym typeface="Calibri"/>
            </a:endParaRPr>
          </a:p>
        </p:txBody>
      </p:sp>
      <p:sp>
        <p:nvSpPr>
          <p:cNvPr id="148" name="Google Shape;148;p3"/>
          <p:cNvSpPr/>
          <p:nvPr/>
        </p:nvSpPr>
        <p:spPr>
          <a:xfrm>
            <a:off x="2499360" y="985145"/>
            <a:ext cx="28064136" cy="677082"/>
          </a:xfrm>
          <a:prstGeom prst="rect">
            <a:avLst/>
          </a:prstGeom>
          <a:noFill/>
          <a:ln>
            <a:noFill/>
          </a:ln>
        </p:spPr>
        <p:txBody>
          <a:bodyPr spcFirstLastPara="1" wrap="square" lIns="60950" tIns="30467" rIns="60950" bIns="30467" anchor="t" anchorCtr="0">
            <a:spAutoFit/>
          </a:bodyPr>
          <a:lstStyle/>
          <a:p>
            <a:pPr algn="ctr"/>
            <a:r>
              <a:rPr lang="en-US" sz="4000" b="1" dirty="0">
                <a:solidFill>
                  <a:srgbClr val="FFFFFF"/>
                </a:solidFill>
                <a:latin typeface="+mj-lt"/>
              </a:rPr>
              <a:t>Enhancing Internal Medicine Residents’ Knowledge of DKA Management</a:t>
            </a:r>
            <a:r>
              <a:rPr lang="en-US" sz="4000" dirty="0">
                <a:latin typeface="+mj-lt"/>
              </a:rPr>
              <a:t>​</a:t>
            </a:r>
            <a:endParaRPr sz="4000" dirty="0">
              <a:latin typeface="+mj-lt"/>
            </a:endParaRPr>
          </a:p>
        </p:txBody>
      </p:sp>
      <p:sp>
        <p:nvSpPr>
          <p:cNvPr id="149" name="Google Shape;149;p3"/>
          <p:cNvSpPr/>
          <p:nvPr/>
        </p:nvSpPr>
        <p:spPr>
          <a:xfrm>
            <a:off x="2499360" y="2124317"/>
            <a:ext cx="27919680" cy="1415554"/>
          </a:xfrm>
          <a:prstGeom prst="rect">
            <a:avLst/>
          </a:prstGeom>
          <a:noFill/>
          <a:ln>
            <a:noFill/>
          </a:ln>
        </p:spPr>
        <p:txBody>
          <a:bodyPr spcFirstLastPara="1" wrap="square" lIns="60950" tIns="30467" rIns="60950" bIns="30467" anchor="t" anchorCtr="0">
            <a:spAutoFit/>
          </a:bodyPr>
          <a:lstStyle/>
          <a:p>
            <a:pPr algn="ctr" rtl="0" fontAlgn="base"/>
            <a:r>
              <a:rPr lang="en-US" sz="2933" dirty="0">
                <a:solidFill>
                  <a:srgbClr val="FFFFFF"/>
                </a:solidFill>
                <a:latin typeface="+mj-lt"/>
              </a:rPr>
              <a:t>Nicholas Reyes, Shiva </a:t>
            </a:r>
            <a:r>
              <a:rPr lang="en-US" sz="2933" dirty="0" err="1">
                <a:solidFill>
                  <a:srgbClr val="FFFFFF"/>
                </a:solidFill>
                <a:latin typeface="+mj-lt"/>
              </a:rPr>
              <a:t>Hadadianpour</a:t>
            </a:r>
            <a:r>
              <a:rPr lang="en-US" sz="2933" dirty="0">
                <a:solidFill>
                  <a:srgbClr val="FFFFFF"/>
                </a:solidFill>
                <a:latin typeface="+mj-lt"/>
              </a:rPr>
              <a:t>, Spencer Johnson, </a:t>
            </a:r>
            <a:r>
              <a:rPr lang="en-US" sz="2933" dirty="0" err="1">
                <a:solidFill>
                  <a:srgbClr val="FFFFFF"/>
                </a:solidFill>
                <a:latin typeface="+mj-lt"/>
              </a:rPr>
              <a:t>Sukhampal</a:t>
            </a:r>
            <a:r>
              <a:rPr lang="en-US" sz="2933" dirty="0">
                <a:solidFill>
                  <a:srgbClr val="FFFFFF"/>
                </a:solidFill>
                <a:latin typeface="+mj-lt"/>
              </a:rPr>
              <a:t> Sidhu</a:t>
            </a:r>
            <a:r>
              <a:rPr lang="en-US" sz="2933" dirty="0">
                <a:latin typeface="+mj-lt"/>
              </a:rPr>
              <a:t>​</a:t>
            </a:r>
          </a:p>
          <a:p>
            <a:pPr algn="ctr" rtl="0" fontAlgn="base"/>
            <a:r>
              <a:rPr lang="en-US" sz="2933" dirty="0">
                <a:solidFill>
                  <a:srgbClr val="FFFFFF"/>
                </a:solidFill>
                <a:latin typeface="+mj-lt"/>
              </a:rPr>
              <a:t>Internal Medicine Residency Program</a:t>
            </a:r>
            <a:r>
              <a:rPr lang="en-US" sz="2933" dirty="0">
                <a:latin typeface="+mj-lt"/>
              </a:rPr>
              <a:t>​</a:t>
            </a:r>
          </a:p>
          <a:p>
            <a:pPr algn="ctr" rtl="0" fontAlgn="base"/>
            <a:r>
              <a:rPr lang="en-US" sz="2933" i="1" dirty="0">
                <a:solidFill>
                  <a:srgbClr val="FFFFFF"/>
                </a:solidFill>
                <a:latin typeface="+mj-lt"/>
              </a:rPr>
              <a:t>Saint Agnes Medical Center, Fresno, CA</a:t>
            </a:r>
            <a:endParaRPr lang="en-US" sz="2933" dirty="0">
              <a:latin typeface="+mj-lt"/>
            </a:endParaRPr>
          </a:p>
        </p:txBody>
      </p:sp>
      <p:sp>
        <p:nvSpPr>
          <p:cNvPr id="152" name="Google Shape;152;p3"/>
          <p:cNvSpPr/>
          <p:nvPr/>
        </p:nvSpPr>
        <p:spPr>
          <a:xfrm>
            <a:off x="23072743" y="4185786"/>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dirty="0">
                <a:solidFill>
                  <a:schemeClr val="lt1"/>
                </a:solidFill>
                <a:latin typeface="Calibri"/>
                <a:ea typeface="Calibri"/>
                <a:cs typeface="Calibri"/>
                <a:sym typeface="Calibri"/>
              </a:rPr>
              <a:t>Results</a:t>
            </a:r>
            <a:endParaRPr sz="667" dirty="0"/>
          </a:p>
        </p:txBody>
      </p:sp>
      <p:sp>
        <p:nvSpPr>
          <p:cNvPr id="153" name="Google Shape;153;p3"/>
          <p:cNvSpPr/>
          <p:nvPr/>
        </p:nvSpPr>
        <p:spPr>
          <a:xfrm>
            <a:off x="23263643" y="8593667"/>
            <a:ext cx="8839200" cy="2379133"/>
          </a:xfrm>
          <a:prstGeom prst="rect">
            <a:avLst/>
          </a:prstGeom>
          <a:solidFill>
            <a:schemeClr val="lt1"/>
          </a:solidFill>
          <a:ln>
            <a:noFill/>
          </a:ln>
        </p:spPr>
        <p:txBody>
          <a:bodyPr spcFirstLastPara="1" wrap="square" lIns="60950" tIns="30467" rIns="60950" bIns="30467" anchor="t" anchorCtr="0">
            <a:noAutofit/>
          </a:bodyPr>
          <a:lstStyle/>
          <a:p>
            <a:pPr algn="l" rtl="0" fontAlgn="base"/>
            <a:endParaRPr lang="en-US" sz="2667" dirty="0">
              <a:latin typeface="Arial" panose="020B0604020202020204" pitchFamily="34" charset="0"/>
            </a:endParaRPr>
          </a:p>
          <a:p>
            <a:pPr algn="l" rtl="0" fontAlgn="base">
              <a:buFont typeface="Arial" panose="020B0604020202020204" pitchFamily="34" charset="0"/>
              <a:buChar char="•"/>
            </a:pPr>
            <a:r>
              <a:rPr lang="en-US" sz="2933" dirty="0">
                <a:latin typeface="Arial" panose="020B0604020202020204" pitchFamily="34" charset="0"/>
              </a:rPr>
              <a:t>Significant knowledge improvement observed.​​</a:t>
            </a:r>
          </a:p>
          <a:p>
            <a:pPr algn="l" rtl="0" fontAlgn="base">
              <a:buFont typeface="Arial" panose="020B0604020202020204" pitchFamily="34" charset="0"/>
              <a:buChar char="•"/>
            </a:pPr>
            <a:r>
              <a:rPr lang="en-US" sz="2933" dirty="0">
                <a:latin typeface="Arial" panose="020B0604020202020204" pitchFamily="34" charset="0"/>
              </a:rPr>
              <a:t>P-value &lt; 0.001, indicating statistical significance.​​</a:t>
            </a:r>
          </a:p>
          <a:p>
            <a:pPr algn="l" rtl="0" fontAlgn="base">
              <a:buFont typeface="Arial" panose="020B0604020202020204" pitchFamily="34" charset="0"/>
              <a:buChar char="•"/>
            </a:pPr>
            <a:r>
              <a:rPr lang="en-US" sz="2933" dirty="0">
                <a:latin typeface="Arial" panose="020B0604020202020204" pitchFamily="34" charset="0"/>
              </a:rPr>
              <a:t>100% (22/22 residents) demonstrated improvement in post-lecture scores</a:t>
            </a:r>
            <a:r>
              <a:rPr lang="en-US" sz="1333" dirty="0">
                <a:latin typeface="Arial" panose="020B0604020202020204" pitchFamily="34" charset="0"/>
              </a:rPr>
              <a:t>.​</a:t>
            </a:r>
            <a:endParaRPr lang="en-US" sz="7667" dirty="0">
              <a:latin typeface="Arial" panose="020B0604020202020204" pitchFamily="34" charset="0"/>
            </a:endParaRPr>
          </a:p>
        </p:txBody>
      </p:sp>
      <p:sp>
        <p:nvSpPr>
          <p:cNvPr id="155" name="Google Shape;155;p3"/>
          <p:cNvSpPr/>
          <p:nvPr/>
        </p:nvSpPr>
        <p:spPr>
          <a:xfrm>
            <a:off x="12463001" y="17681027"/>
            <a:ext cx="8839200" cy="3888207"/>
          </a:xfrm>
          <a:prstGeom prst="rect">
            <a:avLst/>
          </a:prstGeom>
          <a:solidFill>
            <a:schemeClr val="lt1"/>
          </a:solidFill>
          <a:ln>
            <a:noFill/>
          </a:ln>
        </p:spPr>
        <p:txBody>
          <a:bodyPr spcFirstLastPara="1" wrap="square" lIns="60950" tIns="30467" rIns="60950" bIns="30467" anchor="ctr" anchorCtr="0">
            <a:noAutofit/>
          </a:bodyPr>
          <a:lstStyle/>
          <a:p>
            <a:pPr algn="l" rtl="0" fontAlgn="base">
              <a:buFont typeface="Arial" panose="020B0604020202020204" pitchFamily="34" charset="0"/>
              <a:buChar char="•"/>
            </a:pPr>
            <a:r>
              <a:rPr lang="en-US" sz="2133" dirty="0">
                <a:latin typeface="Arial" panose="020B0604020202020204" pitchFamily="34" charset="0"/>
              </a:rPr>
              <a:t>American Diabetes Association. </a:t>
            </a:r>
            <a:r>
              <a:rPr lang="en-US" sz="2133" b="1" dirty="0">
                <a:latin typeface="Arial" panose="020B0604020202020204" pitchFamily="34" charset="0"/>
              </a:rPr>
              <a:t>Diabetic Ketoacidosis (DKA) and Hyperosmolar Hyperglycemic State (HHS): Standards of Care in Diabetes – 2024</a:t>
            </a:r>
            <a:r>
              <a:rPr lang="en-US" sz="2133" dirty="0">
                <a:latin typeface="Arial" panose="020B0604020202020204" pitchFamily="34" charset="0"/>
              </a:rPr>
              <a:t>. </a:t>
            </a:r>
            <a:r>
              <a:rPr lang="en-US" sz="2133" i="1" dirty="0">
                <a:latin typeface="Arial" panose="020B0604020202020204" pitchFamily="34" charset="0"/>
              </a:rPr>
              <a:t>Diabetes Care.</a:t>
            </a:r>
            <a:r>
              <a:rPr lang="en-US" sz="2133" dirty="0">
                <a:latin typeface="Arial" panose="020B0604020202020204" pitchFamily="34" charset="0"/>
              </a:rPr>
              <a:t> 2024;47(Suppl 1):S151-S159. doi:10.2337/dc24-S011.​​</a:t>
            </a:r>
          </a:p>
          <a:p>
            <a:pPr algn="l" rtl="0" fontAlgn="base">
              <a:buFont typeface="Arial" panose="020B0604020202020204" pitchFamily="34" charset="0"/>
              <a:buChar char="•"/>
            </a:pPr>
            <a:r>
              <a:rPr lang="en-US" sz="2133" dirty="0">
                <a:latin typeface="Arial" panose="020B0604020202020204" pitchFamily="34" charset="0"/>
              </a:rPr>
              <a:t>Lane AS, Koh GC, Raj R, </a:t>
            </a:r>
            <a:r>
              <a:rPr lang="en-US" sz="2133" dirty="0" err="1">
                <a:latin typeface="Arial" panose="020B0604020202020204" pitchFamily="34" charset="0"/>
              </a:rPr>
              <a:t>Hooi</a:t>
            </a:r>
            <a:r>
              <a:rPr lang="en-US" sz="2133" dirty="0">
                <a:latin typeface="Arial" panose="020B0604020202020204" pitchFamily="34" charset="0"/>
              </a:rPr>
              <a:t> SC. </a:t>
            </a:r>
            <a:r>
              <a:rPr lang="en-US" sz="2133" b="1" dirty="0">
                <a:latin typeface="Arial" panose="020B0604020202020204" pitchFamily="34" charset="0"/>
              </a:rPr>
              <a:t>Impact of Educational Interventions on Knowledge and Confidence in Managing Diabetic Ketoacidosis: A Systematic Review</a:t>
            </a:r>
            <a:r>
              <a:rPr lang="en-US" sz="2133" dirty="0">
                <a:latin typeface="Arial" panose="020B0604020202020204" pitchFamily="34" charset="0"/>
              </a:rPr>
              <a:t>. </a:t>
            </a:r>
            <a:r>
              <a:rPr lang="en-US" sz="2133" i="1" dirty="0">
                <a:latin typeface="Arial" panose="020B0604020202020204" pitchFamily="34" charset="0"/>
              </a:rPr>
              <a:t>Postgrad Med J.</a:t>
            </a:r>
            <a:r>
              <a:rPr lang="en-US" sz="2133" dirty="0">
                <a:latin typeface="Arial" panose="020B0604020202020204" pitchFamily="34" charset="0"/>
              </a:rPr>
              <a:t> 2021;97(1147):545-551. doi:10.1136/postgradmedj-2021-140071.​​</a:t>
            </a:r>
          </a:p>
          <a:p>
            <a:pPr algn="l" rtl="0" fontAlgn="base">
              <a:buFont typeface="Arial" panose="020B0604020202020204" pitchFamily="34" charset="0"/>
              <a:buChar char="•"/>
            </a:pPr>
            <a:r>
              <a:rPr lang="en-US" sz="2133" dirty="0">
                <a:latin typeface="Arial" panose="020B0604020202020204" pitchFamily="34" charset="0"/>
              </a:rPr>
              <a:t>Saint Agnes Hospital Internal Medicine Residency Program. </a:t>
            </a:r>
            <a:r>
              <a:rPr lang="en-US" sz="2133" b="1" dirty="0">
                <a:latin typeface="Arial" panose="020B0604020202020204" pitchFamily="34" charset="0"/>
              </a:rPr>
              <a:t>Educational Materials for Diabetic Ketoacidosis Management</a:t>
            </a:r>
            <a:r>
              <a:rPr lang="en-US" sz="2133" dirty="0">
                <a:latin typeface="Arial" panose="020B0604020202020204" pitchFamily="34" charset="0"/>
              </a:rPr>
              <a:t>. Presented at Resident Didactics, 2025</a:t>
            </a:r>
          </a:p>
        </p:txBody>
      </p:sp>
      <p:sp>
        <p:nvSpPr>
          <p:cNvPr id="156" name="Google Shape;156;p3"/>
          <p:cNvSpPr/>
          <p:nvPr/>
        </p:nvSpPr>
        <p:spPr>
          <a:xfrm>
            <a:off x="12463001" y="16453673"/>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dirty="0">
                <a:solidFill>
                  <a:schemeClr val="lt1"/>
                </a:solidFill>
                <a:latin typeface="Calibri"/>
                <a:ea typeface="Calibri"/>
                <a:cs typeface="Calibri"/>
                <a:sym typeface="Calibri"/>
              </a:rPr>
              <a:t>References</a:t>
            </a:r>
            <a:endParaRPr sz="667" dirty="0"/>
          </a:p>
        </p:txBody>
      </p:sp>
      <p:sp>
        <p:nvSpPr>
          <p:cNvPr id="158" name="Google Shape;158;p3"/>
          <p:cNvSpPr/>
          <p:nvPr/>
        </p:nvSpPr>
        <p:spPr>
          <a:xfrm>
            <a:off x="23072743" y="11510957"/>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dirty="0">
                <a:solidFill>
                  <a:schemeClr val="lt1"/>
                </a:solidFill>
                <a:latin typeface="Calibri"/>
                <a:ea typeface="Calibri"/>
                <a:cs typeface="Calibri"/>
                <a:sym typeface="Calibri"/>
              </a:rPr>
              <a:t>Discussion</a:t>
            </a:r>
            <a:endParaRPr sz="667" dirty="0"/>
          </a:p>
        </p:txBody>
      </p:sp>
      <p:sp>
        <p:nvSpPr>
          <p:cNvPr id="159" name="Google Shape;159;p3"/>
          <p:cNvSpPr/>
          <p:nvPr/>
        </p:nvSpPr>
        <p:spPr>
          <a:xfrm>
            <a:off x="23072743" y="12591438"/>
            <a:ext cx="8839200" cy="8466667"/>
          </a:xfrm>
          <a:prstGeom prst="rect">
            <a:avLst/>
          </a:prstGeom>
          <a:solidFill>
            <a:schemeClr val="lt1"/>
          </a:solidFill>
          <a:ln>
            <a:noFill/>
          </a:ln>
        </p:spPr>
        <p:txBody>
          <a:bodyPr spcFirstLastPara="1" wrap="square" lIns="60950" tIns="30467" rIns="60950" bIns="30467" anchor="ctr" anchorCtr="0">
            <a:noAutofit/>
          </a:bodyPr>
          <a:lstStyle/>
          <a:p>
            <a:pPr algn="l" rtl="0" fontAlgn="base">
              <a:buFont typeface="Arial" panose="020B0604020202020204" pitchFamily="34" charset="0"/>
              <a:buChar char="•"/>
            </a:pPr>
            <a:r>
              <a:rPr lang="en-US" sz="2933" dirty="0">
                <a:latin typeface="Arial" panose="020B0604020202020204" pitchFamily="34" charset="0"/>
              </a:rPr>
              <a:t>The educational intervention was highly effective, demonstrating a significant increase in knowledge among IM residents.​​</a:t>
            </a:r>
          </a:p>
          <a:p>
            <a:pPr algn="l" rtl="0" fontAlgn="base"/>
            <a:r>
              <a:rPr lang="en-US" sz="2933" b="1" dirty="0">
                <a:latin typeface="Arial" panose="020B0604020202020204" pitchFamily="34" charset="0"/>
              </a:rPr>
              <a:t>Key learning points from post-intervention feedback:​</a:t>
            </a:r>
            <a:r>
              <a:rPr lang="en-US" sz="2933" dirty="0">
                <a:latin typeface="Arial" panose="020B0604020202020204" pitchFamily="34" charset="0"/>
              </a:rPr>
              <a:t>​</a:t>
            </a:r>
          </a:p>
          <a:p>
            <a:pPr algn="l" rtl="0" fontAlgn="base">
              <a:buFont typeface="Arial" panose="020B0604020202020204" pitchFamily="34" charset="0"/>
              <a:buChar char="•"/>
            </a:pPr>
            <a:r>
              <a:rPr lang="en-US" sz="2933" dirty="0">
                <a:latin typeface="Arial" panose="020B0604020202020204" pitchFamily="34" charset="0"/>
              </a:rPr>
              <a:t>Improved understanding of fluid resuscitation strategies.​​</a:t>
            </a:r>
          </a:p>
          <a:p>
            <a:pPr algn="l" rtl="0" fontAlgn="base">
              <a:buFont typeface="Arial" panose="020B0604020202020204" pitchFamily="34" charset="0"/>
              <a:buChar char="•"/>
            </a:pPr>
            <a:r>
              <a:rPr lang="en-US" sz="2933" dirty="0">
                <a:latin typeface="Arial" panose="020B0604020202020204" pitchFamily="34" charset="0"/>
              </a:rPr>
              <a:t>Better grasp of electrolyte correction (especially potassium management).​​</a:t>
            </a:r>
          </a:p>
          <a:p>
            <a:pPr algn="l" rtl="0" fontAlgn="base">
              <a:buFont typeface="Arial" panose="020B0604020202020204" pitchFamily="34" charset="0"/>
              <a:buChar char="•"/>
            </a:pPr>
            <a:r>
              <a:rPr lang="en-US" sz="2933" dirty="0">
                <a:latin typeface="Arial" panose="020B0604020202020204" pitchFamily="34" charset="0"/>
              </a:rPr>
              <a:t>Increased confidence in determining transition to subcutaneous insulin.​​</a:t>
            </a:r>
          </a:p>
          <a:p>
            <a:pPr algn="l" rtl="0" fontAlgn="base"/>
            <a:r>
              <a:rPr lang="en-US" sz="2933" b="1" dirty="0">
                <a:latin typeface="Arial" panose="020B0604020202020204" pitchFamily="34" charset="0"/>
              </a:rPr>
              <a:t>Future Directions:​</a:t>
            </a:r>
            <a:r>
              <a:rPr lang="en-US" sz="2933" dirty="0">
                <a:latin typeface="Arial" panose="020B0604020202020204" pitchFamily="34" charset="0"/>
              </a:rPr>
              <a:t>​</a:t>
            </a:r>
          </a:p>
          <a:p>
            <a:pPr algn="l" rtl="0" fontAlgn="base">
              <a:buFont typeface="Arial" panose="020B0604020202020204" pitchFamily="34" charset="0"/>
              <a:buChar char="•"/>
            </a:pPr>
            <a:r>
              <a:rPr lang="en-US" sz="2933" dirty="0">
                <a:latin typeface="Arial" panose="020B0604020202020204" pitchFamily="34" charset="0"/>
              </a:rPr>
              <a:t>Repeat sessions every 6 months to reinforce knowledge.​​</a:t>
            </a:r>
          </a:p>
          <a:p>
            <a:pPr algn="l" rtl="0" fontAlgn="base">
              <a:buFont typeface="Arial" panose="020B0604020202020204" pitchFamily="34" charset="0"/>
              <a:buChar char="•"/>
            </a:pPr>
            <a:r>
              <a:rPr lang="en-US" sz="2933" dirty="0">
                <a:latin typeface="Arial" panose="020B0604020202020204" pitchFamily="34" charset="0"/>
              </a:rPr>
              <a:t>Expand the intervention to include case-based learning and simulations.​​</a:t>
            </a:r>
          </a:p>
          <a:p>
            <a:pPr algn="l" rtl="0" fontAlgn="base">
              <a:buFont typeface="Arial" panose="020B0604020202020204" pitchFamily="34" charset="0"/>
              <a:buChar char="•"/>
            </a:pPr>
            <a:r>
              <a:rPr lang="en-US" sz="2933" dirty="0">
                <a:latin typeface="Arial" panose="020B0604020202020204" pitchFamily="34" charset="0"/>
              </a:rPr>
              <a:t>Implement DKA management protocols for standardization.​</a:t>
            </a:r>
          </a:p>
        </p:txBody>
      </p:sp>
      <p:pic>
        <p:nvPicPr>
          <p:cNvPr id="1026" name="Picture 2" descr="A graph showing a diagram&#10;&#10;AI-generated content may be incorrect.">
            <a:extLst>
              <a:ext uri="{FF2B5EF4-FFF2-40B4-BE49-F238E27FC236}">
                <a16:creationId xmlns:a16="http://schemas.microsoft.com/office/drawing/2014/main" id="{7AC02CFD-7F84-B2DE-978A-5728AC49C6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39188" y="4213086"/>
            <a:ext cx="9286825" cy="581891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graph with a line&#10;&#10;AI-generated content may be incorrect.">
            <a:extLst>
              <a:ext uri="{FF2B5EF4-FFF2-40B4-BE49-F238E27FC236}">
                <a16:creationId xmlns:a16="http://schemas.microsoft.com/office/drawing/2014/main" id="{A32A36D9-25EB-D995-EFDB-2DBF710937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15788" y="10105434"/>
            <a:ext cx="9302049" cy="62013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03A2781A-C5BE-68B3-F21B-FE4D71B4DE73}"/>
              </a:ext>
            </a:extLst>
          </p:cNvPr>
          <p:cNvGraphicFramePr>
            <a:graphicFrameLocks noGrp="1"/>
          </p:cNvGraphicFramePr>
          <p:nvPr>
            <p:extLst>
              <p:ext uri="{D42A27DB-BD31-4B8C-83A1-F6EECF244321}">
                <p14:modId xmlns:p14="http://schemas.microsoft.com/office/powerpoint/2010/main" val="872623139"/>
              </p:ext>
            </p:extLst>
          </p:nvPr>
        </p:nvGraphicFramePr>
        <p:xfrm>
          <a:off x="23454543" y="5647158"/>
          <a:ext cx="8457400" cy="3457531"/>
        </p:xfrm>
        <a:graphic>
          <a:graphicData uri="http://schemas.openxmlformats.org/drawingml/2006/table">
            <a:tbl>
              <a:tblPr/>
              <a:tblGrid>
                <a:gridCol w="4228700">
                  <a:extLst>
                    <a:ext uri="{9D8B030D-6E8A-4147-A177-3AD203B41FA5}">
                      <a16:colId xmlns:a16="http://schemas.microsoft.com/office/drawing/2014/main" val="2203520591"/>
                    </a:ext>
                  </a:extLst>
                </a:gridCol>
                <a:gridCol w="4228700">
                  <a:extLst>
                    <a:ext uri="{9D8B030D-6E8A-4147-A177-3AD203B41FA5}">
                      <a16:colId xmlns:a16="http://schemas.microsoft.com/office/drawing/2014/main" val="4092186477"/>
                    </a:ext>
                  </a:extLst>
                </a:gridCol>
              </a:tblGrid>
              <a:tr h="584817">
                <a:tc>
                  <a:txBody>
                    <a:bodyPr/>
                    <a:lstStyle/>
                    <a:p>
                      <a:pPr algn="l" fontAlgn="base"/>
                      <a:r>
                        <a:rPr lang="en-US" sz="2700" b="0" i="0" u="none" strike="noStrike">
                          <a:solidFill>
                            <a:srgbClr val="000000"/>
                          </a:solidFill>
                          <a:effectLst/>
                          <a:latin typeface="Arial" panose="020B0604020202020204" pitchFamily="34" charset="0"/>
                        </a:rPr>
                        <a:t>Assessment Phase</a:t>
                      </a:r>
                      <a:r>
                        <a:rPr lang="en-US" sz="2700" b="0" i="0">
                          <a:solidFill>
                            <a:srgbClr val="000000"/>
                          </a:solidFill>
                          <a:effectLst/>
                          <a:latin typeface="Arial" panose="020B0604020202020204" pitchFamily="34" charset="0"/>
                        </a:rPr>
                        <a:t>​</a:t>
                      </a:r>
                      <a:endParaRPr lang="en-US" sz="900" b="0" i="0">
                        <a:solidFill>
                          <a:srgbClr val="000000"/>
                        </a:solidFill>
                        <a:effectLst/>
                      </a:endParaRP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fontAlgn="base"/>
                      <a:r>
                        <a:rPr lang="en-US" sz="2700" b="0" i="0" u="none" strike="noStrike">
                          <a:solidFill>
                            <a:srgbClr val="000000"/>
                          </a:solidFill>
                          <a:effectLst/>
                          <a:latin typeface="Arial" panose="020B0604020202020204" pitchFamily="34" charset="0"/>
                        </a:rPr>
                        <a:t>Mean Score (%)</a:t>
                      </a:r>
                      <a:r>
                        <a:rPr lang="en-US" sz="2700" b="0" i="0">
                          <a:solidFill>
                            <a:srgbClr val="000000"/>
                          </a:solidFill>
                          <a:effectLst/>
                          <a:latin typeface="Arial" panose="020B0604020202020204" pitchFamily="34" charset="0"/>
                        </a:rPr>
                        <a:t>​</a:t>
                      </a:r>
                      <a:endParaRPr lang="en-US" sz="900" b="0" i="0">
                        <a:solidFill>
                          <a:srgbClr val="000000"/>
                        </a:solidFill>
                        <a:effectLst/>
                      </a:endParaRP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805774949"/>
                  </a:ext>
                </a:extLst>
              </a:tr>
              <a:tr h="584817">
                <a:tc>
                  <a:txBody>
                    <a:bodyPr/>
                    <a:lstStyle/>
                    <a:p>
                      <a:pPr algn="l" fontAlgn="base"/>
                      <a:r>
                        <a:rPr lang="en-US" sz="2700" b="1" i="0" u="none" strike="noStrike" dirty="0">
                          <a:solidFill>
                            <a:srgbClr val="000000"/>
                          </a:solidFill>
                          <a:effectLst/>
                          <a:latin typeface="Arial" panose="020B0604020202020204" pitchFamily="34" charset="0"/>
                        </a:rPr>
                        <a:t>Pre-Lecture</a:t>
                      </a:r>
                      <a:r>
                        <a:rPr lang="en-US" sz="2700" b="0" i="0" dirty="0">
                          <a:solidFill>
                            <a:srgbClr val="000000"/>
                          </a:solidFill>
                          <a:effectLst/>
                          <a:latin typeface="Arial" panose="020B0604020202020204" pitchFamily="34" charset="0"/>
                        </a:rPr>
                        <a:t>​</a:t>
                      </a:r>
                      <a:endParaRPr lang="en-US" sz="900" b="0" i="0" dirty="0">
                        <a:solidFill>
                          <a:srgbClr val="000000"/>
                        </a:solidFill>
                        <a:effectLst/>
                      </a:endParaRP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fontAlgn="base"/>
                      <a:r>
                        <a:rPr lang="en-US" sz="2700" b="0" i="0" u="none" strike="noStrike">
                          <a:solidFill>
                            <a:srgbClr val="000000"/>
                          </a:solidFill>
                          <a:effectLst/>
                          <a:latin typeface="Arial" panose="020B0604020202020204" pitchFamily="34" charset="0"/>
                        </a:rPr>
                        <a:t>55.45%</a:t>
                      </a:r>
                      <a:r>
                        <a:rPr lang="en-US" sz="2700" b="0" i="0">
                          <a:solidFill>
                            <a:srgbClr val="000000"/>
                          </a:solidFill>
                          <a:effectLst/>
                          <a:latin typeface="Arial" panose="020B0604020202020204" pitchFamily="34" charset="0"/>
                        </a:rPr>
                        <a:t>​</a:t>
                      </a:r>
                      <a:endParaRPr lang="en-US" sz="900" b="0" i="0">
                        <a:solidFill>
                          <a:srgbClr val="000000"/>
                        </a:solidFill>
                        <a:effectLst/>
                      </a:endParaRP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518795835"/>
                  </a:ext>
                </a:extLst>
              </a:tr>
              <a:tr h="1118263">
                <a:tc>
                  <a:txBody>
                    <a:bodyPr/>
                    <a:lstStyle/>
                    <a:p>
                      <a:pPr algn="l" fontAlgn="base"/>
                      <a:r>
                        <a:rPr lang="en-US" sz="2700" b="1" i="0" u="none" strike="noStrike">
                          <a:solidFill>
                            <a:srgbClr val="000000"/>
                          </a:solidFill>
                          <a:effectLst/>
                          <a:latin typeface="Arial" panose="020B0604020202020204" pitchFamily="34" charset="0"/>
                        </a:rPr>
                        <a:t>Post-Lecture</a:t>
                      </a:r>
                      <a:r>
                        <a:rPr lang="en-US" sz="2700" b="0" i="0">
                          <a:solidFill>
                            <a:srgbClr val="000000"/>
                          </a:solidFill>
                          <a:effectLst/>
                          <a:latin typeface="Arial" panose="020B0604020202020204" pitchFamily="34" charset="0"/>
                        </a:rPr>
                        <a:t>​</a:t>
                      </a:r>
                      <a:endParaRPr lang="en-US" sz="900" b="0" i="0">
                        <a:solidFill>
                          <a:srgbClr val="000000"/>
                        </a:solidFill>
                        <a:effectLst/>
                      </a:endParaRP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fontAlgn="base"/>
                      <a:r>
                        <a:rPr lang="en-US" sz="2700" b="0" i="0" u="none" strike="noStrike" dirty="0">
                          <a:solidFill>
                            <a:srgbClr val="000000"/>
                          </a:solidFill>
                          <a:effectLst/>
                          <a:latin typeface="Arial" panose="020B0604020202020204" pitchFamily="34" charset="0"/>
                        </a:rPr>
                        <a:t>85.1%</a:t>
                      </a:r>
                      <a:r>
                        <a:rPr lang="en-US" sz="2700" b="0" i="0" dirty="0">
                          <a:solidFill>
                            <a:srgbClr val="000000"/>
                          </a:solidFill>
                          <a:effectLst/>
                          <a:latin typeface="Arial" panose="020B0604020202020204" pitchFamily="34" charset="0"/>
                        </a:rPr>
                        <a:t>​</a:t>
                      </a:r>
                      <a:endParaRPr lang="en-US" sz="900" b="0" i="0" dirty="0">
                        <a:solidFill>
                          <a:srgbClr val="000000"/>
                        </a:solidFill>
                        <a:effectLst/>
                      </a:endParaRP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963369722"/>
                  </a:ext>
                </a:extLst>
              </a:tr>
              <a:tr h="584817">
                <a:tc>
                  <a:txBody>
                    <a:bodyPr/>
                    <a:lstStyle/>
                    <a:p>
                      <a:pPr algn="l" fontAlgn="base"/>
                      <a:r>
                        <a:rPr lang="en-US" sz="2700" b="1" i="0" u="none" strike="noStrike">
                          <a:solidFill>
                            <a:srgbClr val="000000"/>
                          </a:solidFill>
                          <a:effectLst/>
                          <a:latin typeface="Arial" panose="020B0604020202020204" pitchFamily="34" charset="0"/>
                        </a:rPr>
                        <a:t>Improvement</a:t>
                      </a:r>
                      <a:r>
                        <a:rPr lang="en-US" sz="2700" b="0" i="0">
                          <a:solidFill>
                            <a:srgbClr val="000000"/>
                          </a:solidFill>
                          <a:effectLst/>
                          <a:latin typeface="Arial" panose="020B0604020202020204" pitchFamily="34" charset="0"/>
                        </a:rPr>
                        <a:t>​</a:t>
                      </a:r>
                      <a:endParaRPr lang="en-US" sz="900" b="0" i="0">
                        <a:solidFill>
                          <a:srgbClr val="000000"/>
                        </a:solidFill>
                        <a:effectLst/>
                      </a:endParaRP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fontAlgn="base"/>
                      <a:r>
                        <a:rPr lang="en-US" sz="2700" b="1" i="0" u="none" strike="noStrike">
                          <a:solidFill>
                            <a:srgbClr val="000000"/>
                          </a:solidFill>
                          <a:effectLst/>
                          <a:latin typeface="Arial" panose="020B0604020202020204" pitchFamily="34" charset="0"/>
                        </a:rPr>
                        <a:t>+29.65%</a:t>
                      </a:r>
                      <a:r>
                        <a:rPr lang="en-US" sz="2700" b="0" i="0">
                          <a:solidFill>
                            <a:srgbClr val="000000"/>
                          </a:solidFill>
                          <a:effectLst/>
                          <a:latin typeface="Arial" panose="020B0604020202020204" pitchFamily="34" charset="0"/>
                        </a:rPr>
                        <a:t>​</a:t>
                      </a:r>
                      <a:endParaRPr lang="en-US" sz="900" b="0" i="0">
                        <a:solidFill>
                          <a:srgbClr val="000000"/>
                        </a:solidFill>
                        <a:effectLst/>
                      </a:endParaRP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4011750077"/>
                  </a:ext>
                </a:extLst>
              </a:tr>
              <a:tr h="584817">
                <a:tc>
                  <a:txBody>
                    <a:bodyPr/>
                    <a:lstStyle/>
                    <a:p>
                      <a:pPr algn="l" fontAlgn="base"/>
                      <a:r>
                        <a:rPr lang="en-US" sz="2700" b="1" i="0" u="none" strike="noStrike">
                          <a:solidFill>
                            <a:srgbClr val="000000"/>
                          </a:solidFill>
                          <a:effectLst/>
                          <a:latin typeface="Arial" panose="020B0604020202020204" pitchFamily="34" charset="0"/>
                        </a:rPr>
                        <a:t>​</a:t>
                      </a: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fontAlgn="base"/>
                      <a:r>
                        <a:rPr lang="en-US" sz="2700" b="1" i="0" u="none" strike="noStrike" dirty="0">
                          <a:solidFill>
                            <a:srgbClr val="000000"/>
                          </a:solidFill>
                          <a:effectLst/>
                          <a:latin typeface="Arial" panose="020B0604020202020204" pitchFamily="34" charset="0"/>
                        </a:rPr>
                        <a:t>​</a:t>
                      </a: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554196830"/>
                  </a:ext>
                </a:extLst>
              </a:tr>
            </a:tbl>
          </a:graphicData>
        </a:graphic>
      </p:graphicFrame>
      <p:sp>
        <p:nvSpPr>
          <p:cNvPr id="3" name="Rectangle 5">
            <a:extLst>
              <a:ext uri="{FF2B5EF4-FFF2-40B4-BE49-F238E27FC236}">
                <a16:creationId xmlns:a16="http://schemas.microsoft.com/office/drawing/2014/main" id="{17125E25-DBAC-18E3-22C7-C35DDE51206B}"/>
              </a:ext>
            </a:extLst>
          </p:cNvPr>
          <p:cNvSpPr>
            <a:spLocks noChangeArrowheads="1"/>
          </p:cNvSpPr>
          <p:nvPr/>
        </p:nvSpPr>
        <p:spPr bwMode="auto">
          <a:xfrm>
            <a:off x="22106098" y="5524303"/>
            <a:ext cx="980584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buClrTx/>
            </a:pPr>
            <a:r>
              <a:rPr lang="en-US" altLang="en-US" sz="1200">
                <a:solidFill>
                  <a:srgbClr val="000000"/>
                </a:solidFill>
                <a:latin typeface="Times" pitchFamily="2" charset="0"/>
              </a:rPr>
              <a:t> </a:t>
            </a:r>
            <a:endParaRPr lang="en-US" altLang="en-US" sz="1200"/>
          </a:p>
          <a:p>
            <a:pPr defTabSz="609630">
              <a:buClrTx/>
            </a:pPr>
            <a:endParaRPr lang="en-US" altLang="en-US" sz="1200"/>
          </a:p>
        </p:txBody>
      </p:sp>
      <p:pic>
        <p:nvPicPr>
          <p:cNvPr id="1029" name="Picture 1028" descr="50Q.png"/>
          <p:cNvPicPr>
            <a:picLocks noChangeAspect="1"/>
          </p:cNvPicPr>
          <p:nvPr/>
        </p:nvPicPr>
        <p:blipFill>
          <a:blip r:embed="rId5"/>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404</Words>
  <Application>Microsoft Macintosh PowerPoint</Application>
  <PresentationFormat>Custom</PresentationFormat>
  <Paragraphs>51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Times</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Phil Kim</cp:lastModifiedBy>
  <cp:revision>2</cp:revision>
  <dcterms:created xsi:type="dcterms:W3CDTF">2016-02-18T22:13:49Z</dcterms:created>
  <dcterms:modified xsi:type="dcterms:W3CDTF">2025-04-26T18:00:51Z</dcterms:modified>
</cp:coreProperties>
</file>