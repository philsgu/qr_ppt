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Montserrat" pitchFamily="2" charset="77"/>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izr9nd9vtsn1dcN1JW0fJzcRIj9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43"/>
    <p:restoredTop sz="94656"/>
  </p:normalViewPr>
  <p:slideViewPr>
    <p:cSldViewPr snapToGrid="0">
      <p:cViewPr>
        <p:scale>
          <a:sx n="90" d="100"/>
          <a:sy n="90" d="100"/>
        </p:scale>
        <p:origin x="144" y="328"/>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11" Type="http://customschemas.google.com/relationships/presentationmetadata" Target="meta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3f5d42d367_0_8: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33f5d42d367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g33f5d42d367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2" name="Group 1">
            <a:extLst>
              <a:ext uri="{FF2B5EF4-FFF2-40B4-BE49-F238E27FC236}">
                <a16:creationId xmlns:a16="http://schemas.microsoft.com/office/drawing/2014/main" id="{425D6C5B-E9C1-39CD-0D19-F2036841188F}"/>
              </a:ext>
            </a:extLst>
          </p:cNvPr>
          <p:cNvGrpSpPr/>
          <p:nvPr/>
        </p:nvGrpSpPr>
        <p:grpSpPr>
          <a:xfrm>
            <a:off x="457200" y="376366"/>
            <a:ext cx="32004000" cy="21144691"/>
            <a:chOff x="2499360" y="376366"/>
            <a:chExt cx="28147240" cy="21414467"/>
          </a:xfrm>
        </p:grpSpPr>
        <p:sp>
          <p:nvSpPr>
            <p:cNvPr id="89" name="Google Shape;89;g33f5d42d367_0_8"/>
            <p:cNvSpPr/>
            <p:nvPr/>
          </p:nvSpPr>
          <p:spPr>
            <a:xfrm>
              <a:off x="2499367" y="8897533"/>
              <a:ext cx="90716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a:t>
              </a:r>
              <a:endParaRPr sz="933"/>
            </a:p>
          </p:txBody>
        </p:sp>
        <p:sp>
          <p:nvSpPr>
            <p:cNvPr id="90" name="Google Shape;90;g33f5d42d367_0_8"/>
            <p:cNvSpPr/>
            <p:nvPr/>
          </p:nvSpPr>
          <p:spPr>
            <a:xfrm>
              <a:off x="2499367" y="9977933"/>
              <a:ext cx="9071600" cy="118128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buClr>
                  <a:schemeClr val="dk1"/>
                </a:buClr>
                <a:buSzPts val="1100"/>
              </a:pPr>
              <a:r>
                <a:rPr lang="en-US" sz="2467">
                  <a:solidFill>
                    <a:schemeClr val="dk1"/>
                  </a:solidFill>
                </a:rPr>
                <a:t>A 28-year-old female presented to the pulmonary clinic due to worsening shortness of breath which was abrupt in onset along with a large abdominal pelvic mass. On presentation, she was noted to have 2+ pitting edema of bilateral lower extremities, cough, dizziness on bending, and bendopnea. She denied a history of VTE, prior pregnancies, or recreational drug use. </a:t>
              </a:r>
              <a:endParaRPr sz="2467">
                <a:solidFill>
                  <a:schemeClr val="dk1"/>
                </a:solidFill>
              </a:endParaRPr>
            </a:p>
            <a:p>
              <a:pPr>
                <a:lnSpc>
                  <a:spcPct val="115000"/>
                </a:lnSpc>
                <a:buClr>
                  <a:schemeClr val="dk1"/>
                </a:buClr>
                <a:buSzPts val="1100"/>
              </a:pPr>
              <a:r>
                <a:rPr lang="en-US" sz="2467">
                  <a:solidFill>
                    <a:schemeClr val="dk1"/>
                  </a:solidFill>
                </a:rPr>
                <a:t>An echocardiogram revealed an EF of 50%, severely dilated right atrium and right ventricle with interatrial septal bowing towards the left atrium. The estimated RVSP was 70.5 mmHg. Right heart catheterization confirmed WHO Group I PAH with WHO FC III – Intermediate high-risk features. A CT abdomen showed a large conglomerate mass arising from the uterus or adnexa measuring 33 x 20 x 20 cm above 16 smaller masses with the largest one measuring 26 cm in diameter. CT Pulmonary angiogram was negative for pulmonary embolism but revealed enlargement of the main pulmonary artery. Surgery was recommended for the large Uterine fibroid. However, a new diagnosis of WHO Gp I PAH with Intermediate to high-risk features was also simultaneously diagnosed. A semi-elective surgery plan was planned. The patient was started on tadalafil 40 mg and macitentan 10 mg daily with excellent clinical response. She was admitted 3 days ahead of planned surgery and started on parenteral prostacyclin therapy (PPT) </a:t>
              </a:r>
              <a:endParaRPr sz="2467">
                <a:solidFill>
                  <a:schemeClr val="dk1"/>
                </a:solidFill>
              </a:endParaRPr>
            </a:p>
            <a:p>
              <a:pPr>
                <a:lnSpc>
                  <a:spcPct val="115000"/>
                </a:lnSpc>
                <a:buClr>
                  <a:schemeClr val="dk1"/>
                </a:buClr>
                <a:buSzPts val="1100"/>
              </a:pPr>
              <a:r>
                <a:rPr lang="en-US" sz="2467">
                  <a:solidFill>
                    <a:schemeClr val="dk1"/>
                  </a:solidFill>
                </a:rPr>
                <a:t>She underwent resection of the large uterine fibroid with a successful outcome (figure 1). PPT was weaned off post-operatively. The table in Figure 1 depicts the patient's right heart catheterization, pulmonary function test, and lab results.</a:t>
              </a:r>
              <a:endParaRPr sz="2467">
                <a:solidFill>
                  <a:srgbClr val="222222"/>
                </a:solidFill>
                <a:highlight>
                  <a:srgbClr val="FFFFFF"/>
                </a:highlight>
              </a:endParaRPr>
            </a:p>
          </p:txBody>
        </p:sp>
        <p:sp>
          <p:nvSpPr>
            <p:cNvPr id="91" name="Google Shape;91;g33f5d42d367_0_8"/>
            <p:cNvSpPr/>
            <p:nvPr/>
          </p:nvSpPr>
          <p:spPr>
            <a:xfrm>
              <a:off x="2499367" y="4328167"/>
              <a:ext cx="90716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2" name="Google Shape;92;g33f5d42d367_0_8"/>
            <p:cNvSpPr/>
            <p:nvPr/>
          </p:nvSpPr>
          <p:spPr>
            <a:xfrm>
              <a:off x="2499367" y="5314850"/>
              <a:ext cx="9071600" cy="33140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spcBef>
                  <a:spcPts val="800"/>
                </a:spcBef>
                <a:spcAft>
                  <a:spcPts val="800"/>
                </a:spcAft>
                <a:buClr>
                  <a:schemeClr val="dk1"/>
                </a:buClr>
                <a:buSzPts val="1100"/>
              </a:pPr>
              <a:r>
                <a:rPr lang="en-US" sz="2533">
                  <a:solidFill>
                    <a:schemeClr val="dk1"/>
                  </a:solidFill>
                </a:rPr>
                <a:t>Pulmonary Arterial Hypertension(PAH) is a devastating disease that can affect young women. It is relatively rare. Delayed diagnosis can lead to Right heart failure and death. Patients with PAH can carry a high mortality risk associated with surgery. Uterine fibroids are common in young women as well. We present a case of a 28-year-old female who presented with a large Uterine fibroid and PAH simultaneously. </a:t>
              </a:r>
              <a:endParaRPr sz="2533">
                <a:solidFill>
                  <a:schemeClr val="lt1"/>
                </a:solidFill>
              </a:endParaRPr>
            </a:p>
          </p:txBody>
        </p:sp>
        <p:sp>
          <p:nvSpPr>
            <p:cNvPr id="93" name="Google Shape;93;g33f5d42d367_0_8"/>
            <p:cNvSpPr/>
            <p:nvPr/>
          </p:nvSpPr>
          <p:spPr>
            <a:xfrm>
              <a:off x="2499360" y="376366"/>
              <a:ext cx="27919600" cy="38092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4" name="Google Shape;94;g33f5d42d367_0_8"/>
            <p:cNvSpPr/>
            <p:nvPr/>
          </p:nvSpPr>
          <p:spPr>
            <a:xfrm>
              <a:off x="7911900" y="838600"/>
              <a:ext cx="20073800" cy="933600"/>
            </a:xfrm>
            <a:prstGeom prst="rect">
              <a:avLst/>
            </a:prstGeom>
            <a:noFill/>
            <a:ln>
              <a:noFill/>
            </a:ln>
          </p:spPr>
          <p:txBody>
            <a:bodyPr spcFirstLastPara="1" wrap="square" lIns="60950" tIns="30467" rIns="60950" bIns="30467" anchor="t" anchorCtr="0">
              <a:noAutofit/>
            </a:bodyPr>
            <a:lstStyle/>
            <a:p>
              <a:pPr algn="ctr">
                <a:lnSpc>
                  <a:spcPct val="115000"/>
                </a:lnSpc>
                <a:buClr>
                  <a:schemeClr val="dk1"/>
                </a:buClr>
                <a:buSzPts val="1100"/>
              </a:pPr>
              <a:r>
                <a:rPr lang="en-US" sz="4000" b="1" dirty="0" err="1">
                  <a:solidFill>
                    <a:schemeClr val="lt1"/>
                  </a:solidFill>
                </a:rPr>
                <a:t>PHibroid</a:t>
              </a:r>
              <a:r>
                <a:rPr lang="en-US" sz="4000" b="1" dirty="0">
                  <a:solidFill>
                    <a:schemeClr val="lt1"/>
                  </a:solidFill>
                </a:rPr>
                <a:t>: A Case of Pulmonary Hypertension </a:t>
              </a:r>
            </a:p>
            <a:p>
              <a:pPr algn="ctr">
                <a:lnSpc>
                  <a:spcPct val="115000"/>
                </a:lnSpc>
                <a:buClr>
                  <a:schemeClr val="dk1"/>
                </a:buClr>
                <a:buSzPts val="1100"/>
              </a:pPr>
              <a:r>
                <a:rPr lang="en-US" sz="4000" b="1" dirty="0">
                  <a:solidFill>
                    <a:schemeClr val="lt1"/>
                  </a:solidFill>
                </a:rPr>
                <a:t>Induced by a Giant Uterine Leiomyoma</a:t>
              </a:r>
              <a:endParaRPr sz="4000" b="1" dirty="0">
                <a:solidFill>
                  <a:schemeClr val="lt1"/>
                </a:solidFill>
                <a:highlight>
                  <a:srgbClr val="004671"/>
                </a:highlight>
              </a:endParaRPr>
            </a:p>
          </p:txBody>
        </p:sp>
        <p:sp>
          <p:nvSpPr>
            <p:cNvPr id="95" name="Google Shape;95;g33f5d42d367_0_8"/>
            <p:cNvSpPr/>
            <p:nvPr/>
          </p:nvSpPr>
          <p:spPr>
            <a:xfrm>
              <a:off x="9467748" y="2255867"/>
              <a:ext cx="17550200" cy="1703000"/>
            </a:xfrm>
            <a:prstGeom prst="rect">
              <a:avLst/>
            </a:prstGeom>
            <a:noFill/>
            <a:ln>
              <a:noFill/>
            </a:ln>
          </p:spPr>
          <p:txBody>
            <a:bodyPr spcFirstLastPara="1" wrap="square" lIns="60950" tIns="30467" rIns="60950" bIns="30467" anchor="t" anchorCtr="0">
              <a:noAutofit/>
            </a:bodyPr>
            <a:lstStyle/>
            <a:p>
              <a:pPr algn="ctr">
                <a:buSzPts val="4800"/>
              </a:pPr>
              <a:r>
                <a:rPr lang="en-US" sz="2800" dirty="0">
                  <a:solidFill>
                    <a:schemeClr val="lt1"/>
                  </a:solidFill>
                  <a:highlight>
                    <a:srgbClr val="004671"/>
                  </a:highlight>
                  <a:latin typeface="Montserrat"/>
                  <a:ea typeface="Montserrat"/>
                  <a:cs typeface="Montserrat"/>
                  <a:sym typeface="Montserrat"/>
                </a:rPr>
                <a:t>Hamna Javed, MD; Mahwish Sheikh, MD; Andrew Clark, MD; Aftab Arif, MD;  </a:t>
              </a:r>
            </a:p>
            <a:p>
              <a:pPr algn="ctr">
                <a:buSzPts val="4800"/>
              </a:pPr>
              <a:r>
                <a:rPr lang="en-US" sz="2800" dirty="0">
                  <a:solidFill>
                    <a:schemeClr val="lt1"/>
                  </a:solidFill>
                  <a:highlight>
                    <a:srgbClr val="004671"/>
                  </a:highlight>
                  <a:latin typeface="Montserrat"/>
                  <a:ea typeface="Montserrat"/>
                  <a:cs typeface="Montserrat"/>
                  <a:sym typeface="Montserrat"/>
                </a:rPr>
                <a:t>Vijay Balasubramanian MD, MRCP (UK), FCCP</a:t>
              </a:r>
            </a:p>
            <a:p>
              <a:pPr algn="ctr">
                <a:buSzPts val="4800"/>
              </a:pPr>
              <a:r>
                <a:rPr lang="en-US" sz="2333" dirty="0">
                  <a:solidFill>
                    <a:schemeClr val="lt1"/>
                  </a:solidFill>
                  <a:highlight>
                    <a:srgbClr val="004671"/>
                  </a:highlight>
                  <a:latin typeface="Montserrat"/>
                  <a:ea typeface="Montserrat"/>
                  <a:cs typeface="Montserrat"/>
                  <a:sym typeface="Montserrat"/>
                </a:rPr>
                <a:t>Internal Medicine Residency, </a:t>
              </a:r>
              <a:r>
                <a:rPr lang="en-US" sz="2333" i="1" dirty="0">
                  <a:solidFill>
                    <a:schemeClr val="lt1"/>
                  </a:solidFill>
                  <a:highlight>
                    <a:srgbClr val="004671"/>
                  </a:highlight>
                  <a:latin typeface="Montserrat"/>
                  <a:ea typeface="Montserrat"/>
                  <a:cs typeface="Montserrat"/>
                  <a:sym typeface="Montserrat"/>
                </a:rPr>
                <a:t>Saint Agnes Medical Center, Fresno, CA</a:t>
              </a:r>
              <a:endParaRPr sz="2333" i="1" dirty="0">
                <a:solidFill>
                  <a:schemeClr val="lt1"/>
                </a:solidFill>
                <a:highlight>
                  <a:srgbClr val="004671"/>
                </a:highlight>
                <a:latin typeface="Montserrat"/>
                <a:ea typeface="Montserrat"/>
                <a:cs typeface="Montserrat"/>
                <a:sym typeface="Montserrat"/>
              </a:endParaRPr>
            </a:p>
            <a:p>
              <a:pPr marL="4233" algn="ctr">
                <a:buClr>
                  <a:schemeClr val="lt1"/>
                </a:buClr>
                <a:buSzPts val="3500"/>
              </a:pPr>
              <a:r>
                <a:rPr lang="en-US" sz="2333" i="1" dirty="0">
                  <a:solidFill>
                    <a:schemeClr val="lt1"/>
                  </a:solidFill>
                  <a:highlight>
                    <a:srgbClr val="004671"/>
                  </a:highlight>
                  <a:latin typeface="Montserrat"/>
                  <a:ea typeface="Montserrat"/>
                  <a:cs typeface="Montserrat"/>
                  <a:sym typeface="Montserrat"/>
                </a:rPr>
                <a:t>Pulmonary &amp; Critical Care </a:t>
              </a:r>
              <a:r>
                <a:rPr lang="en-US" sz="2333" i="1" dirty="0" err="1">
                  <a:solidFill>
                    <a:schemeClr val="lt1"/>
                  </a:solidFill>
                  <a:highlight>
                    <a:srgbClr val="004671"/>
                  </a:highlight>
                  <a:latin typeface="Montserrat"/>
                  <a:ea typeface="Montserrat"/>
                  <a:cs typeface="Montserrat"/>
                  <a:sym typeface="Montserrat"/>
                </a:rPr>
                <a:t>Medicne</a:t>
              </a:r>
              <a:r>
                <a:rPr lang="en-US" sz="2333" i="1" dirty="0">
                  <a:solidFill>
                    <a:schemeClr val="lt1"/>
                  </a:solidFill>
                  <a:highlight>
                    <a:srgbClr val="004671"/>
                  </a:highlight>
                  <a:latin typeface="Montserrat"/>
                  <a:ea typeface="Montserrat"/>
                  <a:cs typeface="Montserrat"/>
                  <a:sym typeface="Montserrat"/>
                </a:rPr>
                <a:t>, Valley Advanced Lung Disease Institute, Fresno, CA</a:t>
              </a:r>
              <a:endParaRPr sz="2333" i="1" dirty="0">
                <a:solidFill>
                  <a:schemeClr val="lt1"/>
                </a:solidFill>
                <a:highlight>
                  <a:srgbClr val="004671"/>
                </a:highlight>
                <a:latin typeface="Montserrat"/>
                <a:ea typeface="Montserrat"/>
                <a:cs typeface="Montserrat"/>
                <a:sym typeface="Montserrat"/>
              </a:endParaRPr>
            </a:p>
          </p:txBody>
        </p:sp>
        <p:sp>
          <p:nvSpPr>
            <p:cNvPr id="96" name="Google Shape;96;g33f5d42d367_0_8"/>
            <p:cNvSpPr txBox="1"/>
            <p:nvPr/>
          </p:nvSpPr>
          <p:spPr>
            <a:xfrm>
              <a:off x="11839884" y="15256200"/>
              <a:ext cx="10522400" cy="482093"/>
            </a:xfrm>
            <a:prstGeom prst="rect">
              <a:avLst/>
            </a:prstGeom>
            <a:noFill/>
            <a:ln>
              <a:noFill/>
            </a:ln>
          </p:spPr>
          <p:txBody>
            <a:bodyPr spcFirstLastPara="1" wrap="square" lIns="60950" tIns="30467" rIns="60950" bIns="30467" anchor="t" anchorCtr="0">
              <a:spAutoFit/>
            </a:bodyPr>
            <a:lstStyle/>
            <a:p>
              <a:pPr>
                <a:buSzPts val="3000"/>
              </a:pPr>
              <a:r>
                <a:rPr lang="en-US" sz="2733" b="1">
                  <a:solidFill>
                    <a:schemeClr val="dk1"/>
                  </a:solidFill>
                  <a:latin typeface="Calibri"/>
                  <a:ea typeface="Calibri"/>
                  <a:cs typeface="Calibri"/>
                  <a:sym typeface="Calibri"/>
                </a:rPr>
                <a:t>Table 1: PAH findings including RHC, PFTs, labs and Reveal Lite 2 score</a:t>
              </a:r>
              <a:endParaRPr sz="1667"/>
            </a:p>
          </p:txBody>
        </p:sp>
        <p:sp>
          <p:nvSpPr>
            <p:cNvPr id="97" name="Google Shape;97;g33f5d42d367_0_8"/>
            <p:cNvSpPr/>
            <p:nvPr/>
          </p:nvSpPr>
          <p:spPr>
            <a:xfrm>
              <a:off x="11741200" y="15838550"/>
              <a:ext cx="10777600" cy="11596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Discussion</a:t>
              </a:r>
              <a:endParaRPr sz="933"/>
            </a:p>
          </p:txBody>
        </p:sp>
        <p:sp>
          <p:nvSpPr>
            <p:cNvPr id="98" name="Google Shape;98;g33f5d42d367_0_8"/>
            <p:cNvSpPr/>
            <p:nvPr/>
          </p:nvSpPr>
          <p:spPr>
            <a:xfrm>
              <a:off x="11741117" y="17071433"/>
              <a:ext cx="10777600" cy="47194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buClr>
                  <a:schemeClr val="dk1"/>
                </a:buClr>
                <a:buSzPts val="1100"/>
              </a:pPr>
              <a:r>
                <a:rPr lang="en-US" sz="2600">
                  <a:solidFill>
                    <a:schemeClr val="dk1"/>
                  </a:solidFill>
                </a:rPr>
                <a:t>Pulmonary arterial hypertension (PAH) is a progressive disease with high perioperative mortality risk, particularly in young women [1,[2]. Surgery in PAH patients requires careful multidisciplinary planning due to risks of right heart failure[3]. Our patient presented with simultaneous WHO Group I PAH and a massive uterine fibroid, requiring urgent but carefully coordinated intervention. Preoperative optimization with tadalafil, macitentan, and perioperative parenteral prostacyclin therapy was essential for surgical success[4, 5]. This case highlights the importance of early PAH diagnosis, individualized therapy, and comprehensive perioperative management to improve outcomes[6, 7].</a:t>
              </a:r>
              <a:endParaRPr sz="2600"/>
            </a:p>
          </p:txBody>
        </p:sp>
        <p:sp>
          <p:nvSpPr>
            <p:cNvPr id="99" name="Google Shape;99;g33f5d42d367_0_8"/>
            <p:cNvSpPr/>
            <p:nvPr/>
          </p:nvSpPr>
          <p:spPr>
            <a:xfrm>
              <a:off x="22793301" y="15828800"/>
              <a:ext cx="77106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100" name="Google Shape;100;g33f5d42d367_0_8"/>
            <p:cNvSpPr/>
            <p:nvPr/>
          </p:nvSpPr>
          <p:spPr>
            <a:xfrm>
              <a:off x="22810067" y="16845750"/>
              <a:ext cx="7710600" cy="4945000"/>
            </a:xfrm>
            <a:prstGeom prst="rect">
              <a:avLst/>
            </a:prstGeom>
            <a:solidFill>
              <a:schemeClr val="lt1"/>
            </a:solidFill>
            <a:ln>
              <a:noFill/>
            </a:ln>
          </p:spPr>
          <p:txBody>
            <a:bodyPr spcFirstLastPara="1" wrap="square" lIns="60950" tIns="30467" rIns="60950" bIns="30467" anchor="ctr" anchorCtr="0">
              <a:noAutofit/>
            </a:bodyPr>
            <a:lstStyle/>
            <a:p>
              <a:pPr marL="304815" indent="-241312">
                <a:lnSpc>
                  <a:spcPct val="115000"/>
                </a:lnSpc>
                <a:buClr>
                  <a:schemeClr val="dk1"/>
                </a:buClr>
                <a:buSzPts val="2100"/>
                <a:buAutoNum type="arabicPeriod"/>
              </a:pPr>
              <a:r>
                <a:rPr lang="en-US" sz="1400">
                  <a:solidFill>
                    <a:schemeClr val="dk1"/>
                  </a:solidFill>
                </a:rPr>
                <a:t>Humbert M, Kovacs G, Hoeper MM, et al. 2022 ESC/ERS Guidelines for the diagnosis and treatment of pulmonary hypertension. </a:t>
              </a:r>
              <a:r>
                <a:rPr lang="en-US" sz="1400" i="1">
                  <a:solidFill>
                    <a:schemeClr val="dk1"/>
                  </a:solidFill>
                </a:rPr>
                <a:t>Eur Heart J</a:t>
              </a:r>
              <a:r>
                <a:rPr lang="en-US" sz="1400">
                  <a:solidFill>
                    <a:schemeClr val="dk1"/>
                  </a:solidFill>
                </a:rPr>
                <a:t>. 2022;43(38):3618-3731. doi:10.1093/eurheartj/ehac237 </a:t>
              </a:r>
              <a:endParaRPr sz="1400">
                <a:solidFill>
                  <a:schemeClr val="dk1"/>
                </a:solidFill>
              </a:endParaRPr>
            </a:p>
            <a:p>
              <a:pPr marL="304815" indent="-241312">
                <a:lnSpc>
                  <a:spcPct val="115000"/>
                </a:lnSpc>
                <a:buClr>
                  <a:schemeClr val="dk1"/>
                </a:buClr>
                <a:buSzPts val="2100"/>
                <a:buAutoNum type="arabicPeriod"/>
              </a:pPr>
              <a:r>
                <a:rPr lang="en-US" sz="1400">
                  <a:solidFill>
                    <a:schemeClr val="dk1"/>
                  </a:solidFill>
                </a:rPr>
                <a:t>Hoeper MM, Pausch C, Grünig E, et al. Characterization of patients with pulmonary arterial hypertension at diagnosis in the modern management era: Data from the COMPERA registry. </a:t>
              </a:r>
              <a:r>
                <a:rPr lang="en-US" sz="1400" i="1">
                  <a:solidFill>
                    <a:schemeClr val="dk1"/>
                  </a:solidFill>
                </a:rPr>
                <a:t>J Heart Lung Transplant</a:t>
              </a:r>
              <a:r>
                <a:rPr lang="en-US" sz="1400">
                  <a:solidFill>
                    <a:schemeClr val="dk1"/>
                  </a:solidFill>
                </a:rPr>
                <a:t>. 2022;41(10):1174-1183. doi:10.1016/j.healun.2022.07.011 </a:t>
              </a:r>
              <a:endParaRPr sz="1400">
                <a:solidFill>
                  <a:schemeClr val="dk1"/>
                </a:solidFill>
              </a:endParaRPr>
            </a:p>
            <a:p>
              <a:pPr marL="304815" indent="-241312">
                <a:lnSpc>
                  <a:spcPct val="115000"/>
                </a:lnSpc>
                <a:buClr>
                  <a:schemeClr val="dk1"/>
                </a:buClr>
                <a:buSzPts val="2100"/>
                <a:buAutoNum type="arabicPeriod"/>
              </a:pPr>
              <a:r>
                <a:rPr lang="en-US" sz="1400">
                  <a:solidFill>
                    <a:schemeClr val="dk1"/>
                  </a:solidFill>
                </a:rPr>
                <a:t>Price LC, Montani D, Jais X, et al. Noncardiothoracic nonobstetric surgery in patients with pulmonary hypertension: Data from the French Pulmonary Hypertension Registry. </a:t>
              </a:r>
              <a:r>
                <a:rPr lang="en-US" sz="1400" i="1">
                  <a:solidFill>
                    <a:schemeClr val="dk1"/>
                  </a:solidFill>
                </a:rPr>
                <a:t>Eur Respir J</a:t>
              </a:r>
              <a:r>
                <a:rPr lang="en-US" sz="1400">
                  <a:solidFill>
                    <a:schemeClr val="dk1"/>
                  </a:solidFill>
                </a:rPr>
                <a:t>. 2010;35(6):1294-1302. doi:10.1183/09031936.00013909 </a:t>
              </a:r>
              <a:endParaRPr sz="1400">
                <a:solidFill>
                  <a:schemeClr val="dk1"/>
                </a:solidFill>
              </a:endParaRPr>
            </a:p>
            <a:p>
              <a:pPr marL="304815" indent="-241312">
                <a:lnSpc>
                  <a:spcPct val="115000"/>
                </a:lnSpc>
                <a:buClr>
                  <a:schemeClr val="dk1"/>
                </a:buClr>
                <a:buSzPts val="2100"/>
                <a:buAutoNum type="arabicPeriod"/>
              </a:pPr>
              <a:r>
                <a:rPr lang="en-US" sz="1400">
                  <a:solidFill>
                    <a:schemeClr val="dk1"/>
                  </a:solidFill>
                </a:rPr>
                <a:t>Parker WH. Etiology, symptomatology, and diagnosis of uterine myomas. </a:t>
              </a:r>
              <a:r>
                <a:rPr lang="en-US" sz="1400" i="1">
                  <a:solidFill>
                    <a:schemeClr val="dk1"/>
                  </a:solidFill>
                </a:rPr>
                <a:t>Fertil Steril</a:t>
              </a:r>
              <a:r>
                <a:rPr lang="en-US" sz="1400">
                  <a:solidFill>
                    <a:schemeClr val="dk1"/>
                  </a:solidFill>
                </a:rPr>
                <a:t>. 2007;87(4):725-736. doi:10.1016/j.fertnstert.2007.01.093 </a:t>
              </a:r>
              <a:endParaRPr sz="1400">
                <a:solidFill>
                  <a:schemeClr val="dk1"/>
                </a:solidFill>
              </a:endParaRPr>
            </a:p>
            <a:p>
              <a:pPr marL="304815" indent="-241312">
                <a:lnSpc>
                  <a:spcPct val="115000"/>
                </a:lnSpc>
                <a:buClr>
                  <a:schemeClr val="dk1"/>
                </a:buClr>
                <a:buSzPts val="2100"/>
                <a:buAutoNum type="arabicPeriod"/>
              </a:pPr>
              <a:r>
                <a:rPr lang="en-US" sz="1400">
                  <a:solidFill>
                    <a:schemeClr val="dk1"/>
                  </a:solidFill>
                </a:rPr>
                <a:t>Galiè N, Channick RN, Granton J, et al. Combination of macitentan and tadalafil in pulmonary arterial hypertension. </a:t>
              </a:r>
              <a:r>
                <a:rPr lang="en-US" sz="1400" i="1">
                  <a:solidFill>
                    <a:schemeClr val="dk1"/>
                  </a:solidFill>
                </a:rPr>
                <a:t>N Engl J Med</a:t>
              </a:r>
              <a:r>
                <a:rPr lang="en-US" sz="1400">
                  <a:solidFill>
                    <a:schemeClr val="dk1"/>
                  </a:solidFill>
                </a:rPr>
                <a:t>. 2015;373(9):834-844. doi:10.1056/NEJMoa1413687 </a:t>
              </a:r>
              <a:endParaRPr sz="1400">
                <a:solidFill>
                  <a:schemeClr val="dk1"/>
                </a:solidFill>
              </a:endParaRPr>
            </a:p>
            <a:p>
              <a:pPr marL="304815" indent="-241312">
                <a:lnSpc>
                  <a:spcPct val="115000"/>
                </a:lnSpc>
                <a:buClr>
                  <a:schemeClr val="dk1"/>
                </a:buClr>
                <a:buSzPts val="2100"/>
                <a:buAutoNum type="arabicPeriod"/>
              </a:pPr>
              <a:r>
                <a:rPr lang="en-US" sz="1400">
                  <a:solidFill>
                    <a:schemeClr val="dk1"/>
                  </a:solidFill>
                </a:rPr>
                <a:t>Minai OA, Yared JP, Kaw R, et al. Perioperative risk and management in patients with pulmonary hypertension. </a:t>
              </a:r>
              <a:r>
                <a:rPr lang="en-US" sz="1400" i="1">
                  <a:solidFill>
                    <a:schemeClr val="dk1"/>
                  </a:solidFill>
                </a:rPr>
                <a:t>Chest</a:t>
              </a:r>
              <a:r>
                <a:rPr lang="en-US" sz="1400">
                  <a:solidFill>
                    <a:schemeClr val="dk1"/>
                  </a:solidFill>
                </a:rPr>
                <a:t>. 2013;144(1):329-340. doi:10.1378/chest.12-1910 ↩</a:t>
              </a:r>
              <a:endParaRPr sz="1400">
                <a:solidFill>
                  <a:schemeClr val="dk1"/>
                </a:solidFill>
              </a:endParaRPr>
            </a:p>
            <a:p>
              <a:pPr marL="304815" indent="-241312">
                <a:lnSpc>
                  <a:spcPct val="115000"/>
                </a:lnSpc>
                <a:buClr>
                  <a:schemeClr val="dk1"/>
                </a:buClr>
                <a:buSzPts val="2100"/>
                <a:buAutoNum type="arabicPeriod"/>
              </a:pPr>
              <a:r>
                <a:rPr lang="en-US" sz="1400">
                  <a:solidFill>
                    <a:schemeClr val="dk1"/>
                  </a:solidFill>
                </a:rPr>
                <a:t>Tambakis A, Brown LM, Wirth JA, et al. Surgical outcomes in patients with pulmonary arterial hypertension: A comprehensive review. </a:t>
              </a:r>
              <a:r>
                <a:rPr lang="en-US" sz="1400" i="1">
                  <a:solidFill>
                    <a:schemeClr val="dk1"/>
                  </a:solidFill>
                </a:rPr>
                <a:t>Pulm Circ</a:t>
              </a:r>
              <a:r>
                <a:rPr lang="en-US" sz="1400">
                  <a:solidFill>
                    <a:schemeClr val="dk1"/>
                  </a:solidFill>
                </a:rPr>
                <a:t>. 2022;12(3):e12132. doi:10.1002/pul2.12132</a:t>
              </a:r>
              <a:endParaRPr sz="1400">
                <a:solidFill>
                  <a:schemeClr val="dk1"/>
                </a:solidFill>
              </a:endParaRPr>
            </a:p>
          </p:txBody>
        </p:sp>
        <p:pic>
          <p:nvPicPr>
            <p:cNvPr id="101" name="Google Shape;101;g33f5d42d367_0_8" descr="Text&#10;&#10;Description automatically generated with medium confidence"/>
            <p:cNvPicPr preferRelativeResize="0"/>
            <p:nvPr/>
          </p:nvPicPr>
          <p:blipFill rotWithShape="1">
            <a:blip r:embed="rId3">
              <a:alphaModFix/>
            </a:blip>
            <a:srcRect/>
            <a:stretch/>
          </p:blipFill>
          <p:spPr>
            <a:xfrm>
              <a:off x="6793389" y="1372579"/>
              <a:ext cx="3873170" cy="1965580"/>
            </a:xfrm>
            <a:prstGeom prst="rect">
              <a:avLst/>
            </a:prstGeom>
            <a:noFill/>
            <a:ln>
              <a:noFill/>
            </a:ln>
          </p:spPr>
        </p:pic>
        <p:pic>
          <p:nvPicPr>
            <p:cNvPr id="102" name="Google Shape;102;g33f5d42d367_0_8"/>
            <p:cNvPicPr preferRelativeResize="0"/>
            <p:nvPr/>
          </p:nvPicPr>
          <p:blipFill rotWithShape="1">
            <a:blip r:embed="rId4">
              <a:alphaModFix/>
            </a:blip>
            <a:srcRect/>
            <a:stretch/>
          </p:blipFill>
          <p:spPr>
            <a:xfrm>
              <a:off x="2798261" y="617494"/>
              <a:ext cx="3638091" cy="3314050"/>
            </a:xfrm>
            <a:prstGeom prst="rect">
              <a:avLst/>
            </a:prstGeom>
            <a:noFill/>
            <a:ln>
              <a:noFill/>
            </a:ln>
          </p:spPr>
        </p:pic>
        <p:sp>
          <p:nvSpPr>
            <p:cNvPr id="103" name="Google Shape;103;g33f5d42d367_0_8"/>
            <p:cNvSpPr/>
            <p:nvPr/>
          </p:nvSpPr>
          <p:spPr>
            <a:xfrm>
              <a:off x="22810125" y="10588383"/>
              <a:ext cx="7609000" cy="11596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Conclusion</a:t>
              </a:r>
              <a:endParaRPr sz="933"/>
            </a:p>
          </p:txBody>
        </p:sp>
        <p:sp>
          <p:nvSpPr>
            <p:cNvPr id="104" name="Google Shape;104;g33f5d42d367_0_8"/>
            <p:cNvSpPr/>
            <p:nvPr/>
          </p:nvSpPr>
          <p:spPr>
            <a:xfrm>
              <a:off x="22810067" y="11766317"/>
              <a:ext cx="7609000" cy="38092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buClr>
                  <a:schemeClr val="dk1"/>
                </a:buClr>
                <a:buSzPts val="1100"/>
              </a:pPr>
              <a:r>
                <a:rPr lang="en-US" sz="2533">
                  <a:solidFill>
                    <a:schemeClr val="dk1"/>
                  </a:solidFill>
                </a:rPr>
                <a:t>PAH is well known to be associated with high peri-operative mortality. A systematic planned approach can certainly minimize this risk. In our patient, both diagnoses were made simultaneously and surgical resection was indicated for the large uterine mass. A comprehensive systematic evaluation and a multidisciplinary approach resulted in a favorable outcome.</a:t>
              </a:r>
              <a:endParaRPr sz="2533"/>
            </a:p>
          </p:txBody>
        </p:sp>
        <p:pic>
          <p:nvPicPr>
            <p:cNvPr id="105" name="Google Shape;105;g33f5d42d367_0_8" title="Screenshot 2025-04-25 at 5.29.08 PM.png"/>
            <p:cNvPicPr preferRelativeResize="0"/>
            <p:nvPr/>
          </p:nvPicPr>
          <p:blipFill rotWithShape="1">
            <a:blip r:embed="rId5">
              <a:alphaModFix/>
            </a:blip>
            <a:srcRect t="51475"/>
            <a:stretch/>
          </p:blipFill>
          <p:spPr>
            <a:xfrm>
              <a:off x="22823601" y="4569317"/>
              <a:ext cx="7608999" cy="5408616"/>
            </a:xfrm>
            <a:prstGeom prst="rect">
              <a:avLst/>
            </a:prstGeom>
            <a:noFill/>
            <a:ln>
              <a:noFill/>
            </a:ln>
          </p:spPr>
        </p:pic>
        <p:pic>
          <p:nvPicPr>
            <p:cNvPr id="106" name="Google Shape;106;g33f5d42d367_0_8" title="Screenshot 2025-04-25 at 5.32.42 PM.png"/>
            <p:cNvPicPr preferRelativeResize="0"/>
            <p:nvPr/>
          </p:nvPicPr>
          <p:blipFill rotWithShape="1">
            <a:blip r:embed="rId6">
              <a:alphaModFix/>
            </a:blip>
            <a:srcRect l="1592" t="1181" r="1882" b="344"/>
            <a:stretch/>
          </p:blipFill>
          <p:spPr>
            <a:xfrm>
              <a:off x="11839883" y="4414000"/>
              <a:ext cx="10522400" cy="10842200"/>
            </a:xfrm>
            <a:prstGeom prst="rect">
              <a:avLst/>
            </a:prstGeom>
            <a:noFill/>
            <a:ln>
              <a:noFill/>
            </a:ln>
          </p:spPr>
        </p:pic>
        <p:sp>
          <p:nvSpPr>
            <p:cNvPr id="107" name="Google Shape;107;g33f5d42d367_0_8"/>
            <p:cNvSpPr txBox="1"/>
            <p:nvPr/>
          </p:nvSpPr>
          <p:spPr>
            <a:xfrm>
              <a:off x="22936000" y="9969284"/>
              <a:ext cx="7710600" cy="482093"/>
            </a:xfrm>
            <a:prstGeom prst="rect">
              <a:avLst/>
            </a:prstGeom>
            <a:noFill/>
            <a:ln>
              <a:noFill/>
            </a:ln>
          </p:spPr>
          <p:txBody>
            <a:bodyPr spcFirstLastPara="1" wrap="square" lIns="60950" tIns="30467" rIns="60950" bIns="30467" anchor="t" anchorCtr="0">
              <a:spAutoFit/>
            </a:bodyPr>
            <a:lstStyle/>
            <a:p>
              <a:pPr>
                <a:buSzPts val="3000"/>
              </a:pPr>
              <a:r>
                <a:rPr lang="en-US" sz="2733" b="1">
                  <a:solidFill>
                    <a:schemeClr val="dk1"/>
                  </a:solidFill>
                  <a:latin typeface="Calibri"/>
                  <a:ea typeface="Calibri"/>
                  <a:cs typeface="Calibri"/>
                  <a:sym typeface="Calibri"/>
                </a:rPr>
                <a:t>Image 1: Post-operative image of leiomyoma</a:t>
              </a:r>
              <a:endParaRPr sz="1667"/>
            </a:p>
          </p:txBody>
        </p:sp>
      </p:grpSp>
      <p:pic>
        <p:nvPicPr>
          <p:cNvPr id="108" name="Picture 107" descr="39C.png"/>
          <p:cNvPicPr>
            <a:picLocks noChangeAspect="1"/>
          </p:cNvPicPr>
          <p:nvPr/>
        </p:nvPicPr>
        <p:blipFill>
          <a:blip r:embed="rId7"/>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893</Words>
  <Application>Microsoft Macintosh PowerPoint</Application>
  <PresentationFormat>Custom</PresentationFormat>
  <Paragraphs>27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Montserrat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1</cp:revision>
  <dcterms:created xsi:type="dcterms:W3CDTF">2016-02-18T22:13:49Z</dcterms:created>
  <dcterms:modified xsi:type="dcterms:W3CDTF">2025-04-26T20:50:30Z</dcterms:modified>
</cp:coreProperties>
</file>