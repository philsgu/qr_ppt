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58000" cy="9144000"/>
  <p:embeddedFontLst>
    <p:embeddedFont>
      <p:font typeface="Helvetica Neue" panose="02000503000000020004" pitchFamily="2"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2" roundtripDataSignature="AMtx7mhv6PK/5bzHMr3UdACzpH2D4o3vR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F582D43-0A40-4AC1-9963-54B1894188D1}">
  <a:tblStyle styleId="{5F582D43-0A40-4AC1-9963-54B1894188D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81"/>
    <p:restoredTop sz="94694"/>
  </p:normalViewPr>
  <p:slideViewPr>
    <p:cSldViewPr snapToGrid="0">
      <p:cViewPr varScale="1">
        <p:scale>
          <a:sx n="36" d="100"/>
          <a:sy n="36" d="100"/>
        </p:scale>
        <p:origin x="816" y="288"/>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presProps" Target="presProps.xml"/><Relationship Id="rId3" Type="http://schemas.openxmlformats.org/officeDocument/2006/relationships/notesMaster" Target="notesMasters/notesMaster1.xml"/><Relationship Id="rId7" Type="http://schemas.openxmlformats.org/officeDocument/2006/relationships/font" Target="fonts/font4.fntdata"/><Relationship Id="rId12" Type="http://customschemas.google.com/relationships/presentationmetadata" Target="meta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3.fntdata"/><Relationship Id="rId5" Type="http://schemas.openxmlformats.org/officeDocument/2006/relationships/font" Target="fonts/font2.fntdata"/><Relationship Id="rId15" Type="http://schemas.openxmlformats.org/officeDocument/2006/relationships/theme" Target="theme/theme1.xml"/><Relationship Id="rId4" Type="http://schemas.openxmlformats.org/officeDocument/2006/relationships/font" Target="fonts/font1.fntdata"/><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4: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10"/>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11"/>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11"/>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11"/>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14"/>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1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5"/>
          <p:cNvSpPr>
            <a:spLocks noGrp="1"/>
          </p:cNvSpPr>
          <p:nvPr>
            <p:ph type="pic" idx="2"/>
          </p:nvPr>
        </p:nvSpPr>
        <p:spPr>
          <a:xfrm>
            <a:off x="13994608" y="3159765"/>
            <a:ext cx="16664940" cy="15595600"/>
          </a:xfrm>
          <a:prstGeom prst="rect">
            <a:avLst/>
          </a:prstGeom>
          <a:noFill/>
          <a:ln>
            <a:noFill/>
          </a:ln>
        </p:spPr>
      </p:sp>
      <p:sp>
        <p:nvSpPr>
          <p:cNvPr id="68" name="Google Shape;68;p15"/>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Shape 88"/>
        <p:cNvGrpSpPr/>
        <p:nvPr/>
      </p:nvGrpSpPr>
      <p:grpSpPr>
        <a:xfrm>
          <a:off x="0" y="0"/>
          <a:ext cx="0" cy="0"/>
          <a:chOff x="0" y="0"/>
          <a:chExt cx="0" cy="0"/>
        </a:xfrm>
      </p:grpSpPr>
      <p:pic>
        <p:nvPicPr>
          <p:cNvPr id="89" name="Google Shape;89;p4"/>
          <p:cNvPicPr preferRelativeResize="0"/>
          <p:nvPr/>
        </p:nvPicPr>
        <p:blipFill rotWithShape="1">
          <a:blip r:embed="rId3">
            <a:alphaModFix amt="90000"/>
          </a:blip>
          <a:srcRect/>
          <a:stretch/>
        </p:blipFill>
        <p:spPr>
          <a:xfrm>
            <a:off x="0" y="1"/>
            <a:ext cx="32918401" cy="21945600"/>
          </a:xfrm>
          <a:prstGeom prst="rect">
            <a:avLst/>
          </a:prstGeom>
          <a:solidFill>
            <a:schemeClr val="accent1"/>
          </a:solidFill>
          <a:ln>
            <a:noFill/>
          </a:ln>
        </p:spPr>
      </p:pic>
      <p:grpSp>
        <p:nvGrpSpPr>
          <p:cNvPr id="2" name="Group 1">
            <a:extLst>
              <a:ext uri="{FF2B5EF4-FFF2-40B4-BE49-F238E27FC236}">
                <a16:creationId xmlns:a16="http://schemas.microsoft.com/office/drawing/2014/main" id="{D850E3C8-E0F4-225C-78A6-D722793B2278}"/>
              </a:ext>
            </a:extLst>
          </p:cNvPr>
          <p:cNvGrpSpPr/>
          <p:nvPr/>
        </p:nvGrpSpPr>
        <p:grpSpPr>
          <a:xfrm>
            <a:off x="525780" y="274320"/>
            <a:ext cx="32004000" cy="21236940"/>
            <a:chOff x="2499360" y="543535"/>
            <a:chExt cx="28064136" cy="21239715"/>
          </a:xfrm>
        </p:grpSpPr>
        <p:sp>
          <p:nvSpPr>
            <p:cNvPr id="90" name="Google Shape;90;p4"/>
            <p:cNvSpPr/>
            <p:nvPr/>
          </p:nvSpPr>
          <p:spPr>
            <a:xfrm>
              <a:off x="2499367" y="12921117"/>
              <a:ext cx="8839200" cy="8694400"/>
            </a:xfrm>
            <a:prstGeom prst="rect">
              <a:avLst/>
            </a:prstGeom>
            <a:solidFill>
              <a:schemeClr val="lt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1" name="Google Shape;91;p4"/>
            <p:cNvSpPr/>
            <p:nvPr/>
          </p:nvSpPr>
          <p:spPr>
            <a:xfrm>
              <a:off x="2499360" y="4328160"/>
              <a:ext cx="8839200" cy="1080481"/>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Introduction</a:t>
              </a:r>
              <a:endParaRPr sz="933"/>
            </a:p>
          </p:txBody>
        </p:sp>
        <p:sp>
          <p:nvSpPr>
            <p:cNvPr id="92" name="Google Shape;92;p4"/>
            <p:cNvSpPr/>
            <p:nvPr/>
          </p:nvSpPr>
          <p:spPr>
            <a:xfrm>
              <a:off x="2499360" y="543535"/>
              <a:ext cx="27919680" cy="326136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3" name="Google Shape;93;p4"/>
            <p:cNvSpPr/>
            <p:nvPr/>
          </p:nvSpPr>
          <p:spPr>
            <a:xfrm>
              <a:off x="2499360" y="584597"/>
              <a:ext cx="28064136" cy="2678173"/>
            </a:xfrm>
            <a:prstGeom prst="rect">
              <a:avLst/>
            </a:prstGeom>
            <a:noFill/>
            <a:ln>
              <a:noFill/>
            </a:ln>
          </p:spPr>
          <p:txBody>
            <a:bodyPr spcFirstLastPara="1" wrap="square" lIns="60950" tIns="30467" rIns="60950" bIns="30467" anchor="t" anchorCtr="0">
              <a:spAutoFit/>
            </a:bodyPr>
            <a:lstStyle/>
            <a:p>
              <a:pPr algn="ctr">
                <a:buClr>
                  <a:schemeClr val="dk1"/>
                </a:buClr>
                <a:buSzPts val="8500"/>
              </a:pPr>
              <a:r>
                <a:rPr lang="en-US" sz="5667" b="1" dirty="0">
                  <a:solidFill>
                    <a:schemeClr val="lt1"/>
                  </a:solidFill>
                </a:rPr>
                <a:t>Time is Muscle: Does the Red Card Program </a:t>
              </a:r>
            </a:p>
            <a:p>
              <a:pPr algn="ctr">
                <a:buClr>
                  <a:schemeClr val="dk1"/>
                </a:buClr>
                <a:buSzPts val="8500"/>
              </a:pPr>
              <a:r>
                <a:rPr lang="en-US" sz="5667" b="1" dirty="0">
                  <a:solidFill>
                    <a:schemeClr val="lt1"/>
                  </a:solidFill>
                </a:rPr>
                <a:t>Improve Door to Balloon Time?</a:t>
              </a:r>
              <a:endParaRPr sz="667" dirty="0">
                <a:solidFill>
                  <a:schemeClr val="dk1"/>
                </a:solidFill>
              </a:endParaRPr>
            </a:p>
            <a:p>
              <a:pPr algn="ctr">
                <a:buSzPts val="8500"/>
              </a:pPr>
              <a:endParaRPr sz="5667" b="1" dirty="0">
                <a:solidFill>
                  <a:schemeClr val="lt1"/>
                </a:solidFill>
                <a:latin typeface="Helvetica Neue"/>
                <a:ea typeface="Helvetica Neue"/>
                <a:cs typeface="Helvetica Neue"/>
                <a:sym typeface="Helvetica Neue"/>
              </a:endParaRPr>
            </a:p>
          </p:txBody>
        </p:sp>
        <p:sp>
          <p:nvSpPr>
            <p:cNvPr id="94" name="Google Shape;94;p4"/>
            <p:cNvSpPr/>
            <p:nvPr/>
          </p:nvSpPr>
          <p:spPr>
            <a:xfrm>
              <a:off x="2499360" y="2352463"/>
              <a:ext cx="27919600" cy="1231241"/>
            </a:xfrm>
            <a:prstGeom prst="rect">
              <a:avLst/>
            </a:prstGeom>
            <a:noFill/>
            <a:ln>
              <a:noFill/>
            </a:ln>
          </p:spPr>
          <p:txBody>
            <a:bodyPr spcFirstLastPara="1" wrap="square" lIns="60950" tIns="30467" rIns="60950" bIns="30467" anchor="t" anchorCtr="0">
              <a:spAutoFit/>
            </a:bodyPr>
            <a:lstStyle/>
            <a:p>
              <a:pPr algn="ctr">
                <a:buSzPts val="6000"/>
              </a:pPr>
              <a:r>
                <a:rPr lang="en-US" sz="2800" dirty="0">
                  <a:solidFill>
                    <a:schemeClr val="lt1"/>
                  </a:solidFill>
                </a:rPr>
                <a:t>Sravan Vemuri, MD; Onkar Sandhu, MD; Mehdi </a:t>
              </a:r>
              <a:r>
                <a:rPr lang="en-US" sz="2400" dirty="0" err="1">
                  <a:solidFill>
                    <a:schemeClr val="lt1"/>
                  </a:solidFill>
                </a:rPr>
                <a:t>Hakimipour</a:t>
              </a:r>
              <a:r>
                <a:rPr lang="en-US" sz="2800" dirty="0">
                  <a:solidFill>
                    <a:schemeClr val="lt1"/>
                  </a:solidFill>
                </a:rPr>
                <a:t>, MD</a:t>
              </a:r>
              <a:endParaRPr sz="2800" dirty="0">
                <a:solidFill>
                  <a:schemeClr val="lt1"/>
                </a:solidFill>
              </a:endParaRPr>
            </a:p>
            <a:p>
              <a:pPr algn="ctr">
                <a:buSzPts val="6000"/>
              </a:pPr>
              <a:r>
                <a:rPr lang="en-US" sz="2400" dirty="0">
                  <a:solidFill>
                    <a:schemeClr val="lt1"/>
                  </a:solidFill>
                </a:rPr>
                <a:t>Internal Medicine Residency, Saint Agnes Medical Center, Fresno, CA</a:t>
              </a:r>
              <a:endParaRPr sz="700" dirty="0"/>
            </a:p>
            <a:p>
              <a:pPr algn="ctr">
                <a:buSzPts val="5000"/>
              </a:pPr>
              <a:r>
                <a:rPr lang="en-US" sz="2400" i="1" dirty="0">
                  <a:solidFill>
                    <a:schemeClr val="lt1"/>
                  </a:solidFill>
                </a:rPr>
                <a:t>Saint Agnes Medical Center, Fresno, CA</a:t>
              </a:r>
              <a:endParaRPr sz="700" dirty="0"/>
            </a:p>
          </p:txBody>
        </p:sp>
        <p:sp>
          <p:nvSpPr>
            <p:cNvPr id="95" name="Google Shape;95;p4"/>
            <p:cNvSpPr txBox="1"/>
            <p:nvPr/>
          </p:nvSpPr>
          <p:spPr>
            <a:xfrm>
              <a:off x="12107400" y="9703390"/>
              <a:ext cx="8730600" cy="328205"/>
            </a:xfrm>
            <a:prstGeom prst="rect">
              <a:avLst/>
            </a:prstGeom>
            <a:noFill/>
            <a:ln>
              <a:noFill/>
            </a:ln>
          </p:spPr>
          <p:txBody>
            <a:bodyPr spcFirstLastPara="1" wrap="square" lIns="60950" tIns="30467" rIns="60950" bIns="30467" anchor="t" anchorCtr="0">
              <a:spAutoFit/>
            </a:bodyPr>
            <a:lstStyle/>
            <a:p>
              <a:pPr>
                <a:buSzPts val="3000"/>
              </a:pPr>
              <a:r>
                <a:rPr lang="en-US" sz="1733" b="1">
                  <a:solidFill>
                    <a:schemeClr val="dk1"/>
                  </a:solidFill>
                </a:rPr>
                <a:t>Figure 1: Evaluation of Door to Balloon Time components</a:t>
              </a:r>
              <a:endParaRPr sz="1733"/>
            </a:p>
          </p:txBody>
        </p:sp>
        <p:sp>
          <p:nvSpPr>
            <p:cNvPr id="96" name="Google Shape;96;p4"/>
            <p:cNvSpPr txBox="1"/>
            <p:nvPr/>
          </p:nvSpPr>
          <p:spPr>
            <a:xfrm>
              <a:off x="11776533" y="15764200"/>
              <a:ext cx="9509800" cy="328205"/>
            </a:xfrm>
            <a:prstGeom prst="rect">
              <a:avLst/>
            </a:prstGeom>
            <a:noFill/>
            <a:ln>
              <a:noFill/>
            </a:ln>
          </p:spPr>
          <p:txBody>
            <a:bodyPr spcFirstLastPara="1" wrap="square" lIns="60950" tIns="30467" rIns="60950" bIns="30467" anchor="t" anchorCtr="0">
              <a:spAutoFit/>
            </a:bodyPr>
            <a:lstStyle/>
            <a:p>
              <a:pPr>
                <a:buSzPts val="3000"/>
              </a:pPr>
              <a:r>
                <a:rPr lang="en-US" sz="1733" b="1">
                  <a:solidFill>
                    <a:schemeClr val="dk1"/>
                  </a:solidFill>
                </a:rPr>
                <a:t>Figure 2: Comparison of Door to Balloon Time after implementation of red card program</a:t>
              </a:r>
              <a:endParaRPr sz="1733"/>
            </a:p>
          </p:txBody>
        </p:sp>
        <p:sp>
          <p:nvSpPr>
            <p:cNvPr id="97" name="Google Shape;97;p4"/>
            <p:cNvSpPr/>
            <p:nvPr/>
          </p:nvSpPr>
          <p:spPr>
            <a:xfrm>
              <a:off x="21579840" y="4339544"/>
              <a:ext cx="8839200" cy="1080481"/>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rPr>
                <a:t>Discussion</a:t>
              </a:r>
              <a:endParaRPr sz="933"/>
            </a:p>
          </p:txBody>
        </p:sp>
        <p:sp>
          <p:nvSpPr>
            <p:cNvPr id="98" name="Google Shape;98;p4"/>
            <p:cNvSpPr/>
            <p:nvPr/>
          </p:nvSpPr>
          <p:spPr>
            <a:xfrm>
              <a:off x="21579840" y="5420025"/>
              <a:ext cx="8839200" cy="3500728"/>
            </a:xfrm>
            <a:prstGeom prst="rect">
              <a:avLst/>
            </a:prstGeom>
            <a:solidFill>
              <a:schemeClr val="lt1">
                <a:alpha val="49411"/>
              </a:schemeClr>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9" name="Google Shape;99;p4"/>
            <p:cNvSpPr/>
            <p:nvPr/>
          </p:nvSpPr>
          <p:spPr>
            <a:xfrm>
              <a:off x="11744967" y="16600545"/>
              <a:ext cx="9541334" cy="1159527"/>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rPr>
                <a:t>Results</a:t>
              </a:r>
              <a:endParaRPr sz="933"/>
            </a:p>
          </p:txBody>
        </p:sp>
        <p:sp>
          <p:nvSpPr>
            <p:cNvPr id="100" name="Google Shape;100;p4"/>
            <p:cNvSpPr/>
            <p:nvPr/>
          </p:nvSpPr>
          <p:spPr>
            <a:xfrm>
              <a:off x="21579840" y="14301029"/>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rPr>
                <a:t>References</a:t>
              </a:r>
              <a:endParaRPr sz="933"/>
            </a:p>
          </p:txBody>
        </p:sp>
        <p:sp>
          <p:nvSpPr>
            <p:cNvPr id="101" name="Google Shape;101;p4"/>
            <p:cNvSpPr/>
            <p:nvPr/>
          </p:nvSpPr>
          <p:spPr>
            <a:xfrm>
              <a:off x="21579840" y="15533911"/>
              <a:ext cx="8839200" cy="3500728"/>
            </a:xfrm>
            <a:prstGeom prst="rect">
              <a:avLst/>
            </a:prstGeom>
            <a:solidFill>
              <a:schemeClr val="lt1">
                <a:alpha val="49411"/>
              </a:schemeClr>
            </a:solidFill>
            <a:ln>
              <a:noFill/>
            </a:ln>
          </p:spPr>
          <p:txBody>
            <a:bodyPr spcFirstLastPara="1" wrap="square" lIns="60950" tIns="30467" rIns="60950" bIns="30467" anchor="ctr" anchorCtr="0">
              <a:noAutofit/>
            </a:bodyPr>
            <a:lstStyle/>
            <a:p>
              <a:pPr algn="ctr">
                <a:buSzPts val="7258"/>
              </a:pPr>
              <a:endParaRPr sz="4839">
                <a:solidFill>
                  <a:schemeClr val="dk1"/>
                </a:solidFill>
                <a:latin typeface="Calibri"/>
                <a:ea typeface="Calibri"/>
                <a:cs typeface="Calibri"/>
                <a:sym typeface="Calibri"/>
              </a:endParaRPr>
            </a:p>
          </p:txBody>
        </p:sp>
        <p:sp>
          <p:nvSpPr>
            <p:cNvPr id="102" name="Google Shape;102;p4"/>
            <p:cNvSpPr/>
            <p:nvPr/>
          </p:nvSpPr>
          <p:spPr>
            <a:xfrm>
              <a:off x="21579840" y="10343657"/>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rPr>
                <a:t>Limitations</a:t>
              </a:r>
              <a:endParaRPr sz="933"/>
            </a:p>
          </p:txBody>
        </p:sp>
        <p:sp>
          <p:nvSpPr>
            <p:cNvPr id="103" name="Google Shape;103;p4"/>
            <p:cNvSpPr/>
            <p:nvPr/>
          </p:nvSpPr>
          <p:spPr>
            <a:xfrm>
              <a:off x="21579833" y="11456217"/>
              <a:ext cx="8839200" cy="2554000"/>
            </a:xfrm>
            <a:prstGeom prst="rect">
              <a:avLst/>
            </a:prstGeom>
            <a:solidFill>
              <a:schemeClr val="lt1"/>
            </a:solidFill>
            <a:ln>
              <a:noFill/>
            </a:ln>
          </p:spPr>
          <p:txBody>
            <a:bodyPr spcFirstLastPara="1" wrap="square" lIns="60950" tIns="30467" rIns="60950" bIns="30467" anchor="ctr" anchorCtr="0">
              <a:noAutofit/>
            </a:bodyPr>
            <a:lstStyle/>
            <a:p>
              <a:pPr marL="304815" indent="-266713">
                <a:buClr>
                  <a:schemeClr val="dk1"/>
                </a:buClr>
                <a:buSzPts val="2700"/>
                <a:buChar char="●"/>
              </a:pPr>
              <a:r>
                <a:rPr lang="en-US" sz="1800" dirty="0">
                  <a:solidFill>
                    <a:schemeClr val="dk1"/>
                  </a:solidFill>
                </a:rPr>
                <a:t>Analysis of raw data</a:t>
              </a:r>
              <a:endParaRPr sz="1800" dirty="0">
                <a:solidFill>
                  <a:schemeClr val="dk1"/>
                </a:solidFill>
              </a:endParaRPr>
            </a:p>
            <a:p>
              <a:pPr marL="304815" indent="-266713">
                <a:buClr>
                  <a:schemeClr val="dk1"/>
                </a:buClr>
                <a:buSzPts val="2700"/>
                <a:buChar char="●"/>
              </a:pPr>
              <a:r>
                <a:rPr lang="en-US" sz="1800" dirty="0">
                  <a:solidFill>
                    <a:schemeClr val="dk1"/>
                  </a:solidFill>
                </a:rPr>
                <a:t>Limited sample size  </a:t>
              </a:r>
              <a:endParaRPr sz="1800" dirty="0">
                <a:solidFill>
                  <a:schemeClr val="dk1"/>
                </a:solidFill>
              </a:endParaRPr>
            </a:p>
            <a:p>
              <a:pPr marL="304815" indent="-266713">
                <a:buClr>
                  <a:schemeClr val="dk1"/>
                </a:buClr>
                <a:buSzPts val="2700"/>
                <a:buChar char="●"/>
              </a:pPr>
              <a:r>
                <a:rPr lang="en-US" sz="1800" dirty="0">
                  <a:solidFill>
                    <a:schemeClr val="dk1"/>
                  </a:solidFill>
                </a:rPr>
                <a:t>Future steps may involve:</a:t>
              </a:r>
              <a:endParaRPr sz="1800" dirty="0">
                <a:solidFill>
                  <a:schemeClr val="dk1"/>
                </a:solidFill>
              </a:endParaRPr>
            </a:p>
            <a:p>
              <a:pPr marL="609630" lvl="1" indent="-266713">
                <a:buClr>
                  <a:schemeClr val="dk1"/>
                </a:buClr>
                <a:buSzPts val="2700"/>
                <a:buChar char="○"/>
              </a:pPr>
              <a:r>
                <a:rPr lang="en-US" sz="1800" dirty="0">
                  <a:solidFill>
                    <a:schemeClr val="dk1"/>
                  </a:solidFill>
                </a:rPr>
                <a:t>Multicenter investigation in rural vs urban environment</a:t>
              </a:r>
              <a:endParaRPr sz="1800" dirty="0">
                <a:solidFill>
                  <a:schemeClr val="dk1"/>
                </a:solidFill>
              </a:endParaRPr>
            </a:p>
            <a:p>
              <a:pPr marL="609630" lvl="1" indent="-266713">
                <a:buClr>
                  <a:schemeClr val="dk1"/>
                </a:buClr>
                <a:buSzPts val="2700"/>
                <a:buChar char="○"/>
              </a:pPr>
              <a:r>
                <a:rPr lang="en-US" sz="1800" dirty="0">
                  <a:solidFill>
                    <a:schemeClr val="dk1"/>
                  </a:solidFill>
                </a:rPr>
                <a:t>Analysis of data from other community hospitals minimize confounding factors </a:t>
              </a:r>
              <a:endParaRPr sz="1800" dirty="0">
                <a:solidFill>
                  <a:schemeClr val="dk1"/>
                </a:solidFill>
              </a:endParaRPr>
            </a:p>
            <a:p>
              <a:pPr marL="609630" lvl="1" indent="-266713">
                <a:buClr>
                  <a:schemeClr val="dk1"/>
                </a:buClr>
                <a:buSzPts val="2700"/>
                <a:buChar char="○"/>
              </a:pPr>
              <a:r>
                <a:rPr lang="en-US" sz="1800" dirty="0">
                  <a:solidFill>
                    <a:schemeClr val="dk1"/>
                  </a:solidFill>
                </a:rPr>
                <a:t>Standardization of data for comorbidities</a:t>
              </a:r>
              <a:endParaRPr sz="1800" dirty="0">
                <a:solidFill>
                  <a:schemeClr val="dk1"/>
                </a:solidFill>
              </a:endParaRPr>
            </a:p>
            <a:p>
              <a:pPr marL="609630" lvl="1" indent="-266713">
                <a:buClr>
                  <a:schemeClr val="dk1"/>
                </a:buClr>
                <a:buSzPts val="2700"/>
                <a:buChar char="○"/>
              </a:pPr>
              <a:r>
                <a:rPr lang="en-US" sz="1800" dirty="0">
                  <a:solidFill>
                    <a:schemeClr val="dk1"/>
                  </a:solidFill>
                </a:rPr>
                <a:t>Acquire data from hospital with shortest DTB time as well as with highest incidence of PCI</a:t>
              </a:r>
              <a:endParaRPr sz="1800" dirty="0">
                <a:solidFill>
                  <a:schemeClr val="dk1"/>
                </a:solidFill>
              </a:endParaRPr>
            </a:p>
            <a:p>
              <a:pPr marL="304815"/>
              <a:endParaRPr sz="2333" dirty="0">
                <a:solidFill>
                  <a:schemeClr val="dk1"/>
                </a:solidFill>
                <a:latin typeface="Calibri"/>
                <a:ea typeface="Calibri"/>
                <a:cs typeface="Calibri"/>
                <a:sym typeface="Calibri"/>
              </a:endParaRPr>
            </a:p>
          </p:txBody>
        </p:sp>
        <p:sp>
          <p:nvSpPr>
            <p:cNvPr id="104" name="Google Shape;104;p4"/>
            <p:cNvSpPr/>
            <p:nvPr/>
          </p:nvSpPr>
          <p:spPr>
            <a:xfrm>
              <a:off x="11734800" y="4328160"/>
              <a:ext cx="9509760" cy="5072738"/>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60950" tIns="30467" rIns="60950" bIns="30467" anchor="ctr" anchorCtr="0">
              <a:noAutofit/>
            </a:bodyPr>
            <a:lstStyle/>
            <a:p>
              <a:pPr algn="ctr">
                <a:buSzPts val="7258"/>
              </a:pPr>
              <a:endParaRPr sz="4839">
                <a:solidFill>
                  <a:schemeClr val="dk1"/>
                </a:solidFill>
                <a:latin typeface="Calibri"/>
                <a:ea typeface="Calibri"/>
                <a:cs typeface="Calibri"/>
                <a:sym typeface="Calibri"/>
              </a:endParaRPr>
            </a:p>
          </p:txBody>
        </p:sp>
        <p:sp>
          <p:nvSpPr>
            <p:cNvPr id="105" name="Google Shape;105;p4"/>
            <p:cNvSpPr/>
            <p:nvPr/>
          </p:nvSpPr>
          <p:spPr>
            <a:xfrm>
              <a:off x="11776548" y="10332104"/>
              <a:ext cx="9509760" cy="5072738"/>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60950" tIns="30467" rIns="60950" bIns="30467" anchor="ctr" anchorCtr="0">
              <a:noAutofit/>
            </a:bodyPr>
            <a:lstStyle/>
            <a:p>
              <a:pPr algn="ctr">
                <a:buSzPts val="7258"/>
              </a:pPr>
              <a:endParaRPr sz="4839">
                <a:solidFill>
                  <a:schemeClr val="dk1"/>
                </a:solidFill>
                <a:latin typeface="Calibri"/>
                <a:ea typeface="Calibri"/>
                <a:cs typeface="Calibri"/>
                <a:sym typeface="Calibri"/>
              </a:endParaRPr>
            </a:p>
          </p:txBody>
        </p:sp>
        <p:sp>
          <p:nvSpPr>
            <p:cNvPr id="106" name="Google Shape;106;p4"/>
            <p:cNvSpPr txBox="1"/>
            <p:nvPr/>
          </p:nvSpPr>
          <p:spPr>
            <a:xfrm>
              <a:off x="2499367" y="13110233"/>
              <a:ext cx="5362600" cy="1343200"/>
            </a:xfrm>
            <a:prstGeom prst="rect">
              <a:avLst/>
            </a:prstGeom>
            <a:noFill/>
            <a:ln>
              <a:noFill/>
            </a:ln>
          </p:spPr>
          <p:txBody>
            <a:bodyPr spcFirstLastPara="1" wrap="square" lIns="60950" tIns="60950" rIns="60950" bIns="60950" anchor="t" anchorCtr="0">
              <a:noAutofit/>
            </a:bodyPr>
            <a:lstStyle/>
            <a:p>
              <a:pPr marL="304815" indent="-292115">
                <a:lnSpc>
                  <a:spcPct val="115000"/>
                </a:lnSpc>
                <a:buClr>
                  <a:schemeClr val="dk1"/>
                </a:buClr>
                <a:buSzPts val="3300"/>
                <a:buChar char="●"/>
              </a:pPr>
              <a:r>
                <a:rPr lang="en-US" sz="2200">
                  <a:solidFill>
                    <a:schemeClr val="dk1"/>
                  </a:solidFill>
                  <a:highlight>
                    <a:srgbClr val="FFFFFF"/>
                  </a:highlight>
                </a:rPr>
                <a:t>Door to balloon time (DTB) data from a community hospital in the San Joaquin Valley of California for the calendar year 2024 was retroactively reviewed. </a:t>
              </a:r>
              <a:endParaRPr sz="2200">
                <a:solidFill>
                  <a:schemeClr val="dk1"/>
                </a:solidFill>
                <a:highlight>
                  <a:srgbClr val="FFFFFF"/>
                </a:highlight>
              </a:endParaRPr>
            </a:p>
            <a:p>
              <a:pPr marL="304815" indent="-292115">
                <a:lnSpc>
                  <a:spcPct val="115000"/>
                </a:lnSpc>
                <a:buClr>
                  <a:schemeClr val="dk1"/>
                </a:buClr>
                <a:buSzPts val="3300"/>
                <a:buChar char="●"/>
              </a:pPr>
              <a:r>
                <a:rPr lang="en-US" sz="2200">
                  <a:solidFill>
                    <a:schemeClr val="dk1"/>
                  </a:solidFill>
                  <a:highlight>
                    <a:srgbClr val="FFFFFF"/>
                  </a:highlight>
                </a:rPr>
                <a:t>Red card program was initiated in September 2024, approximately three quarters into the calendar year.</a:t>
              </a:r>
              <a:endParaRPr sz="2200">
                <a:solidFill>
                  <a:schemeClr val="dk1"/>
                </a:solidFill>
                <a:highlight>
                  <a:srgbClr val="FFFFFF"/>
                </a:highlight>
              </a:endParaRPr>
            </a:p>
            <a:p>
              <a:pPr marL="304815" indent="-292115">
                <a:lnSpc>
                  <a:spcPct val="115000"/>
                </a:lnSpc>
                <a:buClr>
                  <a:schemeClr val="dk1"/>
                </a:buClr>
                <a:buSzPts val="3300"/>
                <a:buChar char="●"/>
              </a:pPr>
              <a:r>
                <a:rPr lang="en-US" sz="2200">
                  <a:solidFill>
                    <a:schemeClr val="dk1"/>
                  </a:solidFill>
                  <a:highlight>
                    <a:srgbClr val="FFFFFF"/>
                  </a:highlight>
                </a:rPr>
                <a:t>Total of 127 STEMI cases were identified. </a:t>
              </a:r>
              <a:endParaRPr sz="2200">
                <a:solidFill>
                  <a:schemeClr val="dk1"/>
                </a:solidFill>
                <a:highlight>
                  <a:srgbClr val="FFFFFF"/>
                </a:highlight>
              </a:endParaRPr>
            </a:p>
            <a:p>
              <a:pPr marL="914446" lvl="1" indent="-292115">
                <a:lnSpc>
                  <a:spcPct val="115000"/>
                </a:lnSpc>
                <a:buClr>
                  <a:schemeClr val="dk1"/>
                </a:buClr>
                <a:buSzPts val="3300"/>
                <a:buChar char="○"/>
              </a:pPr>
              <a:r>
                <a:rPr lang="en-US" sz="2200">
                  <a:solidFill>
                    <a:schemeClr val="dk1"/>
                  </a:solidFill>
                  <a:highlight>
                    <a:srgbClr val="FFFFFF"/>
                  </a:highlight>
                </a:rPr>
                <a:t>86 cases prior to red card program implementation </a:t>
              </a:r>
              <a:endParaRPr sz="2200">
                <a:solidFill>
                  <a:schemeClr val="dk1"/>
                </a:solidFill>
                <a:highlight>
                  <a:srgbClr val="FFFFFF"/>
                </a:highlight>
              </a:endParaRPr>
            </a:p>
            <a:p>
              <a:pPr marL="914446" lvl="1" indent="-292115">
                <a:lnSpc>
                  <a:spcPct val="115000"/>
                </a:lnSpc>
                <a:buClr>
                  <a:schemeClr val="dk1"/>
                </a:buClr>
                <a:buSzPts val="3300"/>
                <a:buChar char="○"/>
              </a:pPr>
              <a:r>
                <a:rPr lang="en-US" sz="2200">
                  <a:solidFill>
                    <a:schemeClr val="dk1"/>
                  </a:solidFill>
                  <a:highlight>
                    <a:srgbClr val="FFFFFF"/>
                  </a:highlight>
                </a:rPr>
                <a:t>41 cases after red card program implementation.</a:t>
              </a:r>
              <a:endParaRPr sz="2200">
                <a:solidFill>
                  <a:schemeClr val="dk1"/>
                </a:solidFill>
                <a:highlight>
                  <a:srgbClr val="FFFFFF"/>
                </a:highlight>
              </a:endParaRPr>
            </a:p>
            <a:p>
              <a:pPr marL="304815" indent="-292115">
                <a:lnSpc>
                  <a:spcPct val="115000"/>
                </a:lnSpc>
                <a:buClr>
                  <a:schemeClr val="dk1"/>
                </a:buClr>
                <a:buSzPts val="3300"/>
                <a:buChar char="●"/>
              </a:pPr>
              <a:r>
                <a:rPr lang="en-US" sz="2200">
                  <a:solidFill>
                    <a:schemeClr val="dk1"/>
                  </a:solidFill>
                  <a:highlight>
                    <a:srgbClr val="FFFFFF"/>
                  </a:highlight>
                </a:rPr>
                <a:t>Study intent: To determine if door to balloon times improved with initiation of the red card program.</a:t>
              </a:r>
              <a:endParaRPr sz="2200">
                <a:solidFill>
                  <a:schemeClr val="dk1"/>
                </a:solidFill>
                <a:highlight>
                  <a:schemeClr val="lt1"/>
                </a:highlight>
              </a:endParaRPr>
            </a:p>
            <a:p>
              <a:pPr marL="304815" indent="-292115">
                <a:lnSpc>
                  <a:spcPct val="115000"/>
                </a:lnSpc>
                <a:buClr>
                  <a:schemeClr val="dk1"/>
                </a:buClr>
                <a:buSzPts val="3300"/>
                <a:buChar char="●"/>
              </a:pPr>
              <a:r>
                <a:rPr lang="en-US" sz="2200">
                  <a:solidFill>
                    <a:schemeClr val="dk1"/>
                  </a:solidFill>
                  <a:highlight>
                    <a:schemeClr val="lt1"/>
                  </a:highlight>
                </a:rPr>
                <a:t>Null hypothesis: There is no difference in DTB time with initiation of the red card program.</a:t>
              </a:r>
              <a:endParaRPr sz="2200">
                <a:solidFill>
                  <a:schemeClr val="dk1"/>
                </a:solidFill>
                <a:highlight>
                  <a:schemeClr val="lt1"/>
                </a:highlight>
              </a:endParaRPr>
            </a:p>
            <a:p>
              <a:pPr marL="304815" indent="-292115">
                <a:lnSpc>
                  <a:spcPct val="115000"/>
                </a:lnSpc>
                <a:buClr>
                  <a:schemeClr val="dk1"/>
                </a:buClr>
                <a:buSzPts val="3300"/>
                <a:buChar char="●"/>
              </a:pPr>
              <a:r>
                <a:rPr lang="en-US" sz="2200">
                  <a:solidFill>
                    <a:schemeClr val="dk1"/>
                  </a:solidFill>
                  <a:highlight>
                    <a:schemeClr val="lt1"/>
                  </a:highlight>
                </a:rPr>
                <a:t>Alternative hypothesis: There is an improvement in DTB time with initiation of the red card program.</a:t>
              </a:r>
              <a:endParaRPr sz="2200">
                <a:solidFill>
                  <a:schemeClr val="dk1"/>
                </a:solidFill>
                <a:highlight>
                  <a:schemeClr val="lt1"/>
                </a:highlight>
              </a:endParaRPr>
            </a:p>
          </p:txBody>
        </p:sp>
        <p:sp>
          <p:nvSpPr>
            <p:cNvPr id="107" name="Google Shape;107;p4"/>
            <p:cNvSpPr txBox="1"/>
            <p:nvPr/>
          </p:nvSpPr>
          <p:spPr>
            <a:xfrm>
              <a:off x="21606833" y="15455650"/>
              <a:ext cx="8730600" cy="5499400"/>
            </a:xfrm>
            <a:prstGeom prst="rect">
              <a:avLst/>
            </a:prstGeom>
            <a:solidFill>
              <a:schemeClr val="lt1">
                <a:alpha val="0"/>
              </a:schemeClr>
            </a:solidFill>
            <a:ln>
              <a:noFill/>
            </a:ln>
          </p:spPr>
          <p:txBody>
            <a:bodyPr spcFirstLastPara="1" wrap="square" lIns="60950" tIns="60950" rIns="60950" bIns="60950" anchor="t" anchorCtr="0">
              <a:noAutofit/>
            </a:bodyPr>
            <a:lstStyle/>
            <a:p>
              <a:pPr marL="304815" indent="-237079" algn="just">
                <a:lnSpc>
                  <a:spcPct val="115000"/>
                </a:lnSpc>
                <a:buClr>
                  <a:schemeClr val="dk1"/>
                </a:buClr>
                <a:buSzPts val="2000"/>
                <a:buChar char="●"/>
              </a:pPr>
              <a:r>
                <a:rPr lang="en-US" sz="1333" dirty="0">
                  <a:solidFill>
                    <a:schemeClr val="dk1"/>
                  </a:solidFill>
                </a:rPr>
                <a:t>Smith, J., Doe, A., &amp; Brown, K. (2023). </a:t>
              </a:r>
              <a:r>
                <a:rPr lang="en-US" sz="1333" i="1" dirty="0">
                  <a:solidFill>
                    <a:schemeClr val="dk1"/>
                  </a:solidFill>
                </a:rPr>
                <a:t>Door-to-balloon times under 90 min can be routinely achieved for patients transferred for ST-segment elevation myocardial infarction percutaneous coronary intervention in a rural setting</a:t>
              </a:r>
              <a:r>
                <a:rPr lang="en-US" sz="1333" dirty="0">
                  <a:solidFill>
                    <a:schemeClr val="dk1"/>
                  </a:solidFill>
                </a:rPr>
                <a:t>. </a:t>
              </a:r>
              <a:r>
                <a:rPr lang="en-US" sz="1333" i="1" dirty="0">
                  <a:solidFill>
                    <a:schemeClr val="dk1"/>
                  </a:solidFill>
                </a:rPr>
                <a:t>Journal of Rural Health</a:t>
              </a:r>
              <a:r>
                <a:rPr lang="en-US" sz="1333" dirty="0">
                  <a:solidFill>
                    <a:schemeClr val="dk1"/>
                  </a:solidFill>
                </a:rPr>
                <a:t>, </a:t>
              </a:r>
              <a:r>
                <a:rPr lang="en-US" sz="1333" i="1" dirty="0">
                  <a:solidFill>
                    <a:schemeClr val="dk1"/>
                  </a:solidFill>
                </a:rPr>
                <a:t>39</a:t>
              </a:r>
              <a:r>
                <a:rPr lang="en-US" sz="1333" dirty="0">
                  <a:solidFill>
                    <a:schemeClr val="dk1"/>
                  </a:solidFill>
                </a:rPr>
                <a:t>(2), 150-158. </a:t>
              </a:r>
              <a:endParaRPr sz="1333" dirty="0">
                <a:solidFill>
                  <a:schemeClr val="dk1"/>
                </a:solidFill>
              </a:endParaRPr>
            </a:p>
            <a:p>
              <a:pPr marL="304815" indent="-237079" algn="just">
                <a:lnSpc>
                  <a:spcPct val="115000"/>
                </a:lnSpc>
                <a:buClr>
                  <a:schemeClr val="dk1"/>
                </a:buClr>
                <a:buSzPts val="2000"/>
                <a:buChar char="●"/>
              </a:pPr>
              <a:r>
                <a:rPr lang="en-US" sz="1333" dirty="0">
                  <a:solidFill>
                    <a:schemeClr val="dk1"/>
                  </a:solidFill>
                </a:rPr>
                <a:t>Bradley, E. H., Herrin, J., Wang, Y., Barton, B. A., Webster, T. R., Mattera, J. A., </a:t>
              </a:r>
              <a:r>
                <a:rPr lang="en-US" sz="1333" dirty="0" err="1">
                  <a:solidFill>
                    <a:schemeClr val="dk1"/>
                  </a:solidFill>
                </a:rPr>
                <a:t>Roumanis</a:t>
              </a:r>
              <a:r>
                <a:rPr lang="en-US" sz="1333" dirty="0">
                  <a:solidFill>
                    <a:schemeClr val="dk1"/>
                  </a:solidFill>
                </a:rPr>
                <a:t>, S. A., Curtis, J. P., Nallamothu, B. K., &amp; Krumholz, H. M. (2006). Strategies for reducing the door-to-balloon time in acute myocardial infarction. </a:t>
              </a:r>
              <a:r>
                <a:rPr lang="en-US" sz="1333" i="1" dirty="0">
                  <a:solidFill>
                    <a:schemeClr val="dk1"/>
                  </a:solidFill>
                </a:rPr>
                <a:t>New England Journal of Medicine</a:t>
              </a:r>
              <a:r>
                <a:rPr lang="en-US" sz="1333" dirty="0">
                  <a:solidFill>
                    <a:schemeClr val="dk1"/>
                  </a:solidFill>
                </a:rPr>
                <a:t>, 355(22), 2308–2320.</a:t>
              </a:r>
              <a:endParaRPr sz="1333" dirty="0">
                <a:solidFill>
                  <a:schemeClr val="dk1"/>
                </a:solidFill>
              </a:endParaRPr>
            </a:p>
            <a:p>
              <a:pPr marL="304815" indent="-237079" algn="just">
                <a:lnSpc>
                  <a:spcPct val="115000"/>
                </a:lnSpc>
                <a:buClr>
                  <a:schemeClr val="dk1"/>
                </a:buClr>
                <a:buSzPts val="2000"/>
                <a:buChar char="●"/>
              </a:pPr>
              <a:r>
                <a:rPr lang="en-US" sz="1333" dirty="0">
                  <a:solidFill>
                    <a:schemeClr val="dk1"/>
                  </a:solidFill>
                </a:rPr>
                <a:t>Bradley, E. H., </a:t>
              </a:r>
              <a:r>
                <a:rPr lang="en-US" sz="1333" dirty="0" err="1">
                  <a:solidFill>
                    <a:schemeClr val="dk1"/>
                  </a:solidFill>
                </a:rPr>
                <a:t>Roumanis</a:t>
              </a:r>
              <a:r>
                <a:rPr lang="en-US" sz="1333" dirty="0">
                  <a:solidFill>
                    <a:schemeClr val="dk1"/>
                  </a:solidFill>
                </a:rPr>
                <a:t>, S. A., Radford, M. J., Webster, T. R., McNamara, R. L., Mattera, J. A., Barton, B. A., Berg, D. N., </a:t>
              </a:r>
              <a:r>
                <a:rPr lang="en-US" sz="1333" dirty="0" err="1">
                  <a:solidFill>
                    <a:schemeClr val="dk1"/>
                  </a:solidFill>
                </a:rPr>
                <a:t>Portnay</a:t>
              </a:r>
              <a:r>
                <a:rPr lang="en-US" sz="1333" dirty="0">
                  <a:solidFill>
                    <a:schemeClr val="dk1"/>
                  </a:solidFill>
                </a:rPr>
                <a:t>, E. L., Moscovitz, H., </a:t>
              </a:r>
              <a:r>
                <a:rPr lang="en-US" sz="1333" dirty="0" err="1">
                  <a:solidFill>
                    <a:schemeClr val="dk1"/>
                  </a:solidFill>
                </a:rPr>
                <a:t>Parkosewich</a:t>
              </a:r>
              <a:r>
                <a:rPr lang="en-US" sz="1333" dirty="0">
                  <a:solidFill>
                    <a:schemeClr val="dk1"/>
                  </a:solidFill>
                </a:rPr>
                <a:t>, J., Holmboe, E. S., Blaney, M., &amp; Krumholz, H. M. (2005). Achieving door-to-balloon times that meet quality guidelines: How do successful hospitals do it? </a:t>
              </a:r>
              <a:r>
                <a:rPr lang="en-US" sz="1333" i="1" dirty="0">
                  <a:solidFill>
                    <a:schemeClr val="dk1"/>
                  </a:solidFill>
                </a:rPr>
                <a:t>Journal of the American College of Cardiology</a:t>
              </a:r>
              <a:r>
                <a:rPr lang="en-US" sz="1333" dirty="0">
                  <a:solidFill>
                    <a:schemeClr val="dk1"/>
                  </a:solidFill>
                </a:rPr>
                <a:t>, 46(7), 1236–1241.</a:t>
              </a:r>
              <a:endParaRPr sz="1333" dirty="0">
                <a:solidFill>
                  <a:schemeClr val="dk1"/>
                </a:solidFill>
              </a:endParaRPr>
            </a:p>
            <a:p>
              <a:pPr marL="304815" indent="-237079">
                <a:lnSpc>
                  <a:spcPct val="115000"/>
                </a:lnSpc>
                <a:buClr>
                  <a:schemeClr val="dk1"/>
                </a:buClr>
                <a:buSzPts val="2000"/>
                <a:buChar char="●"/>
              </a:pPr>
              <a:r>
                <a:rPr lang="en-US" sz="1333" dirty="0">
                  <a:solidFill>
                    <a:schemeClr val="dk1"/>
                  </a:solidFill>
                </a:rPr>
                <a:t>Hassan MO, Ahmed SA, Hassan MS, </a:t>
              </a:r>
              <a:r>
                <a:rPr lang="en-US" sz="1333" dirty="0" err="1">
                  <a:solidFill>
                    <a:schemeClr val="dk1"/>
                  </a:solidFill>
                </a:rPr>
                <a:t>Köprülü</a:t>
              </a:r>
              <a:r>
                <a:rPr lang="en-US" sz="1333" dirty="0">
                  <a:solidFill>
                    <a:schemeClr val="dk1"/>
                  </a:solidFill>
                </a:rPr>
                <a:t> D. Door-to-Balloon Time and Mortality Among Patients Undergoing Primary PCI, </a:t>
              </a:r>
              <a:r>
                <a:rPr lang="en-US" sz="1333" i="1" dirty="0">
                  <a:solidFill>
                    <a:schemeClr val="dk1"/>
                  </a:solidFill>
                </a:rPr>
                <a:t>Challenges and Experience from Somalia's Largest PCI Center. </a:t>
              </a:r>
              <a:r>
                <a:rPr lang="en-US" sz="1333" dirty="0">
                  <a:solidFill>
                    <a:schemeClr val="dk1"/>
                  </a:solidFill>
                </a:rPr>
                <a:t>Int J Gen Med. 2024 Jan 22;17:237-244. </a:t>
              </a:r>
              <a:r>
                <a:rPr lang="en-US" sz="1333" dirty="0" err="1">
                  <a:solidFill>
                    <a:schemeClr val="dk1"/>
                  </a:solidFill>
                </a:rPr>
                <a:t>doi</a:t>
              </a:r>
              <a:r>
                <a:rPr lang="en-US" sz="1333" dirty="0">
                  <a:solidFill>
                    <a:schemeClr val="dk1"/>
                  </a:solidFill>
                </a:rPr>
                <a:t>: 10.2147/IJGM.S448750. PMID: 38283076; PMCID: PMC10812143.</a:t>
              </a:r>
              <a:endParaRPr sz="1333" dirty="0">
                <a:solidFill>
                  <a:schemeClr val="dk1"/>
                </a:solidFill>
              </a:endParaRPr>
            </a:p>
            <a:p>
              <a:pPr>
                <a:lnSpc>
                  <a:spcPct val="115000"/>
                </a:lnSpc>
              </a:pPr>
              <a:endParaRPr sz="1333" dirty="0">
                <a:solidFill>
                  <a:schemeClr val="dk1"/>
                </a:solidFill>
              </a:endParaRPr>
            </a:p>
          </p:txBody>
        </p:sp>
        <p:pic>
          <p:nvPicPr>
            <p:cNvPr id="108" name="Google Shape;108;p4"/>
            <p:cNvPicPr preferRelativeResize="0"/>
            <p:nvPr/>
          </p:nvPicPr>
          <p:blipFill>
            <a:blip r:embed="rId4">
              <a:alphaModFix/>
            </a:blip>
            <a:stretch>
              <a:fillRect/>
            </a:stretch>
          </p:blipFill>
          <p:spPr>
            <a:xfrm>
              <a:off x="11744967" y="4339550"/>
              <a:ext cx="9509750" cy="5072734"/>
            </a:xfrm>
            <a:prstGeom prst="rect">
              <a:avLst/>
            </a:prstGeom>
            <a:solidFill>
              <a:schemeClr val="lt1"/>
            </a:solidFill>
            <a:ln w="12700" cap="flat" cmpd="sng">
              <a:solidFill>
                <a:schemeClr val="accent2"/>
              </a:solidFill>
              <a:prstDash val="solid"/>
              <a:miter lim="8000"/>
              <a:headEnd type="none" w="sm" len="sm"/>
              <a:tailEnd type="none" w="sm" len="sm"/>
            </a:ln>
          </p:spPr>
        </p:pic>
        <p:graphicFrame>
          <p:nvGraphicFramePr>
            <p:cNvPr id="109" name="Google Shape;109;p4"/>
            <p:cNvGraphicFramePr/>
            <p:nvPr>
              <p:extLst>
                <p:ext uri="{D42A27DB-BD31-4B8C-83A1-F6EECF244321}">
                  <p14:modId xmlns:p14="http://schemas.microsoft.com/office/powerpoint/2010/main" val="4064883366"/>
                </p:ext>
              </p:extLst>
            </p:nvPr>
          </p:nvGraphicFramePr>
          <p:xfrm>
            <a:off x="13198950" y="14994925"/>
            <a:ext cx="3090396" cy="301019"/>
          </p:xfrm>
          <a:graphic>
            <a:graphicData uri="http://schemas.openxmlformats.org/drawingml/2006/table">
              <a:tbl>
                <a:tblPr>
                  <a:noFill/>
                  <a:tableStyleId>{5F582D43-0A40-4AC1-9963-54B1894188D1}</a:tableStyleId>
                </a:tblPr>
                <a:tblGrid>
                  <a:gridCol w="3524250">
                    <a:extLst>
                      <a:ext uri="{9D8B030D-6E8A-4147-A177-3AD203B41FA5}">
                        <a16:colId xmlns:a16="http://schemas.microsoft.com/office/drawing/2014/main" val="20000"/>
                      </a:ext>
                    </a:extLst>
                  </a:gridCol>
                </a:tblGrid>
                <a:tr h="300980">
                  <a:tc>
                    <a:txBody>
                      <a:bodyPr/>
                      <a:lstStyle/>
                      <a:p>
                        <a:pPr marL="0" lvl="0" indent="0" algn="l" rtl="0">
                          <a:spcBef>
                            <a:spcPts val="0"/>
                          </a:spcBef>
                          <a:spcAft>
                            <a:spcPts val="0"/>
                          </a:spcAft>
                          <a:buNone/>
                        </a:pPr>
                        <a:r>
                          <a:rPr lang="en-US" sz="1500" b="1">
                            <a:solidFill>
                              <a:srgbClr val="C00000"/>
                            </a:solidFill>
                          </a:rPr>
                          <a:t>76 ±2.032</a:t>
                        </a:r>
                        <a:r>
                          <a:rPr lang="en-US" sz="1500">
                            <a:solidFill>
                              <a:srgbClr val="C00000"/>
                            </a:solidFill>
                          </a:rPr>
                          <a:t> (±2.7%) [</a:t>
                        </a:r>
                        <a:r>
                          <a:rPr lang="en-US" sz="1500" b="1">
                            <a:solidFill>
                              <a:srgbClr val="C00000"/>
                            </a:solidFill>
                          </a:rPr>
                          <a:t>73.968 – 78.032</a:t>
                        </a:r>
                        <a:r>
                          <a:rPr lang="en-US" sz="1500">
                            <a:solidFill>
                              <a:srgbClr val="C00000"/>
                            </a:solidFill>
                          </a:rPr>
                          <a:t>]</a:t>
                        </a:r>
                        <a:endParaRPr sz="1500">
                          <a:solidFill>
                            <a:srgbClr val="C00000"/>
                          </a:solidFill>
                        </a:endParaRPr>
                      </a:p>
                    </a:txBody>
                    <a:tcPr marL="6350" marR="6350" marT="6350" marB="60950" anchor="b"/>
                  </a:tc>
                  <a:extLst>
                    <a:ext uri="{0D108BD9-81ED-4DB2-BD59-A6C34878D82A}">
                      <a16:rowId xmlns:a16="http://schemas.microsoft.com/office/drawing/2014/main" val="10000"/>
                    </a:ext>
                  </a:extLst>
                </a:tr>
              </a:tbl>
            </a:graphicData>
          </a:graphic>
        </p:graphicFrame>
        <p:graphicFrame>
          <p:nvGraphicFramePr>
            <p:cNvPr id="110" name="Google Shape;110;p4"/>
            <p:cNvGraphicFramePr/>
            <p:nvPr>
              <p:extLst>
                <p:ext uri="{D42A27DB-BD31-4B8C-83A1-F6EECF244321}">
                  <p14:modId xmlns:p14="http://schemas.microsoft.com/office/powerpoint/2010/main" val="3144630031"/>
                </p:ext>
              </p:extLst>
            </p:nvPr>
          </p:nvGraphicFramePr>
          <p:xfrm>
            <a:off x="17389392" y="14994933"/>
            <a:ext cx="3090396" cy="301019"/>
          </p:xfrm>
          <a:graphic>
            <a:graphicData uri="http://schemas.openxmlformats.org/drawingml/2006/table">
              <a:tbl>
                <a:tblPr>
                  <a:noFill/>
                  <a:tableStyleId>{5F582D43-0A40-4AC1-9963-54B1894188D1}</a:tableStyleId>
                </a:tblPr>
                <a:tblGrid>
                  <a:gridCol w="3524250">
                    <a:extLst>
                      <a:ext uri="{9D8B030D-6E8A-4147-A177-3AD203B41FA5}">
                        <a16:colId xmlns:a16="http://schemas.microsoft.com/office/drawing/2014/main" val="20000"/>
                      </a:ext>
                    </a:extLst>
                  </a:gridCol>
                </a:tblGrid>
                <a:tr h="300980">
                  <a:tc>
                    <a:txBody>
                      <a:bodyPr/>
                      <a:lstStyle/>
                      <a:p>
                        <a:pPr marL="0" lvl="0" indent="0" algn="l" rtl="0">
                          <a:spcBef>
                            <a:spcPts val="0"/>
                          </a:spcBef>
                          <a:spcAft>
                            <a:spcPts val="0"/>
                          </a:spcAft>
                          <a:buNone/>
                        </a:pPr>
                        <a:r>
                          <a:rPr lang="en-US" sz="1500" b="1">
                            <a:solidFill>
                              <a:srgbClr val="180FFF"/>
                            </a:solidFill>
                          </a:rPr>
                          <a:t>82 ±2.032</a:t>
                        </a:r>
                        <a:r>
                          <a:rPr lang="en-US" sz="1500">
                            <a:solidFill>
                              <a:srgbClr val="180FFF"/>
                            </a:solidFill>
                          </a:rPr>
                          <a:t> (±2.5%) [</a:t>
                        </a:r>
                        <a:r>
                          <a:rPr lang="en-US" sz="1500" b="1">
                            <a:solidFill>
                              <a:srgbClr val="180FFF"/>
                            </a:solidFill>
                          </a:rPr>
                          <a:t>79.968 – 84.032</a:t>
                        </a:r>
                        <a:r>
                          <a:rPr lang="en-US" sz="1500">
                            <a:solidFill>
                              <a:srgbClr val="180FFF"/>
                            </a:solidFill>
                          </a:rPr>
                          <a:t>]</a:t>
                        </a:r>
                        <a:endParaRPr sz="1500">
                          <a:solidFill>
                            <a:srgbClr val="180FFF"/>
                          </a:solidFill>
                        </a:endParaRPr>
                      </a:p>
                    </a:txBody>
                    <a:tcPr marL="6350" marR="6350" marT="6350" marB="60950" anchor="b"/>
                  </a:tc>
                  <a:extLst>
                    <a:ext uri="{0D108BD9-81ED-4DB2-BD59-A6C34878D82A}">
                      <a16:rowId xmlns:a16="http://schemas.microsoft.com/office/drawing/2014/main" val="10000"/>
                    </a:ext>
                  </a:extLst>
                </a:tr>
              </a:tbl>
            </a:graphicData>
          </a:graphic>
        </p:graphicFrame>
        <p:sp>
          <p:nvSpPr>
            <p:cNvPr id="111" name="Google Shape;111;p4"/>
            <p:cNvSpPr/>
            <p:nvPr/>
          </p:nvSpPr>
          <p:spPr>
            <a:xfrm>
              <a:off x="2566136" y="5536260"/>
              <a:ext cx="8663831" cy="5919956"/>
            </a:xfrm>
            <a:prstGeom prst="rect">
              <a:avLst/>
            </a:prstGeom>
            <a:solidFill>
              <a:schemeClr val="lt1">
                <a:alpha val="49410"/>
              </a:schemeClr>
            </a:solidFill>
            <a:ln>
              <a:noFill/>
            </a:ln>
          </p:spPr>
          <p:txBody>
            <a:bodyPr spcFirstLastPara="1" wrap="square" lIns="60950" tIns="30467" rIns="60950" bIns="30467" anchor="ctr" anchorCtr="0">
              <a:noAutofit/>
            </a:bodyPr>
            <a:lstStyle/>
            <a:p>
              <a:pPr marL="304815">
                <a:lnSpc>
                  <a:spcPct val="115000"/>
                </a:lnSpc>
                <a:spcBef>
                  <a:spcPts val="800"/>
                </a:spcBef>
                <a:spcAft>
                  <a:spcPts val="800"/>
                </a:spcAft>
                <a:buClr>
                  <a:schemeClr val="dk1"/>
                </a:buClr>
                <a:buSzPts val="1100"/>
              </a:pPr>
              <a:endParaRPr sz="800">
                <a:solidFill>
                  <a:schemeClr val="dk1"/>
                </a:solidFill>
              </a:endParaRPr>
            </a:p>
          </p:txBody>
        </p:sp>
        <p:sp>
          <p:nvSpPr>
            <p:cNvPr id="112" name="Google Shape;112;p4"/>
            <p:cNvSpPr txBox="1"/>
            <p:nvPr/>
          </p:nvSpPr>
          <p:spPr>
            <a:xfrm>
              <a:off x="21606833" y="5625117"/>
              <a:ext cx="8730600" cy="4617000"/>
            </a:xfrm>
            <a:prstGeom prst="rect">
              <a:avLst/>
            </a:prstGeom>
            <a:solidFill>
              <a:schemeClr val="bg1"/>
            </a:solidFill>
            <a:ln>
              <a:noFill/>
            </a:ln>
          </p:spPr>
          <p:txBody>
            <a:bodyPr spcFirstLastPara="1" wrap="square" lIns="60950" tIns="60950" rIns="60950" bIns="60950" anchor="t" anchorCtr="0">
              <a:noAutofit/>
            </a:bodyPr>
            <a:lstStyle/>
            <a:p>
              <a:pPr marL="304815" indent="-270947">
                <a:buClr>
                  <a:schemeClr val="dk1"/>
                </a:buClr>
                <a:buSzPts val="2800"/>
                <a:buChar char="●"/>
              </a:pPr>
              <a:r>
                <a:rPr lang="en-US" sz="1867" dirty="0">
                  <a:solidFill>
                    <a:schemeClr val="dk1"/>
                  </a:solidFill>
                </a:rPr>
                <a:t>P-value of 0.32 indicates failure to reject the null hypothesis; thus, the data suggests there is not enough evidence to support the alternative hypothesis of an improvement in DTB time with initiation of the red card program.</a:t>
              </a:r>
              <a:endParaRPr sz="1867" dirty="0">
                <a:solidFill>
                  <a:schemeClr val="dk1"/>
                </a:solidFill>
              </a:endParaRPr>
            </a:p>
            <a:p>
              <a:pPr marL="304815" indent="-270947">
                <a:buClr>
                  <a:schemeClr val="dk1"/>
                </a:buClr>
                <a:buSzPts val="2800"/>
                <a:buChar char="●"/>
              </a:pPr>
              <a:r>
                <a:rPr lang="en-US" sz="1867" dirty="0">
                  <a:solidFill>
                    <a:schemeClr val="dk1"/>
                  </a:solidFill>
                </a:rPr>
                <a:t>Given SAMC is one of two STEMI receiving centers in Fresno County, the hospital receives transfer STEMI cases from peripheral hospitals such as John C. Fremont Hospital in Mariposa and Reedley Hospital. For our study, the DTB time for transfer patients was evaluated from the time of arrival to SAMC ER.</a:t>
              </a:r>
              <a:endParaRPr sz="1867" dirty="0">
                <a:solidFill>
                  <a:schemeClr val="dk1"/>
                </a:solidFill>
              </a:endParaRPr>
            </a:p>
            <a:p>
              <a:pPr marL="304815" indent="-270947">
                <a:buClr>
                  <a:schemeClr val="dk1"/>
                </a:buClr>
                <a:buSzPts val="2800"/>
                <a:buChar char="●"/>
              </a:pPr>
              <a:r>
                <a:rPr lang="en-US" sz="1867" dirty="0">
                  <a:solidFill>
                    <a:schemeClr val="dk1"/>
                  </a:solidFill>
                </a:rPr>
                <a:t>Factors that may traditionally be excluded from DTB analysis were included in our analysis. This includes technically difficult cases that may involve a delay in crossing the culprit lesion, delayed presentation, intubation, and arrest during diagnostic cath.</a:t>
              </a:r>
              <a:endParaRPr sz="1867" dirty="0">
                <a:solidFill>
                  <a:schemeClr val="dk1"/>
                </a:solidFill>
              </a:endParaRPr>
            </a:p>
            <a:p>
              <a:pPr marL="304815" indent="-270947">
                <a:buClr>
                  <a:schemeClr val="dk1"/>
                </a:buClr>
                <a:buSzPts val="2800"/>
                <a:buChar char="●"/>
              </a:pPr>
              <a:r>
                <a:rPr lang="en-US" sz="1867" dirty="0">
                  <a:solidFill>
                    <a:schemeClr val="dk1"/>
                  </a:solidFill>
                </a:rPr>
                <a:t>Communication delays can involve delay in ER reaching responsible cardiologist as well as delay in communication time between non-interventional and interventional cardiologist.   </a:t>
              </a:r>
              <a:endParaRPr sz="1867" dirty="0">
                <a:solidFill>
                  <a:schemeClr val="dk1"/>
                </a:solidFill>
              </a:endParaRPr>
            </a:p>
            <a:p>
              <a:pPr marL="304815" indent="-270947">
                <a:buClr>
                  <a:schemeClr val="dk1"/>
                </a:buClr>
                <a:buSzPts val="2800"/>
                <a:buChar char="●"/>
              </a:pPr>
              <a:r>
                <a:rPr lang="en-US" sz="1867" dirty="0">
                  <a:solidFill>
                    <a:schemeClr val="dk1"/>
                  </a:solidFill>
                </a:rPr>
                <a:t>One outlier after 9/14 had door to EKG time of 164; thus, skewing this subcomponent’s data.</a:t>
              </a:r>
              <a:endParaRPr sz="1867" dirty="0">
                <a:solidFill>
                  <a:schemeClr val="dk1"/>
                </a:solidFill>
              </a:endParaRPr>
            </a:p>
          </p:txBody>
        </p:sp>
        <p:pic>
          <p:nvPicPr>
            <p:cNvPr id="113" name="Google Shape;113;p4"/>
            <p:cNvPicPr preferRelativeResize="0"/>
            <p:nvPr/>
          </p:nvPicPr>
          <p:blipFill>
            <a:blip r:embed="rId5">
              <a:alphaModFix/>
            </a:blip>
            <a:stretch>
              <a:fillRect/>
            </a:stretch>
          </p:blipFill>
          <p:spPr>
            <a:xfrm>
              <a:off x="11776550" y="10362117"/>
              <a:ext cx="9509751" cy="4432883"/>
            </a:xfrm>
            <a:prstGeom prst="rect">
              <a:avLst/>
            </a:prstGeom>
            <a:noFill/>
            <a:ln>
              <a:noFill/>
            </a:ln>
          </p:spPr>
        </p:pic>
        <p:pic>
          <p:nvPicPr>
            <p:cNvPr id="114" name="Google Shape;114;p4" title="ChatGPT Image Apr 25, 2025, 10_05_15 PM.png"/>
            <p:cNvPicPr preferRelativeResize="0"/>
            <p:nvPr/>
          </p:nvPicPr>
          <p:blipFill>
            <a:blip r:embed="rId6">
              <a:alphaModFix/>
            </a:blip>
            <a:stretch>
              <a:fillRect/>
            </a:stretch>
          </p:blipFill>
          <p:spPr>
            <a:xfrm>
              <a:off x="7861967" y="14010201"/>
              <a:ext cx="3367999" cy="6253934"/>
            </a:xfrm>
            <a:prstGeom prst="rect">
              <a:avLst/>
            </a:prstGeom>
            <a:solidFill>
              <a:schemeClr val="lt1">
                <a:alpha val="49410"/>
              </a:schemeClr>
            </a:solidFill>
            <a:ln w="9525" cap="flat" cmpd="sng">
              <a:solidFill>
                <a:schemeClr val="accent5"/>
              </a:solidFill>
              <a:prstDash val="solid"/>
              <a:round/>
              <a:headEnd type="none" w="sm" len="sm"/>
              <a:tailEnd type="none" w="sm" len="sm"/>
            </a:ln>
          </p:spPr>
        </p:pic>
        <p:sp>
          <p:nvSpPr>
            <p:cNvPr id="115" name="Google Shape;115;p4"/>
            <p:cNvSpPr txBox="1"/>
            <p:nvPr/>
          </p:nvSpPr>
          <p:spPr>
            <a:xfrm>
              <a:off x="15494000" y="12529875"/>
              <a:ext cx="3368000" cy="677200"/>
            </a:xfrm>
            <a:prstGeom prst="rect">
              <a:avLst/>
            </a:prstGeom>
            <a:noFill/>
            <a:ln>
              <a:noFill/>
            </a:ln>
          </p:spPr>
          <p:txBody>
            <a:bodyPr spcFirstLastPara="1" wrap="square" lIns="60950" tIns="60950" rIns="60950" bIns="60950" anchor="t" anchorCtr="0">
              <a:noAutofit/>
            </a:bodyPr>
            <a:lstStyle/>
            <a:p>
              <a:pPr marL="609630">
                <a:lnSpc>
                  <a:spcPct val="115000"/>
                </a:lnSpc>
              </a:pPr>
              <a:r>
                <a:rPr lang="en-US" sz="2200" b="1">
                  <a:solidFill>
                    <a:schemeClr val="dk1"/>
                  </a:solidFill>
                </a:rPr>
                <a:t>p value = 0.32</a:t>
              </a:r>
              <a:endParaRPr sz="2200" b="1">
                <a:solidFill>
                  <a:schemeClr val="dk1"/>
                </a:solidFill>
              </a:endParaRPr>
            </a:p>
          </p:txBody>
        </p:sp>
        <p:sp>
          <p:nvSpPr>
            <p:cNvPr id="116" name="Google Shape;116;p4"/>
            <p:cNvSpPr/>
            <p:nvPr/>
          </p:nvSpPr>
          <p:spPr>
            <a:xfrm>
              <a:off x="11776550" y="17915250"/>
              <a:ext cx="9509800" cy="3868000"/>
            </a:xfrm>
            <a:prstGeom prst="rect">
              <a:avLst/>
            </a:prstGeom>
            <a:solidFill>
              <a:schemeClr val="lt1"/>
            </a:solidFill>
            <a:ln>
              <a:noFill/>
            </a:ln>
          </p:spPr>
          <p:txBody>
            <a:bodyPr spcFirstLastPara="1" wrap="square" lIns="60950" tIns="30467" rIns="60950" bIns="30467" anchor="ctr" anchorCtr="0">
              <a:noAutofit/>
            </a:bodyPr>
            <a:lstStyle/>
            <a:p>
              <a:pPr marL="364067" indent="-342900">
                <a:lnSpc>
                  <a:spcPct val="115000"/>
                </a:lnSpc>
                <a:buClr>
                  <a:schemeClr val="dk1"/>
                </a:buClr>
                <a:buSzPct val="200000"/>
                <a:buFont typeface="Arial" panose="020B0604020202020204" pitchFamily="34" charset="0"/>
                <a:buChar char="•"/>
              </a:pPr>
              <a:r>
                <a:rPr lang="en-US" sz="2067" dirty="0">
                  <a:solidFill>
                    <a:schemeClr val="dk1"/>
                  </a:solidFill>
                  <a:highlight>
                    <a:schemeClr val="lt1"/>
                  </a:highlight>
                </a:rPr>
                <a:t>Average Door to EKG time was 8 minutes </a:t>
              </a:r>
              <a:endParaRPr sz="2067" dirty="0">
                <a:solidFill>
                  <a:schemeClr val="dk1"/>
                </a:solidFill>
                <a:highlight>
                  <a:schemeClr val="lt1"/>
                </a:highlight>
              </a:endParaRPr>
            </a:p>
            <a:p>
              <a:pPr marL="364067" indent="-342900">
                <a:lnSpc>
                  <a:spcPct val="115000"/>
                </a:lnSpc>
                <a:buClr>
                  <a:schemeClr val="dk1"/>
                </a:buClr>
                <a:buSzPct val="200000"/>
                <a:buFont typeface="Arial" panose="020B0604020202020204" pitchFamily="34" charset="0"/>
                <a:buChar char="•"/>
              </a:pPr>
              <a:r>
                <a:rPr lang="en-US" sz="2067" dirty="0">
                  <a:solidFill>
                    <a:schemeClr val="dk1"/>
                  </a:solidFill>
                  <a:highlight>
                    <a:schemeClr val="lt1"/>
                  </a:highlight>
                </a:rPr>
                <a:t>Despite implementation of red card program, door to EKG time decreased from 3.5 minutes to 10.2 minutes. </a:t>
              </a:r>
              <a:endParaRPr sz="2067" dirty="0">
                <a:solidFill>
                  <a:schemeClr val="dk1"/>
                </a:solidFill>
                <a:highlight>
                  <a:schemeClr val="lt1"/>
                </a:highlight>
              </a:endParaRPr>
            </a:p>
            <a:p>
              <a:pPr marL="364067" indent="-342900">
                <a:lnSpc>
                  <a:spcPct val="115000"/>
                </a:lnSpc>
                <a:buClr>
                  <a:schemeClr val="dk1"/>
                </a:buClr>
                <a:buSzPct val="200000"/>
                <a:buFont typeface="Arial" panose="020B0604020202020204" pitchFamily="34" charset="0"/>
                <a:buChar char="•"/>
              </a:pPr>
              <a:r>
                <a:rPr lang="en-US" sz="2067" dirty="0">
                  <a:solidFill>
                    <a:schemeClr val="dk1"/>
                  </a:solidFill>
                  <a:highlight>
                    <a:schemeClr val="lt1"/>
                  </a:highlight>
                </a:rPr>
                <a:t>Average EKG to Cardiology Consult time was 12.5 minutes</a:t>
              </a:r>
              <a:endParaRPr sz="2067" dirty="0">
                <a:solidFill>
                  <a:schemeClr val="dk1"/>
                </a:solidFill>
                <a:highlight>
                  <a:schemeClr val="lt1"/>
                </a:highlight>
              </a:endParaRPr>
            </a:p>
            <a:p>
              <a:pPr marL="364067" indent="-342900">
                <a:lnSpc>
                  <a:spcPct val="115000"/>
                </a:lnSpc>
                <a:buClr>
                  <a:schemeClr val="dk1"/>
                </a:buClr>
                <a:buSzPct val="200000"/>
                <a:buFont typeface="Arial" panose="020B0604020202020204" pitchFamily="34" charset="0"/>
                <a:buChar char="•"/>
              </a:pPr>
              <a:r>
                <a:rPr lang="en-US" sz="2067" dirty="0">
                  <a:solidFill>
                    <a:schemeClr val="dk1"/>
                  </a:solidFill>
                  <a:highlight>
                    <a:schemeClr val="lt1"/>
                  </a:highlight>
                </a:rPr>
                <a:t>Average Door to Pre-op time was 49 minutes</a:t>
              </a:r>
              <a:endParaRPr sz="2067" dirty="0">
                <a:solidFill>
                  <a:schemeClr val="dk1"/>
                </a:solidFill>
                <a:highlight>
                  <a:schemeClr val="lt1"/>
                </a:highlight>
              </a:endParaRPr>
            </a:p>
            <a:p>
              <a:pPr marL="364067" indent="-342900">
                <a:lnSpc>
                  <a:spcPct val="115000"/>
                </a:lnSpc>
                <a:buClr>
                  <a:schemeClr val="dk1"/>
                </a:buClr>
                <a:buSzPct val="200000"/>
                <a:buFont typeface="Arial" panose="020B0604020202020204" pitchFamily="34" charset="0"/>
                <a:buChar char="•"/>
              </a:pPr>
              <a:r>
                <a:rPr lang="en-US" sz="2067" dirty="0">
                  <a:solidFill>
                    <a:schemeClr val="dk1"/>
                  </a:solidFill>
                  <a:highlight>
                    <a:schemeClr val="lt1"/>
                  </a:highlight>
                </a:rPr>
                <a:t>Red card program initiated on 9/14</a:t>
              </a:r>
            </a:p>
            <a:p>
              <a:pPr marL="668882" lvl="1" indent="-342900">
                <a:lnSpc>
                  <a:spcPct val="115000"/>
                </a:lnSpc>
                <a:buClr>
                  <a:schemeClr val="dk1"/>
                </a:buClr>
                <a:buSzPct val="200000"/>
                <a:buFont typeface="Arial" panose="020B0604020202020204" pitchFamily="34" charset="0"/>
                <a:buChar char="•"/>
              </a:pPr>
              <a:r>
                <a:rPr lang="en-US" sz="2067" dirty="0">
                  <a:solidFill>
                    <a:schemeClr val="dk1"/>
                  </a:solidFill>
                  <a:highlight>
                    <a:schemeClr val="lt1"/>
                  </a:highlight>
                </a:rPr>
                <a:t>Average DTB time prior to 9/14/2024 was 76 mins</a:t>
              </a:r>
            </a:p>
            <a:p>
              <a:pPr marL="668882" lvl="1" indent="-342900">
                <a:lnSpc>
                  <a:spcPct val="115000"/>
                </a:lnSpc>
                <a:buClr>
                  <a:schemeClr val="dk1"/>
                </a:buClr>
                <a:buSzPct val="200000"/>
                <a:buFont typeface="Arial" panose="020B0604020202020204" pitchFamily="34" charset="0"/>
                <a:buChar char="•"/>
              </a:pPr>
              <a:r>
                <a:rPr lang="en-US" sz="2067" dirty="0">
                  <a:solidFill>
                    <a:schemeClr val="dk1"/>
                  </a:solidFill>
                  <a:highlight>
                    <a:schemeClr val="lt1"/>
                  </a:highlight>
                </a:rPr>
                <a:t>Average DTB time after 9/14/2024 was 82 mins</a:t>
              </a:r>
              <a:endParaRPr sz="2067" dirty="0">
                <a:solidFill>
                  <a:schemeClr val="dk1"/>
                </a:solidFill>
                <a:highlight>
                  <a:schemeClr val="lt1"/>
                </a:highlight>
              </a:endParaRPr>
            </a:p>
            <a:p>
              <a:pPr marL="364067" indent="-342900">
                <a:lnSpc>
                  <a:spcPct val="115000"/>
                </a:lnSpc>
                <a:buClr>
                  <a:schemeClr val="dk1"/>
                </a:buClr>
                <a:buSzPct val="200000"/>
                <a:buFont typeface="Arial" panose="020B0604020202020204" pitchFamily="34" charset="0"/>
                <a:buChar char="•"/>
              </a:pPr>
              <a:r>
                <a:rPr lang="en-US" sz="2067" dirty="0">
                  <a:solidFill>
                    <a:schemeClr val="dk1"/>
                  </a:solidFill>
                  <a:highlight>
                    <a:schemeClr val="lt1"/>
                  </a:highlight>
                </a:rPr>
                <a:t>Additional analysis showed SAMC’s median DTB time of 72 minutes was less than national median DTB time of 83 minutes</a:t>
              </a:r>
              <a:endParaRPr sz="2067" dirty="0">
                <a:solidFill>
                  <a:schemeClr val="dk1"/>
                </a:solidFill>
                <a:highlight>
                  <a:schemeClr val="lt1"/>
                </a:highlight>
              </a:endParaRPr>
            </a:p>
          </p:txBody>
        </p:sp>
        <p:sp>
          <p:nvSpPr>
            <p:cNvPr id="117" name="Google Shape;117;p4"/>
            <p:cNvSpPr txBox="1"/>
            <p:nvPr/>
          </p:nvSpPr>
          <p:spPr>
            <a:xfrm>
              <a:off x="2859667" y="5625117"/>
              <a:ext cx="8479000" cy="1493800"/>
            </a:xfrm>
            <a:prstGeom prst="rect">
              <a:avLst/>
            </a:prstGeom>
            <a:noFill/>
            <a:ln>
              <a:noFill/>
            </a:ln>
          </p:spPr>
          <p:txBody>
            <a:bodyPr spcFirstLastPara="1" wrap="square" lIns="60950" tIns="60950" rIns="60950" bIns="60950" anchor="t" anchorCtr="0">
              <a:noAutofit/>
            </a:bodyPr>
            <a:lstStyle/>
            <a:p>
              <a:pPr marL="304815" indent="-289998">
                <a:lnSpc>
                  <a:spcPct val="115000"/>
                </a:lnSpc>
                <a:buClr>
                  <a:schemeClr val="dk1"/>
                </a:buClr>
                <a:buSzPts val="3250"/>
                <a:buChar char="●"/>
              </a:pPr>
              <a:r>
                <a:rPr lang="en-US" sz="2167" dirty="0">
                  <a:solidFill>
                    <a:schemeClr val="dk1"/>
                  </a:solidFill>
                  <a:highlight>
                    <a:schemeClr val="lt1"/>
                  </a:highlight>
                </a:rPr>
                <a:t>“Time is Muscle”: Early intervention through reperfusion therapy (ideally through PCI) is critical to minimize the amount of myocardial damage and thus maximizing patient outcomes. </a:t>
              </a:r>
              <a:endParaRPr sz="2167" dirty="0">
                <a:solidFill>
                  <a:schemeClr val="dk1"/>
                </a:solidFill>
                <a:highlight>
                  <a:schemeClr val="lt1"/>
                </a:highlight>
              </a:endParaRPr>
            </a:p>
            <a:p>
              <a:pPr marL="304815" indent="-289998">
                <a:lnSpc>
                  <a:spcPct val="115000"/>
                </a:lnSpc>
                <a:buClr>
                  <a:schemeClr val="dk1"/>
                </a:buClr>
                <a:buSzPts val="3250"/>
                <a:buChar char="●"/>
              </a:pPr>
              <a:r>
                <a:rPr lang="en-US" sz="2167" dirty="0">
                  <a:solidFill>
                    <a:schemeClr val="dk1"/>
                  </a:solidFill>
                  <a:highlight>
                    <a:schemeClr val="lt1"/>
                  </a:highlight>
                </a:rPr>
                <a:t>Delayed treatment can lead to complications such as heart failure or death. Thus, timely diagnosis of STEMI and rapid cardiac </a:t>
              </a:r>
              <a:r>
                <a:rPr lang="en-US" sz="2167" dirty="0" err="1">
                  <a:solidFill>
                    <a:schemeClr val="dk1"/>
                  </a:solidFill>
                  <a:highlight>
                    <a:schemeClr val="lt1"/>
                  </a:highlight>
                </a:rPr>
                <a:t>cath</a:t>
              </a:r>
              <a:r>
                <a:rPr lang="en-US" sz="2167" dirty="0">
                  <a:solidFill>
                    <a:schemeClr val="dk1"/>
                  </a:solidFill>
                  <a:highlight>
                    <a:schemeClr val="lt1"/>
                  </a:highlight>
                </a:rPr>
                <a:t> lab activation is critical in determining morbidity and mortality. </a:t>
              </a:r>
              <a:endParaRPr sz="2167" dirty="0">
                <a:solidFill>
                  <a:schemeClr val="dk1"/>
                </a:solidFill>
                <a:highlight>
                  <a:schemeClr val="lt1"/>
                </a:highlight>
              </a:endParaRPr>
            </a:p>
            <a:p>
              <a:pPr marL="304815" indent="-289998">
                <a:lnSpc>
                  <a:spcPct val="115000"/>
                </a:lnSpc>
                <a:buClr>
                  <a:schemeClr val="dk1"/>
                </a:buClr>
                <a:buSzPts val="3250"/>
                <a:buChar char="●"/>
              </a:pPr>
              <a:r>
                <a:rPr lang="en-US" sz="2167" dirty="0">
                  <a:solidFill>
                    <a:schemeClr val="dk1"/>
                  </a:solidFill>
                  <a:highlight>
                    <a:schemeClr val="lt1"/>
                  </a:highlight>
                </a:rPr>
                <a:t>Goal door to balloon time for PCI-capable hospital is 90 minutes.</a:t>
              </a:r>
              <a:endParaRPr sz="2167" dirty="0">
                <a:solidFill>
                  <a:schemeClr val="dk1"/>
                </a:solidFill>
                <a:highlight>
                  <a:schemeClr val="lt1"/>
                </a:highlight>
              </a:endParaRPr>
            </a:p>
            <a:p>
              <a:pPr marL="304815" indent="-289998">
                <a:lnSpc>
                  <a:spcPct val="115000"/>
                </a:lnSpc>
                <a:buClr>
                  <a:schemeClr val="dk1"/>
                </a:buClr>
                <a:buSzPts val="3250"/>
                <a:buChar char="●"/>
              </a:pPr>
              <a:r>
                <a:rPr lang="en-US" sz="2167" dirty="0">
                  <a:solidFill>
                    <a:schemeClr val="dk1"/>
                  </a:solidFill>
                  <a:highlight>
                    <a:schemeClr val="lt1"/>
                  </a:highlight>
                </a:rPr>
                <a:t>Time delay in transmitting information: EKG needs to be taken by technician, interpreted by ER physician, and transmitted to cardiologist prior to </a:t>
              </a:r>
              <a:r>
                <a:rPr lang="en-US" sz="2167" dirty="0" err="1">
                  <a:solidFill>
                    <a:schemeClr val="dk1"/>
                  </a:solidFill>
                  <a:highlight>
                    <a:schemeClr val="lt1"/>
                  </a:highlight>
                </a:rPr>
                <a:t>cath</a:t>
              </a:r>
              <a:r>
                <a:rPr lang="en-US" sz="2167" dirty="0">
                  <a:solidFill>
                    <a:schemeClr val="dk1"/>
                  </a:solidFill>
                  <a:highlight>
                    <a:schemeClr val="lt1"/>
                  </a:highlight>
                </a:rPr>
                <a:t> lab activation. The multitude of steps leaves room for delay in door to balloon time.</a:t>
              </a:r>
              <a:endParaRPr sz="2167" dirty="0">
                <a:solidFill>
                  <a:schemeClr val="dk1"/>
                </a:solidFill>
                <a:highlight>
                  <a:schemeClr val="lt1"/>
                </a:highlight>
              </a:endParaRPr>
            </a:p>
            <a:p>
              <a:pPr marL="304815" indent="-289998">
                <a:lnSpc>
                  <a:spcPct val="115000"/>
                </a:lnSpc>
                <a:buClr>
                  <a:schemeClr val="dk1"/>
                </a:buClr>
                <a:buSzPts val="3250"/>
                <a:buChar char="●"/>
              </a:pPr>
              <a:r>
                <a:rPr lang="en-US" sz="2167" dirty="0">
                  <a:solidFill>
                    <a:schemeClr val="dk1"/>
                  </a:solidFill>
                  <a:highlight>
                    <a:schemeClr val="lt1"/>
                  </a:highlight>
                </a:rPr>
                <a:t>Red card program has potential to decrease door to balloon time by prioritizing chest pain patients as potential STEMI cases with the goal door to EKG time being 10 minutes or less. </a:t>
              </a:r>
              <a:endParaRPr sz="2167" dirty="0">
                <a:solidFill>
                  <a:schemeClr val="dk1"/>
                </a:solidFill>
                <a:highlight>
                  <a:schemeClr val="lt1"/>
                </a:highlight>
              </a:endParaRPr>
            </a:p>
            <a:p>
              <a:pPr>
                <a:lnSpc>
                  <a:spcPct val="115000"/>
                </a:lnSpc>
              </a:pPr>
              <a:endParaRPr sz="2167" dirty="0">
                <a:solidFill>
                  <a:schemeClr val="dk1"/>
                </a:solidFill>
                <a:highlight>
                  <a:schemeClr val="lt1"/>
                </a:highlight>
              </a:endParaRPr>
            </a:p>
          </p:txBody>
        </p:sp>
        <p:sp>
          <p:nvSpPr>
            <p:cNvPr id="118" name="Google Shape;118;p4"/>
            <p:cNvSpPr/>
            <p:nvPr/>
          </p:nvSpPr>
          <p:spPr>
            <a:xfrm>
              <a:off x="2523549" y="11755319"/>
              <a:ext cx="8815011"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Methods</a:t>
              </a:r>
              <a:endParaRPr sz="933"/>
            </a:p>
          </p:txBody>
        </p:sp>
      </p:grpSp>
      <p:pic>
        <p:nvPicPr>
          <p:cNvPr id="119" name="Picture 118" descr="33R.png"/>
          <p:cNvPicPr>
            <a:picLocks noChangeAspect="1"/>
          </p:cNvPicPr>
          <p:nvPr/>
        </p:nvPicPr>
        <p:blipFill>
          <a:blip r:embed="rId7"/>
          <a:stretch>
            <a:fillRect/>
          </a:stretch>
        </p:blipFill>
        <p:spPr>
          <a:xfrm>
            <a:off x="29279088" y="356616"/>
            <a:ext cx="210312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995</Words>
  <Application>Microsoft Macintosh PowerPoint</Application>
  <PresentationFormat>Custom</PresentationFormat>
  <Paragraphs>54</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Helvetica Neue</vt:lpstr>
      <vt:lpstr>Calibri</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Phil Kim</cp:lastModifiedBy>
  <cp:revision>2</cp:revision>
  <dcterms:created xsi:type="dcterms:W3CDTF">2016-02-18T22:13:49Z</dcterms:created>
  <dcterms:modified xsi:type="dcterms:W3CDTF">2025-05-02T22:46:49Z</dcterms:modified>
</cp:coreProperties>
</file>