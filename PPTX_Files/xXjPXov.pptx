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8"/>
    <p:restoredTop sz="94694"/>
  </p:normalViewPr>
  <p:slideViewPr>
    <p:cSldViewPr snapToGrid="0">
      <p:cViewPr>
        <p:scale>
          <a:sx n="44" d="100"/>
          <a:sy n="44" d="100"/>
        </p:scale>
        <p:origin x="2456" y="144"/>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6"/>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6"/>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9"/>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3994608" y="3159765"/>
            <a:ext cx="16664940" cy="15595600"/>
          </a:xfrm>
          <a:prstGeom prst="rect">
            <a:avLst/>
          </a:prstGeom>
          <a:noFill/>
          <a:ln>
            <a:noFill/>
          </a:ln>
        </p:spPr>
      </p:sp>
      <p:sp>
        <p:nvSpPr>
          <p:cNvPr id="68" name="Google Shape;68;p10"/>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cdc.gov/hai/bsi/clabsi-resources.html" TargetMode="External"/><Relationship Id="rId4" Type="http://schemas.openxmlformats.org/officeDocument/2006/relationships/image" Target="../media/image1.jp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p:nvPr/>
        </p:nvSpPr>
        <p:spPr>
          <a:xfrm>
            <a:off x="22428282" y="19600524"/>
            <a:ext cx="10051199" cy="2125800"/>
          </a:xfrm>
          <a:prstGeom prst="rect">
            <a:avLst/>
          </a:prstGeom>
          <a:solidFill>
            <a:schemeClr val="lt1"/>
          </a:solidFill>
          <a:ln>
            <a:noFill/>
          </a:ln>
        </p:spPr>
        <p:txBody>
          <a:bodyPr spcFirstLastPara="1" wrap="square" lIns="60950" tIns="30467" rIns="60950" bIns="30467" anchor="ctr" anchorCtr="0">
            <a:noAutofit/>
          </a:bodyPr>
          <a:lstStyle/>
          <a:p>
            <a:pPr algn="ctr">
              <a:buSzPts val="7258"/>
            </a:pPr>
            <a:endParaRPr sz="4839">
              <a:solidFill>
                <a:schemeClr val="dk1"/>
              </a:solidFill>
              <a:latin typeface="Calibri"/>
              <a:ea typeface="Calibri"/>
              <a:cs typeface="Calibri"/>
              <a:sym typeface="Calibri"/>
            </a:endParaRPr>
          </a:p>
        </p:txBody>
      </p:sp>
      <p:sp>
        <p:nvSpPr>
          <p:cNvPr id="90" name="Google Shape;90;p13"/>
          <p:cNvSpPr/>
          <p:nvPr/>
        </p:nvSpPr>
        <p:spPr>
          <a:xfrm>
            <a:off x="402336" y="9952424"/>
            <a:ext cx="10788458"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667">
                <a:solidFill>
                  <a:schemeClr val="lt1"/>
                </a:solidFill>
              </a:rPr>
              <a:t>Methods</a:t>
            </a:r>
            <a:endParaRPr sz="4667"/>
          </a:p>
        </p:txBody>
      </p:sp>
      <p:sp>
        <p:nvSpPr>
          <p:cNvPr id="91" name="Google Shape;91;p13"/>
          <p:cNvSpPr/>
          <p:nvPr/>
        </p:nvSpPr>
        <p:spPr>
          <a:xfrm>
            <a:off x="478488" y="11255330"/>
            <a:ext cx="10788458" cy="8788467"/>
          </a:xfrm>
          <a:prstGeom prst="rect">
            <a:avLst/>
          </a:prstGeom>
          <a:solidFill>
            <a:schemeClr val="lt1"/>
          </a:solidFill>
          <a:ln>
            <a:noFill/>
          </a:ln>
        </p:spPr>
        <p:txBody>
          <a:bodyPr spcFirstLastPara="1" wrap="square" lIns="60950" tIns="30467" rIns="60950" bIns="30467" anchor="t" anchorCtr="0">
            <a:noAutofit/>
          </a:bodyPr>
          <a:lstStyle/>
          <a:p>
            <a:pPr>
              <a:buClr>
                <a:schemeClr val="dk1"/>
              </a:buClr>
              <a:buSzPts val="1100"/>
            </a:pPr>
            <a:r>
              <a:rPr lang="en-US" sz="2600" dirty="0">
                <a:solidFill>
                  <a:schemeClr val="dk1"/>
                </a:solidFill>
              </a:rPr>
              <a:t>A multidisciplinary QI team—comprising physicians, nursing leadership, infection preventionists, and quality improvement specialists—was assembled. The project followed the Plan-Do-Study-Act (PDSA) framework over a 12-month period (January–December 2024) with comparison to the last 12-month period (January-December 2023).</a:t>
            </a:r>
            <a:endParaRPr sz="2600" dirty="0">
              <a:solidFill>
                <a:schemeClr val="dk1"/>
              </a:solidFill>
            </a:endParaRPr>
          </a:p>
          <a:p>
            <a:r>
              <a:rPr lang="en-US" sz="2600" dirty="0">
                <a:solidFill>
                  <a:schemeClr val="dk1"/>
                </a:solidFill>
              </a:rPr>
              <a:t>The intervention focused on improving central line insertion and maintenance practices to reduce CLABSI rates. Insertion improvements included mandatory simulation-based training, a standardized checklist with maximal sterile barriers, and empowering nurses to halt procedures if sterility was compromised. Maintenance efforts emphasized daily chlorhexidine bathing, standardized dressing change protocols, and daily line necessity reviews during multidisciplinary rounds. Transparency was enhanced through monthly unit-specific CLABSI dashboards and a recognition program for high bundle compliance. A cultural shift was promoted through patient and staff storytelling sessions and the appointment of unit-based champions to model best practices.</a:t>
            </a:r>
            <a:endParaRPr sz="2600" dirty="0">
              <a:solidFill>
                <a:schemeClr val="dk1"/>
              </a:solidFill>
            </a:endParaRPr>
          </a:p>
          <a:p>
            <a:pPr>
              <a:buClr>
                <a:schemeClr val="dk1"/>
              </a:buClr>
              <a:buSzPts val="1100"/>
            </a:pPr>
            <a:r>
              <a:rPr lang="en-US" sz="2600" dirty="0">
                <a:solidFill>
                  <a:schemeClr val="dk1"/>
                </a:solidFill>
              </a:rPr>
              <a:t>The primary outcome was the CLABSI rate (infections per 1,000 central line days), with process measures including bundle compliance and daily necessity review documentation, and the balancing measure being the central line utilization ratio, all monitored monthly using infection prevention surveillance tools.</a:t>
            </a:r>
            <a:endParaRPr sz="2600" dirty="0">
              <a:solidFill>
                <a:schemeClr val="dk1"/>
              </a:solidFill>
            </a:endParaRPr>
          </a:p>
          <a:p>
            <a:pPr>
              <a:spcAft>
                <a:spcPts val="800"/>
              </a:spcAft>
            </a:pPr>
            <a:endParaRPr sz="2400" dirty="0">
              <a:solidFill>
                <a:schemeClr val="dk1"/>
              </a:solidFill>
            </a:endParaRPr>
          </a:p>
        </p:txBody>
      </p:sp>
      <p:sp>
        <p:nvSpPr>
          <p:cNvPr id="92" name="Google Shape;92;p13"/>
          <p:cNvSpPr/>
          <p:nvPr/>
        </p:nvSpPr>
        <p:spPr>
          <a:xfrm>
            <a:off x="402336" y="4417843"/>
            <a:ext cx="10788458" cy="1080481"/>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667">
                <a:solidFill>
                  <a:schemeClr val="lt1"/>
                </a:solidFill>
              </a:rPr>
              <a:t>Introduction</a:t>
            </a:r>
            <a:endParaRPr sz="4667"/>
          </a:p>
        </p:txBody>
      </p:sp>
      <p:sp>
        <p:nvSpPr>
          <p:cNvPr id="93" name="Google Shape;93;p13"/>
          <p:cNvSpPr/>
          <p:nvPr/>
        </p:nvSpPr>
        <p:spPr>
          <a:xfrm>
            <a:off x="445886" y="5640329"/>
            <a:ext cx="10788458" cy="4283400"/>
          </a:xfrm>
          <a:prstGeom prst="rect">
            <a:avLst/>
          </a:prstGeom>
          <a:solidFill>
            <a:schemeClr val="lt1"/>
          </a:solidFill>
          <a:ln>
            <a:noFill/>
          </a:ln>
        </p:spPr>
        <p:txBody>
          <a:bodyPr spcFirstLastPara="1" wrap="square" lIns="60950" tIns="30467" rIns="60950" bIns="30467" anchor="t" anchorCtr="0">
            <a:noAutofit/>
          </a:bodyPr>
          <a:lstStyle/>
          <a:p>
            <a:pPr>
              <a:buClr>
                <a:schemeClr val="dk1"/>
              </a:buClr>
              <a:buSzPts val="1100"/>
            </a:pPr>
            <a:r>
              <a:rPr lang="en-US" sz="2533" dirty="0">
                <a:solidFill>
                  <a:schemeClr val="dk1"/>
                </a:solidFill>
              </a:rPr>
              <a:t>Central Line-Associated Bloodstream Infections (CLABSIs) are among the most preventable healthcare-associated infections (HAIs) but remain a major cause of patient morbidity, mortality, and healthcare expenditures. According to the Centers for Disease Control and Prevention (CDC), each CLABSI can add up to $45,000 in direct hospital costs and increases the average length of stay by up to 10 days [1]. While significant progress has been made in large academic centers through evidence-based bundles and performance monitoring, community hospitals often lack the infrastructure to consistently apply these best practices [2].</a:t>
            </a:r>
            <a:endParaRPr sz="2533" dirty="0">
              <a:solidFill>
                <a:schemeClr val="lt1"/>
              </a:solidFill>
            </a:endParaRPr>
          </a:p>
        </p:txBody>
      </p:sp>
      <p:sp>
        <p:nvSpPr>
          <p:cNvPr id="94" name="Google Shape;94;p13"/>
          <p:cNvSpPr/>
          <p:nvPr/>
        </p:nvSpPr>
        <p:spPr>
          <a:xfrm>
            <a:off x="402336" y="376366"/>
            <a:ext cx="32077152" cy="3809162"/>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5" name="Google Shape;95;p13"/>
          <p:cNvSpPr/>
          <p:nvPr/>
        </p:nvSpPr>
        <p:spPr>
          <a:xfrm>
            <a:off x="6851333" y="1092600"/>
            <a:ext cx="19778600" cy="933600"/>
          </a:xfrm>
          <a:prstGeom prst="rect">
            <a:avLst/>
          </a:prstGeom>
          <a:noFill/>
          <a:ln>
            <a:noFill/>
          </a:ln>
        </p:spPr>
        <p:txBody>
          <a:bodyPr spcFirstLastPara="1" wrap="square" lIns="60950" tIns="30467" rIns="60950" bIns="30467" anchor="t" anchorCtr="0">
            <a:noAutofit/>
          </a:bodyPr>
          <a:lstStyle/>
          <a:p>
            <a:pPr algn="ctr">
              <a:buSzPts val="8500"/>
            </a:pPr>
            <a:r>
              <a:rPr lang="en-US" sz="6134" b="1">
                <a:solidFill>
                  <a:schemeClr val="lt1"/>
                </a:solidFill>
              </a:rPr>
              <a:t>Line-by-Line: Cutting down CLABSI With Care</a:t>
            </a:r>
            <a:endParaRPr sz="6134"/>
          </a:p>
        </p:txBody>
      </p:sp>
      <p:sp>
        <p:nvSpPr>
          <p:cNvPr id="96" name="Google Shape;96;p13"/>
          <p:cNvSpPr/>
          <p:nvPr/>
        </p:nvSpPr>
        <p:spPr>
          <a:xfrm>
            <a:off x="7867333" y="2124317"/>
            <a:ext cx="19487200" cy="1703000"/>
          </a:xfrm>
          <a:prstGeom prst="rect">
            <a:avLst/>
          </a:prstGeom>
          <a:noFill/>
          <a:ln>
            <a:noFill/>
          </a:ln>
        </p:spPr>
        <p:txBody>
          <a:bodyPr spcFirstLastPara="1" wrap="square" lIns="60950" tIns="30467" rIns="60950" bIns="30467" anchor="ctr" anchorCtr="0">
            <a:noAutofit/>
          </a:bodyPr>
          <a:lstStyle/>
          <a:p>
            <a:pPr algn="ctr">
              <a:buSzPts val="6000"/>
            </a:pPr>
            <a:r>
              <a:rPr lang="en-US" sz="4000">
                <a:solidFill>
                  <a:schemeClr val="lt1"/>
                </a:solidFill>
                <a:latin typeface="Helvetica Neue"/>
                <a:ea typeface="Helvetica Neue"/>
                <a:cs typeface="Helvetica Neue"/>
                <a:sym typeface="Helvetica Neue"/>
              </a:rPr>
              <a:t>Andrew Clark MD, Hamna </a:t>
            </a:r>
            <a:r>
              <a:rPr lang="en-US" sz="4000" dirty="0">
                <a:solidFill>
                  <a:schemeClr val="lt1"/>
                </a:solidFill>
                <a:latin typeface="Helvetica Neue"/>
                <a:ea typeface="Helvetica Neue"/>
                <a:cs typeface="Helvetica Neue"/>
                <a:sym typeface="Helvetica Neue"/>
              </a:rPr>
              <a:t>Javed MD</a:t>
            </a:r>
            <a:r>
              <a:rPr lang="en-US" sz="4000">
                <a:solidFill>
                  <a:schemeClr val="lt1"/>
                </a:solidFill>
                <a:latin typeface="Helvetica Neue"/>
                <a:ea typeface="Helvetica Neue"/>
                <a:cs typeface="Helvetica Neue"/>
                <a:sym typeface="Helvetica Neue"/>
              </a:rPr>
              <a:t>, Aftab </a:t>
            </a:r>
            <a:r>
              <a:rPr lang="en-US" sz="4000" dirty="0">
                <a:solidFill>
                  <a:schemeClr val="lt1"/>
                </a:solidFill>
                <a:latin typeface="Helvetica Neue"/>
                <a:ea typeface="Helvetica Neue"/>
                <a:cs typeface="Helvetica Neue"/>
                <a:sym typeface="Helvetica Neue"/>
              </a:rPr>
              <a:t>Arif MD, Amritpal Nat MD, Talal Arab MD</a:t>
            </a:r>
            <a:endParaRPr sz="933" dirty="0"/>
          </a:p>
          <a:p>
            <a:pPr algn="ctr">
              <a:buSzPts val="5000"/>
            </a:pPr>
            <a:r>
              <a:rPr lang="en-US" sz="3334" i="1" dirty="0">
                <a:solidFill>
                  <a:schemeClr val="lt1"/>
                </a:solidFill>
                <a:latin typeface="Helvetica Neue"/>
                <a:ea typeface="Helvetica Neue"/>
                <a:cs typeface="Helvetica Neue"/>
                <a:sym typeface="Helvetica Neue"/>
              </a:rPr>
              <a:t>Saint Agnes Medical Center, Fresno, CA</a:t>
            </a:r>
            <a:endParaRPr sz="933" dirty="0"/>
          </a:p>
        </p:txBody>
      </p:sp>
      <p:sp>
        <p:nvSpPr>
          <p:cNvPr id="97" name="Google Shape;97;p13"/>
          <p:cNvSpPr txBox="1"/>
          <p:nvPr/>
        </p:nvSpPr>
        <p:spPr>
          <a:xfrm>
            <a:off x="12026700" y="7772984"/>
            <a:ext cx="9211400" cy="369306"/>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Table 1: ICU CLABSI Data with comparison to National ICU CLABSI Predicted rates</a:t>
            </a:r>
            <a:endParaRPr sz="933"/>
          </a:p>
        </p:txBody>
      </p:sp>
      <p:sp>
        <p:nvSpPr>
          <p:cNvPr id="98" name="Google Shape;98;p13"/>
          <p:cNvSpPr txBox="1"/>
          <p:nvPr/>
        </p:nvSpPr>
        <p:spPr>
          <a:xfrm>
            <a:off x="12087527" y="11293806"/>
            <a:ext cx="8730600" cy="369306"/>
          </a:xfrm>
          <a:prstGeom prst="rect">
            <a:avLst/>
          </a:prstGeom>
          <a:noFill/>
          <a:ln>
            <a:noFill/>
          </a:ln>
        </p:spPr>
        <p:txBody>
          <a:bodyPr spcFirstLastPara="1" wrap="square" lIns="60950" tIns="30467" rIns="60950" bIns="30467" anchor="t" anchorCtr="0">
            <a:spAutoFit/>
          </a:bodyPr>
          <a:lstStyle/>
          <a:p>
            <a:pPr>
              <a:buSzPts val="3000"/>
            </a:pPr>
            <a:r>
              <a:rPr lang="en-US" sz="2000" b="1">
                <a:solidFill>
                  <a:schemeClr val="dk1"/>
                </a:solidFill>
                <a:latin typeface="Calibri"/>
                <a:ea typeface="Calibri"/>
                <a:cs typeface="Calibri"/>
                <a:sym typeface="Calibri"/>
              </a:rPr>
              <a:t>Table 2: Total Hospital CLABSI rates in comparison to National CLABSI Rates </a:t>
            </a:r>
            <a:endParaRPr sz="933"/>
          </a:p>
        </p:txBody>
      </p:sp>
      <p:sp>
        <p:nvSpPr>
          <p:cNvPr id="99" name="Google Shape;99;p13"/>
          <p:cNvSpPr/>
          <p:nvPr/>
        </p:nvSpPr>
        <p:spPr>
          <a:xfrm>
            <a:off x="22411721" y="4338724"/>
            <a:ext cx="10040510" cy="1159600"/>
          </a:xfrm>
          <a:prstGeom prst="rect">
            <a:avLst/>
          </a:prstGeom>
          <a:solidFill>
            <a:srgbClr val="004671"/>
          </a:solidFill>
          <a:ln>
            <a:noFill/>
          </a:ln>
        </p:spPr>
        <p:txBody>
          <a:bodyPr spcFirstLastPara="1" wrap="square" lIns="60950" tIns="30467" rIns="60950" bIns="30467" anchor="ctr" anchorCtr="0">
            <a:noAutofit/>
          </a:bodyPr>
          <a:lstStyle/>
          <a:p>
            <a:pPr algn="ctr">
              <a:buClr>
                <a:schemeClr val="dk1"/>
              </a:buClr>
              <a:buSzPts val="7258"/>
            </a:pPr>
            <a:r>
              <a:rPr lang="en-US" sz="4839" dirty="0">
                <a:solidFill>
                  <a:schemeClr val="lt1"/>
                </a:solidFill>
                <a:latin typeface="Calibri"/>
                <a:ea typeface="Calibri"/>
                <a:cs typeface="Calibri"/>
                <a:sym typeface="Calibri"/>
              </a:rPr>
              <a:t>Results</a:t>
            </a:r>
            <a:endParaRPr sz="667" dirty="0">
              <a:solidFill>
                <a:schemeClr val="dk1"/>
              </a:solidFill>
            </a:endParaRPr>
          </a:p>
        </p:txBody>
      </p:sp>
      <p:sp>
        <p:nvSpPr>
          <p:cNvPr id="100" name="Google Shape;100;p13"/>
          <p:cNvSpPr/>
          <p:nvPr/>
        </p:nvSpPr>
        <p:spPr>
          <a:xfrm>
            <a:off x="22421088" y="5317957"/>
            <a:ext cx="10040510" cy="5324400"/>
          </a:xfrm>
          <a:prstGeom prst="rect">
            <a:avLst/>
          </a:prstGeom>
          <a:solidFill>
            <a:schemeClr val="lt1"/>
          </a:solidFill>
          <a:ln>
            <a:noFill/>
          </a:ln>
        </p:spPr>
        <p:txBody>
          <a:bodyPr spcFirstLastPara="1" wrap="square" lIns="60950" tIns="30467" rIns="60950" bIns="30467" anchor="ctr" anchorCtr="0">
            <a:noAutofit/>
          </a:bodyPr>
          <a:lstStyle/>
          <a:p>
            <a:pPr>
              <a:lnSpc>
                <a:spcPct val="115000"/>
              </a:lnSpc>
            </a:pPr>
            <a:r>
              <a:rPr lang="en-US" sz="2333">
                <a:solidFill>
                  <a:schemeClr val="dk1"/>
                </a:solidFill>
              </a:rPr>
              <a:t>In 2024, Saint Agnes Medical Center reported 8 CLABSIs over approximately 10,000 central line days. Using NHSN national benchmark rates for similar-sized hospitals, the predicted number of CLABSIs was 10, yielding a Standardized Infection Ratio (SIR) of 0.8. This indicates a 20% reduction in CLABSI occurrence compared to the national expected rate, reflecting favorable outcomes from targeted prevention strategies. The ICU at Saint Agnes Medical Center reported 3 CLABSIs over 4,732 central line days. Using the national ICU benchmark of 1.25 infections per 1,000 central line days, the predicted number of infections was 5.92, yielding a Standardized Infection Ratio (SIR) of 0.51. This suggests the ICU performed significantly better than the national average in preventing CLABSIs (Table 1 &amp; 2).</a:t>
            </a:r>
            <a:endParaRPr sz="2333"/>
          </a:p>
        </p:txBody>
      </p:sp>
      <p:sp>
        <p:nvSpPr>
          <p:cNvPr id="101" name="Google Shape;101;p13"/>
          <p:cNvSpPr/>
          <p:nvPr/>
        </p:nvSpPr>
        <p:spPr>
          <a:xfrm>
            <a:off x="22428289" y="16323336"/>
            <a:ext cx="10051199"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2" name="Google Shape;102;p13"/>
          <p:cNvSpPr/>
          <p:nvPr/>
        </p:nvSpPr>
        <p:spPr>
          <a:xfrm>
            <a:off x="22428282" y="17407207"/>
            <a:ext cx="10051199" cy="2125800"/>
          </a:xfrm>
          <a:prstGeom prst="rect">
            <a:avLst/>
          </a:prstGeom>
          <a:solidFill>
            <a:schemeClr val="lt1"/>
          </a:solidFill>
          <a:ln>
            <a:noFill/>
          </a:ln>
        </p:spPr>
        <p:txBody>
          <a:bodyPr spcFirstLastPara="1" wrap="square" lIns="60950" tIns="30467" rIns="60950" bIns="30467" anchor="t" anchorCtr="0">
            <a:noAutofit/>
          </a:bodyPr>
          <a:lstStyle/>
          <a:p>
            <a:pPr marL="304815" indent="-249779">
              <a:lnSpc>
                <a:spcPct val="115000"/>
              </a:lnSpc>
              <a:buClr>
                <a:schemeClr val="dk1"/>
              </a:buClr>
              <a:buSzPts val="2300"/>
              <a:buAutoNum type="arabicPeriod"/>
            </a:pPr>
            <a:r>
              <a:rPr lang="en-US" sz="1533">
                <a:solidFill>
                  <a:schemeClr val="dk1"/>
                </a:solidFill>
              </a:rPr>
              <a:t>Centers for Disease Control and Prevention. </a:t>
            </a:r>
            <a:r>
              <a:rPr lang="en-US" sz="1533" i="1">
                <a:solidFill>
                  <a:schemeClr val="dk1"/>
                </a:solidFill>
              </a:rPr>
              <a:t>Healthcare-associated Infections – Central Line-associated Bloodstream Infections (CLABSI)</a:t>
            </a:r>
            <a:r>
              <a:rPr lang="en-US" sz="1533">
                <a:solidFill>
                  <a:schemeClr val="dk1"/>
                </a:solidFill>
              </a:rPr>
              <a:t>. CDC; 2020. Available at: </a:t>
            </a:r>
            <a:r>
              <a:rPr lang="en-US" sz="1533" u="sng">
                <a:solidFill>
                  <a:srgbClr val="1155CC"/>
                </a:solidFill>
                <a:hlinkClick r:id="rId3">
                  <a:extLst>
                    <a:ext uri="{A12FA001-AC4F-418D-AE19-62706E023703}">
                      <ahyp:hlinkClr xmlns:ahyp="http://schemas.microsoft.com/office/drawing/2018/hyperlinkcolor" val="tx"/>
                    </a:ext>
                  </a:extLst>
                </a:hlinkClick>
              </a:rPr>
              <a:t>https://www.cdc.gov/hai/bsi/clabsi-resources.html</a:t>
            </a:r>
            <a:endParaRPr sz="1533" u="sng">
              <a:solidFill>
                <a:srgbClr val="1155CC"/>
              </a:solidFill>
            </a:endParaRPr>
          </a:p>
          <a:p>
            <a:pPr marL="304815" indent="-249779">
              <a:lnSpc>
                <a:spcPct val="115000"/>
              </a:lnSpc>
              <a:buClr>
                <a:schemeClr val="dk1"/>
              </a:buClr>
              <a:buSzPts val="2300"/>
              <a:buAutoNum type="arabicPeriod"/>
            </a:pPr>
            <a:r>
              <a:rPr lang="en-US" sz="1533">
                <a:solidFill>
                  <a:schemeClr val="dk1"/>
                </a:solidFill>
              </a:rPr>
              <a:t>Saint S, Greene MT, Krein SL, et al. A Program to Prevent Catheter-Associated Urinary Tract Infection in Acute Care. </a:t>
            </a:r>
            <a:r>
              <a:rPr lang="en-US" sz="1533" i="1">
                <a:solidFill>
                  <a:schemeClr val="dk1"/>
                </a:solidFill>
              </a:rPr>
              <a:t>N Engl J Med</a:t>
            </a:r>
            <a:r>
              <a:rPr lang="en-US" sz="1533">
                <a:solidFill>
                  <a:schemeClr val="dk1"/>
                </a:solidFill>
              </a:rPr>
              <a:t>. 2016;374(22):2111–2119. doi:10.1056/NEJMoa1504906</a:t>
            </a:r>
            <a:endParaRPr sz="1533" u="sng">
              <a:solidFill>
                <a:srgbClr val="1155CC"/>
              </a:solidFill>
            </a:endParaRPr>
          </a:p>
          <a:p>
            <a:pPr marL="304815" indent="-249779">
              <a:lnSpc>
                <a:spcPct val="115000"/>
              </a:lnSpc>
              <a:buClr>
                <a:schemeClr val="dk1"/>
              </a:buClr>
              <a:buSzPts val="2300"/>
              <a:buAutoNum type="arabicPeriod"/>
            </a:pPr>
            <a:r>
              <a:rPr lang="en-US" sz="1533">
                <a:solidFill>
                  <a:schemeClr val="dk1"/>
                </a:solidFill>
              </a:rPr>
              <a:t>Pronovost P, Needham D, Berenholtz S, et al. An Intervention to Decrease Catheter-Related Bloodstream Infections in the ICU. </a:t>
            </a:r>
            <a:r>
              <a:rPr lang="en-US" sz="1533" i="1">
                <a:solidFill>
                  <a:schemeClr val="dk1"/>
                </a:solidFill>
              </a:rPr>
              <a:t>N Engl J Med</a:t>
            </a:r>
            <a:r>
              <a:rPr lang="en-US" sz="1533">
                <a:solidFill>
                  <a:schemeClr val="dk1"/>
                </a:solidFill>
              </a:rPr>
              <a:t>. 2006;355(26):2725–2732. doi:10.1056/NEJMoa061115</a:t>
            </a:r>
            <a:endParaRPr sz="1533">
              <a:solidFill>
                <a:schemeClr val="dk1"/>
              </a:solidFill>
            </a:endParaRPr>
          </a:p>
          <a:p>
            <a:pPr>
              <a:lnSpc>
                <a:spcPct val="115000"/>
              </a:lnSpc>
              <a:spcBef>
                <a:spcPts val="800"/>
              </a:spcBef>
              <a:spcAft>
                <a:spcPts val="800"/>
              </a:spcAft>
            </a:pPr>
            <a:endParaRPr sz="2400">
              <a:solidFill>
                <a:schemeClr val="dk1"/>
              </a:solidFill>
            </a:endParaRPr>
          </a:p>
        </p:txBody>
      </p:sp>
      <p:sp>
        <p:nvSpPr>
          <p:cNvPr id="103" name="Google Shape;103;p13"/>
          <p:cNvSpPr/>
          <p:nvPr/>
        </p:nvSpPr>
        <p:spPr>
          <a:xfrm>
            <a:off x="22428289" y="10715130"/>
            <a:ext cx="10051199"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667">
                <a:solidFill>
                  <a:schemeClr val="lt1"/>
                </a:solidFill>
              </a:rPr>
              <a:t>Discussion</a:t>
            </a:r>
            <a:endParaRPr sz="4667"/>
          </a:p>
        </p:txBody>
      </p:sp>
      <p:sp>
        <p:nvSpPr>
          <p:cNvPr id="104" name="Google Shape;104;p13"/>
          <p:cNvSpPr/>
          <p:nvPr/>
        </p:nvSpPr>
        <p:spPr>
          <a:xfrm>
            <a:off x="22428282" y="12117917"/>
            <a:ext cx="10051199" cy="4477800"/>
          </a:xfrm>
          <a:prstGeom prst="rect">
            <a:avLst/>
          </a:prstGeom>
          <a:solidFill>
            <a:schemeClr val="lt1"/>
          </a:solidFill>
          <a:ln>
            <a:noFill/>
          </a:ln>
        </p:spPr>
        <p:txBody>
          <a:bodyPr spcFirstLastPara="1" wrap="square" lIns="60950" tIns="30467" rIns="60950" bIns="30467" anchor="t" anchorCtr="0">
            <a:noAutofit/>
          </a:bodyPr>
          <a:lstStyle/>
          <a:p>
            <a:pPr>
              <a:lnSpc>
                <a:spcPct val="115000"/>
              </a:lnSpc>
              <a:buClr>
                <a:schemeClr val="dk1"/>
              </a:buClr>
              <a:buSzPts val="1100"/>
            </a:pPr>
            <a:r>
              <a:rPr lang="en-US" sz="2333" dirty="0">
                <a:solidFill>
                  <a:schemeClr val="dk1"/>
                </a:solidFill>
              </a:rPr>
              <a:t>This project demonstrated that CLABSI rates in a community hospital can be significantly reduced through a targeted, multidisciplinary intervention focused on standardized procedures, transparency, and cultural engagement. The study's limitations include being conducted at a single institution, relying on short-term analysis without assessing sustainability, potential measurement bias from self-reported compliance, and the absence of a control group to account for external factors. By leveraging low-cost strategies and frontline empowerment, the project highlights a scalable model for other community-based institutions.</a:t>
            </a:r>
            <a:endParaRPr sz="2333" dirty="0">
              <a:solidFill>
                <a:schemeClr val="dk1"/>
              </a:solidFill>
            </a:endParaRPr>
          </a:p>
        </p:txBody>
      </p:sp>
      <p:pic>
        <p:nvPicPr>
          <p:cNvPr id="105" name="Google Shape;105;p13" descr="Logo, company name&#10;&#10;Description automatically generated"/>
          <p:cNvPicPr preferRelativeResize="0"/>
          <p:nvPr/>
        </p:nvPicPr>
        <p:blipFill rotWithShape="1">
          <a:blip r:embed="rId4">
            <a:alphaModFix/>
          </a:blip>
          <a:srcRect b="54543"/>
          <a:stretch/>
        </p:blipFill>
        <p:spPr>
          <a:xfrm>
            <a:off x="24087292" y="19498386"/>
            <a:ext cx="4262045" cy="1692222"/>
          </a:xfrm>
          <a:prstGeom prst="rect">
            <a:avLst/>
          </a:prstGeom>
          <a:noFill/>
          <a:ln>
            <a:noFill/>
          </a:ln>
        </p:spPr>
      </p:pic>
      <p:pic>
        <p:nvPicPr>
          <p:cNvPr id="106" name="Google Shape;106;p13" descr="Logo, company name&#10;&#10;Description automatically generated"/>
          <p:cNvPicPr preferRelativeResize="0"/>
          <p:nvPr/>
        </p:nvPicPr>
        <p:blipFill rotWithShape="1">
          <a:blip r:embed="rId4">
            <a:alphaModFix/>
          </a:blip>
          <a:srcRect t="47565" b="13424"/>
          <a:stretch/>
        </p:blipFill>
        <p:spPr>
          <a:xfrm>
            <a:off x="26629933" y="19494915"/>
            <a:ext cx="4498031" cy="1532673"/>
          </a:xfrm>
          <a:prstGeom prst="rect">
            <a:avLst/>
          </a:prstGeom>
          <a:noFill/>
          <a:ln>
            <a:noFill/>
          </a:ln>
        </p:spPr>
      </p:pic>
      <p:pic>
        <p:nvPicPr>
          <p:cNvPr id="107" name="Google Shape;107;p13" title="Screenshot 2025-04-25 at 8.09.34 AM.png"/>
          <p:cNvPicPr preferRelativeResize="0"/>
          <p:nvPr/>
        </p:nvPicPr>
        <p:blipFill>
          <a:blip r:embed="rId5">
            <a:alphaModFix/>
          </a:blip>
          <a:stretch>
            <a:fillRect/>
          </a:stretch>
        </p:blipFill>
        <p:spPr>
          <a:xfrm>
            <a:off x="12026700" y="4441150"/>
            <a:ext cx="9647249" cy="3383717"/>
          </a:xfrm>
          <a:prstGeom prst="rect">
            <a:avLst/>
          </a:prstGeom>
          <a:noFill/>
          <a:ln>
            <a:noFill/>
          </a:ln>
        </p:spPr>
      </p:pic>
      <p:pic>
        <p:nvPicPr>
          <p:cNvPr id="108" name="Google Shape;108;p13" title="Screenshot 2025-04-25 at 8.09.53 AM.png"/>
          <p:cNvPicPr preferRelativeResize="0"/>
          <p:nvPr/>
        </p:nvPicPr>
        <p:blipFill>
          <a:blip r:embed="rId6">
            <a:alphaModFix/>
          </a:blip>
          <a:stretch>
            <a:fillRect/>
          </a:stretch>
        </p:blipFill>
        <p:spPr>
          <a:xfrm>
            <a:off x="12026700" y="8124783"/>
            <a:ext cx="9647249" cy="3177800"/>
          </a:xfrm>
          <a:prstGeom prst="rect">
            <a:avLst/>
          </a:prstGeom>
          <a:noFill/>
          <a:ln>
            <a:noFill/>
          </a:ln>
        </p:spPr>
      </p:pic>
      <p:pic>
        <p:nvPicPr>
          <p:cNvPr id="109" name="Google Shape;109;p13"/>
          <p:cNvPicPr preferRelativeResize="0"/>
          <p:nvPr/>
        </p:nvPicPr>
        <p:blipFill rotWithShape="1">
          <a:blip r:embed="rId7">
            <a:alphaModFix/>
          </a:blip>
          <a:srcRect l="4215" t="14045" r="4941"/>
          <a:stretch/>
        </p:blipFill>
        <p:spPr>
          <a:xfrm>
            <a:off x="12048234" y="11754417"/>
            <a:ext cx="9647250" cy="9867850"/>
          </a:xfrm>
          <a:prstGeom prst="rect">
            <a:avLst/>
          </a:prstGeom>
          <a:noFill/>
          <a:ln>
            <a:noFill/>
          </a:ln>
        </p:spPr>
      </p:pic>
      <p:pic>
        <p:nvPicPr>
          <p:cNvPr id="110" name="Google Shape;110;p13"/>
          <p:cNvPicPr preferRelativeResize="0"/>
          <p:nvPr/>
        </p:nvPicPr>
        <p:blipFill>
          <a:blip r:embed="rId8">
            <a:alphaModFix/>
          </a:blip>
          <a:stretch>
            <a:fillRect/>
          </a:stretch>
        </p:blipFill>
        <p:spPr>
          <a:xfrm>
            <a:off x="1068838" y="1339322"/>
            <a:ext cx="5115994" cy="1692217"/>
          </a:xfrm>
          <a:prstGeom prst="rect">
            <a:avLst/>
          </a:prstGeom>
          <a:noFill/>
          <a:ln>
            <a:noFill/>
          </a:ln>
        </p:spPr>
      </p:pic>
      <p:pic>
        <p:nvPicPr>
          <p:cNvPr id="111" name="Picture 110" descr="20Q.png"/>
          <p:cNvPicPr>
            <a:picLocks noChangeAspect="1"/>
          </p:cNvPicPr>
          <p:nvPr/>
        </p:nvPicPr>
        <p:blipFill>
          <a:blip r:embed="rId9"/>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712</Words>
  <Application>Microsoft Macintosh PowerPoint</Application>
  <PresentationFormat>Custom</PresentationFormat>
  <Paragraphs>20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Helvetica Neue</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Phil Kim</cp:lastModifiedBy>
  <cp:revision>3</cp:revision>
  <dcterms:modified xsi:type="dcterms:W3CDTF">2025-05-01T05:34:06Z</dcterms:modified>
</cp:coreProperties>
</file>