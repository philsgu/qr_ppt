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embeddedFontLst>
    <p:embeddedFont>
      <p:font typeface="Helvetica Neue" panose="02000503000000020004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jfi6Ew2RIl545R+0Hskvs6ap+g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07"/>
    <p:restoredTop sz="94684"/>
  </p:normalViewPr>
  <p:slideViewPr>
    <p:cSldViewPr snapToGrid="0">
      <p:cViewPr>
        <p:scale>
          <a:sx n="65" d="100"/>
          <a:sy n="65" d="100"/>
        </p:scale>
        <p:origin x="1240" y="-48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2468880" y="3591561"/>
            <a:ext cx="27980640" cy="76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1920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4114800" y="11526521"/>
            <a:ext cx="24688800" cy="529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2245996" y="5471166"/>
            <a:ext cx="28392120" cy="912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1920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2245996" y="14686286"/>
            <a:ext cx="28392120" cy="480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>
                <a:solidFill>
                  <a:schemeClr val="dk1"/>
                </a:solidFill>
              </a:defRPr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6400">
                <a:solidFill>
                  <a:srgbClr val="888888"/>
                </a:solidFill>
              </a:defRPr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5760">
                <a:solidFill>
                  <a:srgbClr val="888888"/>
                </a:solidFill>
              </a:defRPr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139903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16664940" y="5842000"/>
            <a:ext cx="139903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2267428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2267432" y="5379721"/>
            <a:ext cx="13926024" cy="263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 b="1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 b="1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 b="1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2267432" y="8016240"/>
            <a:ext cx="13926024" cy="1179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16664942" y="5379721"/>
            <a:ext cx="13994608" cy="263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 b="1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 b="1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 b="1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16664942" y="8016240"/>
            <a:ext cx="13994608" cy="1179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024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80268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0241"/>
            </a:lvl1pPr>
            <a:lvl2pPr marL="609630" lvl="1" indent="-72139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8960"/>
            </a:lvl2pPr>
            <a:lvl3pPr marL="914446" lvl="2" indent="-64011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7680"/>
            </a:lvl3pPr>
            <a:lvl4pPr marL="1219261" lvl="3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4pPr>
            <a:lvl5pPr marL="1524076" lvl="4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5pPr>
            <a:lvl6pPr marL="1828891" lvl="5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6pPr>
            <a:lvl7pPr marL="2133707" lvl="6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7pPr>
            <a:lvl8pPr marL="2438522" lvl="7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8pPr>
            <a:lvl9pPr marL="2743337" lvl="8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2267428" y="6583680"/>
            <a:ext cx="10617041" cy="1219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4480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3840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024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2267428" y="6583680"/>
            <a:ext cx="10617041" cy="1219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4480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3840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9497060" y="-1391919"/>
            <a:ext cx="13924281" cy="2839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17807306" y="6918326"/>
            <a:ext cx="18597881" cy="709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3405506" y="26036"/>
            <a:ext cx="18597881" cy="2088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sz="211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108204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sz="134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6012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sz="11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i.org/10.1161/cir.0000000000000527" TargetMode="External"/><Relationship Id="rId4" Type="http://schemas.openxmlformats.org/officeDocument/2006/relationships/hyperlink" Target="http://doi.org/10.37765/ajmc.2020.88525" TargetMode="External"/><Relationship Id="rId5" Type="http://schemas.openxmlformats.org/officeDocument/2006/relationships/hyperlink" Target="https://www.ajmc.com/view/aha-telemetry-guidelines-improve-telemetry-utilization-in-the-inpatient-setting%0a" TargetMode="External"/><Relationship Id="rId6" Type="http://schemas.openxmlformats.org/officeDocument/2006/relationships/image" Target="../media/image1.jpg"/><Relationship Id="rId7" Type="http://schemas.openxmlformats.org/officeDocument/2006/relationships/image" Target="../media/image2.jpg"/><Relationship Id="rId8" Type="http://schemas.openxmlformats.org/officeDocument/2006/relationships/image" Target="../media/image3.jpg"/><Relationship Id="rId9" Type="http://schemas.openxmlformats.org/officeDocument/2006/relationships/image" Target="../media/image4.jpg"/><Relationship Id="rId10" Type="http://schemas.openxmlformats.org/officeDocument/2006/relationships/image" Target="../media/image5.jpg"/><Relationship Id="rId1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4CA5771-15AE-3064-9463-CB9417F3A6B6}"/>
              </a:ext>
            </a:extLst>
          </p:cNvPr>
          <p:cNvGrpSpPr/>
          <p:nvPr/>
        </p:nvGrpSpPr>
        <p:grpSpPr>
          <a:xfrm>
            <a:off x="593897" y="318341"/>
            <a:ext cx="32410400" cy="21308917"/>
            <a:chOff x="2499360" y="376366"/>
            <a:chExt cx="28701307" cy="21308917"/>
          </a:xfrm>
        </p:grpSpPr>
        <p:sp>
          <p:nvSpPr>
            <p:cNvPr id="89" name="Google Shape;89;p1"/>
            <p:cNvSpPr/>
            <p:nvPr/>
          </p:nvSpPr>
          <p:spPr>
            <a:xfrm>
              <a:off x="21579833" y="18701083"/>
              <a:ext cx="8839200" cy="2984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2499360" y="9434668"/>
              <a:ext cx="8839200" cy="1080400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Methods</a:t>
              </a:r>
              <a:endParaRPr sz="933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2499360" y="10496786"/>
              <a:ext cx="8839200" cy="110724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7258"/>
              </a:pPr>
              <a:r>
                <a:rPr lang="en-US" sz="24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Our project involved three phares designed to evaluate resident knowledge and practice patterns regarding telemetry use before and after an educational intervention.</a:t>
              </a:r>
              <a:endParaRPr sz="24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endParaRPr sz="24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endParaRPr sz="24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4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Phase 1:Pre-Education Assessment</a:t>
              </a:r>
              <a:endParaRPr sz="4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Baseline knowledge and telemetry </a:t>
              </a:r>
              <a:r>
                <a:rPr lang="en-US" sz="2000" dirty="0" err="1">
                  <a:solidFill>
                    <a:schemeClr val="dk1"/>
                  </a:solidFill>
                  <a:highlight>
                    <a:schemeClr val="lt1"/>
                  </a:highlight>
                </a:rPr>
                <a:t>utilisation</a:t>
              </a: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 were evaluated. A 10 question multiple-choice survey based on American Heart Association (AHA) telemetry guidelines was designed,25 medicine residents participated in this anonymous survey to assess baseline knowledge of appropriate telemetry </a:t>
              </a:r>
              <a:r>
                <a:rPr lang="en-US" sz="2000" dirty="0" err="1">
                  <a:solidFill>
                    <a:schemeClr val="dk1"/>
                  </a:solidFill>
                  <a:highlight>
                    <a:schemeClr val="lt1"/>
                  </a:highlight>
                </a:rPr>
                <a:t>use.Concurrently</a:t>
              </a: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, telemetry orders for 30 inpatients were reviewed and each was classified as appropriate or inappropriate according to AHA guidelines criteria, establishing a baseline measure of telemetry ordering practices.</a:t>
              </a:r>
              <a:endParaRPr sz="2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endParaRPr sz="2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4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Phase 2:Educational intervention </a:t>
              </a:r>
              <a:endParaRPr sz="4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An Educational module in appropriate telemetry use was implemented. a concise summary of AHA telemetry monitoring guidelines was created as a </a:t>
              </a:r>
              <a:r>
                <a:rPr lang="en-US" sz="2000" dirty="0" err="1">
                  <a:solidFill>
                    <a:schemeClr val="dk1"/>
                  </a:solidFill>
                  <a:highlight>
                    <a:schemeClr val="lt1"/>
                  </a:highlight>
                </a:rPr>
                <a:t>Powerpoint</a:t>
              </a: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 Presentation highlighting indication and proper use of telemetry. PowerPoint presentation was shared electronically with all residents, reinforcing guidelines recommendations and raising awareness about reducing inappropriate telemetry orders.</a:t>
              </a:r>
              <a:endParaRPr sz="2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endParaRPr sz="2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4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Phase 3: Post-Education Assessment</a:t>
              </a:r>
              <a:endParaRPr sz="4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After the intervention the same 10-Question multiple choice survey was Re-administered to the Residents to measure changes in knowledge. additionally, a follow-up chart review of telemetry orders for 30 inpatients was conducted, with each order again classified for appropriateness using the same AHA criteria. Pre and post-intervention survey results and telemetry </a:t>
              </a:r>
              <a:r>
                <a:rPr lang="en-US" sz="2000" dirty="0" err="1">
                  <a:solidFill>
                    <a:schemeClr val="dk1"/>
                  </a:solidFill>
                  <a:highlight>
                    <a:schemeClr val="lt1"/>
                  </a:highlight>
                </a:rPr>
                <a:t>utilisation</a:t>
              </a: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 data were compared to assess improvements in resident knowledge and the appropriateness of telemetry use.</a:t>
              </a:r>
              <a:endParaRPr sz="2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2499360" y="4328160"/>
              <a:ext cx="8900166" cy="1080481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933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2499360" y="5420025"/>
              <a:ext cx="8839200" cy="350072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7258"/>
              </a:pPr>
              <a:r>
                <a:rPr lang="en-US" sz="2000">
                  <a:solidFill>
                    <a:schemeClr val="dk1"/>
                  </a:solidFill>
                </a:rPr>
                <a:t>Telemetry monitoring plays a vital role in cardiac care, but its overuse can lead to alarm fatigue, unnecessary healthcare costs and inefficient resource utilization in United States, more than $1 billion is spent annually on telemetry and studies estimates that up to 35-50% of this may be inappropriate or not guideline-supported.</a:t>
              </a:r>
              <a:endParaRPr sz="2000">
                <a:solidFill>
                  <a:schemeClr val="dk1"/>
                </a:solidFill>
              </a:endParaRPr>
            </a:p>
            <a:p>
              <a:pPr>
                <a:buSzPts val="7258"/>
              </a:pPr>
              <a:r>
                <a:rPr lang="en-US" sz="2000">
                  <a:solidFill>
                    <a:schemeClr val="dk1"/>
                  </a:solidFill>
                </a:rPr>
                <a:t>Despite clear American Heart Association (AHA) recommendations for appropriate telemetry use, adherence remains variable. Educating residents about evidence-based indications offers an opportunity to reduce low-value care, promote high-value practices and enhance patient safety. This project aimed to improve the appropriate use of telemetry through a targeted educational intervention.</a:t>
              </a:r>
              <a:endParaRPr sz="2000">
                <a:solidFill>
                  <a:schemeClr val="dk1"/>
                </a:solidFill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2499360" y="376366"/>
              <a:ext cx="27919680" cy="3809162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2519571" y="1088748"/>
              <a:ext cx="28064136" cy="8001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 algn="ctr">
                <a:buSzPts val="8500"/>
              </a:pPr>
              <a:r>
                <a:rPr lang="en-US" sz="4800" b="1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Rethinking Routine Telemetry: A Push for Smarter Care</a:t>
              </a:r>
              <a:endParaRPr sz="4800" dirty="0"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2499360" y="2124317"/>
              <a:ext cx="27919680" cy="1272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 algn="ctr">
                <a:buSzPts val="6000"/>
              </a:pPr>
              <a:r>
                <a:rPr lang="en-US" sz="3600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Sukhman Boparai, M.D, </a:t>
              </a:r>
              <a:r>
                <a:rPr lang="en-US" sz="3600" dirty="0" err="1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Sukhmeet</a:t>
              </a:r>
              <a:r>
                <a:rPr lang="en-US" sz="3600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Dhillon, M.D, Muhammad Zahid, </a:t>
              </a:r>
              <a:r>
                <a:rPr lang="en-US" sz="3600" dirty="0" err="1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M.D,Anupama</a:t>
              </a:r>
              <a:r>
                <a:rPr lang="en-US" sz="3600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3600" dirty="0" err="1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Poliyedath</a:t>
              </a:r>
              <a:r>
                <a:rPr lang="en-US" sz="3600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M.D</a:t>
              </a:r>
              <a:endParaRPr sz="900" dirty="0"/>
            </a:p>
            <a:p>
              <a:pPr algn="ctr">
                <a:buSzPts val="5000"/>
              </a:pPr>
              <a:endParaRPr sz="933" dirty="0"/>
            </a:p>
            <a:p>
              <a:pPr algn="ctr">
                <a:buSzPts val="5000"/>
              </a:pPr>
              <a:r>
                <a:rPr lang="en-US" sz="3334" i="1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Saint Agnes Medical Center, Fresno, CA</a:t>
              </a:r>
              <a:endParaRPr sz="933" dirty="0"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12107400" y="9703390"/>
              <a:ext cx="8730647" cy="369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>
                <a:buSzPts val="3000"/>
              </a:pPr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Figure 1: </a:t>
              </a:r>
              <a:endParaRPr sz="933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11704300" y="9434667"/>
              <a:ext cx="9509800" cy="1080400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Results</a:t>
              </a:r>
              <a:endParaRPr sz="933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21579840" y="14453430"/>
              <a:ext cx="8839200" cy="1080481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References</a:t>
              </a:r>
              <a:endParaRPr sz="933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21579833" y="15533917"/>
              <a:ext cx="8839200" cy="2984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7258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Update to practice standards for electrocardiographic monitoring in hospitals settings: a scientific statement from the American heart Association. </a:t>
              </a:r>
              <a:r>
                <a:rPr lang="en-US" sz="20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3"/>
                </a:rPr>
                <a:t>https://doi.org/10.1161/cir.0000000000000527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. AHA Telemetry guidelines improve Telemetry utilisation in the inpatient setting. </a:t>
              </a:r>
              <a:r>
                <a:rPr lang="en-US" sz="20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4"/>
                </a:rPr>
                <a:t>http://doi.org/10.37765/ajmc.2020.88525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>
                <a:buSzPts val="7258"/>
              </a:pPr>
              <a:r>
                <a:rPr lang="en-US" sz="20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5"/>
                </a:rPr>
                <a:t>https://www.ajmc.com/view/aha-telemetry-guidelines-improve-telemetry-utilization-in-the-inpatient-setting%0a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buSzPts val="7258"/>
              </a:pP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21640802" y="9425793"/>
              <a:ext cx="8778232" cy="1080400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Discussion</a:t>
              </a:r>
              <a:endParaRPr sz="933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21600054" y="10693467"/>
              <a:ext cx="8879947" cy="34933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4000"/>
              </a:pPr>
              <a:r>
                <a:rPr lang="en-US" sz="2000" dirty="0">
                  <a:solidFill>
                    <a:schemeClr val="dk1"/>
                  </a:solidFill>
                </a:rPr>
                <a:t>This quality improvement initiative showed that a focused, low-resource educational can meaningfully improve both residents knowledge and clinical practice related to telemetry use. After implementing AHA-guidelines-based teaching, residents demonstrated more confidence in identifying appropriate indication and telemetry </a:t>
              </a:r>
              <a:r>
                <a:rPr lang="en-US" sz="2000" dirty="0" err="1">
                  <a:solidFill>
                    <a:schemeClr val="dk1"/>
                  </a:solidFill>
                </a:rPr>
                <a:t>utilisation</a:t>
              </a:r>
              <a:r>
                <a:rPr lang="en-US" sz="2000" dirty="0">
                  <a:solidFill>
                    <a:schemeClr val="dk1"/>
                  </a:solidFill>
                </a:rPr>
                <a:t> aligned more closely with evidence based practices.</a:t>
              </a:r>
              <a:endParaRPr sz="2000" dirty="0">
                <a:solidFill>
                  <a:schemeClr val="dk1"/>
                </a:solidFill>
              </a:endParaRPr>
            </a:p>
            <a:p>
              <a:pPr>
                <a:buSzPts val="4000"/>
              </a:pPr>
              <a:r>
                <a:rPr lang="en-US" sz="2000" dirty="0">
                  <a:solidFill>
                    <a:schemeClr val="dk1"/>
                  </a:solidFill>
                </a:rPr>
                <a:t>Reducing unnecessary telemetry not only improves patient safety by decreasing alarm fatigue but also helps free up critical resources and reduce excess healthcare costs. sustained reinforcements through education and decision -support tools can help ensure long-term improvements and promote a culture of high-value care.</a:t>
              </a:r>
              <a:endParaRPr sz="2000" dirty="0">
                <a:solidFill>
                  <a:schemeClr val="dk1"/>
                </a:solidFill>
              </a:endParaRPr>
            </a:p>
            <a:p>
              <a:pPr>
                <a:buSzPts val="4000"/>
              </a:pPr>
              <a:endParaRPr sz="1600" dirty="0">
                <a:solidFill>
                  <a:schemeClr val="dk1"/>
                </a:solidFill>
              </a:endParaRPr>
            </a:p>
            <a:p>
              <a:pPr>
                <a:buSzPts val="4000"/>
              </a:pPr>
              <a:endParaRPr sz="1733" dirty="0"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11734800" y="4328160"/>
              <a:ext cx="9509760" cy="5072738"/>
            </a:xfrm>
            <a:prstGeom prst="rect">
              <a:avLst/>
            </a:prstGeom>
            <a:noFill/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7" name="Google Shape;107;p1" descr="Logo, company name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 b="54543"/>
            <a:stretch/>
          </p:blipFill>
          <p:spPr>
            <a:xfrm>
              <a:off x="23135772" y="19251783"/>
              <a:ext cx="3748117" cy="16922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" descr="Logo, company name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 t="47565" b="13424"/>
            <a:stretch/>
          </p:blipFill>
          <p:spPr>
            <a:xfrm>
              <a:off x="25219049" y="19225988"/>
              <a:ext cx="3955647" cy="1532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" title="PHOTO-2025-04-25-18-28-17 2.jp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19594" y="10802437"/>
              <a:ext cx="6995356" cy="5566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" title="PHOTO-2025-04-25-18-28-17.jp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2286778" y="16656116"/>
              <a:ext cx="8048718" cy="46270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" title="PHOTO-2025-04-25-18-27-33.jp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2897906" y="4368494"/>
              <a:ext cx="7302217" cy="48487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" title="PHOTO-2025-04-25-18-27-11.jp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1600055" y="4368494"/>
              <a:ext cx="8818978" cy="4889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  <p:sp>
          <p:nvSpPr>
            <p:cNvPr id="113" name="Google Shape;113;p1"/>
            <p:cNvSpPr txBox="1"/>
            <p:nvPr/>
          </p:nvSpPr>
          <p:spPr>
            <a:xfrm>
              <a:off x="28868067" y="18518084"/>
              <a:ext cx="2332600" cy="15019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spAutoFit/>
            </a:bodyPr>
            <a:lstStyle/>
            <a:p>
              <a:endParaRPr sz="89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4" name="Picture 113" descr="52Q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Macintosh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Helvetica Neue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Phil Kim</cp:lastModifiedBy>
  <cp:revision>1</cp:revision>
  <dcterms:created xsi:type="dcterms:W3CDTF">2016-02-18T22:13:49Z</dcterms:created>
  <dcterms:modified xsi:type="dcterms:W3CDTF">2025-04-26T16:37:14Z</dcterms:modified>
</cp:coreProperties>
</file>