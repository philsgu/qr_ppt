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Montserrat" pitchFamily="2" charset="77"/>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 roundtripDataSignature="AMtx7mg8rMZrO7GDsAkxhCxaSMpRXb+vU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73"/>
    <p:restoredTop sz="94694"/>
  </p:normalViewPr>
  <p:slideViewPr>
    <p:cSldViewPr snapToGrid="0">
      <p:cViewPr>
        <p:scale>
          <a:sx n="42" d="100"/>
          <a:sy n="42" d="100"/>
        </p:scale>
        <p:origin x="728" y="144"/>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11" Type="http://customschemas.google.com/relationships/presentationmetadata" Target="meta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3f5d42d367_0_8: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33f5d42d367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g33f5d42d367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10"/>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11"/>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11"/>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11"/>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4"/>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a:spLocks noGrp="1"/>
          </p:cNvSpPr>
          <p:nvPr>
            <p:ph type="pic" idx="2"/>
          </p:nvPr>
        </p:nvSpPr>
        <p:spPr>
          <a:xfrm>
            <a:off x="13994608" y="3159765"/>
            <a:ext cx="16664940" cy="15595600"/>
          </a:xfrm>
          <a:prstGeom prst="rect">
            <a:avLst/>
          </a:prstGeom>
          <a:noFill/>
          <a:ln>
            <a:noFill/>
          </a:ln>
        </p:spPr>
      </p:sp>
      <p:sp>
        <p:nvSpPr>
          <p:cNvPr id="68" name="Google Shape;68;p15"/>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33f5d42d367_0_8"/>
          <p:cNvSpPr/>
          <p:nvPr/>
        </p:nvSpPr>
        <p:spPr>
          <a:xfrm>
            <a:off x="512064" y="9274391"/>
            <a:ext cx="90716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Case Presentation</a:t>
            </a:r>
            <a:endParaRPr sz="933"/>
          </a:p>
        </p:txBody>
      </p:sp>
      <p:sp>
        <p:nvSpPr>
          <p:cNvPr id="90" name="Google Shape;90;g33f5d42d367_0_8"/>
          <p:cNvSpPr/>
          <p:nvPr/>
        </p:nvSpPr>
        <p:spPr>
          <a:xfrm>
            <a:off x="512064" y="10434305"/>
            <a:ext cx="9071600" cy="11508000"/>
          </a:xfrm>
          <a:prstGeom prst="rect">
            <a:avLst/>
          </a:prstGeom>
          <a:solidFill>
            <a:schemeClr val="lt1"/>
          </a:solidFill>
          <a:ln>
            <a:noFill/>
          </a:ln>
        </p:spPr>
        <p:txBody>
          <a:bodyPr spcFirstLastPara="1" wrap="square" lIns="60950" tIns="30467" rIns="60950" bIns="30467" anchor="t" anchorCtr="0">
            <a:noAutofit/>
          </a:bodyPr>
          <a:lstStyle/>
          <a:p>
            <a:pPr>
              <a:buSzPts val="1100"/>
            </a:pPr>
            <a:r>
              <a:rPr lang="en-US" sz="2800" dirty="0">
                <a:solidFill>
                  <a:srgbClr val="222222"/>
                </a:solidFill>
                <a:highlight>
                  <a:srgbClr val="FFFFFF"/>
                </a:highlight>
              </a:rPr>
              <a:t>Key patient demographics and Clinical characteristics are illustrated in Table 1.</a:t>
            </a:r>
            <a:endParaRPr sz="2800" dirty="0">
              <a:solidFill>
                <a:srgbClr val="222222"/>
              </a:solidFill>
              <a:highlight>
                <a:srgbClr val="FFFFFF"/>
              </a:highlight>
            </a:endParaRPr>
          </a:p>
          <a:p>
            <a:pPr>
              <a:buSzPts val="1100"/>
            </a:pPr>
            <a:r>
              <a:rPr lang="en-US" sz="2800" dirty="0">
                <a:solidFill>
                  <a:srgbClr val="222222"/>
                </a:solidFill>
                <a:highlight>
                  <a:srgbClr val="FFFFFF"/>
                </a:highlight>
              </a:rPr>
              <a:t>Case 1: A 63-year-old female with rheumatoid arthritis (RA), and systemic lupus erythematosus (SLE) was evaluated for dyspnea. She had episodic chest pressure with associated chronic dry cough. Pulmonary function tests (PFTs) showed severe restrictive lung disease and very severe diffusion impairment. Chest x-ray showed chronic bibasilar linear atelectasis. CT Chest confirmed bibasilar atelectasis, and bronchiectasis in the mid to lower lungs with no signs of pulmonary fibrosis.</a:t>
            </a:r>
            <a:endParaRPr sz="2800" dirty="0">
              <a:solidFill>
                <a:srgbClr val="222222"/>
              </a:solidFill>
              <a:highlight>
                <a:srgbClr val="FFFFFF"/>
              </a:highlight>
            </a:endParaRPr>
          </a:p>
          <a:p>
            <a:pPr>
              <a:buSzPts val="1100"/>
            </a:pPr>
            <a:r>
              <a:rPr lang="en-US" sz="2800" dirty="0">
                <a:solidFill>
                  <a:srgbClr val="222222"/>
                </a:solidFill>
                <a:highlight>
                  <a:srgbClr val="FFFFFF"/>
                </a:highlight>
              </a:rPr>
              <a:t>Case 2: A 36-year-old female with chronic mixed connective tissue disease (MCTD) for 17 years was evaluated for chronic dyspnea. PFTs over time revealed progressive restrictive lung disease patterns. HRCT of the chest showed apical minimal scarring bilaterally, and patchy paroxysmal bronchiectasis, and no signs of ILD.</a:t>
            </a:r>
            <a:endParaRPr sz="2800" dirty="0">
              <a:solidFill>
                <a:srgbClr val="222222"/>
              </a:solidFill>
              <a:highlight>
                <a:srgbClr val="FFFFFF"/>
              </a:highlight>
            </a:endParaRPr>
          </a:p>
          <a:p>
            <a:pPr>
              <a:buClr>
                <a:schemeClr val="dk1"/>
              </a:buClr>
              <a:buSzPts val="1100"/>
            </a:pPr>
            <a:r>
              <a:rPr lang="en-US" sz="2800" dirty="0">
                <a:solidFill>
                  <a:srgbClr val="222222"/>
                </a:solidFill>
                <a:highlight>
                  <a:schemeClr val="lt1"/>
                </a:highlight>
              </a:rPr>
              <a:t>Case 3: A 46-year-old female with chronic SLE, Sjogren syndrome, RA for 13 years was evaluated for chronic dyspnea, cough, and </a:t>
            </a:r>
            <a:r>
              <a:rPr lang="en-US" sz="2800" dirty="0" err="1">
                <a:solidFill>
                  <a:srgbClr val="222222"/>
                </a:solidFill>
                <a:highlight>
                  <a:schemeClr val="lt1"/>
                </a:highlight>
              </a:rPr>
              <a:t>bendopnea</a:t>
            </a:r>
            <a:r>
              <a:rPr lang="en-US" sz="2800" dirty="0">
                <a:solidFill>
                  <a:srgbClr val="222222"/>
                </a:solidFill>
                <a:highlight>
                  <a:schemeClr val="lt1"/>
                </a:highlight>
              </a:rPr>
              <a:t>. PFTs showed a severe chronic restrictive lung disease. HRCT chest showed mild bibasilar atelectasis, no ILD, and small lung volumes. She demonstrated a dramatic reduction in lung function over the last 2 years.</a:t>
            </a:r>
            <a:endParaRPr sz="2800" dirty="0">
              <a:solidFill>
                <a:srgbClr val="222222"/>
              </a:solidFill>
              <a:highlight>
                <a:srgbClr val="FFFFFF"/>
              </a:highlight>
            </a:endParaRPr>
          </a:p>
        </p:txBody>
      </p:sp>
      <p:sp>
        <p:nvSpPr>
          <p:cNvPr id="91" name="Google Shape;91;g33f5d42d367_0_8"/>
          <p:cNvSpPr/>
          <p:nvPr/>
        </p:nvSpPr>
        <p:spPr>
          <a:xfrm>
            <a:off x="512064" y="4400225"/>
            <a:ext cx="90716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Introduction</a:t>
            </a:r>
            <a:endParaRPr sz="933"/>
          </a:p>
        </p:txBody>
      </p:sp>
      <p:sp>
        <p:nvSpPr>
          <p:cNvPr id="92" name="Google Shape;92;g33f5d42d367_0_8"/>
          <p:cNvSpPr/>
          <p:nvPr/>
        </p:nvSpPr>
        <p:spPr>
          <a:xfrm>
            <a:off x="512064" y="5642940"/>
            <a:ext cx="9071600" cy="3665000"/>
          </a:xfrm>
          <a:prstGeom prst="rect">
            <a:avLst/>
          </a:prstGeom>
          <a:solidFill>
            <a:schemeClr val="lt1"/>
          </a:solidFill>
          <a:ln>
            <a:noFill/>
          </a:ln>
        </p:spPr>
        <p:txBody>
          <a:bodyPr spcFirstLastPara="1" wrap="square" lIns="60950" tIns="30467" rIns="60950" bIns="30467" anchor="t" anchorCtr="0">
            <a:noAutofit/>
          </a:bodyPr>
          <a:lstStyle/>
          <a:p>
            <a:pPr>
              <a:buSzPts val="4500"/>
            </a:pPr>
            <a:r>
              <a:rPr lang="en-US" sz="2800" dirty="0">
                <a:solidFill>
                  <a:srgbClr val="222222"/>
                </a:solidFill>
                <a:highlight>
                  <a:srgbClr val="FFFFFF"/>
                </a:highlight>
              </a:rPr>
              <a:t>Shrinking lung syndrome (SLS) is a rare complication of systemic autoimmune disease - most notably in patients with systemic lupus erythematosus (SLE) [1]. Reduced lung volumes and a restrictive deficit on lung function testing are typical. It is a diagnosis of exclusion. The etiology remains unknown. We describe a case series of SLS associated with connective tissue diseases (CTD).</a:t>
            </a:r>
            <a:endParaRPr sz="2800" dirty="0">
              <a:solidFill>
                <a:schemeClr val="lt1"/>
              </a:solidFill>
            </a:endParaRPr>
          </a:p>
        </p:txBody>
      </p:sp>
      <p:sp>
        <p:nvSpPr>
          <p:cNvPr id="93" name="Google Shape;93;g33f5d42d367_0_8"/>
          <p:cNvSpPr/>
          <p:nvPr/>
        </p:nvSpPr>
        <p:spPr>
          <a:xfrm>
            <a:off x="512064" y="376366"/>
            <a:ext cx="31711392" cy="38092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4" name="Google Shape;94;g33f5d42d367_0_8"/>
          <p:cNvSpPr/>
          <p:nvPr/>
        </p:nvSpPr>
        <p:spPr>
          <a:xfrm>
            <a:off x="7911900" y="838600"/>
            <a:ext cx="19156600" cy="933600"/>
          </a:xfrm>
          <a:prstGeom prst="rect">
            <a:avLst/>
          </a:prstGeom>
          <a:noFill/>
          <a:ln>
            <a:noFill/>
          </a:ln>
        </p:spPr>
        <p:txBody>
          <a:bodyPr spcFirstLastPara="1" wrap="square" lIns="60950" tIns="30467" rIns="60950" bIns="30467" anchor="t" anchorCtr="0">
            <a:noAutofit/>
          </a:bodyPr>
          <a:lstStyle/>
          <a:p>
            <a:pPr algn="ctr">
              <a:buSzPts val="9000"/>
            </a:pPr>
            <a:r>
              <a:rPr lang="en-US" sz="6000" b="1">
                <a:solidFill>
                  <a:schemeClr val="lt1"/>
                </a:solidFill>
                <a:highlight>
                  <a:srgbClr val="004671"/>
                </a:highlight>
                <a:latin typeface="Montserrat"/>
                <a:ea typeface="Montserrat"/>
                <a:cs typeface="Montserrat"/>
                <a:sym typeface="Montserrat"/>
              </a:rPr>
              <a:t>Honey! I Shrunk The Lungs!</a:t>
            </a:r>
            <a:endParaRPr sz="6000" b="1">
              <a:solidFill>
                <a:schemeClr val="lt1"/>
              </a:solidFill>
              <a:highlight>
                <a:srgbClr val="004671"/>
              </a:highlight>
              <a:latin typeface="Montserrat"/>
              <a:ea typeface="Montserrat"/>
              <a:cs typeface="Montserrat"/>
              <a:sym typeface="Montserrat"/>
            </a:endParaRPr>
          </a:p>
        </p:txBody>
      </p:sp>
      <p:sp>
        <p:nvSpPr>
          <p:cNvPr id="95" name="Google Shape;95;g33f5d42d367_0_8"/>
          <p:cNvSpPr/>
          <p:nvPr/>
        </p:nvSpPr>
        <p:spPr>
          <a:xfrm>
            <a:off x="9455183" y="1921117"/>
            <a:ext cx="17550200" cy="1703000"/>
          </a:xfrm>
          <a:prstGeom prst="rect">
            <a:avLst/>
          </a:prstGeom>
          <a:noFill/>
          <a:ln>
            <a:noFill/>
          </a:ln>
        </p:spPr>
        <p:txBody>
          <a:bodyPr spcFirstLastPara="1" wrap="square" lIns="60950" tIns="30467" rIns="60950" bIns="30467" anchor="t" anchorCtr="0">
            <a:noAutofit/>
          </a:bodyPr>
          <a:lstStyle/>
          <a:p>
            <a:pPr algn="ctr">
              <a:buSzPts val="4800"/>
            </a:pPr>
            <a:r>
              <a:rPr lang="en-US" sz="3200">
                <a:solidFill>
                  <a:schemeClr val="lt1"/>
                </a:solidFill>
                <a:highlight>
                  <a:srgbClr val="004671"/>
                </a:highlight>
                <a:latin typeface="Montserrat"/>
                <a:ea typeface="Montserrat"/>
                <a:cs typeface="Montserrat"/>
                <a:sym typeface="Montserrat"/>
              </a:rPr>
              <a:t>Mahwish Sheikh, MD; Hamna </a:t>
            </a:r>
            <a:r>
              <a:rPr lang="en-US" sz="3200" dirty="0">
                <a:solidFill>
                  <a:schemeClr val="lt1"/>
                </a:solidFill>
                <a:highlight>
                  <a:srgbClr val="004671"/>
                </a:highlight>
                <a:latin typeface="Montserrat"/>
                <a:ea typeface="Montserrat"/>
                <a:cs typeface="Montserrat"/>
                <a:sym typeface="Montserrat"/>
              </a:rPr>
              <a:t>Javed, MD</a:t>
            </a:r>
            <a:r>
              <a:rPr lang="en-US" sz="3200">
                <a:solidFill>
                  <a:schemeClr val="lt1"/>
                </a:solidFill>
                <a:highlight>
                  <a:srgbClr val="004671"/>
                </a:highlight>
                <a:latin typeface="Montserrat"/>
                <a:ea typeface="Montserrat"/>
                <a:cs typeface="Montserrat"/>
                <a:sym typeface="Montserrat"/>
              </a:rPr>
              <a:t>; Andrew </a:t>
            </a:r>
            <a:r>
              <a:rPr lang="en-US" sz="3200" dirty="0">
                <a:solidFill>
                  <a:schemeClr val="lt1"/>
                </a:solidFill>
                <a:highlight>
                  <a:srgbClr val="004671"/>
                </a:highlight>
                <a:latin typeface="Montserrat"/>
                <a:ea typeface="Montserrat"/>
                <a:cs typeface="Montserrat"/>
                <a:sym typeface="Montserrat"/>
              </a:rPr>
              <a:t>Clark, MD; Aftab Arif, MD;  </a:t>
            </a:r>
          </a:p>
          <a:p>
            <a:pPr algn="ctr">
              <a:buSzPts val="4800"/>
            </a:pPr>
            <a:r>
              <a:rPr lang="en-US" sz="3200" dirty="0">
                <a:solidFill>
                  <a:schemeClr val="lt1"/>
                </a:solidFill>
                <a:highlight>
                  <a:srgbClr val="004671"/>
                </a:highlight>
                <a:latin typeface="Montserrat"/>
                <a:ea typeface="Montserrat"/>
                <a:cs typeface="Montserrat"/>
                <a:sym typeface="Montserrat"/>
              </a:rPr>
              <a:t>Vijay Balasubramanian MD, MRCP (UK), FCCP</a:t>
            </a:r>
            <a:br>
              <a:rPr lang="en-US" sz="3200" dirty="0">
                <a:solidFill>
                  <a:schemeClr val="lt1"/>
                </a:solidFill>
                <a:highlight>
                  <a:srgbClr val="004671"/>
                </a:highlight>
                <a:latin typeface="Montserrat"/>
                <a:ea typeface="Montserrat"/>
                <a:cs typeface="Montserrat"/>
                <a:sym typeface="Montserrat"/>
              </a:rPr>
            </a:br>
            <a:r>
              <a:rPr lang="en-US" sz="2333" dirty="0">
                <a:solidFill>
                  <a:schemeClr val="lt1"/>
                </a:solidFill>
                <a:highlight>
                  <a:srgbClr val="004671"/>
                </a:highlight>
                <a:latin typeface="Montserrat"/>
                <a:ea typeface="Montserrat"/>
                <a:cs typeface="Montserrat"/>
                <a:sym typeface="Montserrat"/>
              </a:rPr>
              <a:t>Internal Medicine Residency, </a:t>
            </a:r>
            <a:r>
              <a:rPr lang="en-US" sz="2333" i="1" dirty="0">
                <a:solidFill>
                  <a:schemeClr val="lt1"/>
                </a:solidFill>
                <a:highlight>
                  <a:srgbClr val="004671"/>
                </a:highlight>
                <a:latin typeface="Montserrat"/>
                <a:ea typeface="Montserrat"/>
                <a:cs typeface="Montserrat"/>
                <a:sym typeface="Montserrat"/>
              </a:rPr>
              <a:t>Saint Agnes Medical Center, Fresno, CA</a:t>
            </a:r>
            <a:endParaRPr sz="2333" i="1" dirty="0">
              <a:solidFill>
                <a:schemeClr val="lt1"/>
              </a:solidFill>
              <a:highlight>
                <a:srgbClr val="004671"/>
              </a:highlight>
              <a:latin typeface="Montserrat"/>
              <a:ea typeface="Montserrat"/>
              <a:cs typeface="Montserrat"/>
              <a:sym typeface="Montserrat"/>
            </a:endParaRPr>
          </a:p>
          <a:p>
            <a:pPr marL="4233" algn="ctr">
              <a:buClr>
                <a:schemeClr val="lt1"/>
              </a:buClr>
              <a:buSzPts val="3500"/>
            </a:pPr>
            <a:r>
              <a:rPr lang="en-US" sz="2333" i="1" dirty="0">
                <a:solidFill>
                  <a:schemeClr val="lt1"/>
                </a:solidFill>
                <a:highlight>
                  <a:srgbClr val="004671"/>
                </a:highlight>
                <a:latin typeface="Montserrat"/>
                <a:ea typeface="Montserrat"/>
                <a:cs typeface="Montserrat"/>
                <a:sym typeface="Montserrat"/>
              </a:rPr>
              <a:t>Pulmonary &amp; Critical Care </a:t>
            </a:r>
            <a:r>
              <a:rPr lang="en-US" sz="2333" i="1" dirty="0" err="1">
                <a:solidFill>
                  <a:schemeClr val="lt1"/>
                </a:solidFill>
                <a:highlight>
                  <a:srgbClr val="004671"/>
                </a:highlight>
                <a:latin typeface="Montserrat"/>
                <a:ea typeface="Montserrat"/>
                <a:cs typeface="Montserrat"/>
                <a:sym typeface="Montserrat"/>
              </a:rPr>
              <a:t>Medicne</a:t>
            </a:r>
            <a:r>
              <a:rPr lang="en-US" sz="2333" i="1" dirty="0">
                <a:solidFill>
                  <a:schemeClr val="lt1"/>
                </a:solidFill>
                <a:highlight>
                  <a:srgbClr val="004671"/>
                </a:highlight>
                <a:latin typeface="Montserrat"/>
                <a:ea typeface="Montserrat"/>
                <a:cs typeface="Montserrat"/>
                <a:sym typeface="Montserrat"/>
              </a:rPr>
              <a:t>, Valley Advanced Lung Disease Institute, Fresno, CA</a:t>
            </a:r>
            <a:endParaRPr sz="2333" i="1" dirty="0">
              <a:solidFill>
                <a:schemeClr val="lt1"/>
              </a:solidFill>
              <a:highlight>
                <a:srgbClr val="004671"/>
              </a:highlight>
              <a:latin typeface="Montserrat"/>
              <a:ea typeface="Montserrat"/>
              <a:cs typeface="Montserrat"/>
              <a:sym typeface="Montserrat"/>
            </a:endParaRPr>
          </a:p>
        </p:txBody>
      </p:sp>
      <p:sp>
        <p:nvSpPr>
          <p:cNvPr id="96" name="Google Shape;96;g33f5d42d367_0_8"/>
          <p:cNvSpPr txBox="1"/>
          <p:nvPr/>
        </p:nvSpPr>
        <p:spPr>
          <a:xfrm>
            <a:off x="11885656" y="15246450"/>
            <a:ext cx="12627200" cy="523194"/>
          </a:xfrm>
          <a:prstGeom prst="rect">
            <a:avLst/>
          </a:prstGeom>
          <a:noFill/>
          <a:ln>
            <a:noFill/>
          </a:ln>
        </p:spPr>
        <p:txBody>
          <a:bodyPr spcFirstLastPara="1" wrap="square" lIns="60950" tIns="30467" rIns="60950" bIns="30467" anchor="t" anchorCtr="0">
            <a:spAutoFit/>
          </a:bodyPr>
          <a:lstStyle/>
          <a:p>
            <a:pPr>
              <a:buSzPts val="3000"/>
            </a:pPr>
            <a:r>
              <a:rPr lang="en-US" sz="3000" b="1" dirty="0">
                <a:solidFill>
                  <a:schemeClr val="dk1"/>
                </a:solidFill>
                <a:latin typeface="Calibri"/>
                <a:ea typeface="Calibri"/>
                <a:cs typeface="Calibri"/>
                <a:sym typeface="Calibri"/>
              </a:rPr>
              <a:t>Table 1 illustrates key patient demographics and ILD-related clinical data.</a:t>
            </a:r>
            <a:endParaRPr sz="1933" dirty="0"/>
          </a:p>
        </p:txBody>
      </p:sp>
      <p:sp>
        <p:nvSpPr>
          <p:cNvPr id="97" name="Google Shape;97;g33f5d42d367_0_8"/>
          <p:cNvSpPr/>
          <p:nvPr/>
        </p:nvSpPr>
        <p:spPr>
          <a:xfrm>
            <a:off x="10359340" y="15828800"/>
            <a:ext cx="13671091" cy="11596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Case Presentation cont.</a:t>
            </a:r>
            <a:endParaRPr sz="933"/>
          </a:p>
        </p:txBody>
      </p:sp>
      <p:sp>
        <p:nvSpPr>
          <p:cNvPr id="98" name="Google Shape;98;g33f5d42d367_0_8"/>
          <p:cNvSpPr/>
          <p:nvPr/>
        </p:nvSpPr>
        <p:spPr>
          <a:xfrm>
            <a:off x="10359257" y="17141197"/>
            <a:ext cx="13671091" cy="4719400"/>
          </a:xfrm>
          <a:prstGeom prst="rect">
            <a:avLst/>
          </a:prstGeom>
          <a:solidFill>
            <a:schemeClr val="lt1"/>
          </a:solidFill>
          <a:ln>
            <a:noFill/>
          </a:ln>
        </p:spPr>
        <p:txBody>
          <a:bodyPr spcFirstLastPara="1" wrap="square" lIns="60950" tIns="30467" rIns="60950" bIns="30467" anchor="t" anchorCtr="0">
            <a:noAutofit/>
          </a:bodyPr>
          <a:lstStyle/>
          <a:p>
            <a:pPr>
              <a:buClr>
                <a:schemeClr val="dk1"/>
              </a:buClr>
              <a:buSzPts val="1100"/>
            </a:pPr>
            <a:r>
              <a:rPr lang="en-US" sz="2800" dirty="0">
                <a:solidFill>
                  <a:schemeClr val="dk1"/>
                </a:solidFill>
              </a:rPr>
              <a:t>Shrinking Lung Syndrome (SLS) is a rare and poorly understood complication of autoimmune diseases, most commonly systemic lupus erythematosus (SLE), characterized by unexplained dyspnea and progressive reductions in lung volumes without interstitial lung disease</a:t>
            </a:r>
            <a:r>
              <a:rPr lang="en-US" sz="2800" baseline="30000" dirty="0">
                <a:solidFill>
                  <a:schemeClr val="dk1"/>
                </a:solidFill>
              </a:rPr>
              <a:t>12</a:t>
            </a:r>
            <a:r>
              <a:rPr lang="en-US" sz="2800" dirty="0">
                <a:solidFill>
                  <a:schemeClr val="dk1"/>
                </a:solidFill>
              </a:rPr>
              <a:t>. The diagnosis is clinical and one of exclusion, often supported by serial pulmonary function tests and chest imaging</a:t>
            </a:r>
            <a:r>
              <a:rPr lang="en-US" sz="2800" baseline="30000" dirty="0">
                <a:solidFill>
                  <a:schemeClr val="dk1"/>
                </a:solidFill>
              </a:rPr>
              <a:t>3</a:t>
            </a:r>
            <a:r>
              <a:rPr lang="en-US" sz="2800" dirty="0">
                <a:solidFill>
                  <a:schemeClr val="dk1"/>
                </a:solidFill>
              </a:rPr>
              <a:t>. Though its pathophysiology remains unclear, diaphragmatic dysfunction and pleuritis have been proposed</a:t>
            </a:r>
            <a:r>
              <a:rPr lang="en-US" sz="2800" baseline="30000" dirty="0">
                <a:solidFill>
                  <a:schemeClr val="dk1"/>
                </a:solidFill>
              </a:rPr>
              <a:t>4</a:t>
            </a:r>
            <a:r>
              <a:rPr lang="en-US" sz="2800" dirty="0">
                <a:solidFill>
                  <a:schemeClr val="dk1"/>
                </a:solidFill>
              </a:rPr>
              <a:t>. Limited case reports underscore the need for increased awareness and early recognition, which may improve patient outcomes and guide the development of registries for better understanding disease progression and therapeutic strategies</a:t>
            </a:r>
            <a:r>
              <a:rPr lang="en-US" sz="2800" baseline="30000" dirty="0">
                <a:solidFill>
                  <a:schemeClr val="dk1"/>
                </a:solidFill>
              </a:rPr>
              <a:t>5</a:t>
            </a:r>
            <a:r>
              <a:rPr lang="en-US" sz="2800" dirty="0">
                <a:solidFill>
                  <a:schemeClr val="dk1"/>
                </a:solidFill>
              </a:rPr>
              <a:t>.</a:t>
            </a:r>
            <a:endParaRPr sz="2800" dirty="0"/>
          </a:p>
        </p:txBody>
      </p:sp>
      <p:sp>
        <p:nvSpPr>
          <p:cNvPr id="99" name="Google Shape;99;g33f5d42d367_0_8"/>
          <p:cNvSpPr/>
          <p:nvPr/>
        </p:nvSpPr>
        <p:spPr>
          <a:xfrm>
            <a:off x="24512856" y="15769644"/>
            <a:ext cx="7710600" cy="1179156"/>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References</a:t>
            </a:r>
            <a:endParaRPr sz="933"/>
          </a:p>
        </p:txBody>
      </p:sp>
      <p:sp>
        <p:nvSpPr>
          <p:cNvPr id="100" name="Google Shape;100;g33f5d42d367_0_8"/>
          <p:cNvSpPr/>
          <p:nvPr/>
        </p:nvSpPr>
        <p:spPr>
          <a:xfrm>
            <a:off x="24512856" y="16988400"/>
            <a:ext cx="7710600" cy="4707698"/>
          </a:xfrm>
          <a:prstGeom prst="rect">
            <a:avLst/>
          </a:prstGeom>
          <a:solidFill>
            <a:schemeClr val="lt1"/>
          </a:solidFill>
          <a:ln>
            <a:noFill/>
          </a:ln>
        </p:spPr>
        <p:txBody>
          <a:bodyPr spcFirstLastPara="1" wrap="square" lIns="60950" tIns="30467" rIns="60950" bIns="30467" anchor="t" anchorCtr="0">
            <a:noAutofit/>
          </a:bodyPr>
          <a:lstStyle/>
          <a:p>
            <a:pPr marL="304815" indent="-262480">
              <a:lnSpc>
                <a:spcPct val="115000"/>
              </a:lnSpc>
              <a:buClr>
                <a:schemeClr val="dk1"/>
              </a:buClr>
              <a:buSzPts val="2600"/>
              <a:buAutoNum type="arabicPeriod"/>
            </a:pPr>
            <a:r>
              <a:rPr lang="en-US" sz="1600" dirty="0" err="1">
                <a:solidFill>
                  <a:schemeClr val="dk1"/>
                </a:solidFill>
              </a:rPr>
              <a:t>Cañedo</a:t>
            </a:r>
            <a:r>
              <a:rPr lang="en-US" sz="1600" dirty="0">
                <a:solidFill>
                  <a:schemeClr val="dk1"/>
                </a:solidFill>
              </a:rPr>
              <a:t>-Ayala M, Londoño J, Rojas-Villarraga A, Anaya J-M. Shrinking lung syndrome in autoimmune diseases: A narrative review. </a:t>
            </a:r>
            <a:r>
              <a:rPr lang="en-US" sz="1600" i="1" dirty="0">
                <a:solidFill>
                  <a:schemeClr val="dk1"/>
                </a:solidFill>
              </a:rPr>
              <a:t>Clin </a:t>
            </a:r>
            <a:r>
              <a:rPr lang="en-US" sz="1600" i="1" dirty="0" err="1">
                <a:solidFill>
                  <a:schemeClr val="dk1"/>
                </a:solidFill>
              </a:rPr>
              <a:t>Rheumatol</a:t>
            </a:r>
            <a:r>
              <a:rPr lang="en-US" sz="1600" dirty="0">
                <a:solidFill>
                  <a:schemeClr val="dk1"/>
                </a:solidFill>
              </a:rPr>
              <a:t>. 2015;34(10):1637–1642. doi:10.1007/s10067-015-3022-3 </a:t>
            </a:r>
            <a:endParaRPr sz="1600" dirty="0">
              <a:solidFill>
                <a:schemeClr val="dk1"/>
              </a:solidFill>
            </a:endParaRPr>
          </a:p>
          <a:p>
            <a:pPr marL="304815" indent="-262480">
              <a:lnSpc>
                <a:spcPct val="115000"/>
              </a:lnSpc>
              <a:buClr>
                <a:schemeClr val="dk1"/>
              </a:buClr>
              <a:buSzPts val="2600"/>
              <a:buAutoNum type="arabicPeriod"/>
            </a:pPr>
            <a:r>
              <a:rPr lang="en-US" sz="1600" dirty="0">
                <a:solidFill>
                  <a:schemeClr val="dk1"/>
                </a:solidFill>
              </a:rPr>
              <a:t>Allen D, Fischer A, Todd N, et al. Shrinking lung syndrome as a manifestation of systemic lupus erythematosus: A case series and literature review. </a:t>
            </a:r>
            <a:r>
              <a:rPr lang="en-US" sz="1600" i="1" dirty="0">
                <a:solidFill>
                  <a:schemeClr val="dk1"/>
                </a:solidFill>
              </a:rPr>
              <a:t>Chest</a:t>
            </a:r>
            <a:r>
              <a:rPr lang="en-US" sz="1600" dirty="0">
                <a:solidFill>
                  <a:schemeClr val="dk1"/>
                </a:solidFill>
              </a:rPr>
              <a:t>. 2019;156(5):e127–e131. doi:10.1016/j.chest.2019.03.043 </a:t>
            </a:r>
            <a:endParaRPr sz="1600" dirty="0">
              <a:solidFill>
                <a:schemeClr val="dk1"/>
              </a:solidFill>
            </a:endParaRPr>
          </a:p>
          <a:p>
            <a:pPr marL="304815" indent="-262480">
              <a:lnSpc>
                <a:spcPct val="115000"/>
              </a:lnSpc>
              <a:buClr>
                <a:schemeClr val="dk1"/>
              </a:buClr>
              <a:buSzPts val="2600"/>
              <a:buAutoNum type="arabicPeriod"/>
            </a:pPr>
            <a:r>
              <a:rPr lang="en-US" sz="1600" dirty="0">
                <a:solidFill>
                  <a:schemeClr val="dk1"/>
                </a:solidFill>
              </a:rPr>
              <a:t>Mandell BF. Shrinking lung syndrome in systemic lupus erythematosus: A rare and often unrecognized manifestation. </a:t>
            </a:r>
            <a:r>
              <a:rPr lang="en-US" sz="1600" i="1" dirty="0">
                <a:solidFill>
                  <a:schemeClr val="dk1"/>
                </a:solidFill>
              </a:rPr>
              <a:t>Lupus</a:t>
            </a:r>
            <a:r>
              <a:rPr lang="en-US" sz="1600" dirty="0">
                <a:solidFill>
                  <a:schemeClr val="dk1"/>
                </a:solidFill>
              </a:rPr>
              <a:t>. 2016;25(12):1302–1304. doi:10.1177/0961203316651743 ↩</a:t>
            </a:r>
            <a:endParaRPr sz="1600" dirty="0">
              <a:solidFill>
                <a:schemeClr val="dk1"/>
              </a:solidFill>
            </a:endParaRPr>
          </a:p>
          <a:p>
            <a:pPr marL="304815" indent="-262480">
              <a:lnSpc>
                <a:spcPct val="115000"/>
              </a:lnSpc>
              <a:buClr>
                <a:schemeClr val="dk1"/>
              </a:buClr>
              <a:buSzPts val="2600"/>
              <a:buAutoNum type="arabicPeriod"/>
            </a:pPr>
            <a:r>
              <a:rPr lang="en-US" sz="1600" dirty="0">
                <a:solidFill>
                  <a:schemeClr val="dk1"/>
                </a:solidFill>
              </a:rPr>
              <a:t>Yazici Y, Erkan D. Shrinking lung syndrome: What do we know and how should we treat it? </a:t>
            </a:r>
            <a:r>
              <a:rPr lang="en-US" sz="1600" i="1" dirty="0">
                <a:solidFill>
                  <a:schemeClr val="dk1"/>
                </a:solidFill>
              </a:rPr>
              <a:t>Curr </a:t>
            </a:r>
            <a:r>
              <a:rPr lang="en-US" sz="1600" i="1" dirty="0" err="1">
                <a:solidFill>
                  <a:schemeClr val="dk1"/>
                </a:solidFill>
              </a:rPr>
              <a:t>Rheumatol</a:t>
            </a:r>
            <a:r>
              <a:rPr lang="en-US" sz="1600" i="1" dirty="0">
                <a:solidFill>
                  <a:schemeClr val="dk1"/>
                </a:solidFill>
              </a:rPr>
              <a:t> Rep</a:t>
            </a:r>
            <a:r>
              <a:rPr lang="en-US" sz="1600" dirty="0">
                <a:solidFill>
                  <a:schemeClr val="dk1"/>
                </a:solidFill>
              </a:rPr>
              <a:t>. 2014;16(5):408. doi:10.1007/s11926-014-0408-7 </a:t>
            </a:r>
            <a:endParaRPr sz="1600" dirty="0">
              <a:solidFill>
                <a:schemeClr val="dk1"/>
              </a:solidFill>
            </a:endParaRPr>
          </a:p>
          <a:p>
            <a:pPr marL="304815" indent="-262480">
              <a:lnSpc>
                <a:spcPct val="115000"/>
              </a:lnSpc>
              <a:buClr>
                <a:schemeClr val="dk1"/>
              </a:buClr>
              <a:buSzPts val="2600"/>
              <a:buAutoNum type="arabicPeriod"/>
            </a:pPr>
            <a:r>
              <a:rPr lang="en-US" sz="1600" dirty="0">
                <a:solidFill>
                  <a:schemeClr val="dk1"/>
                </a:solidFill>
              </a:rPr>
              <a:t>Fortin PR, et al. Challenges and opportunities in rare autoimmune diseases: The case for longitudinal registries. </a:t>
            </a:r>
            <a:r>
              <a:rPr lang="en-US" sz="1600" i="1" dirty="0">
                <a:solidFill>
                  <a:schemeClr val="dk1"/>
                </a:solidFill>
              </a:rPr>
              <a:t>Nat Rev </a:t>
            </a:r>
            <a:r>
              <a:rPr lang="en-US" sz="1600" i="1" dirty="0" err="1">
                <a:solidFill>
                  <a:schemeClr val="dk1"/>
                </a:solidFill>
              </a:rPr>
              <a:t>Rheumatol</a:t>
            </a:r>
            <a:r>
              <a:rPr lang="en-US" sz="1600" dirty="0">
                <a:solidFill>
                  <a:schemeClr val="dk1"/>
                </a:solidFill>
              </a:rPr>
              <a:t>. 2017;13(5):273–274. doi:10.1038/nrrheum.2017.38</a:t>
            </a:r>
            <a:endParaRPr sz="1600" dirty="0">
              <a:solidFill>
                <a:srgbClr val="222222"/>
              </a:solidFill>
              <a:highlight>
                <a:srgbClr val="FFFFFF"/>
              </a:highlight>
            </a:endParaRPr>
          </a:p>
        </p:txBody>
      </p:sp>
      <p:pic>
        <p:nvPicPr>
          <p:cNvPr id="101" name="Google Shape;101;g33f5d42d367_0_8" descr="Text&#10;&#10;Description automatically generated with medium confidence"/>
          <p:cNvPicPr preferRelativeResize="0"/>
          <p:nvPr/>
        </p:nvPicPr>
        <p:blipFill rotWithShape="1">
          <a:blip r:embed="rId3">
            <a:alphaModFix/>
          </a:blip>
          <a:srcRect/>
          <a:stretch/>
        </p:blipFill>
        <p:spPr>
          <a:xfrm>
            <a:off x="5148370" y="1333565"/>
            <a:ext cx="3638091" cy="1927839"/>
          </a:xfrm>
          <a:prstGeom prst="rect">
            <a:avLst/>
          </a:prstGeom>
          <a:noFill/>
          <a:ln>
            <a:noFill/>
          </a:ln>
        </p:spPr>
      </p:pic>
      <p:pic>
        <p:nvPicPr>
          <p:cNvPr id="102" name="Google Shape;102;g33f5d42d367_0_8"/>
          <p:cNvPicPr preferRelativeResize="0"/>
          <p:nvPr/>
        </p:nvPicPr>
        <p:blipFill rotWithShape="1">
          <a:blip r:embed="rId4">
            <a:alphaModFix/>
          </a:blip>
          <a:srcRect/>
          <a:stretch/>
        </p:blipFill>
        <p:spPr>
          <a:xfrm>
            <a:off x="1216290" y="623941"/>
            <a:ext cx="3638091" cy="3314050"/>
          </a:xfrm>
          <a:prstGeom prst="rect">
            <a:avLst/>
          </a:prstGeom>
          <a:noFill/>
          <a:ln>
            <a:noFill/>
          </a:ln>
        </p:spPr>
      </p:pic>
      <p:pic>
        <p:nvPicPr>
          <p:cNvPr id="103" name="Google Shape;103;g33f5d42d367_0_8"/>
          <p:cNvPicPr preferRelativeResize="0"/>
          <p:nvPr/>
        </p:nvPicPr>
        <p:blipFill rotWithShape="1">
          <a:blip r:embed="rId5">
            <a:alphaModFix/>
          </a:blip>
          <a:srcRect/>
          <a:stretch/>
        </p:blipFill>
        <p:spPr>
          <a:xfrm>
            <a:off x="11777693" y="4334483"/>
            <a:ext cx="18677851" cy="10831617"/>
          </a:xfrm>
          <a:prstGeom prst="rect">
            <a:avLst/>
          </a:prstGeom>
          <a:noFill/>
          <a:ln>
            <a:noFill/>
          </a:ln>
        </p:spPr>
      </p:pic>
      <p:pic>
        <p:nvPicPr>
          <p:cNvPr id="104" name="Picture 103" descr="34C.png"/>
          <p:cNvPicPr>
            <a:picLocks noChangeAspect="1"/>
          </p:cNvPicPr>
          <p:nvPr/>
        </p:nvPicPr>
        <p:blipFill>
          <a:blip r:embed="rId6"/>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654</Words>
  <Application>Microsoft Macintosh PowerPoint</Application>
  <PresentationFormat>Custom</PresentationFormat>
  <Paragraphs>21</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Montserrat</vt: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Phil Kim</cp:lastModifiedBy>
  <cp:revision>3</cp:revision>
  <dcterms:created xsi:type="dcterms:W3CDTF">2016-02-18T22:13:49Z</dcterms:created>
  <dcterms:modified xsi:type="dcterms:W3CDTF">2025-05-01T05:38:25Z</dcterms:modified>
</cp:coreProperties>
</file>