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jh4N8Mxwpi6dxmMgibSD4F+BnlQ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18"/>
    <p:restoredTop sz="94694"/>
  </p:normalViewPr>
  <p:slideViewPr>
    <p:cSldViewPr snapToGrid="0">
      <p:cViewPr>
        <p:scale>
          <a:sx n="49" d="100"/>
          <a:sy n="49" d="100"/>
        </p:scale>
        <p:origin x="624" y="64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7" Type="http://customschemas.google.com/relationships/presentationmetadata" Target="meta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5: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AE599327-0BF6-24E5-ED5C-9E0B82335E01}"/>
              </a:ext>
            </a:extLst>
          </p:cNvPr>
          <p:cNvGrpSpPr/>
          <p:nvPr/>
        </p:nvGrpSpPr>
        <p:grpSpPr>
          <a:xfrm>
            <a:off x="0" y="-1645925"/>
            <a:ext cx="33723072" cy="23774400"/>
            <a:chOff x="1852896" y="198844"/>
            <a:chExt cx="29131328" cy="21945600"/>
          </a:xfrm>
        </p:grpSpPr>
        <p:pic>
          <p:nvPicPr>
            <p:cNvPr id="89" name="Google Shape;89;p5"/>
            <p:cNvPicPr preferRelativeResize="0"/>
            <p:nvPr/>
          </p:nvPicPr>
          <p:blipFill rotWithShape="1">
            <a:blip r:embed="rId3">
              <a:alphaModFix amt="90000"/>
            </a:blip>
            <a:srcRect/>
            <a:stretch/>
          </p:blipFill>
          <p:spPr>
            <a:xfrm>
              <a:off x="1852896" y="198844"/>
              <a:ext cx="29131328" cy="21945600"/>
            </a:xfrm>
            <a:prstGeom prst="rect">
              <a:avLst/>
            </a:prstGeom>
            <a:solidFill>
              <a:schemeClr val="accent1"/>
            </a:solidFill>
            <a:ln>
              <a:noFill/>
            </a:ln>
          </p:spPr>
        </p:pic>
        <p:sp>
          <p:nvSpPr>
            <p:cNvPr id="90" name="Google Shape;90;p5"/>
            <p:cNvSpPr/>
            <p:nvPr/>
          </p:nvSpPr>
          <p:spPr>
            <a:xfrm>
              <a:off x="2499360" y="13063141"/>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5"/>
            <p:cNvSpPr/>
            <p:nvPr/>
          </p:nvSpPr>
          <p:spPr>
            <a:xfrm>
              <a:off x="2499360" y="4328160"/>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Abstract</a:t>
              </a:r>
              <a:endParaRPr sz="933"/>
            </a:p>
          </p:txBody>
        </p:sp>
        <p:sp>
          <p:nvSpPr>
            <p:cNvPr id="92" name="Google Shape;92;p5"/>
            <p:cNvSpPr/>
            <p:nvPr/>
          </p:nvSpPr>
          <p:spPr>
            <a:xfrm>
              <a:off x="2499367" y="5420000"/>
              <a:ext cx="8839200" cy="7471600"/>
            </a:xfrm>
            <a:prstGeom prst="rect">
              <a:avLst/>
            </a:prstGeom>
            <a:solidFill>
              <a:schemeClr val="lt1">
                <a:alpha val="49411"/>
              </a:schemeClr>
            </a:solidFill>
            <a:ln>
              <a:noFill/>
            </a:ln>
          </p:spPr>
          <p:txBody>
            <a:bodyPr spcFirstLastPara="1" wrap="square" lIns="60950" tIns="30467" rIns="60950" bIns="30467" anchor="ctr" anchorCtr="0">
              <a:noAutofit/>
            </a:bodyPr>
            <a:lstStyle/>
            <a:p>
              <a:pPr>
                <a:spcBef>
                  <a:spcPts val="800"/>
                </a:spcBef>
                <a:spcAft>
                  <a:spcPts val="800"/>
                </a:spcAft>
                <a:buClr>
                  <a:schemeClr val="dk1"/>
                </a:buClr>
                <a:buSzPts val="1100"/>
              </a:pPr>
              <a:r>
                <a:rPr lang="en-US" sz="2733">
                  <a:solidFill>
                    <a:schemeClr val="dk1"/>
                  </a:solidFill>
                </a:rPr>
                <a:t>Cannonball pulmonary metastases are well-recognized on chest X-rays and CT scans due to their distinctive morphology, often indicating advanced disease and poor prognosis. However, their sonographic appearance on point-of-care ultrasound (POCUS) has not been widely described. We present a case of a 32-year-old male with a known history of mixed germ cell tumor of the testis, who presented with respiratory symptoms and nasopharyngeal swab was positive for COVID-19 infection. Still, lung POCUS exam showed innumerable, well-circumscribed pulmonary lesions, consistent with metastatic disease. The characteristic ultrasonographic features of these lesions helped differentiate them from being due to COVID-19 pneumonia. This case highlights the potential utility of POCUS in identifying pulmonary metastases at the bedside, particularly in resource-limited settings where advanced imaging may not be readily available.</a:t>
              </a:r>
              <a:endParaRPr sz="2733">
                <a:solidFill>
                  <a:schemeClr val="lt1"/>
                </a:solidFill>
              </a:endParaRPr>
            </a:p>
          </p:txBody>
        </p:sp>
        <p:sp>
          <p:nvSpPr>
            <p:cNvPr id="93" name="Google Shape;93;p5"/>
            <p:cNvSpPr/>
            <p:nvPr/>
          </p:nvSpPr>
          <p:spPr>
            <a:xfrm>
              <a:off x="2458720" y="547353"/>
              <a:ext cx="27919680"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dirty="0">
                <a:solidFill>
                  <a:schemeClr val="lt1"/>
                </a:solidFill>
                <a:latin typeface="Calibri"/>
                <a:ea typeface="Calibri"/>
                <a:cs typeface="Calibri"/>
                <a:sym typeface="Calibri"/>
              </a:endParaRPr>
            </a:p>
          </p:txBody>
        </p:sp>
        <p:sp>
          <p:nvSpPr>
            <p:cNvPr id="94" name="Google Shape;94;p5"/>
            <p:cNvSpPr/>
            <p:nvPr/>
          </p:nvSpPr>
          <p:spPr>
            <a:xfrm>
              <a:off x="4637984" y="862178"/>
              <a:ext cx="23723600" cy="1450905"/>
            </a:xfrm>
            <a:prstGeom prst="rect">
              <a:avLst/>
            </a:prstGeom>
            <a:noFill/>
            <a:ln>
              <a:noFill/>
            </a:ln>
          </p:spPr>
          <p:txBody>
            <a:bodyPr spcFirstLastPara="1" wrap="square" lIns="60950" tIns="30467" rIns="60950" bIns="30467" anchor="t" anchorCtr="0">
              <a:spAutoFit/>
            </a:bodyPr>
            <a:lstStyle/>
            <a:p>
              <a:pPr algn="ctr">
                <a:lnSpc>
                  <a:spcPct val="115000"/>
                </a:lnSpc>
                <a:buClr>
                  <a:schemeClr val="dk1"/>
                </a:buClr>
                <a:buSzPts val="1100"/>
              </a:pPr>
              <a:r>
                <a:rPr lang="en-US" sz="4267" b="1" dirty="0">
                  <a:solidFill>
                    <a:schemeClr val="lt1"/>
                  </a:solidFill>
                </a:rPr>
                <a:t>Point-of-Care Ultrasound Diagnosis of </a:t>
              </a:r>
            </a:p>
            <a:p>
              <a:pPr algn="ctr">
                <a:lnSpc>
                  <a:spcPct val="115000"/>
                </a:lnSpc>
                <a:buClr>
                  <a:schemeClr val="dk1"/>
                </a:buClr>
                <a:buSzPts val="1100"/>
              </a:pPr>
              <a:r>
                <a:rPr lang="en-US" sz="4267" b="1" dirty="0">
                  <a:solidFill>
                    <a:schemeClr val="lt1"/>
                  </a:solidFill>
                </a:rPr>
                <a:t>Diffuse Pulmonary Metastases: The Cannonball Sign</a:t>
              </a:r>
              <a:endParaRPr sz="4267" b="1" dirty="0">
                <a:solidFill>
                  <a:schemeClr val="lt1"/>
                </a:solidFill>
              </a:endParaRPr>
            </a:p>
          </p:txBody>
        </p:sp>
        <p:sp>
          <p:nvSpPr>
            <p:cNvPr id="95" name="Google Shape;95;p5"/>
            <p:cNvSpPr/>
            <p:nvPr/>
          </p:nvSpPr>
          <p:spPr>
            <a:xfrm>
              <a:off x="5862284" y="2337402"/>
              <a:ext cx="21275000" cy="1200305"/>
            </a:xfrm>
            <a:prstGeom prst="rect">
              <a:avLst/>
            </a:prstGeom>
            <a:noFill/>
            <a:ln>
              <a:noFill/>
            </a:ln>
          </p:spPr>
          <p:txBody>
            <a:bodyPr spcFirstLastPara="1" wrap="square" lIns="60950" tIns="30467" rIns="60950" bIns="30467" anchor="t" anchorCtr="0">
              <a:spAutoFit/>
            </a:bodyPr>
            <a:lstStyle/>
            <a:p>
              <a:pPr algn="ctr">
                <a:lnSpc>
                  <a:spcPct val="115000"/>
                </a:lnSpc>
                <a:buClr>
                  <a:schemeClr val="dk1"/>
                </a:buClr>
                <a:buSzPts val="1100"/>
              </a:pPr>
              <a:r>
                <a:rPr lang="en-US" sz="3000">
                  <a:solidFill>
                    <a:schemeClr val="lt1"/>
                  </a:solidFill>
                </a:rPr>
                <a:t>Mahwish Sheikh¹, Hamna </a:t>
              </a:r>
              <a:r>
                <a:rPr lang="en-US" sz="3000" dirty="0">
                  <a:solidFill>
                    <a:schemeClr val="lt1"/>
                  </a:solidFill>
                </a:rPr>
                <a:t>Javed¹, Moon Park², William Latson</a:t>
              </a:r>
              <a:r>
                <a:rPr lang="en-US" sz="3000" baseline="30000" dirty="0">
                  <a:solidFill>
                    <a:schemeClr val="lt1"/>
                  </a:solidFill>
                </a:rPr>
                <a:t>1</a:t>
              </a:r>
              <a:r>
                <a:rPr lang="en-US" sz="3000" dirty="0">
                  <a:solidFill>
                    <a:schemeClr val="lt1"/>
                  </a:solidFill>
                </a:rPr>
                <a:t>, Mohammad G. Elhassan</a:t>
              </a:r>
              <a:r>
                <a:rPr lang="en-US" sz="3000" baseline="30000" dirty="0">
                  <a:solidFill>
                    <a:schemeClr val="lt1"/>
                  </a:solidFill>
                </a:rPr>
                <a:t>1</a:t>
              </a:r>
              <a:endParaRPr sz="3000" baseline="30000" dirty="0">
                <a:solidFill>
                  <a:schemeClr val="lt1"/>
                </a:solidFill>
              </a:endParaRPr>
            </a:p>
            <a:p>
              <a:pPr marL="25401" algn="ctr">
                <a:lnSpc>
                  <a:spcPct val="115000"/>
                </a:lnSpc>
                <a:buClr>
                  <a:schemeClr val="lt1"/>
                </a:buClr>
                <a:buSzPct val="100000"/>
              </a:pPr>
              <a:r>
                <a:rPr lang="en-US" sz="2000" dirty="0">
                  <a:solidFill>
                    <a:schemeClr val="lt1"/>
                  </a:solidFill>
                </a:rPr>
                <a:t>¹Internal Medicine Residency, Saint Agnes Medical Center, Fresno, CA</a:t>
              </a:r>
              <a:endParaRPr sz="2000" dirty="0">
                <a:solidFill>
                  <a:schemeClr val="lt1"/>
                </a:solidFill>
              </a:endParaRPr>
            </a:p>
            <a:p>
              <a:pPr marL="25401" algn="ctr">
                <a:lnSpc>
                  <a:spcPct val="115000"/>
                </a:lnSpc>
                <a:buClr>
                  <a:schemeClr val="lt1"/>
                </a:buClr>
                <a:buSzPct val="100000"/>
              </a:pPr>
              <a:r>
                <a:rPr lang="en-US" sz="2000" dirty="0">
                  <a:solidFill>
                    <a:schemeClr val="lt1"/>
                  </a:solidFill>
                </a:rPr>
                <a:t>²Sleep Medicine Fellow, University of California San Francisco (Fresno), Fresno, CA</a:t>
              </a:r>
              <a:endParaRPr sz="2000" dirty="0">
                <a:solidFill>
                  <a:schemeClr val="lt1"/>
                </a:solidFill>
              </a:endParaRPr>
            </a:p>
          </p:txBody>
        </p:sp>
        <p:sp>
          <p:nvSpPr>
            <p:cNvPr id="96" name="Google Shape;96;p5"/>
            <p:cNvSpPr txBox="1"/>
            <p:nvPr/>
          </p:nvSpPr>
          <p:spPr>
            <a:xfrm>
              <a:off x="11663700" y="9703383"/>
              <a:ext cx="9546800" cy="892526"/>
            </a:xfrm>
            <a:prstGeom prst="rect">
              <a:avLst/>
            </a:prstGeom>
            <a:noFill/>
            <a:ln>
              <a:noFill/>
            </a:ln>
          </p:spPr>
          <p:txBody>
            <a:bodyPr spcFirstLastPara="1" wrap="square" lIns="60950" tIns="30467" rIns="60950" bIns="30467" anchor="t" anchorCtr="0">
              <a:spAutoFit/>
            </a:bodyPr>
            <a:lstStyle/>
            <a:p>
              <a:pPr>
                <a:buSzPts val="3000"/>
              </a:pPr>
              <a:r>
                <a:rPr lang="en-US" sz="1800" b="1">
                  <a:solidFill>
                    <a:schemeClr val="dk1"/>
                  </a:solidFill>
                </a:rPr>
                <a:t>Figure 1: Sonographic cannonball metastasis in lungs, seen as round, subpleural consolidation with hyperechoic margin and post-lesion enhancement likely representing confluent B-lines.</a:t>
              </a:r>
              <a:endParaRPr sz="1800" b="1"/>
            </a:p>
          </p:txBody>
        </p:sp>
        <p:sp>
          <p:nvSpPr>
            <p:cNvPr id="97" name="Google Shape;97;p5"/>
            <p:cNvSpPr txBox="1"/>
            <p:nvPr/>
          </p:nvSpPr>
          <p:spPr>
            <a:xfrm>
              <a:off x="11789084" y="15865800"/>
              <a:ext cx="9421400" cy="636174"/>
            </a:xfrm>
            <a:prstGeom prst="rect">
              <a:avLst/>
            </a:prstGeom>
            <a:noFill/>
            <a:ln>
              <a:noFill/>
            </a:ln>
          </p:spPr>
          <p:txBody>
            <a:bodyPr spcFirstLastPara="1" wrap="square" lIns="60950" tIns="30467" rIns="60950" bIns="30467" anchor="t" anchorCtr="0">
              <a:spAutoFit/>
            </a:bodyPr>
            <a:lstStyle/>
            <a:p>
              <a:pPr>
                <a:buSzPts val="3000"/>
              </a:pPr>
              <a:r>
                <a:rPr lang="en-US" sz="1867" b="1">
                  <a:solidFill>
                    <a:schemeClr val="dk1"/>
                  </a:solidFill>
                </a:rPr>
                <a:t>Figure 2: Chest X-ray showed well-defined spherical nodules scattered across both lungs suspicious for metastatic disease.</a:t>
              </a:r>
              <a:endParaRPr sz="1867" b="1"/>
            </a:p>
          </p:txBody>
        </p:sp>
        <p:sp>
          <p:nvSpPr>
            <p:cNvPr id="98" name="Google Shape;98;p5"/>
            <p:cNvSpPr/>
            <p:nvPr/>
          </p:nvSpPr>
          <p:spPr>
            <a:xfrm>
              <a:off x="21579833" y="5353617"/>
              <a:ext cx="8839200" cy="7254400"/>
            </a:xfrm>
            <a:prstGeom prst="rect">
              <a:avLst/>
            </a:prstGeom>
            <a:solidFill>
              <a:schemeClr val="lt1">
                <a:alpha val="49411"/>
              </a:schemeClr>
            </a:solidFill>
            <a:ln>
              <a:noFill/>
            </a:ln>
          </p:spPr>
          <p:txBody>
            <a:bodyPr spcFirstLastPara="1" wrap="square" lIns="60950" tIns="30467" rIns="60950" bIns="30467" anchor="ctr" anchorCtr="0">
              <a:noAutofit/>
            </a:bodyPr>
            <a:lstStyle/>
            <a:p>
              <a:pPr>
                <a:spcBef>
                  <a:spcPts val="800"/>
                </a:spcBef>
                <a:spcAft>
                  <a:spcPts val="800"/>
                </a:spcAft>
                <a:buClr>
                  <a:schemeClr val="dk1"/>
                </a:buClr>
                <a:buSzPts val="1100"/>
              </a:pPr>
              <a:r>
                <a:rPr lang="en-US" sz="2667">
                  <a:solidFill>
                    <a:schemeClr val="dk1"/>
                  </a:solidFill>
                </a:rPr>
                <a:t>Cannonball metastases, typically seen on chest radiography and CT, can also be visualized via POCUS, which is gaining recognition as a bedside diagnostic tool [1]. In this case, lesions appeared as well-defined, round, hypoechoic subpleural consolidations with hyperechoic margins and post-lesion enhancement—likely due to confluent B-lines—correlating with CT findings [2,3]. These lesions moved with respiration and contrasted with COVID-19-related subpleural consolidations, which are irregular, poorly circumscribed, and associated with thickened pleural lines and heterogenous B-lines. This case highlights the utility of lung POCUS for rapid bedside assessment of metastatic disease, particularly in settings where advanced imaging may be delayed or unavailable. It supports the growing role of POCUS in emergency and critical care for prompt diagnosis and clinical decision-making.</a:t>
              </a:r>
              <a:endParaRPr sz="2667">
                <a:solidFill>
                  <a:schemeClr val="lt1"/>
                </a:solidFill>
              </a:endParaRPr>
            </a:p>
          </p:txBody>
        </p:sp>
        <p:sp>
          <p:nvSpPr>
            <p:cNvPr id="99" name="Google Shape;99;p5"/>
            <p:cNvSpPr/>
            <p:nvPr/>
          </p:nvSpPr>
          <p:spPr>
            <a:xfrm>
              <a:off x="2499367" y="14091533"/>
              <a:ext cx="8839200" cy="7471600"/>
            </a:xfrm>
            <a:prstGeom prst="rect">
              <a:avLst/>
            </a:prstGeom>
            <a:solidFill>
              <a:schemeClr val="lt1">
                <a:alpha val="49411"/>
              </a:schemeClr>
            </a:solidFill>
            <a:ln>
              <a:noFill/>
            </a:ln>
          </p:spPr>
          <p:txBody>
            <a:bodyPr spcFirstLastPara="1" wrap="square" lIns="60950" tIns="30467" rIns="60950" bIns="30467" anchor="ctr" anchorCtr="0">
              <a:noAutofit/>
            </a:bodyPr>
            <a:lstStyle/>
            <a:p>
              <a:pPr>
                <a:spcBef>
                  <a:spcPts val="800"/>
                </a:spcBef>
                <a:spcAft>
                  <a:spcPts val="800"/>
                </a:spcAft>
                <a:buClr>
                  <a:schemeClr val="dk1"/>
                </a:buClr>
                <a:buSzPts val="1100"/>
              </a:pPr>
              <a:r>
                <a:rPr lang="en-US" sz="2667">
                  <a:solidFill>
                    <a:schemeClr val="dk1"/>
                  </a:solidFill>
                </a:rPr>
                <a:t>A 32-year-old man with a history of left testicular mixed germ cell tumor, status post-orchiectomy, presented with shortness of breath, cough, and hemoptysis. Exam revealed bilateral rales, leukocytosis, and a positive COVID-19 test. Point-of-care ultrasound (POCUS) showed multiple well-circumscribed bilateral lung lesions consistent with cannonball metastases and associated confluent B-lines (Figure1 images of POCUS exam). Chest X-ray and CT confirmed diffuse pulmonary metastases, small bilateral pleural effusions, liver lesions, and a necrotic retroperitoneal lymph node (Figure 2,3). Brain MRI was negative for metastasis. The patient began inpatient chemotherapy with bleomycin, cisplatin, and etoposide but developed acute hypoxic respiratory failure, neutropenic fever, DVT, and segmental pulmonary embolism, requiring ICU care. He improved with antibiotics and anticoagulation and was discharged on oral therapy.</a:t>
              </a:r>
              <a:endParaRPr sz="2667">
                <a:solidFill>
                  <a:schemeClr val="lt1"/>
                </a:solidFill>
              </a:endParaRPr>
            </a:p>
          </p:txBody>
        </p:sp>
        <p:sp>
          <p:nvSpPr>
            <p:cNvPr id="100" name="Google Shape;100;p5"/>
            <p:cNvSpPr/>
            <p:nvPr/>
          </p:nvSpPr>
          <p:spPr>
            <a:xfrm>
              <a:off x="21579840" y="1267542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1" name="Google Shape;101;p5"/>
            <p:cNvSpPr/>
            <p:nvPr/>
          </p:nvSpPr>
          <p:spPr>
            <a:xfrm>
              <a:off x="21579833" y="13755833"/>
              <a:ext cx="8839200" cy="3602400"/>
            </a:xfrm>
            <a:prstGeom prst="rect">
              <a:avLst/>
            </a:prstGeom>
            <a:solidFill>
              <a:schemeClr val="lt1">
                <a:alpha val="49411"/>
              </a:schemeClr>
            </a:solidFill>
            <a:ln>
              <a:noFill/>
            </a:ln>
          </p:spPr>
          <p:txBody>
            <a:bodyPr spcFirstLastPara="1" wrap="square" lIns="60950" tIns="30467" rIns="60950" bIns="30467" anchor="ctr" anchorCtr="0">
              <a:noAutofit/>
            </a:bodyPr>
            <a:lstStyle/>
            <a:p>
              <a:pPr marL="304815" indent="-279414">
                <a:lnSpc>
                  <a:spcPct val="115000"/>
                </a:lnSpc>
                <a:buClr>
                  <a:schemeClr val="dk1"/>
                </a:buClr>
                <a:buSzPts val="3000"/>
                <a:buAutoNum type="arabicParenBoth"/>
              </a:pPr>
              <a:r>
                <a:rPr lang="en-US" sz="2000">
                  <a:solidFill>
                    <a:schemeClr val="dk1"/>
                  </a:solidFill>
                </a:rPr>
                <a:t>Díaz-Gómez JL, Mayo PH, Koenig SJ. Point-of-Care Ultrasonography. N Engl J Med. 2021 Oct 21;385(17):1593-1602. doi: 10.1056/NEJMra1916062. PMID: 34670045.</a:t>
              </a:r>
              <a:endParaRPr sz="2000">
                <a:solidFill>
                  <a:schemeClr val="dk1"/>
                </a:solidFill>
              </a:endParaRPr>
            </a:p>
            <a:p>
              <a:pPr marL="304815" indent="-279414">
                <a:lnSpc>
                  <a:spcPct val="115000"/>
                </a:lnSpc>
                <a:buClr>
                  <a:schemeClr val="dk1"/>
                </a:buClr>
                <a:buSzPts val="3000"/>
                <a:buAutoNum type="arabicParenBoth"/>
              </a:pPr>
              <a:r>
                <a:rPr lang="en-US" sz="2000">
                  <a:solidFill>
                    <a:schemeClr val="dk1"/>
                  </a:solidFill>
                </a:rPr>
                <a:t>Mojoli F, Bouhemad B, Mongodi S, Lichtenstein D. Lung ultrasound for critically ill patients. Am J Respir Crit Care Med 2019;199:701-714.</a:t>
              </a:r>
              <a:endParaRPr sz="2000">
                <a:solidFill>
                  <a:schemeClr val="dk1"/>
                </a:solidFill>
              </a:endParaRPr>
            </a:p>
            <a:p>
              <a:pPr marL="304815" indent="-279414">
                <a:lnSpc>
                  <a:spcPct val="115000"/>
                </a:lnSpc>
                <a:buClr>
                  <a:schemeClr val="dk1"/>
                </a:buClr>
                <a:buSzPts val="3000"/>
                <a:buAutoNum type="arabicParenBoth"/>
              </a:pPr>
              <a:r>
                <a:rPr lang="en-US" sz="2000">
                  <a:solidFill>
                    <a:schemeClr val="dk1"/>
                  </a:solidFill>
                </a:rPr>
                <a:t>Yasukawa K, Minami T. Point-of-Care Lung Ultrasound Findings in Patients with COVID-19 Pneumonia. Am J Trop Med Hyg. 2020 Jun;102(6):1198-1202. doi: 10.4269/ajtmh.20-0280. PMID: 32333544; PMCID: PMC7253090.</a:t>
              </a:r>
              <a:endParaRPr sz="2000">
                <a:solidFill>
                  <a:schemeClr val="dk1"/>
                </a:solidFill>
              </a:endParaRPr>
            </a:p>
          </p:txBody>
        </p:sp>
        <p:sp>
          <p:nvSpPr>
            <p:cNvPr id="102" name="Google Shape;102;p5"/>
            <p:cNvSpPr/>
            <p:nvPr/>
          </p:nvSpPr>
          <p:spPr>
            <a:xfrm>
              <a:off x="21579840" y="4273223"/>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pic>
          <p:nvPicPr>
            <p:cNvPr id="103" name="Google Shape;103;p5"/>
            <p:cNvPicPr preferRelativeResize="0"/>
            <p:nvPr/>
          </p:nvPicPr>
          <p:blipFill>
            <a:blip r:embed="rId4">
              <a:alphaModFix/>
            </a:blip>
            <a:stretch>
              <a:fillRect/>
            </a:stretch>
          </p:blipFill>
          <p:spPr>
            <a:xfrm>
              <a:off x="11663684" y="4369367"/>
              <a:ext cx="9546733" cy="5334017"/>
            </a:xfrm>
            <a:prstGeom prst="rect">
              <a:avLst/>
            </a:prstGeom>
            <a:noFill/>
            <a:ln>
              <a:noFill/>
            </a:ln>
          </p:spPr>
        </p:pic>
        <p:pic>
          <p:nvPicPr>
            <p:cNvPr id="104" name="Google Shape;104;p5"/>
            <p:cNvPicPr preferRelativeResize="0"/>
            <p:nvPr/>
          </p:nvPicPr>
          <p:blipFill>
            <a:blip r:embed="rId5">
              <a:alphaModFix/>
            </a:blip>
            <a:stretch>
              <a:fillRect/>
            </a:stretch>
          </p:blipFill>
          <p:spPr>
            <a:xfrm>
              <a:off x="11663719" y="10521867"/>
              <a:ext cx="9546733" cy="5334017"/>
            </a:xfrm>
            <a:prstGeom prst="rect">
              <a:avLst/>
            </a:prstGeom>
            <a:noFill/>
            <a:ln>
              <a:noFill/>
            </a:ln>
          </p:spPr>
        </p:pic>
        <p:pic>
          <p:nvPicPr>
            <p:cNvPr id="105" name="Google Shape;105;p5"/>
            <p:cNvPicPr preferRelativeResize="0"/>
            <p:nvPr/>
          </p:nvPicPr>
          <p:blipFill>
            <a:blip r:embed="rId6">
              <a:alphaModFix/>
            </a:blip>
            <a:stretch>
              <a:fillRect/>
            </a:stretch>
          </p:blipFill>
          <p:spPr>
            <a:xfrm>
              <a:off x="11714517" y="16456784"/>
              <a:ext cx="9421399" cy="4322409"/>
            </a:xfrm>
            <a:prstGeom prst="rect">
              <a:avLst/>
            </a:prstGeom>
            <a:noFill/>
            <a:ln>
              <a:noFill/>
            </a:ln>
          </p:spPr>
        </p:pic>
        <p:sp>
          <p:nvSpPr>
            <p:cNvPr id="106" name="Google Shape;106;p5"/>
            <p:cNvSpPr txBox="1"/>
            <p:nvPr/>
          </p:nvSpPr>
          <p:spPr>
            <a:xfrm>
              <a:off x="11714484" y="20793400"/>
              <a:ext cx="9421400" cy="615527"/>
            </a:xfrm>
            <a:prstGeom prst="rect">
              <a:avLst/>
            </a:prstGeom>
            <a:noFill/>
            <a:ln>
              <a:noFill/>
            </a:ln>
          </p:spPr>
          <p:txBody>
            <a:bodyPr spcFirstLastPara="1" wrap="square" lIns="60950" tIns="30467" rIns="60950" bIns="30467" anchor="t" anchorCtr="0">
              <a:spAutoFit/>
            </a:bodyPr>
            <a:lstStyle/>
            <a:p>
              <a:pPr>
                <a:buSzPts val="3000"/>
              </a:pPr>
              <a:r>
                <a:rPr lang="en-US" sz="1800" b="1">
                  <a:solidFill>
                    <a:schemeClr val="dk1"/>
                  </a:solidFill>
                </a:rPr>
                <a:t>Figure 3: CT chest, showing widespread, small and large bilateral pulmonary nodules compatible with metastatic disease.</a:t>
              </a:r>
              <a:endParaRPr sz="1800" b="1"/>
            </a:p>
          </p:txBody>
        </p:sp>
      </p:grpSp>
      <p:pic>
        <p:nvPicPr>
          <p:cNvPr id="107" name="Picture 106" descr="37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656</Words>
  <Application>Microsoft Macintosh PowerPoint</Application>
  <PresentationFormat>Custom</PresentationFormat>
  <Paragraphs>19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2025-05-01T05:40:24Z</dcterms:modified>
</cp:coreProperties>
</file>