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j1GGw0mj+sWySiM7D/7LY/gxfJv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44"/>
    <p:restoredTop sz="94737"/>
  </p:normalViewPr>
  <p:slideViewPr>
    <p:cSldViewPr snapToGrid="0">
      <p:cViewPr varScale="1">
        <p:scale>
          <a:sx n="57" d="100"/>
          <a:sy n="57" d="100"/>
        </p:scale>
        <p:origin x="1928" y="216"/>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8C680E94-0BAF-16A4-2B93-BA6C9DF3361F}"/>
              </a:ext>
            </a:extLst>
          </p:cNvPr>
          <p:cNvGrpSpPr/>
          <p:nvPr/>
        </p:nvGrpSpPr>
        <p:grpSpPr>
          <a:xfrm>
            <a:off x="535259" y="376368"/>
            <a:ext cx="32048604" cy="21301604"/>
            <a:chOff x="2249217" y="376367"/>
            <a:chExt cx="28516533" cy="21371209"/>
          </a:xfrm>
        </p:grpSpPr>
        <p:sp>
          <p:nvSpPr>
            <p:cNvPr id="89" name="Google Shape;89;p1"/>
            <p:cNvSpPr/>
            <p:nvPr/>
          </p:nvSpPr>
          <p:spPr>
            <a:xfrm>
              <a:off x="22403617" y="19583900"/>
              <a:ext cx="8245200" cy="19086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1333">
                  <a:solidFill>
                    <a:schemeClr val="dk1"/>
                  </a:solidFill>
                  <a:latin typeface="Calibri"/>
                  <a:ea typeface="Calibri"/>
                  <a:cs typeface="Calibri"/>
                  <a:sym typeface="Calibri"/>
                </a:rPr>
                <a:t>[1] Laparoscopic treatment of type iii and iv hiatal hernia - authors' experience. Migaczewski M, Grzesiak-Kuik A, Pędziwiatr M, Budzyński A. Wideochir Inne Tech Maloinwazyjne. 2014;9:157–163. doi: 10.5114/wiitm.2014.41625</a:t>
              </a:r>
              <a:endParaRPr sz="1333">
                <a:solidFill>
                  <a:schemeClr val="dk1"/>
                </a:solidFill>
                <a:latin typeface="Calibri"/>
                <a:ea typeface="Calibri"/>
                <a:cs typeface="Calibri"/>
                <a:sym typeface="Calibri"/>
              </a:endParaRPr>
            </a:p>
            <a:p>
              <a:pPr>
                <a:buClr>
                  <a:schemeClr val="dk1"/>
                </a:buClr>
                <a:buSzPts val="1100"/>
              </a:pPr>
              <a:r>
                <a:rPr lang="en-US" sz="1333">
                  <a:solidFill>
                    <a:schemeClr val="dk1"/>
                  </a:solidFill>
                  <a:latin typeface="Calibri"/>
                  <a:ea typeface="Calibri"/>
                  <a:cs typeface="Calibri"/>
                  <a:sym typeface="Calibri"/>
                </a:rPr>
                <a:t>[2] El-Magd, ES.A., Elgeidie, A., Elmahdy, Y. et al. Impact of laparoscopic repair on type III/IV giant paraesophageal hernias: a</a:t>
              </a:r>
              <a:endParaRPr sz="1333">
                <a:solidFill>
                  <a:schemeClr val="dk1"/>
                </a:solidFill>
                <a:latin typeface="Calibri"/>
                <a:ea typeface="Calibri"/>
                <a:cs typeface="Calibri"/>
                <a:sym typeface="Calibri"/>
              </a:endParaRPr>
            </a:p>
            <a:p>
              <a:pPr>
                <a:buClr>
                  <a:schemeClr val="dk1"/>
                </a:buClr>
                <a:buSzPts val="1100"/>
              </a:pPr>
              <a:r>
                <a:rPr lang="en-US" sz="1333">
                  <a:solidFill>
                    <a:schemeClr val="dk1"/>
                  </a:solidFill>
                  <a:latin typeface="Calibri"/>
                  <a:ea typeface="Calibri"/>
                  <a:cs typeface="Calibri"/>
                  <a:sym typeface="Calibri"/>
                </a:rPr>
                <a:t>single-center experience. Hernia 27, 1555–1570 (2023). https://doi.org/10.1007/s10029-023-02851-7</a:t>
              </a:r>
              <a:endParaRPr sz="1333">
                <a:solidFill>
                  <a:schemeClr val="dk1"/>
                </a:solidFill>
                <a:latin typeface="Calibri"/>
                <a:ea typeface="Calibri"/>
                <a:cs typeface="Calibri"/>
                <a:sym typeface="Calibri"/>
              </a:endParaRPr>
            </a:p>
            <a:p>
              <a:pPr>
                <a:buClr>
                  <a:schemeClr val="dk1"/>
                </a:buClr>
                <a:buSzPts val="1100"/>
              </a:pPr>
              <a:r>
                <a:rPr lang="en-US" sz="1333">
                  <a:solidFill>
                    <a:schemeClr val="dk1"/>
                  </a:solidFill>
                  <a:latin typeface="Calibri"/>
                  <a:ea typeface="Calibri"/>
                  <a:cs typeface="Calibri"/>
                  <a:sym typeface="Calibri"/>
                </a:rPr>
                <a:t>[3] Dallemagne B, Kohnen L, Perretta S, et al. Laparoscopic repair of paraesophageal hernia. Long-term follow-up reveals good</a:t>
              </a:r>
              <a:endParaRPr sz="1333">
                <a:solidFill>
                  <a:schemeClr val="dk1"/>
                </a:solidFill>
                <a:latin typeface="Calibri"/>
                <a:ea typeface="Calibri"/>
                <a:cs typeface="Calibri"/>
                <a:sym typeface="Calibri"/>
              </a:endParaRPr>
            </a:p>
            <a:p>
              <a:pPr>
                <a:buClr>
                  <a:schemeClr val="dk1"/>
                </a:buClr>
                <a:buSzPts val="1100"/>
              </a:pPr>
              <a:r>
                <a:rPr lang="en-US" sz="1333">
                  <a:solidFill>
                    <a:schemeClr val="dk1"/>
                  </a:solidFill>
                  <a:latin typeface="Calibri"/>
                  <a:ea typeface="Calibri"/>
                  <a:cs typeface="Calibri"/>
                  <a:sym typeface="Calibri"/>
                </a:rPr>
                <a:t>clinical outcome despite high radiological recurrence rate. Ann Surg 2011;253:291-6.</a:t>
              </a:r>
              <a:endParaRPr sz="1333">
                <a:solidFill>
                  <a:schemeClr val="dk1"/>
                </a:solidFill>
                <a:latin typeface="Calibri"/>
                <a:ea typeface="Calibri"/>
                <a:cs typeface="Calibri"/>
                <a:sym typeface="Calibri"/>
              </a:endParaRPr>
            </a:p>
          </p:txBody>
        </p:sp>
        <p:sp>
          <p:nvSpPr>
            <p:cNvPr id="90" name="Google Shape;90;p1"/>
            <p:cNvSpPr/>
            <p:nvPr/>
          </p:nvSpPr>
          <p:spPr>
            <a:xfrm>
              <a:off x="2249217" y="8548209"/>
              <a:ext cx="92490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1" name="Google Shape;91;p1"/>
            <p:cNvSpPr/>
            <p:nvPr/>
          </p:nvSpPr>
          <p:spPr>
            <a:xfrm>
              <a:off x="2249217" y="9605900"/>
              <a:ext cx="9249000" cy="33886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pPr>
              <a:endParaRPr sz="2000">
                <a:solidFill>
                  <a:schemeClr val="dk1"/>
                </a:solidFill>
              </a:endParaRPr>
            </a:p>
            <a:p>
              <a:pPr marL="304815" indent="-279414">
                <a:lnSpc>
                  <a:spcPct val="115000"/>
                </a:lnSpc>
                <a:buClr>
                  <a:schemeClr val="dk1"/>
                </a:buClr>
                <a:buSzPts val="3000"/>
                <a:buChar char="●"/>
              </a:pPr>
              <a:r>
                <a:rPr lang="en-US" sz="2000">
                  <a:solidFill>
                    <a:schemeClr val="dk1"/>
                  </a:solidFill>
                </a:rPr>
                <a:t>A 59-year-old woman with a history of tobacco use, anxiety disorder, gastrointestinal (GI) bleeding, gastroesophageal reflux disease (GERD), and obesity (BMI 34.3) was admitted for elective hiatal hernia repair.</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The initial operation revealed a type IV hiatal hernia with omentum, stomach, and colon herniating into mediastinum.</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On post-op day 7, due to ongoing shortness of breath and right chest pain, Computed tomography (CT) chest, abdomen, and pelvis with contrast was performed, suggesting recurrent stomach herniation into the right thorax with suspected perforation.</a:t>
              </a:r>
              <a:endParaRPr sz="2000">
                <a:solidFill>
                  <a:schemeClr val="dk1"/>
                </a:solidFill>
              </a:endParaRPr>
            </a:p>
            <a:p>
              <a:pPr>
                <a:buClr>
                  <a:schemeClr val="dk1"/>
                </a:buClr>
                <a:buSzPts val="7258"/>
              </a:pPr>
              <a:endParaRPr sz="2000">
                <a:solidFill>
                  <a:schemeClr val="lt1"/>
                </a:solidFill>
              </a:endParaRPr>
            </a:p>
          </p:txBody>
        </p:sp>
        <p:sp>
          <p:nvSpPr>
            <p:cNvPr id="92" name="Google Shape;92;p1"/>
            <p:cNvSpPr/>
            <p:nvPr/>
          </p:nvSpPr>
          <p:spPr>
            <a:xfrm>
              <a:off x="2249217" y="4328167"/>
              <a:ext cx="92490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2249217" y="5441733"/>
              <a:ext cx="9249000" cy="28092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endParaRPr sz="2000" dirty="0">
                <a:solidFill>
                  <a:schemeClr val="dk1"/>
                </a:solidFill>
              </a:endParaRPr>
            </a:p>
            <a:p>
              <a:pPr marL="304815" indent="-279414">
                <a:lnSpc>
                  <a:spcPct val="115000"/>
                </a:lnSpc>
                <a:buClr>
                  <a:schemeClr val="dk1"/>
                </a:buClr>
                <a:buSzPts val="3000"/>
                <a:buChar char="●"/>
              </a:pPr>
              <a:r>
                <a:rPr lang="en-US" sz="2000" dirty="0">
                  <a:solidFill>
                    <a:schemeClr val="dk1"/>
                  </a:solidFill>
                </a:rPr>
                <a:t>A Type IV </a:t>
              </a:r>
              <a:r>
                <a:rPr lang="en-US" sz="2000" dirty="0" err="1">
                  <a:solidFill>
                    <a:schemeClr val="dk1"/>
                  </a:solidFill>
                </a:rPr>
                <a:t>paraesophageal</a:t>
              </a:r>
              <a:r>
                <a:rPr lang="en-US" sz="2000" dirty="0">
                  <a:solidFill>
                    <a:schemeClr val="dk1"/>
                  </a:solidFill>
                </a:rPr>
                <a:t> hernia is characterized by the herniation of organs other than the stomach, such as the colon, </a:t>
              </a:r>
              <a:r>
                <a:rPr lang="en-US" sz="2000" dirty="0" err="1">
                  <a:solidFill>
                    <a:schemeClr val="dk1"/>
                  </a:solidFill>
                </a:rPr>
                <a:t>omentum</a:t>
              </a:r>
              <a:r>
                <a:rPr lang="en-US" sz="2000" dirty="0">
                  <a:solidFill>
                    <a:schemeClr val="dk1"/>
                  </a:solidFill>
                </a:rPr>
                <a:t>, pancreas, or small intestine, into the hernia sac. </a:t>
              </a:r>
              <a:endParaRPr sz="2000" dirty="0">
                <a:solidFill>
                  <a:schemeClr val="dk1"/>
                </a:solidFill>
              </a:endParaRPr>
            </a:p>
            <a:p>
              <a:pPr marL="304815" indent="-279414">
                <a:lnSpc>
                  <a:spcPct val="115000"/>
                </a:lnSpc>
                <a:buClr>
                  <a:schemeClr val="dk1"/>
                </a:buClr>
                <a:buSzPts val="3000"/>
                <a:buChar char="●"/>
              </a:pPr>
              <a:r>
                <a:rPr lang="en-US" sz="2000" dirty="0">
                  <a:solidFill>
                    <a:schemeClr val="dk1"/>
                  </a:solidFill>
                </a:rPr>
                <a:t>Although it represents less than 5% of all hiatal hernias [1], it can present with a range of symptoms and has a higher rate of postoperative complications and recurrence (12-65%) compared to other types of hernias. This poses unique clinical and technical challenges for physicians in managing the condition.</a:t>
              </a:r>
              <a:endParaRPr sz="2000" dirty="0">
                <a:solidFill>
                  <a:schemeClr val="dk1"/>
                </a:solidFill>
              </a:endParaRPr>
            </a:p>
            <a:p>
              <a:pPr algn="ctr">
                <a:buSzPts val="7258"/>
              </a:pPr>
              <a:endParaRPr sz="2000" dirty="0">
                <a:solidFill>
                  <a:schemeClr val="lt1"/>
                </a:solidFill>
              </a:endParaRPr>
            </a:p>
          </p:txBody>
        </p:sp>
        <p:sp>
          <p:nvSpPr>
            <p:cNvPr id="94" name="Google Shape;94;p1"/>
            <p:cNvSpPr/>
            <p:nvPr/>
          </p:nvSpPr>
          <p:spPr>
            <a:xfrm>
              <a:off x="2249217" y="376367"/>
              <a:ext cx="284848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9103660" y="978090"/>
              <a:ext cx="15960913" cy="1457039"/>
            </a:xfrm>
            <a:prstGeom prst="rect">
              <a:avLst/>
            </a:prstGeom>
            <a:noFill/>
            <a:ln>
              <a:noFill/>
            </a:ln>
          </p:spPr>
          <p:txBody>
            <a:bodyPr spcFirstLastPara="1" wrap="square" lIns="60950" tIns="30467" rIns="60950" bIns="30467" anchor="t" anchorCtr="0">
              <a:spAutoFit/>
            </a:bodyPr>
            <a:lstStyle/>
            <a:p>
              <a:pPr algn="ctr">
                <a:buSzPts val="8500"/>
              </a:pPr>
              <a:r>
                <a:rPr lang="en-US" sz="4534" b="1" dirty="0">
                  <a:solidFill>
                    <a:schemeClr val="lt1"/>
                  </a:solidFill>
                  <a:latin typeface="Helvetica Neue"/>
                  <a:ea typeface="Helvetica Neue"/>
                  <a:cs typeface="Helvetica Neue"/>
                  <a:sym typeface="Helvetica Neue"/>
                </a:rPr>
                <a:t>A Case of Tension Hydropneumothorax secondary to </a:t>
              </a:r>
            </a:p>
            <a:p>
              <a:pPr algn="ctr">
                <a:buSzPts val="8500"/>
              </a:pPr>
              <a:r>
                <a:rPr lang="en-US" sz="4534" b="1" dirty="0">
                  <a:solidFill>
                    <a:schemeClr val="lt1"/>
                  </a:solidFill>
                  <a:latin typeface="Helvetica Neue"/>
                  <a:ea typeface="Helvetica Neue"/>
                  <a:cs typeface="Helvetica Neue"/>
                  <a:sym typeface="Helvetica Neue"/>
                </a:rPr>
                <a:t>Gastric Content following Hiatal Hernia Repair</a:t>
              </a:r>
              <a:endParaRPr lang="en-US" sz="100" dirty="0"/>
            </a:p>
          </p:txBody>
        </p:sp>
        <p:sp>
          <p:nvSpPr>
            <p:cNvPr id="96" name="Google Shape;96;p1"/>
            <p:cNvSpPr/>
            <p:nvPr/>
          </p:nvSpPr>
          <p:spPr>
            <a:xfrm>
              <a:off x="12530153" y="2714478"/>
              <a:ext cx="10536632" cy="1111589"/>
            </a:xfrm>
            <a:prstGeom prst="rect">
              <a:avLst/>
            </a:prstGeom>
            <a:noFill/>
            <a:ln>
              <a:noFill/>
            </a:ln>
          </p:spPr>
          <p:txBody>
            <a:bodyPr spcFirstLastPara="1" wrap="square" lIns="60950" tIns="30467" rIns="60950" bIns="30467" anchor="t" anchorCtr="0">
              <a:spAutoFit/>
            </a:bodyPr>
            <a:lstStyle/>
            <a:p>
              <a:pPr algn="ctr">
                <a:buClr>
                  <a:schemeClr val="dk1"/>
                </a:buClr>
                <a:buSzPts val="1100"/>
              </a:pPr>
              <a:r>
                <a:rPr lang="en-US" sz="3400" dirty="0">
                  <a:solidFill>
                    <a:schemeClr val="lt1"/>
                  </a:solidFill>
                  <a:latin typeface="Helvetica Neue"/>
                  <a:ea typeface="Helvetica Neue"/>
                  <a:cs typeface="Helvetica Neue"/>
                  <a:sym typeface="Helvetica Neue"/>
                </a:rPr>
                <a:t>Haemi Lee, Lauren Ma, Hamna Javed, Catalin Nicola</a:t>
              </a:r>
              <a:br>
                <a:rPr lang="en-US" sz="3400" dirty="0">
                  <a:solidFill>
                    <a:schemeClr val="lt1"/>
                  </a:solidFill>
                  <a:latin typeface="Helvetica Neue"/>
                  <a:ea typeface="Helvetica Neue"/>
                  <a:cs typeface="Helvetica Neue"/>
                  <a:sym typeface="Helvetica Neue"/>
                </a:rPr>
              </a:br>
              <a:r>
                <a:rPr lang="en-US" sz="3400" dirty="0">
                  <a:solidFill>
                    <a:schemeClr val="lt1"/>
                  </a:solidFill>
                  <a:latin typeface="Helvetica Neue"/>
                  <a:ea typeface="Helvetica Neue"/>
                  <a:cs typeface="Helvetica Neue"/>
                  <a:sym typeface="Helvetica Neue"/>
                </a:rPr>
                <a:t>Saint Agnes Medical Center, Fresno, CA</a:t>
              </a:r>
              <a:endParaRPr sz="3400" dirty="0">
                <a:solidFill>
                  <a:schemeClr val="lt1"/>
                </a:solidFill>
                <a:latin typeface="Helvetica Neue"/>
                <a:ea typeface="Helvetica Neue"/>
                <a:cs typeface="Helvetica Neue"/>
                <a:sym typeface="Helvetica Neue"/>
              </a:endParaRPr>
            </a:p>
          </p:txBody>
        </p:sp>
        <p:sp>
          <p:nvSpPr>
            <p:cNvPr id="97" name="Google Shape;97;p1"/>
            <p:cNvSpPr txBox="1"/>
            <p:nvPr/>
          </p:nvSpPr>
          <p:spPr>
            <a:xfrm>
              <a:off x="12054250" y="8582817"/>
              <a:ext cx="4097200" cy="2164349"/>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1a: </a:t>
              </a:r>
              <a:r>
                <a:rPr lang="en-US" sz="1933">
                  <a:solidFill>
                    <a:schemeClr val="dk1"/>
                  </a:solidFill>
                  <a:latin typeface="Calibri"/>
                  <a:ea typeface="Calibri"/>
                  <a:cs typeface="Calibri"/>
                  <a:sym typeface="Calibri"/>
                </a:rPr>
                <a:t>Moderate right-sided pleural effusion with a distinct area of lucency at the lung margin, indicative of hydropneumothorax. Leftward deviation of the trachea, suggesting a substantial accumulation of air and fluid within the </a:t>
              </a:r>
              <a:r>
                <a:rPr lang="en-US" sz="2000">
                  <a:solidFill>
                    <a:schemeClr val="dk1"/>
                  </a:solidFill>
                  <a:latin typeface="Calibri"/>
                  <a:ea typeface="Calibri"/>
                  <a:cs typeface="Calibri"/>
                  <a:sym typeface="Calibri"/>
                </a:rPr>
                <a:t>pleural space.</a:t>
              </a:r>
              <a:endParaRPr sz="2000" b="1">
                <a:solidFill>
                  <a:schemeClr val="dk1"/>
                </a:solidFill>
                <a:latin typeface="Calibri"/>
                <a:ea typeface="Calibri"/>
                <a:cs typeface="Calibri"/>
                <a:sym typeface="Calibri"/>
              </a:endParaRPr>
            </a:p>
          </p:txBody>
        </p:sp>
        <p:sp>
          <p:nvSpPr>
            <p:cNvPr id="98" name="Google Shape;98;p1"/>
            <p:cNvSpPr txBox="1"/>
            <p:nvPr/>
          </p:nvSpPr>
          <p:spPr>
            <a:xfrm>
              <a:off x="11765050" y="20875384"/>
              <a:ext cx="5001400" cy="677082"/>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2a: </a:t>
              </a:r>
              <a:r>
                <a:rPr lang="en-US" sz="2000">
                  <a:solidFill>
                    <a:schemeClr val="dk1"/>
                  </a:solidFill>
                  <a:latin typeface="Calibri"/>
                  <a:ea typeface="Calibri"/>
                  <a:cs typeface="Calibri"/>
                  <a:sym typeface="Calibri"/>
                </a:rPr>
                <a:t>Herniated stomach with intact prior gastropexy sutures seen in mediastinum</a:t>
              </a:r>
              <a:endParaRPr sz="2000" b="1">
                <a:solidFill>
                  <a:schemeClr val="dk1"/>
                </a:solidFill>
                <a:latin typeface="Calibri"/>
                <a:ea typeface="Calibri"/>
                <a:cs typeface="Calibri"/>
                <a:sym typeface="Calibri"/>
              </a:endParaRPr>
            </a:p>
          </p:txBody>
        </p:sp>
        <p:sp>
          <p:nvSpPr>
            <p:cNvPr id="99" name="Google Shape;99;p1"/>
            <p:cNvSpPr/>
            <p:nvPr/>
          </p:nvSpPr>
          <p:spPr>
            <a:xfrm>
              <a:off x="22429083" y="4339550"/>
              <a:ext cx="8305000" cy="1080400"/>
            </a:xfrm>
            <a:prstGeom prst="rect">
              <a:avLst/>
            </a:prstGeom>
            <a:solidFill>
              <a:srgbClr val="004671"/>
            </a:solidFill>
            <a:ln>
              <a:noFill/>
            </a:ln>
          </p:spPr>
          <p:txBody>
            <a:bodyPr spcFirstLastPara="1" wrap="square" lIns="60950" tIns="30467" rIns="60950" bIns="30467" anchor="ctr" anchorCtr="0">
              <a:noAutofit/>
            </a:bodyPr>
            <a:lstStyle/>
            <a:p>
              <a:pPr algn="ctr">
                <a:buClr>
                  <a:schemeClr val="dk1"/>
                </a:buClr>
                <a:buSzPts val="7258"/>
              </a:pPr>
              <a:r>
                <a:rPr lang="en-US" sz="4839">
                  <a:solidFill>
                    <a:schemeClr val="lt1"/>
                  </a:solidFill>
                  <a:latin typeface="Calibri"/>
                  <a:ea typeface="Calibri"/>
                  <a:cs typeface="Calibri"/>
                  <a:sym typeface="Calibri"/>
                </a:rPr>
                <a:t>Hospital Course - Cont'd</a:t>
              </a:r>
              <a:endParaRPr sz="4839">
                <a:solidFill>
                  <a:schemeClr val="lt1"/>
                </a:solidFill>
                <a:latin typeface="Calibri"/>
                <a:ea typeface="Calibri"/>
                <a:cs typeface="Calibri"/>
                <a:sym typeface="Calibri"/>
              </a:endParaRPr>
            </a:p>
          </p:txBody>
        </p:sp>
        <p:sp>
          <p:nvSpPr>
            <p:cNvPr id="100" name="Google Shape;100;p1"/>
            <p:cNvSpPr/>
            <p:nvPr/>
          </p:nvSpPr>
          <p:spPr>
            <a:xfrm>
              <a:off x="22429033" y="5420000"/>
              <a:ext cx="8305000" cy="5908400"/>
            </a:xfrm>
            <a:prstGeom prst="rect">
              <a:avLst/>
            </a:prstGeom>
            <a:solidFill>
              <a:schemeClr val="lt1"/>
            </a:solidFill>
            <a:ln>
              <a:noFill/>
            </a:ln>
          </p:spPr>
          <p:txBody>
            <a:bodyPr spcFirstLastPara="1" wrap="square" lIns="60950" tIns="30467" rIns="60950" bIns="30467" anchor="ctr" anchorCtr="0">
              <a:noAutofit/>
            </a:bodyPr>
            <a:lstStyle/>
            <a:p>
              <a:pPr marL="304815" indent="-279414">
                <a:lnSpc>
                  <a:spcPct val="115000"/>
                </a:lnSpc>
                <a:buClr>
                  <a:schemeClr val="dk1"/>
                </a:buClr>
                <a:buSzPts val="3000"/>
                <a:buChar char="●"/>
              </a:pPr>
              <a:r>
                <a:rPr lang="en-US" sz="2000">
                  <a:solidFill>
                    <a:schemeClr val="dk1"/>
                  </a:solidFill>
                </a:rPr>
                <a:t>Day 20-23: Resolution of fever, decreasing pressor demands, left pleural effusion seen on CXR, left chest tube placement, extubation (Day 23)</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24-29: Increased residuals on G tube feeding with constant nausea, intrapleural tPA &amp; DNase q12h (Day 28-31)</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30: XR UGI findings of contrast pooling in the distal esophagus consistent with stenosis </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32: EGD findings of dehiscence at Roux en Y GJ anastomosis</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36: Repeat EGD with distal esophageal stent placement</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37-40: All chest tubes removed, Downgrade to medical floor</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51: EGD with stent removal, 4 cm dehiscence seen at G-J anastomosis noted</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53: EGD performed with second stent placement; stent to stay in place for 6 weeks</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54-59: Tolerating tube feeding</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60: Discharge to home with home health with plan to repeat EGD</a:t>
              </a:r>
              <a:endParaRPr sz="2000">
                <a:solidFill>
                  <a:schemeClr val="dk1"/>
                </a:solidFill>
              </a:endParaRPr>
            </a:p>
          </p:txBody>
        </p:sp>
        <p:sp>
          <p:nvSpPr>
            <p:cNvPr id="101" name="Google Shape;101;p1"/>
            <p:cNvSpPr/>
            <p:nvPr/>
          </p:nvSpPr>
          <p:spPr>
            <a:xfrm>
              <a:off x="2249217" y="13189867"/>
              <a:ext cx="92490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Hospital Course</a:t>
              </a:r>
              <a:endParaRPr sz="933"/>
            </a:p>
          </p:txBody>
        </p:sp>
        <p:sp>
          <p:nvSpPr>
            <p:cNvPr id="102" name="Google Shape;102;p1"/>
            <p:cNvSpPr/>
            <p:nvPr/>
          </p:nvSpPr>
          <p:spPr>
            <a:xfrm>
              <a:off x="22403617" y="18503500"/>
              <a:ext cx="8245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3" name="Google Shape;103;p1"/>
            <p:cNvSpPr/>
            <p:nvPr/>
          </p:nvSpPr>
          <p:spPr>
            <a:xfrm>
              <a:off x="22403617" y="12778733"/>
              <a:ext cx="8305000" cy="5506400"/>
            </a:xfrm>
            <a:prstGeom prst="rect">
              <a:avLst/>
            </a:prstGeom>
            <a:solidFill>
              <a:schemeClr val="lt1"/>
            </a:solidFill>
            <a:ln>
              <a:noFill/>
            </a:ln>
          </p:spPr>
          <p:txBody>
            <a:bodyPr spcFirstLastPara="1" wrap="square" lIns="60950" tIns="30467" rIns="60950" bIns="30467" anchor="ctr" anchorCtr="0">
              <a:noAutofit/>
            </a:bodyPr>
            <a:lstStyle/>
            <a:p>
              <a:pPr marL="304815" indent="-279414">
                <a:buClr>
                  <a:schemeClr val="dk1"/>
                </a:buClr>
                <a:buSzPts val="3000"/>
                <a:buChar char="●"/>
              </a:pPr>
              <a:r>
                <a:rPr lang="en-US" sz="2000">
                  <a:solidFill>
                    <a:schemeClr val="dk1"/>
                  </a:solidFill>
                </a:rPr>
                <a:t>Type IV paraesophageal hernias are particularly prone to recurrence after initial surgery and are associated with higher morbidity, mortality, and rates of re-operation [2]. The recurrence rate following paraesophageal hernia repair ranges widely, from 0% to 66% [3].</a:t>
              </a:r>
              <a:endParaRPr sz="2000">
                <a:solidFill>
                  <a:schemeClr val="dk1"/>
                </a:solidFill>
              </a:endParaRPr>
            </a:p>
            <a:p>
              <a:pPr marL="304815" indent="-279414">
                <a:buClr>
                  <a:schemeClr val="dk1"/>
                </a:buClr>
                <a:buSzPts val="3000"/>
                <a:buChar char="●"/>
              </a:pPr>
              <a:r>
                <a:rPr lang="en-US" sz="2000">
                  <a:solidFill>
                    <a:schemeClr val="dk1"/>
                  </a:solidFill>
                </a:rPr>
                <a:t>This case highlights a rare sequence of events - including recurrent</a:t>
              </a:r>
              <a:endParaRPr sz="2000">
                <a:solidFill>
                  <a:schemeClr val="dk1"/>
                </a:solidFill>
              </a:endParaRPr>
            </a:p>
            <a:p>
              <a:pPr marL="304815"/>
              <a:r>
                <a:rPr lang="en-US" sz="2000">
                  <a:solidFill>
                    <a:schemeClr val="dk1"/>
                  </a:solidFill>
                </a:rPr>
                <a:t>hernia repairs, gastric perforation, empyema, and eventual partial</a:t>
              </a:r>
              <a:endParaRPr sz="2000">
                <a:solidFill>
                  <a:schemeClr val="dk1"/>
                </a:solidFill>
              </a:endParaRPr>
            </a:p>
            <a:p>
              <a:pPr marL="304815"/>
              <a:r>
                <a:rPr lang="en-US" sz="2000">
                  <a:solidFill>
                    <a:schemeClr val="dk1"/>
                  </a:solidFill>
                </a:rPr>
                <a:t>gastrectomy with Roux-en-Y gastric bypass - that emphasize the</a:t>
              </a:r>
              <a:endParaRPr sz="2000">
                <a:solidFill>
                  <a:schemeClr val="dk1"/>
                </a:solidFill>
              </a:endParaRPr>
            </a:p>
            <a:p>
              <a:pPr marL="304815"/>
              <a:r>
                <a:rPr lang="en-US" sz="2000">
                  <a:solidFill>
                    <a:schemeClr val="dk1"/>
                  </a:solidFill>
                </a:rPr>
                <a:t>importance of clinician vigilance and maintaining a high index of</a:t>
              </a:r>
              <a:endParaRPr sz="2000">
                <a:solidFill>
                  <a:schemeClr val="dk1"/>
                </a:solidFill>
              </a:endParaRPr>
            </a:p>
            <a:p>
              <a:pPr marL="304815"/>
              <a:r>
                <a:rPr lang="en-US" sz="2000">
                  <a:solidFill>
                    <a:schemeClr val="dk1"/>
                  </a:solidFill>
                </a:rPr>
                <a:t>suspicion for postoperative complications. </a:t>
              </a:r>
              <a:endParaRPr sz="2000">
                <a:solidFill>
                  <a:schemeClr val="dk1"/>
                </a:solidFill>
              </a:endParaRPr>
            </a:p>
            <a:p>
              <a:pPr marL="304815" indent="-279414">
                <a:buClr>
                  <a:schemeClr val="dk1"/>
                </a:buClr>
                <a:buSzPts val="3000"/>
                <a:buChar char="●"/>
              </a:pPr>
              <a:r>
                <a:rPr lang="en-US" sz="2000">
                  <a:solidFill>
                    <a:schemeClr val="dk1"/>
                  </a:solidFill>
                </a:rPr>
                <a:t>In this case, the reason for the early recurrence is unclear, but the patient did have notable risk factors, including a high BMI and tobacco use, along with a prolonged history of untreated paraesophageal hernia.</a:t>
              </a:r>
              <a:endParaRPr sz="2000">
                <a:solidFill>
                  <a:schemeClr val="dk1"/>
                </a:solidFill>
              </a:endParaRPr>
            </a:p>
            <a:p>
              <a:pPr marL="304815" indent="-279414">
                <a:buClr>
                  <a:schemeClr val="dk1"/>
                </a:buClr>
                <a:buSzPts val="3000"/>
                <a:buChar char="●"/>
              </a:pPr>
              <a:r>
                <a:rPr lang="en-US" sz="2000">
                  <a:solidFill>
                    <a:schemeClr val="dk1"/>
                  </a:solidFill>
                </a:rPr>
                <a:t>Additionally, preoperative data was limited; only a chest X-ray and CT scan- performed at an outside facility - were available, with no access to those images in our EMR.</a:t>
              </a:r>
              <a:endParaRPr sz="2000">
                <a:solidFill>
                  <a:schemeClr val="dk1"/>
                </a:solidFill>
              </a:endParaRPr>
            </a:p>
          </p:txBody>
        </p:sp>
        <p:sp>
          <p:nvSpPr>
            <p:cNvPr id="104" name="Google Shape;104;p1"/>
            <p:cNvSpPr/>
            <p:nvPr/>
          </p:nvSpPr>
          <p:spPr>
            <a:xfrm>
              <a:off x="22460750" y="11698333"/>
              <a:ext cx="8305000" cy="1080400"/>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a:solidFill>
                    <a:schemeClr val="lt1"/>
                  </a:solidFill>
                  <a:latin typeface="Calibri"/>
                  <a:ea typeface="Calibri"/>
                  <a:cs typeface="Calibri"/>
                  <a:sym typeface="Calibri"/>
                </a:rPr>
                <a:t>Discussion</a:t>
              </a:r>
              <a:endParaRPr sz="667"/>
            </a:p>
          </p:txBody>
        </p:sp>
        <p:sp>
          <p:nvSpPr>
            <p:cNvPr id="105" name="Google Shape;105;p1"/>
            <p:cNvSpPr/>
            <p:nvPr/>
          </p:nvSpPr>
          <p:spPr>
            <a:xfrm>
              <a:off x="2249217" y="14349467"/>
              <a:ext cx="9249000" cy="7012000"/>
            </a:xfrm>
            <a:prstGeom prst="rect">
              <a:avLst/>
            </a:prstGeom>
            <a:solidFill>
              <a:schemeClr val="lt1"/>
            </a:solidFill>
            <a:ln>
              <a:noFill/>
            </a:ln>
          </p:spPr>
          <p:txBody>
            <a:bodyPr spcFirstLastPara="1" wrap="square" lIns="60950" tIns="30467" rIns="60950" bIns="30467" anchor="ctr" anchorCtr="0">
              <a:noAutofit/>
            </a:bodyPr>
            <a:lstStyle/>
            <a:p>
              <a:pPr marL="304815" indent="-279414">
                <a:lnSpc>
                  <a:spcPct val="115000"/>
                </a:lnSpc>
                <a:buClr>
                  <a:schemeClr val="dk1"/>
                </a:buClr>
                <a:buSzPts val="3000"/>
                <a:buChar char="●"/>
              </a:pPr>
              <a:r>
                <a:rPr lang="en-US" sz="2000">
                  <a:solidFill>
                    <a:schemeClr val="dk1"/>
                  </a:solidFill>
                </a:rPr>
                <a:t>Day 1: Laparoscopic Diaphragmatic Hernia Repair (#1)</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2-7: Not able wean off O2, poor IS (~750mL) with shallow breathing</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8: Returned to OR for CT findings of recurred stomach herniation into right thorax, had Laparoscopic Repair of Recurrent Diaphragmatic Hernia (#2), however no perforation visualized on field</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9-10:  ICU upgrade, V/S notable for tachypnea (RR 29), tachycardia (HR 123), fever (BT 103.6F), hypotension (BP 46/25, MAP 33), hypoxemia (SpO2 51% on RA), Intubated, Pressors started, Rt chest tube inserted for CXR finding of tension hydropneumothorax, drained 2 L of dark-red and green fluid</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11: Taken back to OR for another CT findings of recurred stomach herniation with stomach perforation, underwent Robotic Repair of Recurrent Diaphragmatic Hernia, Gastric Perforation Repair, Gastrostomy Tube placement, Partial Gastrectomy with Roux En Y (#3)</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12 -18: Decreasing chest tube output despite tPA/DNase, constant leukocytosis (11-19k) with persistent fever (101.4F) with increased demand of pressors, (Day 14) IV Fluconazole 400mg q12h and IV Unasyn 2g q24h for positive PF culture results of Candida Dubliensis and Lactobacillus</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19: Right Video-Assisted Thoracoscopic Surgery Converted to Open Thoracotomy, with Evacuation of Purulent Material, Tube Thoracostomy (#4)</a:t>
              </a:r>
              <a:endParaRPr sz="4839">
                <a:solidFill>
                  <a:schemeClr val="dk1"/>
                </a:solidFill>
                <a:latin typeface="Calibri"/>
                <a:ea typeface="Calibri"/>
                <a:cs typeface="Calibri"/>
                <a:sym typeface="Calibri"/>
              </a:endParaRPr>
            </a:p>
          </p:txBody>
        </p:sp>
        <p:pic>
          <p:nvPicPr>
            <p:cNvPr id="106" name="Google Shape;106;p1" title="TT cxr.png"/>
            <p:cNvPicPr preferRelativeResize="0"/>
            <p:nvPr/>
          </p:nvPicPr>
          <p:blipFill rotWithShape="1">
            <a:blip r:embed="rId3">
              <a:alphaModFix/>
            </a:blip>
            <a:srcRect l="9011" t="7174" r="1415" b="1551"/>
            <a:stretch/>
          </p:blipFill>
          <p:spPr>
            <a:xfrm>
              <a:off x="12054217" y="4433467"/>
              <a:ext cx="4097267" cy="4149348"/>
            </a:xfrm>
            <a:prstGeom prst="rect">
              <a:avLst/>
            </a:prstGeom>
            <a:noFill/>
            <a:ln>
              <a:noFill/>
            </a:ln>
          </p:spPr>
        </p:pic>
        <p:pic>
          <p:nvPicPr>
            <p:cNvPr id="107" name="Google Shape;107;p1"/>
            <p:cNvPicPr preferRelativeResize="0"/>
            <p:nvPr/>
          </p:nvPicPr>
          <p:blipFill rotWithShape="1">
            <a:blip r:embed="rId4">
              <a:alphaModFix/>
            </a:blip>
            <a:srcRect l="11175" t="3763" r="8939" b="35044"/>
            <a:stretch/>
          </p:blipFill>
          <p:spPr>
            <a:xfrm>
              <a:off x="16842675" y="4433467"/>
              <a:ext cx="5001400" cy="5659405"/>
            </a:xfrm>
            <a:prstGeom prst="rect">
              <a:avLst/>
            </a:prstGeom>
            <a:noFill/>
            <a:ln>
              <a:noFill/>
            </a:ln>
          </p:spPr>
        </p:pic>
        <p:sp>
          <p:nvSpPr>
            <p:cNvPr id="108" name="Google Shape;108;p1"/>
            <p:cNvSpPr txBox="1"/>
            <p:nvPr/>
          </p:nvSpPr>
          <p:spPr>
            <a:xfrm>
              <a:off x="16842667" y="10186159"/>
              <a:ext cx="4764600" cy="1908188"/>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1b: </a:t>
              </a:r>
              <a:r>
                <a:rPr lang="en-US" sz="2000">
                  <a:solidFill>
                    <a:schemeClr val="dk1"/>
                  </a:solidFill>
                  <a:latin typeface="Calibri"/>
                  <a:ea typeface="Calibri"/>
                  <a:cs typeface="Calibri"/>
                  <a:sym typeface="Calibri"/>
                </a:rPr>
                <a:t>Multiloculated right pleural effusion with passive atelectasis and leftward deviation of the main trachea. The presence of air within the bowel, observed in a supradiaphragmatic position, is suggestive of a hiatal hernia.</a:t>
              </a:r>
              <a:endParaRPr sz="2000" b="1">
                <a:solidFill>
                  <a:schemeClr val="dk1"/>
                </a:solidFill>
                <a:latin typeface="Calibri"/>
                <a:ea typeface="Calibri"/>
                <a:cs typeface="Calibri"/>
                <a:sym typeface="Calibri"/>
              </a:endParaRPr>
            </a:p>
          </p:txBody>
        </p:sp>
        <p:sp>
          <p:nvSpPr>
            <p:cNvPr id="109" name="Google Shape;109;p1"/>
            <p:cNvSpPr txBox="1"/>
            <p:nvPr/>
          </p:nvSpPr>
          <p:spPr>
            <a:xfrm>
              <a:off x="17033300" y="20762717"/>
              <a:ext cx="5404400" cy="984859"/>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2b:</a:t>
              </a:r>
              <a:r>
                <a:rPr lang="en-US" sz="2000">
                  <a:solidFill>
                    <a:schemeClr val="dk1"/>
                  </a:solidFill>
                  <a:latin typeface="Calibri"/>
                  <a:ea typeface="Calibri"/>
                  <a:cs typeface="Calibri"/>
                  <a:sym typeface="Calibri"/>
                </a:rPr>
                <a:t> Large perforation of right mediastinal pleura, with contamination of mediastinum with gastric contents</a:t>
              </a:r>
              <a:endParaRPr sz="2000">
                <a:solidFill>
                  <a:schemeClr val="dk1"/>
                </a:solidFill>
                <a:latin typeface="Calibri"/>
                <a:ea typeface="Calibri"/>
                <a:cs typeface="Calibri"/>
                <a:sym typeface="Calibri"/>
              </a:endParaRPr>
            </a:p>
          </p:txBody>
        </p:sp>
        <p:sp>
          <p:nvSpPr>
            <p:cNvPr id="110" name="Google Shape;110;p1"/>
            <p:cNvSpPr txBox="1"/>
            <p:nvPr/>
          </p:nvSpPr>
          <p:spPr>
            <a:xfrm>
              <a:off x="12835587" y="16471450"/>
              <a:ext cx="2198200" cy="369306"/>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1: </a:t>
              </a:r>
              <a:r>
                <a:rPr lang="en-US" sz="2000">
                  <a:solidFill>
                    <a:schemeClr val="dk1"/>
                  </a:solidFill>
                  <a:latin typeface="Calibri"/>
                  <a:ea typeface="Calibri"/>
                  <a:cs typeface="Calibri"/>
                  <a:sym typeface="Calibri"/>
                </a:rPr>
                <a:t>PF findings</a:t>
              </a:r>
              <a:endParaRPr sz="933"/>
            </a:p>
          </p:txBody>
        </p:sp>
        <p:pic>
          <p:nvPicPr>
            <p:cNvPr id="111" name="Google Shape;111;p1" title="ch1_image_001 복사본.jpeg"/>
            <p:cNvPicPr preferRelativeResize="0"/>
            <p:nvPr/>
          </p:nvPicPr>
          <p:blipFill rotWithShape="1">
            <a:blip r:embed="rId5">
              <a:alphaModFix/>
            </a:blip>
            <a:srcRect l="17150" t="3324" r="17412" b="9194"/>
            <a:stretch/>
          </p:blipFill>
          <p:spPr>
            <a:xfrm>
              <a:off x="11758417" y="16953517"/>
              <a:ext cx="5065493" cy="3809199"/>
            </a:xfrm>
            <a:prstGeom prst="rect">
              <a:avLst/>
            </a:prstGeom>
            <a:noFill/>
            <a:ln>
              <a:noFill/>
            </a:ln>
          </p:spPr>
        </p:pic>
        <p:pic>
          <p:nvPicPr>
            <p:cNvPr id="112" name="Google Shape;112;p1" title="ch1_image_007 복사본.jpeg"/>
            <p:cNvPicPr preferRelativeResize="0"/>
            <p:nvPr/>
          </p:nvPicPr>
          <p:blipFill rotWithShape="1">
            <a:blip r:embed="rId6">
              <a:alphaModFix/>
            </a:blip>
            <a:srcRect l="17306" t="2957" r="17136" b="9292"/>
            <a:stretch/>
          </p:blipFill>
          <p:spPr>
            <a:xfrm>
              <a:off x="17084117" y="16953517"/>
              <a:ext cx="5059301" cy="3712451"/>
            </a:xfrm>
            <a:prstGeom prst="rect">
              <a:avLst/>
            </a:prstGeom>
            <a:noFill/>
            <a:ln>
              <a:noFill/>
            </a:ln>
          </p:spPr>
        </p:pic>
        <p:pic>
          <p:nvPicPr>
            <p:cNvPr id="113" name="Google Shape;113;p1"/>
            <p:cNvPicPr preferRelativeResize="0"/>
            <p:nvPr/>
          </p:nvPicPr>
          <p:blipFill>
            <a:blip r:embed="rId7">
              <a:alphaModFix/>
            </a:blip>
            <a:stretch>
              <a:fillRect/>
            </a:stretch>
          </p:blipFill>
          <p:spPr>
            <a:xfrm>
              <a:off x="12054250" y="10786549"/>
              <a:ext cx="4234901" cy="5728000"/>
            </a:xfrm>
            <a:prstGeom prst="rect">
              <a:avLst/>
            </a:prstGeom>
            <a:noFill/>
            <a:ln>
              <a:noFill/>
            </a:ln>
          </p:spPr>
        </p:pic>
        <p:grpSp>
          <p:nvGrpSpPr>
            <p:cNvPr id="114" name="Google Shape;114;p1"/>
            <p:cNvGrpSpPr/>
            <p:nvPr/>
          </p:nvGrpSpPr>
          <p:grpSpPr>
            <a:xfrm>
              <a:off x="16874351" y="12778716"/>
              <a:ext cx="5001204" cy="2158655"/>
              <a:chOff x="14852050" y="24549074"/>
              <a:chExt cx="11296200" cy="4522323"/>
            </a:xfrm>
          </p:grpSpPr>
          <p:sp>
            <p:nvSpPr>
              <p:cNvPr id="115" name="Google Shape;115;p1"/>
              <p:cNvSpPr txBox="1"/>
              <p:nvPr/>
            </p:nvSpPr>
            <p:spPr>
              <a:xfrm>
                <a:off x="17993314" y="28297711"/>
                <a:ext cx="5556600" cy="773686"/>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2: </a:t>
                </a:r>
                <a:r>
                  <a:rPr lang="en-US" sz="2000">
                    <a:solidFill>
                      <a:schemeClr val="dk1"/>
                    </a:solidFill>
                    <a:latin typeface="Calibri"/>
                    <a:ea typeface="Calibri"/>
                    <a:cs typeface="Calibri"/>
                    <a:sym typeface="Calibri"/>
                  </a:rPr>
                  <a:t>PF culture</a:t>
                </a:r>
                <a:endParaRPr sz="933"/>
              </a:p>
            </p:txBody>
          </p:sp>
          <p:pic>
            <p:nvPicPr>
              <p:cNvPr id="116" name="Google Shape;116;p1"/>
              <p:cNvPicPr preferRelativeResize="0"/>
              <p:nvPr/>
            </p:nvPicPr>
            <p:blipFill>
              <a:blip r:embed="rId8">
                <a:alphaModFix/>
              </a:blip>
              <a:stretch>
                <a:fillRect/>
              </a:stretch>
            </p:blipFill>
            <p:spPr>
              <a:xfrm>
                <a:off x="14852050" y="24549074"/>
                <a:ext cx="11296200" cy="3748627"/>
              </a:xfrm>
              <a:prstGeom prst="rect">
                <a:avLst/>
              </a:prstGeom>
              <a:noFill/>
              <a:ln>
                <a:noFill/>
              </a:ln>
            </p:spPr>
          </p:pic>
        </p:grpSp>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1060</Words>
  <Application>Microsoft Macintosh PowerPoint</Application>
  <PresentationFormat>Custom</PresentationFormat>
  <Paragraphs>53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2</cp:revision>
  <dcterms:created xsi:type="dcterms:W3CDTF">2016-02-18T22:13:49Z</dcterms:created>
  <dcterms:modified xsi:type="dcterms:W3CDTF">2025-04-27T18:39:27Z</dcterms:modified>
</cp:coreProperties>
</file>