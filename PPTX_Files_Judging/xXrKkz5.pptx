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
  </p:notesMasterIdLst>
  <p:sldIdLst>
    <p:sldId id="256" r:id="rId2"/>
  </p:sldIdLst>
  <p:sldSz cx="32918400" cy="21945600"/>
  <p:notesSz cx="6858000" cy="9144000"/>
  <p:embeddedFontLst>
    <p:embeddedFont>
      <p:font typeface="Amaranth" panose="02000503050000020004" pitchFamily="2" charset="77"/>
      <p:regular r:id="rId4"/>
    </p:embeddedFont>
    <p:embeddedFont>
      <p:font typeface="Titillium Web" pitchFamily="2" charset="77"/>
      <p:regular r:id="rId5"/>
      <p:bold r:id="rId6"/>
      <p:italic r:id="rId7"/>
      <p:boldItalic r:id="rId8"/>
    </p:embeddedFont>
  </p:embeddedFontLst>
  <p:custDataLst>
    <p:tags r:id="rId9"/>
  </p:custDataLst>
  <p:defaultTextStyle>
    <a:defPPr>
      <a:defRPr lang="en-US"/>
    </a:defPPr>
    <a:lvl1pPr algn="l" rtl="0" fontAlgn="base">
      <a:spcBef>
        <a:spcPct val="0"/>
      </a:spcBef>
      <a:spcAft>
        <a:spcPct val="0"/>
      </a:spcAft>
      <a:defRPr sz="3214" kern="1200">
        <a:solidFill>
          <a:schemeClr val="tx1"/>
        </a:solidFill>
        <a:latin typeface="Arial"/>
        <a:ea typeface="+mn-ea"/>
        <a:cs typeface="+mn-cs"/>
      </a:defRPr>
    </a:lvl1pPr>
    <a:lvl2pPr marL="326532" algn="l" rtl="0" fontAlgn="base">
      <a:spcBef>
        <a:spcPct val="0"/>
      </a:spcBef>
      <a:spcAft>
        <a:spcPct val="0"/>
      </a:spcAft>
      <a:defRPr sz="3214" kern="1200">
        <a:solidFill>
          <a:schemeClr val="tx1"/>
        </a:solidFill>
        <a:latin typeface="Arial"/>
        <a:ea typeface="+mn-ea"/>
        <a:cs typeface="+mn-cs"/>
      </a:defRPr>
    </a:lvl2pPr>
    <a:lvl3pPr marL="653064" algn="l" rtl="0" fontAlgn="base">
      <a:spcBef>
        <a:spcPct val="0"/>
      </a:spcBef>
      <a:spcAft>
        <a:spcPct val="0"/>
      </a:spcAft>
      <a:defRPr sz="3214" kern="1200">
        <a:solidFill>
          <a:schemeClr val="tx1"/>
        </a:solidFill>
        <a:latin typeface="Arial"/>
        <a:ea typeface="+mn-ea"/>
        <a:cs typeface="+mn-cs"/>
      </a:defRPr>
    </a:lvl3pPr>
    <a:lvl4pPr marL="979597" algn="l" rtl="0" fontAlgn="base">
      <a:spcBef>
        <a:spcPct val="0"/>
      </a:spcBef>
      <a:spcAft>
        <a:spcPct val="0"/>
      </a:spcAft>
      <a:defRPr sz="3214" kern="1200">
        <a:solidFill>
          <a:schemeClr val="tx1"/>
        </a:solidFill>
        <a:latin typeface="Arial"/>
        <a:ea typeface="+mn-ea"/>
        <a:cs typeface="+mn-cs"/>
      </a:defRPr>
    </a:lvl4pPr>
    <a:lvl5pPr marL="1306129" algn="l" rtl="0" fontAlgn="base">
      <a:spcBef>
        <a:spcPct val="0"/>
      </a:spcBef>
      <a:spcAft>
        <a:spcPct val="0"/>
      </a:spcAft>
      <a:defRPr sz="3214" kern="1200">
        <a:solidFill>
          <a:schemeClr val="tx1"/>
        </a:solidFill>
        <a:latin typeface="Arial"/>
        <a:ea typeface="+mn-ea"/>
        <a:cs typeface="+mn-cs"/>
      </a:defRPr>
    </a:lvl5pPr>
    <a:lvl6pPr marL="1632661" algn="l" defTabSz="653064" rtl="0" eaLnBrk="1" latinLnBrk="0" hangingPunct="1">
      <a:defRPr sz="3214" kern="1200">
        <a:solidFill>
          <a:schemeClr val="tx1"/>
        </a:solidFill>
        <a:latin typeface="Arial"/>
        <a:ea typeface="+mn-ea"/>
        <a:cs typeface="+mn-cs"/>
      </a:defRPr>
    </a:lvl6pPr>
    <a:lvl7pPr marL="1959193" algn="l" defTabSz="653064" rtl="0" eaLnBrk="1" latinLnBrk="0" hangingPunct="1">
      <a:defRPr sz="3214" kern="1200">
        <a:solidFill>
          <a:schemeClr val="tx1"/>
        </a:solidFill>
        <a:latin typeface="Arial"/>
        <a:ea typeface="+mn-ea"/>
        <a:cs typeface="+mn-cs"/>
      </a:defRPr>
    </a:lvl7pPr>
    <a:lvl8pPr marL="2285726" algn="l" defTabSz="653064" rtl="0" eaLnBrk="1" latinLnBrk="0" hangingPunct="1">
      <a:defRPr sz="3214" kern="1200">
        <a:solidFill>
          <a:schemeClr val="tx1"/>
        </a:solidFill>
        <a:latin typeface="Arial"/>
        <a:ea typeface="+mn-ea"/>
        <a:cs typeface="+mn-cs"/>
      </a:defRPr>
    </a:lvl8pPr>
    <a:lvl9pPr marL="2612258" algn="l" defTabSz="653064" rtl="0" eaLnBrk="1" latinLnBrk="0" hangingPunct="1">
      <a:defRPr sz="3214" kern="1200">
        <a:solidFill>
          <a:schemeClr val="tx1"/>
        </a:solidFill>
        <a:latin typeface="Arial"/>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94660"/>
  </p:normalViewPr>
  <p:slideViewPr>
    <p:cSldViewPr>
      <p:cViewPr varScale="1">
        <p:scale>
          <a:sx n="38" d="100"/>
          <a:sy n="38" d="100"/>
        </p:scale>
        <p:origin x="1152" y="248"/>
      </p:cViewPr>
      <p:guideLst>
        <p:guide orient="horz" pos="6912"/>
        <p:guide pos="10368"/>
      </p:guideLst>
    </p:cSldViewPr>
  </p:slideViewPr>
  <p:notesTextViewPr>
    <p:cViewPr>
      <p:scale>
        <a:sx n="100" d="100"/>
        <a:sy n="100" d="100"/>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viewProps" Target="viewProps.xml"/><Relationship Id="rId5" Type="http://schemas.openxmlformats.org/officeDocument/2006/relationships/font" Target="fonts/font2.fntdata"/><Relationship Id="rId10" Type="http://schemas.openxmlformats.org/officeDocument/2006/relationships/presProps" Target="presProps.xml"/><Relationship Id="rId4" Type="http://schemas.openxmlformats.org/officeDocument/2006/relationships/font" Target="fonts/font1.fntdata"/><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DA5B35-8E6C-AF4B-A7A0-5747A2FF9C2C}" type="datetimeFigureOut">
              <a:rPr lang="en-US" smtClean="0"/>
              <a:t>4/21/25</a:t>
            </a:fld>
            <a:endParaRPr lang="en-US"/>
          </a:p>
        </p:txBody>
      </p:sp>
      <p:sp>
        <p:nvSpPr>
          <p:cNvPr id="4" name="Slide Image Placeholder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D92CBF-0257-654E-906C-C1EDC12A3254}" type="slidenum">
              <a:rPr lang="en-US" smtClean="0"/>
              <a:t>‹#›</a:t>
            </a:fld>
            <a:endParaRPr lang="en-US"/>
          </a:p>
        </p:txBody>
      </p:sp>
    </p:spTree>
    <p:extLst>
      <p:ext uri="{BB962C8B-B14F-4D97-AF65-F5344CB8AC3E}">
        <p14:creationId xmlns:p14="http://schemas.microsoft.com/office/powerpoint/2010/main" val="1061162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9356" y="6817784"/>
            <a:ext cx="27979688" cy="4703233"/>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4937523" y="12435417"/>
            <a:ext cx="23043356" cy="5609167"/>
          </a:xfrm>
        </p:spPr>
        <p:txBody>
          <a:bodyPr/>
          <a:lstStyle>
            <a:defPPr>
              <a:defRPr kern="1200"/>
            </a:defPPr>
            <a:lvl1pPr marL="0" indent="0" algn="ctr">
              <a:buNone/>
              <a:defRPr/>
            </a:lvl1pPr>
            <a:lvl2pPr marL="304815" indent="0" algn="ctr">
              <a:buNone/>
              <a:defRPr/>
            </a:lvl2pPr>
            <a:lvl3pPr marL="609630" indent="0" algn="ctr">
              <a:buNone/>
              <a:defRPr/>
            </a:lvl3pPr>
            <a:lvl4pPr marL="914446" indent="0" algn="ctr">
              <a:buNone/>
              <a:defRPr/>
            </a:lvl4pPr>
            <a:lvl5pPr marL="1219261" indent="0" algn="ctr">
              <a:buNone/>
              <a:defRPr/>
            </a:lvl5pPr>
            <a:lvl6pPr marL="1524076" indent="0" algn="ctr">
              <a:buNone/>
              <a:defRPr/>
            </a:lvl6pPr>
            <a:lvl7pPr marL="1828891" indent="0" algn="ctr">
              <a:buNone/>
              <a:defRPr/>
            </a:lvl7pPr>
            <a:lvl8pPr marL="2133707" indent="0" algn="ctr">
              <a:buNone/>
              <a:defRPr/>
            </a:lvl8pPr>
            <a:lvl9pPr marL="2438522"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9781D505-ABFC-493F-8858-9F27839AE9BB}" type="slidenum">
              <a:rPr lang="en-US"/>
              <a:pPr>
                <a:defRPr/>
              </a:pPr>
              <a:t>‹#›</a:t>
            </a:fld>
            <a:endParaRPr lang="en-US"/>
          </a:p>
        </p:txBody>
      </p:sp>
    </p:spTree>
    <p:extLst>
      <p:ext uri="{BB962C8B-B14F-4D97-AF65-F5344CB8AC3E}">
        <p14:creationId xmlns:p14="http://schemas.microsoft.com/office/powerpoint/2010/main" val="38291230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CFDBA80-68C6-4586-92A4-5A3F769223A5}" type="slidenum">
              <a:rPr lang="en-US"/>
              <a:pPr>
                <a:defRPr/>
              </a:pPr>
              <a:t>‹#›</a:t>
            </a:fld>
            <a:endParaRPr lang="en-US"/>
          </a:p>
        </p:txBody>
      </p:sp>
    </p:spTree>
    <p:extLst>
      <p:ext uri="{BB962C8B-B14F-4D97-AF65-F5344CB8AC3E}">
        <p14:creationId xmlns:p14="http://schemas.microsoft.com/office/powerpoint/2010/main" val="60461068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5" y="14102293"/>
            <a:ext cx="27980878" cy="4358217"/>
          </a:xfrm>
        </p:spPr>
        <p:txBody>
          <a:bodyPr anchor="t"/>
          <a:lstStyle>
            <a:defPPr>
              <a:defRPr kern="1200"/>
            </a:defPPr>
            <a:lvl1pPr algn="l">
              <a:defRPr sz="2667" b="1" cap="all"/>
            </a:lvl1pPr>
          </a:lstStyle>
          <a:p>
            <a:r>
              <a:rPr lang="en-US"/>
              <a:t>Click to edit Master title style</a:t>
            </a:r>
          </a:p>
        </p:txBody>
      </p:sp>
      <p:sp>
        <p:nvSpPr>
          <p:cNvPr id="3" name="Text Placeholder 2"/>
          <p:cNvSpPr>
            <a:spLocks noGrp="1"/>
          </p:cNvSpPr>
          <p:nvPr>
            <p:ph type="body" idx="1"/>
          </p:nvPr>
        </p:nvSpPr>
        <p:spPr>
          <a:xfrm>
            <a:off x="2600325" y="9301692"/>
            <a:ext cx="27980878" cy="4800600"/>
          </a:xfrm>
        </p:spPr>
        <p:txBody>
          <a:bodyPr anchor="b"/>
          <a:lstStyle>
            <a:defPPr>
              <a:defRPr kern="1200"/>
            </a:defPPr>
            <a:lvl1pPr marL="0" indent="0">
              <a:buNone/>
              <a:defRPr sz="1333"/>
            </a:lvl1pPr>
            <a:lvl2pPr marL="304815" indent="0">
              <a:buNone/>
              <a:defRPr sz="1200"/>
            </a:lvl2pPr>
            <a:lvl3pPr marL="609630" indent="0">
              <a:buNone/>
              <a:defRPr sz="1067"/>
            </a:lvl3pPr>
            <a:lvl4pPr marL="914446" indent="0">
              <a:buNone/>
              <a:defRPr sz="933"/>
            </a:lvl4pPr>
            <a:lvl5pPr marL="1219261" indent="0">
              <a:buNone/>
              <a:defRPr sz="933"/>
            </a:lvl5pPr>
            <a:lvl6pPr marL="1524076" indent="0">
              <a:buNone/>
              <a:defRPr sz="933"/>
            </a:lvl6pPr>
            <a:lvl7pPr marL="1828891" indent="0">
              <a:buNone/>
              <a:defRPr sz="933"/>
            </a:lvl7pPr>
            <a:lvl8pPr marL="2133707" indent="0">
              <a:buNone/>
              <a:defRPr sz="933"/>
            </a:lvl8pPr>
            <a:lvl9pPr marL="2438522" indent="0">
              <a:buNone/>
              <a:defRPr sz="933"/>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317CCD47-6DB2-4B8A-910F-EAB6C458696E}" type="slidenum">
              <a:rPr lang="en-US"/>
              <a:pPr>
                <a:defRPr/>
              </a:pPr>
              <a:t>‹#›</a:t>
            </a:fld>
            <a:endParaRPr lang="en-US"/>
          </a:p>
        </p:txBody>
      </p:sp>
    </p:spTree>
    <p:extLst>
      <p:ext uri="{BB962C8B-B14F-4D97-AF65-F5344CB8AC3E}">
        <p14:creationId xmlns:p14="http://schemas.microsoft.com/office/powerpoint/2010/main" val="134751605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1645444" y="5120217"/>
            <a:ext cx="14756606" cy="14484350"/>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516352" y="5120217"/>
            <a:ext cx="14756606" cy="14484350"/>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E7618C69-F50A-4456-BD00-30C7E9780917}" type="slidenum">
              <a:rPr lang="en-US"/>
              <a:pPr>
                <a:defRPr/>
              </a:pPr>
              <a:t>‹#›</a:t>
            </a:fld>
            <a:endParaRPr lang="en-US"/>
          </a:p>
        </p:txBody>
      </p:sp>
    </p:spTree>
    <p:extLst>
      <p:ext uri="{BB962C8B-B14F-4D97-AF65-F5344CB8AC3E}">
        <p14:creationId xmlns:p14="http://schemas.microsoft.com/office/powerpoint/2010/main" val="397989059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1645444" y="4912784"/>
            <a:ext cx="14544675"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1645444" y="6959600"/>
            <a:ext cx="14544675"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2328" y="4912784"/>
            <a:ext cx="14550630"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16722328" y="6959600"/>
            <a:ext cx="14550630"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41BE4E77-EB76-40B2-97CB-56BAD62ADA5F}" type="slidenum">
              <a:rPr lang="en-US"/>
              <a:pPr>
                <a:defRPr/>
              </a:pPr>
              <a:t>‹#›</a:t>
            </a:fld>
            <a:endParaRPr lang="en-US"/>
          </a:p>
        </p:txBody>
      </p:sp>
    </p:spTree>
    <p:extLst>
      <p:ext uri="{BB962C8B-B14F-4D97-AF65-F5344CB8AC3E}">
        <p14:creationId xmlns:p14="http://schemas.microsoft.com/office/powerpoint/2010/main" val="294088900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AFD85181-2ED8-4C66-A6CF-204895276074}" type="slidenum">
              <a:rPr lang="en-US"/>
              <a:pPr>
                <a:defRPr/>
              </a:pPr>
              <a:t>‹#›</a:t>
            </a:fld>
            <a:endParaRPr lang="en-US"/>
          </a:p>
        </p:txBody>
      </p:sp>
    </p:spTree>
    <p:extLst>
      <p:ext uri="{BB962C8B-B14F-4D97-AF65-F5344CB8AC3E}">
        <p14:creationId xmlns:p14="http://schemas.microsoft.com/office/powerpoint/2010/main" val="86244740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FD4797FD-DFC2-4481-9B76-E30C0158C422}" type="slidenum">
              <a:rPr lang="en-US"/>
              <a:pPr>
                <a:defRPr/>
              </a:pPr>
              <a:t>‹#›</a:t>
            </a:fld>
            <a:endParaRPr lang="en-US"/>
          </a:p>
        </p:txBody>
      </p:sp>
    </p:spTree>
    <p:extLst>
      <p:ext uri="{BB962C8B-B14F-4D97-AF65-F5344CB8AC3E}">
        <p14:creationId xmlns:p14="http://schemas.microsoft.com/office/powerpoint/2010/main" val="29033950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444" y="874184"/>
            <a:ext cx="10829925" cy="3717925"/>
          </a:xfrm>
        </p:spPr>
        <p:txBody>
          <a:bodyPr anchor="b"/>
          <a:lstStyle>
            <a:defPPr>
              <a:defRPr kern="1200"/>
            </a:defPPr>
            <a:lvl1pPr algn="l">
              <a:defRPr sz="1333" b="1"/>
            </a:lvl1pPr>
          </a:lstStyle>
          <a:p>
            <a:r>
              <a:rPr lang="en-US"/>
              <a:t>Click to edit Master title style</a:t>
            </a:r>
          </a:p>
        </p:txBody>
      </p:sp>
      <p:sp>
        <p:nvSpPr>
          <p:cNvPr id="3" name="Content Placeholder 2"/>
          <p:cNvSpPr>
            <a:spLocks noGrp="1"/>
          </p:cNvSpPr>
          <p:nvPr>
            <p:ph idx="1"/>
          </p:nvPr>
        </p:nvSpPr>
        <p:spPr>
          <a:xfrm>
            <a:off x="12870656" y="874184"/>
            <a:ext cx="18402300" cy="18729325"/>
          </a:xfrm>
        </p:spPr>
        <p:txBody>
          <a:bodyPr/>
          <a:lstStyle>
            <a:defPPr>
              <a:defRPr kern="1200"/>
            </a:defPPr>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444" y="4592109"/>
            <a:ext cx="10829925" cy="15011400"/>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222DDFC5-19EE-4BC8-86F5-BE1753B3A49A}" type="slidenum">
              <a:rPr lang="en-US"/>
              <a:pPr>
                <a:defRPr/>
              </a:pPr>
              <a:t>‹#›</a:t>
            </a:fld>
            <a:endParaRPr lang="en-US"/>
          </a:p>
        </p:txBody>
      </p:sp>
    </p:spTree>
    <p:extLst>
      <p:ext uri="{BB962C8B-B14F-4D97-AF65-F5344CB8AC3E}">
        <p14:creationId xmlns:p14="http://schemas.microsoft.com/office/powerpoint/2010/main" val="217649673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1997" y="15361709"/>
            <a:ext cx="19751280" cy="1813983"/>
          </a:xfrm>
        </p:spPr>
        <p:txBody>
          <a:bodyPr anchor="b"/>
          <a:lstStyle>
            <a:defPPr>
              <a:defRPr kern="1200"/>
            </a:defPPr>
            <a:lvl1pPr algn="l">
              <a:defRPr sz="1333" b="1"/>
            </a:lvl1pPr>
          </a:lstStyle>
          <a:p>
            <a:r>
              <a:rPr lang="en-US"/>
              <a:t>Click to edit Master title style</a:t>
            </a:r>
          </a:p>
        </p:txBody>
      </p:sp>
      <p:sp>
        <p:nvSpPr>
          <p:cNvPr id="3" name="Picture Placeholder 2"/>
          <p:cNvSpPr>
            <a:spLocks noGrp="1"/>
          </p:cNvSpPr>
          <p:nvPr>
            <p:ph type="pic" idx="1"/>
          </p:nvPr>
        </p:nvSpPr>
        <p:spPr>
          <a:xfrm>
            <a:off x="6451997" y="1961092"/>
            <a:ext cx="19751280" cy="13166725"/>
          </a:xfrm>
        </p:spPr>
        <p:txBody>
          <a:bodyPr/>
          <a:lstStyle>
            <a:defPPr>
              <a:defRPr kern="1200"/>
            </a:defPPr>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pPr lvl="0"/>
            <a:endParaRPr lang="en-US" noProof="0"/>
          </a:p>
        </p:txBody>
      </p:sp>
      <p:sp>
        <p:nvSpPr>
          <p:cNvPr id="4" name="Text Placeholder 3"/>
          <p:cNvSpPr>
            <a:spLocks noGrp="1"/>
          </p:cNvSpPr>
          <p:nvPr>
            <p:ph type="body" sz="half" idx="2"/>
          </p:nvPr>
        </p:nvSpPr>
        <p:spPr>
          <a:xfrm>
            <a:off x="6451997" y="17175693"/>
            <a:ext cx="19751280" cy="2574925"/>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A9B3B4E7-A2BC-4B2C-8917-8370A599FB41}" type="slidenum">
              <a:rPr lang="en-US"/>
              <a:pPr>
                <a:defRPr/>
              </a:pPr>
              <a:t>‹#›</a:t>
            </a:fld>
            <a:endParaRPr lang="en-US"/>
          </a:p>
        </p:txBody>
      </p:sp>
    </p:spTree>
    <p:extLst>
      <p:ext uri="{BB962C8B-B14F-4D97-AF65-F5344CB8AC3E}">
        <p14:creationId xmlns:p14="http://schemas.microsoft.com/office/powerpoint/2010/main" val="388340609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620C972F-CE89-4882-8841-5E4EC1866666}" type="slidenum">
              <a:rPr lang="en-US"/>
              <a:pPr>
                <a:defRPr/>
              </a:pPr>
              <a:t>‹#›</a:t>
            </a:fld>
            <a:endParaRPr lang="en-US"/>
          </a:p>
        </p:txBody>
      </p:sp>
    </p:spTree>
    <p:extLst>
      <p:ext uri="{BB962C8B-B14F-4D97-AF65-F5344CB8AC3E}">
        <p14:creationId xmlns:p14="http://schemas.microsoft.com/office/powerpoint/2010/main" val="41087712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866080" y="878417"/>
            <a:ext cx="7406878" cy="18726150"/>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1645444" y="878417"/>
            <a:ext cx="22106334" cy="18726150"/>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67478B96-C558-46F3-BF4C-CB626F7BF55F}" type="slidenum">
              <a:rPr lang="en-US"/>
              <a:pPr>
                <a:defRPr/>
              </a:pPr>
              <a:t>‹#›</a:t>
            </a:fld>
            <a:endParaRPr lang="en-US"/>
          </a:p>
        </p:txBody>
      </p:sp>
    </p:spTree>
    <p:extLst>
      <p:ext uri="{BB962C8B-B14F-4D97-AF65-F5344CB8AC3E}">
        <p14:creationId xmlns:p14="http://schemas.microsoft.com/office/powerpoint/2010/main" val="309617945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45444" y="878417"/>
            <a:ext cx="29627512"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1645444" y="5120217"/>
            <a:ext cx="29627512" cy="14484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1645444" y="19985568"/>
            <a:ext cx="76819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t" anchorCtr="0" compatLnSpc="1">
            <a:prstTxWarp prst="textNoShape">
              <a:avLst/>
            </a:prstTxWarp>
          </a:bodyPr>
          <a:lstStyle>
            <a:defPPr>
              <a:defRPr kern="1200"/>
            </a:defPPr>
            <a:lvl1pPr defTabSz="3135999">
              <a:defRPr sz="4867" smtClean="0">
                <a:latin typeface="Arial" pitchFamily="34" charset="0"/>
              </a:defRPr>
            </a:lvl1pPr>
          </a:lstStyle>
          <a:p>
            <a:pPr>
              <a:defRPr/>
            </a:pPr>
            <a:endParaRPr lang="en-US"/>
          </a:p>
        </p:txBody>
      </p:sp>
      <p:sp>
        <p:nvSpPr>
          <p:cNvPr id="1029" name="Rectangle 5"/>
          <p:cNvSpPr>
            <a:spLocks noGrp="1" noChangeArrowheads="1"/>
          </p:cNvSpPr>
          <p:nvPr>
            <p:ph type="ftr" sz="quarter" idx="3"/>
          </p:nvPr>
        </p:nvSpPr>
        <p:spPr bwMode="auto">
          <a:xfrm>
            <a:off x="11246644" y="19985568"/>
            <a:ext cx="104251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t" anchorCtr="0" compatLnSpc="1">
            <a:prstTxWarp prst="textNoShape">
              <a:avLst/>
            </a:prstTxWarp>
          </a:bodyPr>
          <a:lstStyle>
            <a:defPPr>
              <a:defRPr kern="1200"/>
            </a:defPPr>
            <a:lvl1pPr algn="ctr" defTabSz="3135999">
              <a:defRPr sz="4867" smtClean="0">
                <a:latin typeface="Arial" pitchFamily="34" charset="0"/>
              </a:defRPr>
            </a:lvl1pPr>
          </a:lstStyle>
          <a:p>
            <a:pPr>
              <a:defRPr/>
            </a:pPr>
            <a:endParaRPr lang="en-US"/>
          </a:p>
        </p:txBody>
      </p:sp>
      <p:sp>
        <p:nvSpPr>
          <p:cNvPr id="1030" name="Rectangle 6"/>
          <p:cNvSpPr>
            <a:spLocks noGrp="1" noChangeArrowheads="1"/>
          </p:cNvSpPr>
          <p:nvPr>
            <p:ph type="sldNum" sz="quarter" idx="4"/>
          </p:nvPr>
        </p:nvSpPr>
        <p:spPr bwMode="auto">
          <a:xfrm>
            <a:off x="23591044" y="19985568"/>
            <a:ext cx="76819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t" anchorCtr="0" compatLnSpc="1">
            <a:prstTxWarp prst="textNoShape">
              <a:avLst/>
            </a:prstTxWarp>
          </a:bodyPr>
          <a:lstStyle>
            <a:defPPr>
              <a:defRPr kern="1200"/>
            </a:defPPr>
            <a:lvl1pPr algn="r" defTabSz="3135999">
              <a:defRPr sz="4867" smtClean="0">
                <a:latin typeface="Arial" pitchFamily="34" charset="0"/>
              </a:defRPr>
            </a:lvl1pPr>
          </a:lstStyle>
          <a:p>
            <a:pPr>
              <a:defRPr/>
            </a:pPr>
            <a:fld id="{16CEF5F2-27D4-42FE-9AE6-E7F0659E0BA5}" type="slidenum">
              <a:rPr lang="en-US"/>
              <a:pPr>
                <a:defRPr/>
              </a:pPr>
              <a:t>‹#›</a:t>
            </a:fld>
            <a:endParaRPr lang="en-US"/>
          </a:p>
        </p:txBody>
      </p:sp>
      <p:pic>
        <p:nvPicPr>
          <p:cNvPr id="1031" name="New picture"/>
          <p:cNvPicPr/>
          <p:nvPr/>
        </p:nvPicPr>
        <p:blipFill>
          <a:blip r:embed="rId13"/>
          <a:stretch>
            <a:fillRect/>
          </a:stretch>
        </p:blipFill>
        <p:spPr>
          <a:xfrm rot="16200000">
            <a:off x="-11074400" y="10972800"/>
            <a:ext cx="14274800" cy="3937000"/>
          </a:xfrm>
          <a:prstGeom prst="rect">
            <a:avLst/>
          </a:prstGeom>
        </p:spPr>
      </p:pic>
      <p:pic>
        <p:nvPicPr>
          <p:cNvPr id="1032" name="New picture"/>
          <p:cNvPicPr/>
          <p:nvPr/>
        </p:nvPicPr>
        <p:blipFill>
          <a:blip r:embed="rId13"/>
          <a:stretch>
            <a:fillRect/>
          </a:stretch>
        </p:blipFill>
        <p:spPr>
          <a:xfrm rot="5400000">
            <a:off x="29718000" y="10972800"/>
            <a:ext cx="14274800" cy="3937000"/>
          </a:xfrm>
          <a:prstGeom prst="rect">
            <a:avLst/>
          </a:prstGeom>
        </p:spPr>
      </p:pic>
      <p:pic>
        <p:nvPicPr>
          <p:cNvPr id="1033" name="New picture"/>
          <p:cNvPicPr/>
          <p:nvPr/>
        </p:nvPicPr>
        <p:blipFill>
          <a:blip r:embed="rId14"/>
          <a:stretch>
            <a:fillRect/>
          </a:stretch>
        </p:blipFill>
        <p:spPr>
          <a:xfrm>
            <a:off x="1460500" y="22453600"/>
            <a:ext cx="29997400" cy="1447800"/>
          </a:xfrm>
          <a:prstGeom prst="rect">
            <a:avLst/>
          </a:prstGeom>
        </p:spPr>
      </p:pic>
      <p:sp>
        <p:nvSpPr>
          <p:cNvPr id="1034" name="New shape"/>
          <p:cNvSpPr/>
          <p:nvPr/>
        </p:nvSpPr>
        <p:spPr>
          <a:xfrm>
            <a:off x="1460500" y="23025100"/>
            <a:ext cx="164592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debatingdenim  Size: 36x24</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defPPr>
        <a:defRPr kern="1200"/>
      </a:defPPr>
      <a:lvl1pPr algn="ctr" defTabSz="3135999" rtl="0" eaLnBrk="0" fontAlgn="base" hangingPunct="0">
        <a:spcBef>
          <a:spcPct val="0"/>
        </a:spcBef>
        <a:spcAft>
          <a:spcPct val="0"/>
        </a:spcAft>
        <a:defRPr sz="15201">
          <a:solidFill>
            <a:schemeClr val="tx2"/>
          </a:solidFill>
          <a:latin typeface="+mj-lt"/>
          <a:ea typeface="+mj-ea"/>
          <a:cs typeface="+mj-cs"/>
        </a:defRPr>
      </a:lvl1pPr>
      <a:lvl2pPr algn="ctr" defTabSz="3135999" rtl="0" eaLnBrk="0" fontAlgn="base" hangingPunct="0">
        <a:spcBef>
          <a:spcPct val="0"/>
        </a:spcBef>
        <a:spcAft>
          <a:spcPct val="0"/>
        </a:spcAft>
        <a:defRPr sz="15201">
          <a:solidFill>
            <a:schemeClr val="tx2"/>
          </a:solidFill>
          <a:latin typeface="Arial" pitchFamily="34" charset="0"/>
        </a:defRPr>
      </a:lvl2pPr>
      <a:lvl3pPr algn="ctr" defTabSz="3135999" rtl="0" eaLnBrk="0" fontAlgn="base" hangingPunct="0">
        <a:spcBef>
          <a:spcPct val="0"/>
        </a:spcBef>
        <a:spcAft>
          <a:spcPct val="0"/>
        </a:spcAft>
        <a:defRPr sz="15201">
          <a:solidFill>
            <a:schemeClr val="tx2"/>
          </a:solidFill>
          <a:latin typeface="Arial" pitchFamily="34" charset="0"/>
        </a:defRPr>
      </a:lvl3pPr>
      <a:lvl4pPr algn="ctr" defTabSz="3135999" rtl="0" eaLnBrk="0" fontAlgn="base" hangingPunct="0">
        <a:spcBef>
          <a:spcPct val="0"/>
        </a:spcBef>
        <a:spcAft>
          <a:spcPct val="0"/>
        </a:spcAft>
        <a:defRPr sz="15201">
          <a:solidFill>
            <a:schemeClr val="tx2"/>
          </a:solidFill>
          <a:latin typeface="Arial" pitchFamily="34" charset="0"/>
        </a:defRPr>
      </a:lvl4pPr>
      <a:lvl5pPr algn="ctr" defTabSz="3135999" rtl="0" eaLnBrk="0" fontAlgn="base" hangingPunct="0">
        <a:spcBef>
          <a:spcPct val="0"/>
        </a:spcBef>
        <a:spcAft>
          <a:spcPct val="0"/>
        </a:spcAft>
        <a:defRPr sz="15201">
          <a:solidFill>
            <a:schemeClr val="tx2"/>
          </a:solidFill>
          <a:latin typeface="Arial" pitchFamily="34" charset="0"/>
        </a:defRPr>
      </a:lvl5pPr>
      <a:lvl6pPr marL="304815" algn="ctr" defTabSz="3135999" rtl="0" fontAlgn="base">
        <a:spcBef>
          <a:spcPct val="0"/>
        </a:spcBef>
        <a:spcAft>
          <a:spcPct val="0"/>
        </a:spcAft>
        <a:defRPr sz="15201">
          <a:solidFill>
            <a:schemeClr val="tx2"/>
          </a:solidFill>
          <a:latin typeface="Arial" pitchFamily="34" charset="0"/>
        </a:defRPr>
      </a:lvl6pPr>
      <a:lvl7pPr marL="609630" algn="ctr" defTabSz="3135999" rtl="0" fontAlgn="base">
        <a:spcBef>
          <a:spcPct val="0"/>
        </a:spcBef>
        <a:spcAft>
          <a:spcPct val="0"/>
        </a:spcAft>
        <a:defRPr sz="15201">
          <a:solidFill>
            <a:schemeClr val="tx2"/>
          </a:solidFill>
          <a:latin typeface="Arial" pitchFamily="34" charset="0"/>
        </a:defRPr>
      </a:lvl7pPr>
      <a:lvl8pPr marL="914446" algn="ctr" defTabSz="3135999" rtl="0" fontAlgn="base">
        <a:spcBef>
          <a:spcPct val="0"/>
        </a:spcBef>
        <a:spcAft>
          <a:spcPct val="0"/>
        </a:spcAft>
        <a:defRPr sz="15201">
          <a:solidFill>
            <a:schemeClr val="tx2"/>
          </a:solidFill>
          <a:latin typeface="Arial" pitchFamily="34" charset="0"/>
        </a:defRPr>
      </a:lvl8pPr>
      <a:lvl9pPr marL="1219261" algn="ctr" defTabSz="3135999" rtl="0" fontAlgn="base">
        <a:spcBef>
          <a:spcPct val="0"/>
        </a:spcBef>
        <a:spcAft>
          <a:spcPct val="0"/>
        </a:spcAft>
        <a:defRPr sz="15201">
          <a:solidFill>
            <a:schemeClr val="tx2"/>
          </a:solidFill>
          <a:latin typeface="Arial" pitchFamily="34" charset="0"/>
        </a:defRPr>
      </a:lvl9pPr>
    </p:titleStyle>
    <p:bodyStyle>
      <a:defPPr>
        <a:defRPr kern="1200"/>
      </a:defPPr>
      <a:lvl1pPr marL="1177984" indent="-1177984" algn="l" defTabSz="3135999" rtl="0" eaLnBrk="0" fontAlgn="base" hangingPunct="0">
        <a:spcBef>
          <a:spcPct val="20000"/>
        </a:spcBef>
        <a:spcAft>
          <a:spcPct val="0"/>
        </a:spcAft>
        <a:buChar char="•"/>
        <a:defRPr sz="10934">
          <a:solidFill>
            <a:schemeClr val="tx1"/>
          </a:solidFill>
          <a:latin typeface="+mn-lt"/>
          <a:ea typeface="+mn-ea"/>
          <a:cs typeface="+mn-cs"/>
        </a:defRPr>
      </a:lvl1pPr>
      <a:lvl2pPr marL="2548594" indent="-981124" algn="l" defTabSz="3135999" rtl="0" eaLnBrk="0" fontAlgn="base" hangingPunct="0">
        <a:spcBef>
          <a:spcPct val="20000"/>
        </a:spcBef>
        <a:spcAft>
          <a:spcPct val="0"/>
        </a:spcAft>
        <a:buChar char="–"/>
        <a:defRPr sz="9600">
          <a:solidFill>
            <a:schemeClr val="tx1"/>
          </a:solidFill>
          <a:latin typeface="+mn-lt"/>
        </a:defRPr>
      </a:lvl2pPr>
      <a:lvl3pPr marL="3920263" indent="-784265" algn="l" defTabSz="3135999" rtl="0" eaLnBrk="0" fontAlgn="base" hangingPunct="0">
        <a:spcBef>
          <a:spcPct val="20000"/>
        </a:spcBef>
        <a:spcAft>
          <a:spcPct val="0"/>
        </a:spcAft>
        <a:buChar char="•"/>
        <a:defRPr sz="8267">
          <a:solidFill>
            <a:schemeClr val="tx1"/>
          </a:solidFill>
          <a:latin typeface="+mn-lt"/>
        </a:defRPr>
      </a:lvl3pPr>
      <a:lvl4pPr marL="5486674" indent="-783206" algn="l" defTabSz="3135999" rtl="0" eaLnBrk="0" fontAlgn="base" hangingPunct="0">
        <a:spcBef>
          <a:spcPct val="20000"/>
        </a:spcBef>
        <a:spcAft>
          <a:spcPct val="0"/>
        </a:spcAft>
        <a:buChar char="–"/>
        <a:defRPr sz="6934">
          <a:solidFill>
            <a:schemeClr val="tx1"/>
          </a:solidFill>
          <a:latin typeface="+mn-lt"/>
        </a:defRPr>
      </a:lvl4pPr>
      <a:lvl5pPr marL="7054145" indent="-784265" algn="l" defTabSz="3135999" rtl="0" eaLnBrk="0" fontAlgn="base" hangingPunct="0">
        <a:spcBef>
          <a:spcPct val="20000"/>
        </a:spcBef>
        <a:spcAft>
          <a:spcPct val="0"/>
        </a:spcAft>
        <a:buChar char="»"/>
        <a:defRPr sz="6934">
          <a:solidFill>
            <a:schemeClr val="tx1"/>
          </a:solidFill>
          <a:latin typeface="+mn-lt"/>
        </a:defRPr>
      </a:lvl5pPr>
      <a:lvl6pPr marL="7358960" indent="-784265" algn="l" defTabSz="3135999" rtl="0" fontAlgn="base">
        <a:spcBef>
          <a:spcPct val="20000"/>
        </a:spcBef>
        <a:spcAft>
          <a:spcPct val="0"/>
        </a:spcAft>
        <a:buChar char="»"/>
        <a:defRPr sz="6934">
          <a:solidFill>
            <a:schemeClr val="tx1"/>
          </a:solidFill>
          <a:latin typeface="+mn-lt"/>
        </a:defRPr>
      </a:lvl6pPr>
      <a:lvl7pPr marL="7663775" indent="-784265" algn="l" defTabSz="3135999" rtl="0" fontAlgn="base">
        <a:spcBef>
          <a:spcPct val="20000"/>
        </a:spcBef>
        <a:spcAft>
          <a:spcPct val="0"/>
        </a:spcAft>
        <a:buChar char="»"/>
        <a:defRPr sz="6934">
          <a:solidFill>
            <a:schemeClr val="tx1"/>
          </a:solidFill>
          <a:latin typeface="+mn-lt"/>
        </a:defRPr>
      </a:lvl7pPr>
      <a:lvl8pPr marL="7968590" indent="-784265" algn="l" defTabSz="3135999" rtl="0" fontAlgn="base">
        <a:spcBef>
          <a:spcPct val="20000"/>
        </a:spcBef>
        <a:spcAft>
          <a:spcPct val="0"/>
        </a:spcAft>
        <a:buChar char="»"/>
        <a:defRPr sz="6934">
          <a:solidFill>
            <a:schemeClr val="tx1"/>
          </a:solidFill>
          <a:latin typeface="+mn-lt"/>
        </a:defRPr>
      </a:lvl8pPr>
      <a:lvl9pPr marL="8273406" indent="-784265" algn="l" defTabSz="3135999" rtl="0" fontAlgn="base">
        <a:spcBef>
          <a:spcPct val="20000"/>
        </a:spcBef>
        <a:spcAft>
          <a:spcPct val="0"/>
        </a:spcAft>
        <a:buChar char="»"/>
        <a:defRPr sz="6934">
          <a:solidFill>
            <a:schemeClr val="tx1"/>
          </a:solidFill>
          <a:latin typeface="+mn-lt"/>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4"/>
          <p:cNvSpPr>
            <a:spLocks noChangeArrowheads="1"/>
          </p:cNvSpPr>
          <p:nvPr/>
        </p:nvSpPr>
        <p:spPr bwMode="auto">
          <a:xfrm>
            <a:off x="381000" y="702080"/>
            <a:ext cx="32156399" cy="4114800"/>
          </a:xfrm>
          <a:prstGeom prst="roundRect">
            <a:avLst/>
          </a:prstGeom>
          <a:solidFill>
            <a:srgbClr val="2A4A70"/>
          </a:solidFill>
          <a:ln>
            <a:noFill/>
          </a:ln>
        </p:spPr>
        <p:txBody>
          <a:bodyPr lIns="137160" tIns="68580" rIns="137160" bIns="68580" anchor="ctr"/>
          <a:lstStyle>
            <a:defPPr>
              <a:defRPr kern="1200"/>
            </a:defPPr>
          </a:lstStyle>
          <a:p>
            <a:pPr algn="ctr" defTabSz="3135999">
              <a:lnSpc>
                <a:spcPct val="90000"/>
              </a:lnSpc>
            </a:pPr>
            <a:endParaRPr lang="en-US" sz="3267" i="1"/>
          </a:p>
        </p:txBody>
      </p:sp>
      <p:sp>
        <p:nvSpPr>
          <p:cNvPr id="17" name="Text Placeholder 5">
            <a:extLst>
              <a:ext uri="{FF2B5EF4-FFF2-40B4-BE49-F238E27FC236}">
                <a16:creationId xmlns:a16="http://schemas.microsoft.com/office/drawing/2014/main" id="{4264D35B-B8F4-4A85-9FEE-EA091C5FF1BF}"/>
              </a:ext>
            </a:extLst>
          </p:cNvPr>
          <p:cNvSpPr txBox="1"/>
          <p:nvPr/>
        </p:nvSpPr>
        <p:spPr>
          <a:xfrm>
            <a:off x="4229100" y="1462946"/>
            <a:ext cx="24384000" cy="1958293"/>
          </a:xfrm>
          <a:prstGeom prst="rect">
            <a:avLst/>
          </a:prstGeom>
        </p:spPr>
        <p:txBody>
          <a:bodyPr lIns="0" tIns="0" rIns="0" bIns="0">
            <a:noAutofit/>
          </a:bodyPr>
          <a:lstStyle>
            <a:defPPr>
              <a:defRPr kern="1200"/>
            </a:defPPr>
            <a:lvl1pPr marL="0" marR="0" indent="0" algn="l" defTabSz="3783013" rtl="0" eaLnBrk="1" fontAlgn="auto" latinLnBrk="0" hangingPunct="1">
              <a:lnSpc>
                <a:spcPct val="100000"/>
              </a:lnSpc>
              <a:spcBef>
                <a:spcPts val="600"/>
              </a:spcBef>
              <a:spcAft>
                <a:spcPct val="0"/>
              </a:spcAft>
              <a:buClrTx/>
              <a:buSzTx/>
              <a:buFontTx/>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defTabSz="2507516">
              <a:spcBef>
                <a:spcPct val="20000"/>
              </a:spcBef>
              <a:defRPr/>
            </a:pPr>
            <a:r>
              <a:rPr lang="en-US" sz="7200" dirty="0">
                <a:solidFill>
                  <a:schemeClr val="bg1"/>
                </a:solidFill>
                <a:latin typeface="Amaranth" panose="02000503050000020004" pitchFamily="2" charset="0"/>
              </a:rPr>
              <a:t>Autosomal Dominant Polycystic Liver Disease</a:t>
            </a:r>
          </a:p>
        </p:txBody>
      </p:sp>
      <p:sp>
        <p:nvSpPr>
          <p:cNvPr id="18" name="Text Placeholder 5">
            <a:extLst>
              <a:ext uri="{FF2B5EF4-FFF2-40B4-BE49-F238E27FC236}">
                <a16:creationId xmlns:a16="http://schemas.microsoft.com/office/drawing/2014/main" id="{ED235A1B-42BF-4F24-80BC-47A0B3B251F1}"/>
              </a:ext>
            </a:extLst>
          </p:cNvPr>
          <p:cNvSpPr txBox="1"/>
          <p:nvPr/>
        </p:nvSpPr>
        <p:spPr>
          <a:xfrm>
            <a:off x="4267200" y="2823024"/>
            <a:ext cx="24384000" cy="1264192"/>
          </a:xfrm>
          <a:prstGeom prst="rect">
            <a:avLst/>
          </a:prstGeom>
        </p:spPr>
        <p:txBody>
          <a:bodyPr lIns="0" tIns="0" rIns="0" bIns="0">
            <a:spAutoFit/>
          </a:bodyPr>
          <a:lstStyle>
            <a:defPPr>
              <a:defRPr kern="1200"/>
            </a:defPPr>
            <a:lvl1pPr marL="0" marR="0" indent="0" algn="l" defTabSz="3761086" rtl="0" eaLnBrk="1" fontAlgn="auto" latinLnBrk="0" hangingPunct="1">
              <a:lnSpc>
                <a:spcPct val="100000"/>
              </a:lnSpc>
              <a:spcBef>
                <a:spcPct val="20000"/>
              </a:spcBef>
              <a:spcAft>
                <a:spcPct val="0"/>
              </a:spcAft>
              <a:buClrTx/>
              <a:buSzTx/>
              <a:buFont typeface="Arial" pitchFamily="34" charset="0"/>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a:defRPr/>
            </a:pPr>
            <a:r>
              <a:rPr lang="en-US" sz="3700" dirty="0">
                <a:solidFill>
                  <a:schemeClr val="bg1"/>
                </a:solidFill>
                <a:latin typeface="Titillium Web" panose="00000500000000000000" pitchFamily="2" charset="0"/>
                <a:cs typeface="Arial" pitchFamily="34" charset="0"/>
              </a:rPr>
              <a:t>Jennifer Xu, DO, Phillip Kim, MD</a:t>
            </a:r>
          </a:p>
          <a:p>
            <a:pPr algn="ctr">
              <a:defRPr/>
            </a:pPr>
            <a:r>
              <a:rPr lang="en-US" sz="3700" dirty="0">
                <a:solidFill>
                  <a:schemeClr val="bg1"/>
                </a:solidFill>
                <a:latin typeface="Titillium Web" panose="00000500000000000000" pitchFamily="2" charset="0"/>
                <a:cs typeface="Arial" pitchFamily="34" charset="0"/>
              </a:rPr>
              <a:t>Saint Agnes Medical Center, Fresno, CA</a:t>
            </a:r>
          </a:p>
        </p:txBody>
      </p:sp>
      <p:sp>
        <p:nvSpPr>
          <p:cNvPr id="19" name="TextBox 19">
            <a:extLst>
              <a:ext uri="{FF2B5EF4-FFF2-40B4-BE49-F238E27FC236}">
                <a16:creationId xmlns:a16="http://schemas.microsoft.com/office/drawing/2014/main" id="{B259D497-80B4-4EAC-8538-8496595AAFC2}"/>
              </a:ext>
            </a:extLst>
          </p:cNvPr>
          <p:cNvSpPr txBox="1">
            <a:spLocks noChangeArrowheads="1"/>
          </p:cNvSpPr>
          <p:nvPr/>
        </p:nvSpPr>
        <p:spPr bwMode="auto">
          <a:xfrm>
            <a:off x="823951" y="6295796"/>
            <a:ext cx="10072647" cy="4019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r>
              <a:rPr lang="en-US" sz="2400" dirty="0">
                <a:latin typeface="Calibri" panose="020F0502020204030204" pitchFamily="34" charset="0"/>
                <a:cs typeface="Calibri" panose="020F0502020204030204" pitchFamily="34" charset="0"/>
              </a:rPr>
              <a:t>Autosomal dominant polycystic liver disease (ADPLD) is a genetic condition associated with PRKCSH and SEC6 loss of function mutations which result in progressive growth of liver cysts. ADPLD can cause symptoms secondary to hepatomegaly or hepatic venous outflow tract obstruction but rarely affects liver function. This case follows a patient with imaging showing interval growth in size and number of liver cysts over the past decade who was newly diagnosed with ADPLD on genetic testing. Decision to treat is based on monitoring of cyst growth and symptoms. Treatments are targeted towards symptomatic patients and current options include octreotide, cyst aspiration and sclerosis, and liver resection and transplant.  </a:t>
            </a:r>
          </a:p>
          <a:p>
            <a:pPr algn="just">
              <a:lnSpc>
                <a:spcPct val="110000"/>
              </a:lnSpc>
            </a:pPr>
            <a:endParaRPr lang="en-US" sz="1600" dirty="0">
              <a:latin typeface="Titillium Web" panose="00000500000000000000" pitchFamily="2" charset="0"/>
              <a:cs typeface="Arial" pitchFamily="34" charset="0"/>
            </a:endParaRPr>
          </a:p>
        </p:txBody>
      </p:sp>
      <p:sp>
        <p:nvSpPr>
          <p:cNvPr id="23" name="TextBox 19">
            <a:extLst>
              <a:ext uri="{FF2B5EF4-FFF2-40B4-BE49-F238E27FC236}">
                <a16:creationId xmlns:a16="http://schemas.microsoft.com/office/drawing/2014/main" id="{9247D261-80E6-4008-A48F-EE2502170D44}"/>
              </a:ext>
            </a:extLst>
          </p:cNvPr>
          <p:cNvSpPr txBox="1">
            <a:spLocks noChangeArrowheads="1"/>
          </p:cNvSpPr>
          <p:nvPr/>
        </p:nvSpPr>
        <p:spPr bwMode="auto">
          <a:xfrm>
            <a:off x="11422875" y="6295796"/>
            <a:ext cx="10072647" cy="6604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r>
              <a:rPr lang="en-US" sz="2400" dirty="0">
                <a:latin typeface="Calibri" panose="020F0502020204030204" pitchFamily="34" charset="0"/>
                <a:cs typeface="Calibri" panose="020F0502020204030204" pitchFamily="34" charset="0"/>
              </a:rPr>
              <a:t>59-year-old female with history of incidental liver cysts initially noted about 20 years ago without previous workup presented to establish care. Patient had CT chest in January 2024 for lung cancer screening which showed interval progression of lesions noted throughout the liver. She denied abdominal pain or distention. Recent labs showed liver function tests within normal limit. She had no known family history of cystic disease and no personal history of kidney cysts. CT abdomen in October 2024 showed innumerable low-density non-enhancing cysts throughout the liver markedly increased in number and size compared to CT from 2007; new hepatomegaly measuring 22.1 cm. Ultrasound showed largest cyst in right lobe measured 6.6 cm in diameter. Patient agreed to testing for PRKCSH and SEC63 genes. Results confirmed the presence of a pathogenic variant c.374_375del (p.Glu125Valfs*21) in PRKCSH. After discussion of these results, patient’s daughter also decided to undergo genetic testing to evaluate for disease risk. Patient was referred to UCSF Hepatology Clinic with plan to evaluate for liver fibrosis with </a:t>
            </a:r>
            <a:r>
              <a:rPr lang="en-US" sz="2400" dirty="0" err="1">
                <a:latin typeface="Calibri" panose="020F0502020204030204" pitchFamily="34" charset="0"/>
                <a:cs typeface="Calibri" panose="020F0502020204030204" pitchFamily="34" charset="0"/>
              </a:rPr>
              <a:t>fibroscan</a:t>
            </a:r>
            <a:r>
              <a:rPr lang="en-US" sz="2400" dirty="0">
                <a:latin typeface="Calibri" panose="020F0502020204030204" pitchFamily="34" charset="0"/>
                <a:cs typeface="Calibri" panose="020F0502020204030204" pitchFamily="34" charset="0"/>
              </a:rPr>
              <a:t>, repeat imaging in 6 months to monitor progression, and consider treatment if she has rapid growth in size or number of hepatic cysts. </a:t>
            </a:r>
          </a:p>
          <a:p>
            <a:pPr algn="just">
              <a:lnSpc>
                <a:spcPct val="110000"/>
              </a:lnSpc>
            </a:pPr>
            <a:r>
              <a:rPr lang="en-US" sz="1600" dirty="0">
                <a:latin typeface="Titillium Web" panose="00000500000000000000" pitchFamily="2" charset="0"/>
                <a:cs typeface="Arial" pitchFamily="34" charset="0"/>
              </a:rPr>
              <a:t>.</a:t>
            </a:r>
          </a:p>
        </p:txBody>
      </p:sp>
      <p:sp>
        <p:nvSpPr>
          <p:cNvPr id="25" name="TextBox 19">
            <a:extLst>
              <a:ext uri="{FF2B5EF4-FFF2-40B4-BE49-F238E27FC236}">
                <a16:creationId xmlns:a16="http://schemas.microsoft.com/office/drawing/2014/main" id="{D6F48894-7BDB-43BE-B25A-3CBBFD463C85}"/>
              </a:ext>
            </a:extLst>
          </p:cNvPr>
          <p:cNvSpPr txBox="1">
            <a:spLocks noChangeArrowheads="1"/>
          </p:cNvSpPr>
          <p:nvPr/>
        </p:nvSpPr>
        <p:spPr bwMode="auto">
          <a:xfrm>
            <a:off x="22035653" y="6238915"/>
            <a:ext cx="9814954" cy="7078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r>
              <a:rPr lang="en-US" sz="2400" dirty="0">
                <a:latin typeface="Calibri" panose="020F0502020204030204" pitchFamily="34" charset="0"/>
                <a:cs typeface="Calibri" panose="020F0502020204030204" pitchFamily="34" charset="0"/>
              </a:rPr>
              <a:t>Patients with ADPLD may develop symptoms related to hepatomegaly or hepatic venous outflow tract obstruction. Complications such as cyst hemorrhage, rupture, or infection are less common in ADPLD compared to ADPKD.</a:t>
            </a:r>
            <a:r>
              <a:rPr lang="en-US" sz="2400" baseline="30000" dirty="0">
                <a:latin typeface="Calibri" panose="020F0502020204030204" pitchFamily="34" charset="0"/>
                <a:cs typeface="Calibri" panose="020F0502020204030204" pitchFamily="34" charset="0"/>
              </a:rPr>
              <a:t>2</a:t>
            </a:r>
            <a:r>
              <a:rPr lang="en-US" sz="2400" dirty="0">
                <a:latin typeface="Calibri" panose="020F0502020204030204" pitchFamily="34" charset="0"/>
                <a:cs typeface="Calibri" panose="020F0502020204030204" pitchFamily="34" charset="0"/>
              </a:rPr>
              <a:t> Since only about 5% of patients with polycystic liver develop significant symptoms, current recommendations indicate treatment for symptomatic patients with the goal to reduce liver volume. The only currently available pharmacotherapy is somatostatin analogs (octreotide) though other targets are being explored in preclinical and clinical trials. Somatostatin analogs have been shown to be effective in reducing total liver volume in early-stage patients, though more benefits have been shown in patients &lt;45 years old as the medication targets rapid cyst proliferation due to estrogen.</a:t>
            </a:r>
            <a:r>
              <a:rPr lang="en-US" sz="2400" baseline="30000" dirty="0">
                <a:latin typeface="Calibri" panose="020F0502020204030204" pitchFamily="34" charset="0"/>
                <a:cs typeface="Calibri" panose="020F0502020204030204" pitchFamily="34" charset="0"/>
              </a:rPr>
              <a:t>1,5 </a:t>
            </a:r>
            <a:r>
              <a:rPr lang="en-US" sz="2400" dirty="0">
                <a:latin typeface="Calibri" panose="020F0502020204030204" pitchFamily="34" charset="0"/>
                <a:cs typeface="Calibri" panose="020F0502020204030204" pitchFamily="34" charset="0"/>
              </a:rPr>
              <a:t>For patients with dominant cyst &gt;5cm, aspiration with sclerotherapy may reduce symptom severity, however this approach is limited in practice as most patients have multiple cysts.</a:t>
            </a:r>
            <a:r>
              <a:rPr lang="en-US" sz="2400" baseline="30000" dirty="0">
                <a:latin typeface="Calibri" panose="020F0502020204030204" pitchFamily="34" charset="0"/>
                <a:cs typeface="Calibri" panose="020F0502020204030204" pitchFamily="34" charset="0"/>
              </a:rPr>
              <a:t>2,3</a:t>
            </a:r>
            <a:r>
              <a:rPr lang="en-US" sz="2400" dirty="0">
                <a:latin typeface="Calibri" panose="020F0502020204030204" pitchFamily="34" charset="0"/>
                <a:cs typeface="Calibri" panose="020F0502020204030204" pitchFamily="34" charset="0"/>
              </a:rPr>
              <a:t> For patients with few large cysts, laparoscopic fenestration can treat multiple cysts in single intervention, but there is mixed evidence for the benefit of this treatment.</a:t>
            </a:r>
            <a:r>
              <a:rPr lang="en-US" sz="2400" baseline="30000" dirty="0">
                <a:latin typeface="Calibri" panose="020F0502020204030204" pitchFamily="34" charset="0"/>
                <a:cs typeface="Calibri" panose="020F0502020204030204" pitchFamily="34" charset="0"/>
              </a:rPr>
              <a:t>1,2,3 </a:t>
            </a:r>
            <a:r>
              <a:rPr lang="en-US" sz="2400" dirty="0">
                <a:latin typeface="Calibri" panose="020F0502020204030204" pitchFamily="34" charset="0"/>
                <a:cs typeface="Calibri" panose="020F0502020204030204" pitchFamily="34" charset="0"/>
              </a:rPr>
              <a:t>Hepatic resection is effective in reducing liver volume however is associated with significant morbidity and mortality and may result in post-procedure abdominal adhesions that interfere with liver transplant if needed.</a:t>
            </a:r>
            <a:r>
              <a:rPr lang="en-US" sz="2400" baseline="30000" dirty="0">
                <a:latin typeface="Calibri" panose="020F0502020204030204" pitchFamily="34" charset="0"/>
                <a:cs typeface="Calibri" panose="020F0502020204030204" pitchFamily="34" charset="0"/>
              </a:rPr>
              <a:t>2</a:t>
            </a:r>
            <a:endParaRPr lang="en-US" sz="1600" dirty="0">
              <a:latin typeface="Titillium Web" panose="00000500000000000000" pitchFamily="2" charset="0"/>
              <a:cs typeface="Arial" pitchFamily="34" charset="0"/>
            </a:endParaRPr>
          </a:p>
        </p:txBody>
      </p:sp>
      <p:sp>
        <p:nvSpPr>
          <p:cNvPr id="27" name="TextBox 19">
            <a:extLst>
              <a:ext uri="{FF2B5EF4-FFF2-40B4-BE49-F238E27FC236}">
                <a16:creationId xmlns:a16="http://schemas.microsoft.com/office/drawing/2014/main" id="{D1DF76C2-CA55-4287-8208-00375EA04995}"/>
              </a:ext>
            </a:extLst>
          </p:cNvPr>
          <p:cNvSpPr txBox="1">
            <a:spLocks noChangeArrowheads="1"/>
          </p:cNvSpPr>
          <p:nvPr/>
        </p:nvSpPr>
        <p:spPr bwMode="auto">
          <a:xfrm>
            <a:off x="798144" y="11417366"/>
            <a:ext cx="10072647" cy="4493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r>
              <a:rPr lang="en-US" sz="2400" dirty="0">
                <a:latin typeface="Calibri" panose="020F0502020204030204" pitchFamily="34" charset="0"/>
                <a:cs typeface="Calibri" panose="020F0502020204030204" pitchFamily="34" charset="0"/>
              </a:rPr>
              <a:t>ADPLD is a genetic condition affecting 1/100,000 individuals characterized by progressive growth of cysts throughout the liver. The number and volume of cysts in ADPLD are typically greater than in autosomal dominant polycystic kidney disease (ADPKD) in which kidney cysts are the primary feature and extrarenal manifestation of liver cysts are common.</a:t>
            </a:r>
            <a:r>
              <a:rPr lang="en-US" sz="2400" baseline="30000" dirty="0">
                <a:latin typeface="Calibri" panose="020F0502020204030204" pitchFamily="34" charset="0"/>
                <a:cs typeface="Calibri" panose="020F0502020204030204" pitchFamily="34" charset="0"/>
              </a:rPr>
              <a:t>1</a:t>
            </a:r>
            <a:r>
              <a:rPr lang="en-US" sz="2400" dirty="0">
                <a:latin typeface="Calibri" panose="020F0502020204030204" pitchFamily="34" charset="0"/>
                <a:cs typeface="Calibri" panose="020F0502020204030204" pitchFamily="34" charset="0"/>
              </a:rPr>
              <a:t> Although most patients remain asymptomatic, about 5% of ADPLD patients may develop symptoms from hepatomegaly or location of cysts, including abdominal pain, early satiety, postprandial fullness, nausea and vomiting, followed by weight loss, dyspnea, and in rare cases jaundice or portal hypertension.</a:t>
            </a:r>
            <a:r>
              <a:rPr lang="en-US" sz="2400" baseline="30000" dirty="0">
                <a:latin typeface="Calibri" panose="020F0502020204030204" pitchFamily="34" charset="0"/>
                <a:cs typeface="Calibri" panose="020F0502020204030204" pitchFamily="34" charset="0"/>
              </a:rPr>
              <a:t>1,2,3</a:t>
            </a:r>
            <a:r>
              <a:rPr lang="en-US" sz="2400" dirty="0">
                <a:latin typeface="Calibri" panose="020F0502020204030204" pitchFamily="34" charset="0"/>
                <a:cs typeface="Calibri" panose="020F0502020204030204" pitchFamily="34" charset="0"/>
              </a:rPr>
              <a:t> Liver function is generally not affected. Diagnosis is based on family history, clinical symptoms, and radiological evidence with US or CT showing presence of more than 20 hepatic cysts without kidney cysts in individuals without family history.</a:t>
            </a:r>
            <a:r>
              <a:rPr lang="en-US" sz="2400" baseline="30000" dirty="0">
                <a:latin typeface="Calibri" panose="020F0502020204030204" pitchFamily="34" charset="0"/>
                <a:cs typeface="Calibri" panose="020F0502020204030204" pitchFamily="34" charset="0"/>
              </a:rPr>
              <a:t>2</a:t>
            </a:r>
            <a:endParaRPr lang="en-US" sz="1600" dirty="0">
              <a:latin typeface="Titillium Web" panose="00000500000000000000" pitchFamily="2" charset="0"/>
              <a:cs typeface="Arial" pitchFamily="34" charset="0"/>
            </a:endParaRPr>
          </a:p>
        </p:txBody>
      </p:sp>
      <p:sp>
        <p:nvSpPr>
          <p:cNvPr id="31" name="TextBox 19">
            <a:extLst>
              <a:ext uri="{FF2B5EF4-FFF2-40B4-BE49-F238E27FC236}">
                <a16:creationId xmlns:a16="http://schemas.microsoft.com/office/drawing/2014/main" id="{C2BCD34B-62AE-4E64-9D21-E50C4B9B1350}"/>
              </a:ext>
            </a:extLst>
          </p:cNvPr>
          <p:cNvSpPr txBox="1">
            <a:spLocks noChangeArrowheads="1"/>
          </p:cNvSpPr>
          <p:nvPr/>
        </p:nvSpPr>
        <p:spPr bwMode="auto">
          <a:xfrm>
            <a:off x="22047611" y="18589640"/>
            <a:ext cx="9880190" cy="2696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r>
              <a:rPr lang="en-US" sz="1400" dirty="0"/>
              <a:t>1. </a:t>
            </a:r>
            <a:r>
              <a:rPr lang="en-US" sz="1400" dirty="0" err="1"/>
              <a:t>Masyuk</a:t>
            </a:r>
            <a:r>
              <a:rPr lang="en-US" sz="1400" dirty="0"/>
              <a:t> TV, </a:t>
            </a:r>
            <a:r>
              <a:rPr lang="en-US" sz="1400" dirty="0" err="1"/>
              <a:t>Masyuk</a:t>
            </a:r>
            <a:r>
              <a:rPr lang="en-US" sz="1400" dirty="0"/>
              <a:t> AI, </a:t>
            </a:r>
            <a:r>
              <a:rPr lang="en-US" sz="1400" dirty="0" err="1"/>
              <a:t>LaRusso</a:t>
            </a:r>
            <a:r>
              <a:rPr lang="en-US" sz="1400" dirty="0"/>
              <a:t> NF. Therapeutic Targets in Polycystic Liver Disease. </a:t>
            </a:r>
            <a:r>
              <a:rPr lang="en-US" sz="1400" i="1" dirty="0"/>
              <a:t>Current drug targets</a:t>
            </a:r>
            <a:r>
              <a:rPr lang="en-US" sz="1400" dirty="0"/>
              <a:t>. 2017;18(8):950-957. </a:t>
            </a:r>
            <a:r>
              <a:rPr lang="en-US" sz="1400" dirty="0" err="1"/>
              <a:t>doi:https</a:t>
            </a:r>
            <a:r>
              <a:rPr lang="en-US" sz="1400" dirty="0"/>
              <a:t>://</a:t>
            </a:r>
            <a:r>
              <a:rPr lang="en-US" sz="1400" dirty="0" err="1"/>
              <a:t>doi.org</a:t>
            </a:r>
            <a:r>
              <a:rPr lang="en-US" sz="1400" dirty="0"/>
              <a:t>/10.2174/1389450116666150427161743</a:t>
            </a:r>
          </a:p>
          <a:p>
            <a:r>
              <a:rPr lang="en-US" sz="1400" dirty="0"/>
              <a:t>2. Norcia LF, Watanabe EM, </a:t>
            </a:r>
            <a:r>
              <a:rPr lang="en-US" sz="1400" dirty="0" err="1"/>
              <a:t>Hamamoto</a:t>
            </a:r>
            <a:r>
              <a:rPr lang="en-US" sz="1400" dirty="0"/>
              <a:t> Filho PT, et al. Polycystic Liver Disease: Pathophysiology, Diagnosis and Treatment. </a:t>
            </a:r>
            <a:r>
              <a:rPr lang="en-US" sz="1400" i="1" dirty="0"/>
              <a:t>Hepatic Medicine: Evidence and Research</a:t>
            </a:r>
            <a:r>
              <a:rPr lang="en-US" sz="1400" dirty="0"/>
              <a:t>. 2022; 14:135-161. </a:t>
            </a:r>
            <a:r>
              <a:rPr lang="en-US" sz="1400" dirty="0" err="1"/>
              <a:t>doi:https</a:t>
            </a:r>
            <a:r>
              <a:rPr lang="en-US" sz="1400" dirty="0"/>
              <a:t>://</a:t>
            </a:r>
            <a:r>
              <a:rPr lang="en-US" sz="1400" dirty="0" err="1"/>
              <a:t>doi.org</a:t>
            </a:r>
            <a:r>
              <a:rPr lang="en-US" sz="1400" dirty="0"/>
              <a:t>/10.2147/hmer.s377530</a:t>
            </a:r>
          </a:p>
          <a:p>
            <a:r>
              <a:rPr lang="en-US" sz="1400" dirty="0"/>
              <a:t>3. </a:t>
            </a:r>
            <a:r>
              <a:rPr lang="en-US" sz="1400" dirty="0" err="1"/>
              <a:t>Duijzer</a:t>
            </a:r>
            <a:r>
              <a:rPr lang="en-US" sz="1400" dirty="0"/>
              <a:t> R, </a:t>
            </a:r>
            <a:r>
              <a:rPr lang="en-US" sz="1400" dirty="0" err="1"/>
              <a:t>Barten</a:t>
            </a:r>
            <a:r>
              <a:rPr lang="en-US" sz="1400" dirty="0"/>
              <a:t> T, Staring C, </a:t>
            </a:r>
            <a:r>
              <a:rPr lang="en-US" sz="1400" dirty="0" err="1"/>
              <a:t>Drenth</a:t>
            </a:r>
            <a:r>
              <a:rPr lang="en-US" sz="1400" dirty="0"/>
              <a:t> J, </a:t>
            </a:r>
            <a:r>
              <a:rPr lang="en-US" sz="1400" dirty="0" err="1"/>
              <a:t>Gevers</a:t>
            </a:r>
            <a:r>
              <a:rPr lang="en-US" sz="1400" dirty="0"/>
              <a:t> T. Treatment of Polycystic Liver Disease: Impact on Patient-reported Symptom Severity and Health-related Quality of Life. </a:t>
            </a:r>
            <a:r>
              <a:rPr lang="en-US" sz="1400" i="1" dirty="0"/>
              <a:t>J Clin Gastroenterol</a:t>
            </a:r>
            <a:r>
              <a:rPr lang="en-US" sz="1400" dirty="0"/>
              <a:t>. 2022;56(9):731-739.</a:t>
            </a:r>
          </a:p>
          <a:p>
            <a:r>
              <a:rPr lang="en-US" sz="1400" dirty="0"/>
              <a:t>4. </a:t>
            </a:r>
            <a:r>
              <a:rPr lang="en-US" sz="1400" dirty="0" err="1"/>
              <a:t>Banales</a:t>
            </a:r>
            <a:r>
              <a:rPr lang="en-US" sz="1400" dirty="0"/>
              <a:t> JM. Somatic second-hit mutations leads to polycystic liver diseases. </a:t>
            </a:r>
            <a:r>
              <a:rPr lang="en-US" sz="1400" i="1" dirty="0"/>
              <a:t>World Journal of Gastroenterology</a:t>
            </a:r>
            <a:r>
              <a:rPr lang="en-US" sz="1400" dirty="0"/>
              <a:t>. 2013;19(1):141. </a:t>
            </a:r>
            <a:r>
              <a:rPr lang="en-US" sz="1400" dirty="0" err="1"/>
              <a:t>doi:https</a:t>
            </a:r>
            <a:r>
              <a:rPr lang="en-US" sz="1400" dirty="0"/>
              <a:t>://</a:t>
            </a:r>
            <a:r>
              <a:rPr lang="en-US" sz="1400" dirty="0" err="1"/>
              <a:t>doi.org</a:t>
            </a:r>
            <a:r>
              <a:rPr lang="en-US" sz="1400" dirty="0"/>
              <a:t>/10.3748/wjg.v19.i1.141</a:t>
            </a:r>
          </a:p>
          <a:p>
            <a:r>
              <a:rPr lang="en-US" sz="1400" dirty="0"/>
              <a:t>5. </a:t>
            </a:r>
            <a:r>
              <a:rPr lang="en-US" sz="1400" dirty="0" err="1"/>
              <a:t>Suwabe</a:t>
            </a:r>
            <a:r>
              <a:rPr lang="en-US" sz="1400" dirty="0"/>
              <a:t> T, Barrera FJ, Rodriguez-Gutierrez R, </a:t>
            </a:r>
            <a:r>
              <a:rPr lang="en-US" sz="1400" dirty="0" err="1"/>
              <a:t>Ubara</a:t>
            </a:r>
            <a:r>
              <a:rPr lang="en-US" sz="1400" dirty="0"/>
              <a:t> Y, Hogan MC. Somatostatin analog therapy effectiveness on the progression of polycystic kidney and liver disease: A systematic review and </a:t>
            </a:r>
            <a:r>
              <a:rPr lang="en-US" sz="1400" dirty="0" err="1"/>
              <a:t>metaanalysis</a:t>
            </a:r>
            <a:r>
              <a:rPr lang="en-US" sz="1400" dirty="0"/>
              <a:t> of randomized clinical trials. </a:t>
            </a:r>
            <a:r>
              <a:rPr lang="en-US" sz="1400" i="1" dirty="0" err="1"/>
              <a:t>PLoS</a:t>
            </a:r>
            <a:r>
              <a:rPr lang="en-US" sz="1400" i="1" dirty="0"/>
              <a:t> ONE</a:t>
            </a:r>
            <a:r>
              <a:rPr lang="en-US" sz="1400" dirty="0"/>
              <a:t>. 2021;16(9). </a:t>
            </a:r>
            <a:r>
              <a:rPr lang="en-US" sz="1400" dirty="0" err="1"/>
              <a:t>doi:https</a:t>
            </a:r>
            <a:r>
              <a:rPr lang="en-US" sz="1400" dirty="0"/>
              <a:t>://</a:t>
            </a:r>
            <a:r>
              <a:rPr lang="en-US" sz="1400" dirty="0" err="1"/>
              <a:t>doi.org</a:t>
            </a:r>
            <a:r>
              <a:rPr lang="en-US" sz="1400" dirty="0"/>
              <a:t>/10.1371/journal.pone.0257606</a:t>
            </a:r>
          </a:p>
          <a:p>
            <a:pPr algn="just">
              <a:lnSpc>
                <a:spcPct val="110000"/>
              </a:lnSpc>
            </a:pPr>
            <a:r>
              <a:rPr lang="en-US" sz="1600" dirty="0">
                <a:latin typeface="Titillium Web" panose="00000500000000000000" pitchFamily="2" charset="0"/>
                <a:cs typeface="Arial" pitchFamily="34" charset="0"/>
              </a:rPr>
              <a:t>.</a:t>
            </a:r>
          </a:p>
        </p:txBody>
      </p:sp>
      <p:sp>
        <p:nvSpPr>
          <p:cNvPr id="29" name="TextBox 19">
            <a:extLst>
              <a:ext uri="{FF2B5EF4-FFF2-40B4-BE49-F238E27FC236}">
                <a16:creationId xmlns:a16="http://schemas.microsoft.com/office/drawing/2014/main" id="{61C38A20-F85F-4744-B6CC-BB3A40663090}"/>
              </a:ext>
            </a:extLst>
          </p:cNvPr>
          <p:cNvSpPr txBox="1">
            <a:spLocks noChangeArrowheads="1"/>
          </p:cNvSpPr>
          <p:nvPr/>
        </p:nvSpPr>
        <p:spPr bwMode="auto">
          <a:xfrm>
            <a:off x="22035652" y="14082914"/>
            <a:ext cx="9814952" cy="4019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r>
              <a:rPr lang="en-US" sz="2400" dirty="0">
                <a:latin typeface="Calibri" panose="020F0502020204030204" pitchFamily="34" charset="0"/>
                <a:cs typeface="Calibri" panose="020F0502020204030204" pitchFamily="34" charset="0"/>
              </a:rPr>
              <a:t>Existing treatments for ADPLD have shown benefit in reducing symptom severity however these treatments are limited in clinical applications. In this case study, the patient is not the optimal candidate for octreotide given her age, postmenopausal status, and mild symptoms. The goal of routine monitoring is to prevent the development of symptoms requiring invasive interventions such as liver resection or transplant. Genetic testing also provides the opportunity to screen family members for early identification of disease risk. Although current guidelines recommend initiating treatment only in symptomatic patients, new research including identification of the genetic basis of ADPLD may lead to treatments that target early stages of the disease.</a:t>
            </a:r>
          </a:p>
          <a:p>
            <a:pPr algn="just">
              <a:lnSpc>
                <a:spcPct val="110000"/>
              </a:lnSpc>
            </a:pPr>
            <a:endParaRPr lang="en-US" sz="1600" dirty="0">
              <a:latin typeface="Titillium Web" panose="00000500000000000000" pitchFamily="2" charset="0"/>
              <a:cs typeface="Arial" pitchFamily="34" charset="0"/>
            </a:endParaRPr>
          </a:p>
        </p:txBody>
      </p:sp>
      <p:sp>
        <p:nvSpPr>
          <p:cNvPr id="39" name="TextBox 38">
            <a:extLst>
              <a:ext uri="{FF2B5EF4-FFF2-40B4-BE49-F238E27FC236}">
                <a16:creationId xmlns:a16="http://schemas.microsoft.com/office/drawing/2014/main" id="{CD78A31B-3E41-4A83-94E1-8D455D061FD9}"/>
              </a:ext>
            </a:extLst>
          </p:cNvPr>
          <p:cNvSpPr txBox="1"/>
          <p:nvPr/>
        </p:nvSpPr>
        <p:spPr>
          <a:xfrm>
            <a:off x="22035652" y="13248629"/>
            <a:ext cx="9814953" cy="830997"/>
          </a:xfrm>
          <a:prstGeom prst="rect">
            <a:avLst/>
          </a:prstGeom>
          <a:solidFill>
            <a:schemeClr val="tx2"/>
          </a:solidFill>
          <a:ln>
            <a:noFill/>
          </a:ln>
          <a:effectLst/>
        </p:spPr>
        <p:style>
          <a:lnRef idx="2">
            <a:schemeClr val="dk1"/>
          </a:lnRef>
          <a:fillRef idx="1">
            <a:schemeClr val="lt1"/>
          </a:fillRef>
          <a:effectRef idx="0">
            <a:schemeClr val="dk1"/>
          </a:effectRef>
          <a:fontRef idx="minor">
            <a:schemeClr val="dk1"/>
          </a:fontRef>
        </p:style>
        <p:txBody>
          <a:bodyPr wrap="square" lIns="182880" rIns="182880" rtlCol="0">
            <a:spAutoFit/>
          </a:bodyPr>
          <a:lstStyle/>
          <a:p>
            <a:pPr algn="ctr" defTabSz="3135215">
              <a:defRPr/>
            </a:pPr>
            <a:r>
              <a:rPr lang="en-US" sz="4800" dirty="0">
                <a:solidFill>
                  <a:schemeClr val="bg1"/>
                </a:solidFill>
                <a:latin typeface="Calibri" panose="020F0502020204030204" pitchFamily="34" charset="0"/>
                <a:cs typeface="Calibri" panose="020F0502020204030204" pitchFamily="34" charset="0"/>
              </a:rPr>
              <a:t>Conclusion</a:t>
            </a:r>
          </a:p>
        </p:txBody>
      </p:sp>
      <p:sp>
        <p:nvSpPr>
          <p:cNvPr id="41" name="TextBox 40">
            <a:extLst>
              <a:ext uri="{FF2B5EF4-FFF2-40B4-BE49-F238E27FC236}">
                <a16:creationId xmlns:a16="http://schemas.microsoft.com/office/drawing/2014/main" id="{5682A469-0F6C-4CD1-861C-F6138AA1CFF5}"/>
              </a:ext>
            </a:extLst>
          </p:cNvPr>
          <p:cNvSpPr txBox="1"/>
          <p:nvPr/>
        </p:nvSpPr>
        <p:spPr>
          <a:xfrm>
            <a:off x="22112849" y="17827776"/>
            <a:ext cx="9814952" cy="769441"/>
          </a:xfrm>
          <a:prstGeom prst="rect">
            <a:avLst/>
          </a:prstGeom>
          <a:solidFill>
            <a:schemeClr val="tx2"/>
          </a:solidFill>
          <a:ln>
            <a:noFill/>
          </a:ln>
          <a:effectLst/>
        </p:spPr>
        <p:style>
          <a:lnRef idx="2">
            <a:schemeClr val="dk1"/>
          </a:lnRef>
          <a:fillRef idx="1">
            <a:schemeClr val="lt1"/>
          </a:fillRef>
          <a:effectRef idx="0">
            <a:schemeClr val="dk1"/>
          </a:effectRef>
          <a:fontRef idx="minor">
            <a:schemeClr val="dk1"/>
          </a:fontRef>
        </p:style>
        <p:txBody>
          <a:bodyPr wrap="square" lIns="182880" rIns="182880" rtlCol="0">
            <a:spAutoFit/>
          </a:bodyPr>
          <a:lstStyle/>
          <a:p>
            <a:pPr algn="ctr" defTabSz="3135215">
              <a:defRPr/>
            </a:pPr>
            <a:r>
              <a:rPr lang="en-US" sz="4400" dirty="0">
                <a:solidFill>
                  <a:schemeClr val="bg1"/>
                </a:solidFill>
                <a:latin typeface="Calibri" panose="020F0502020204030204" pitchFamily="34" charset="0"/>
                <a:cs typeface="Calibri" panose="020F0502020204030204" pitchFamily="34" charset="0"/>
              </a:rPr>
              <a:t>References</a:t>
            </a:r>
          </a:p>
        </p:txBody>
      </p:sp>
      <p:sp>
        <p:nvSpPr>
          <p:cNvPr id="35" name="TextBox 34">
            <a:extLst>
              <a:ext uri="{FF2B5EF4-FFF2-40B4-BE49-F238E27FC236}">
                <a16:creationId xmlns:a16="http://schemas.microsoft.com/office/drawing/2014/main" id="{17220CD8-CD1F-4561-B6F6-872F8B351FDE}"/>
              </a:ext>
            </a:extLst>
          </p:cNvPr>
          <p:cNvSpPr txBox="1"/>
          <p:nvPr/>
        </p:nvSpPr>
        <p:spPr>
          <a:xfrm>
            <a:off x="823952" y="5290825"/>
            <a:ext cx="10072648" cy="830997"/>
          </a:xfrm>
          <a:prstGeom prst="rect">
            <a:avLst/>
          </a:prstGeom>
          <a:solidFill>
            <a:schemeClr val="tx2"/>
          </a:solidFill>
          <a:ln>
            <a:noFill/>
          </a:ln>
          <a:effectLst/>
        </p:spPr>
        <p:style>
          <a:lnRef idx="2">
            <a:schemeClr val="dk1"/>
          </a:lnRef>
          <a:fillRef idx="1">
            <a:schemeClr val="lt1"/>
          </a:fillRef>
          <a:effectRef idx="0">
            <a:schemeClr val="dk1"/>
          </a:effectRef>
          <a:fontRef idx="minor">
            <a:schemeClr val="dk1"/>
          </a:fontRef>
        </p:style>
        <p:txBody>
          <a:bodyPr wrap="square" lIns="182880" rIns="182880" rtlCol="0">
            <a:spAutoFit/>
          </a:bodyPr>
          <a:lstStyle/>
          <a:p>
            <a:pPr algn="ctr" defTabSz="3135215">
              <a:defRPr/>
            </a:pPr>
            <a:r>
              <a:rPr lang="en-US" sz="4800" dirty="0">
                <a:solidFill>
                  <a:schemeClr val="bg1"/>
                </a:solidFill>
                <a:latin typeface="Calibri" panose="020F0502020204030204" pitchFamily="34" charset="0"/>
                <a:cs typeface="Calibri" panose="020F0502020204030204" pitchFamily="34" charset="0"/>
              </a:rPr>
              <a:t>Abstract</a:t>
            </a:r>
          </a:p>
        </p:txBody>
      </p:sp>
      <p:sp>
        <p:nvSpPr>
          <p:cNvPr id="38" name="TextBox 37">
            <a:extLst>
              <a:ext uri="{FF2B5EF4-FFF2-40B4-BE49-F238E27FC236}">
                <a16:creationId xmlns:a16="http://schemas.microsoft.com/office/drawing/2014/main" id="{9A18A5CA-EAF8-4A0C-91E3-652892D85424}"/>
              </a:ext>
            </a:extLst>
          </p:cNvPr>
          <p:cNvSpPr txBox="1"/>
          <p:nvPr/>
        </p:nvSpPr>
        <p:spPr>
          <a:xfrm>
            <a:off x="11422875" y="5290823"/>
            <a:ext cx="10072648" cy="830997"/>
          </a:xfrm>
          <a:prstGeom prst="rect">
            <a:avLst/>
          </a:prstGeom>
          <a:solidFill>
            <a:schemeClr val="tx2"/>
          </a:solidFill>
          <a:ln>
            <a:noFill/>
          </a:ln>
          <a:effectLst/>
        </p:spPr>
        <p:style>
          <a:lnRef idx="2">
            <a:schemeClr val="dk1"/>
          </a:lnRef>
          <a:fillRef idx="1">
            <a:schemeClr val="lt1"/>
          </a:fillRef>
          <a:effectRef idx="0">
            <a:schemeClr val="dk1"/>
          </a:effectRef>
          <a:fontRef idx="minor">
            <a:schemeClr val="dk1"/>
          </a:fontRef>
        </p:style>
        <p:txBody>
          <a:bodyPr wrap="square" lIns="182880" rIns="182880" rtlCol="0">
            <a:spAutoFit/>
          </a:bodyPr>
          <a:lstStyle/>
          <a:p>
            <a:pPr algn="ctr" defTabSz="3135215">
              <a:defRPr/>
            </a:pPr>
            <a:r>
              <a:rPr lang="en-US" sz="4800" dirty="0">
                <a:solidFill>
                  <a:schemeClr val="bg1"/>
                </a:solidFill>
                <a:latin typeface="Calibri" panose="020F0502020204030204" pitchFamily="34" charset="0"/>
                <a:cs typeface="Calibri" panose="020F0502020204030204" pitchFamily="34" charset="0"/>
              </a:rPr>
              <a:t>Case</a:t>
            </a:r>
          </a:p>
        </p:txBody>
      </p:sp>
      <p:sp>
        <p:nvSpPr>
          <p:cNvPr id="40" name="TextBox 39">
            <a:extLst>
              <a:ext uri="{FF2B5EF4-FFF2-40B4-BE49-F238E27FC236}">
                <a16:creationId xmlns:a16="http://schemas.microsoft.com/office/drawing/2014/main" id="{9486D635-9884-427F-9A27-F0D207FACB9C}"/>
              </a:ext>
            </a:extLst>
          </p:cNvPr>
          <p:cNvSpPr txBox="1"/>
          <p:nvPr/>
        </p:nvSpPr>
        <p:spPr>
          <a:xfrm>
            <a:off x="22035652" y="5290817"/>
            <a:ext cx="9814953" cy="830997"/>
          </a:xfrm>
          <a:prstGeom prst="rect">
            <a:avLst/>
          </a:prstGeom>
          <a:solidFill>
            <a:schemeClr val="tx2"/>
          </a:solidFill>
          <a:ln>
            <a:noFill/>
          </a:ln>
          <a:effectLst/>
        </p:spPr>
        <p:style>
          <a:lnRef idx="2">
            <a:schemeClr val="dk1"/>
          </a:lnRef>
          <a:fillRef idx="1">
            <a:schemeClr val="lt1"/>
          </a:fillRef>
          <a:effectRef idx="0">
            <a:schemeClr val="dk1"/>
          </a:effectRef>
          <a:fontRef idx="minor">
            <a:schemeClr val="dk1"/>
          </a:fontRef>
        </p:style>
        <p:txBody>
          <a:bodyPr wrap="square" lIns="182880" rIns="182880" rtlCol="0">
            <a:spAutoFit/>
          </a:bodyPr>
          <a:lstStyle/>
          <a:p>
            <a:pPr algn="ctr" defTabSz="3135215">
              <a:defRPr/>
            </a:pPr>
            <a:r>
              <a:rPr lang="en-US" sz="4800" dirty="0">
                <a:solidFill>
                  <a:schemeClr val="bg1"/>
                </a:solidFill>
                <a:latin typeface="Calibri" panose="020F0502020204030204" pitchFamily="34" charset="0"/>
                <a:cs typeface="Calibri" panose="020F0502020204030204" pitchFamily="34" charset="0"/>
              </a:rPr>
              <a:t>Discussion</a:t>
            </a:r>
          </a:p>
        </p:txBody>
      </p:sp>
      <p:sp>
        <p:nvSpPr>
          <p:cNvPr id="37" name="TextBox 36">
            <a:extLst>
              <a:ext uri="{FF2B5EF4-FFF2-40B4-BE49-F238E27FC236}">
                <a16:creationId xmlns:a16="http://schemas.microsoft.com/office/drawing/2014/main" id="{2AE133AC-1DFE-4D6E-B1A3-31B930A6602E}"/>
              </a:ext>
            </a:extLst>
          </p:cNvPr>
          <p:cNvSpPr txBox="1"/>
          <p:nvPr/>
        </p:nvSpPr>
        <p:spPr>
          <a:xfrm>
            <a:off x="798145" y="10408949"/>
            <a:ext cx="10072647" cy="830991"/>
          </a:xfrm>
          <a:prstGeom prst="rect">
            <a:avLst/>
          </a:prstGeom>
          <a:solidFill>
            <a:schemeClr val="tx2"/>
          </a:solidFill>
          <a:ln>
            <a:noFill/>
          </a:ln>
          <a:effectLst/>
        </p:spPr>
        <p:style>
          <a:lnRef idx="2">
            <a:schemeClr val="dk1"/>
          </a:lnRef>
          <a:fillRef idx="1">
            <a:schemeClr val="lt1"/>
          </a:fillRef>
          <a:effectRef idx="0">
            <a:schemeClr val="dk1"/>
          </a:effectRef>
          <a:fontRef idx="minor">
            <a:schemeClr val="dk1"/>
          </a:fontRef>
        </p:style>
        <p:txBody>
          <a:bodyPr wrap="square" lIns="182880" rIns="182880" rtlCol="0">
            <a:spAutoFit/>
          </a:bodyPr>
          <a:lstStyle/>
          <a:p>
            <a:pPr algn="ctr" defTabSz="3135215">
              <a:defRPr/>
            </a:pPr>
            <a:r>
              <a:rPr lang="en-US" sz="4800" dirty="0">
                <a:solidFill>
                  <a:schemeClr val="bg1"/>
                </a:solidFill>
                <a:latin typeface="Calibri" panose="020F0502020204030204" pitchFamily="34" charset="0"/>
                <a:cs typeface="Calibri" panose="020F0502020204030204" pitchFamily="34" charset="0"/>
              </a:rPr>
              <a:t>Introduction</a:t>
            </a:r>
          </a:p>
        </p:txBody>
      </p:sp>
      <p:pic>
        <p:nvPicPr>
          <p:cNvPr id="3" name="Picture 2" descr="A close-up of a ct scan&#10;&#10;Description automatically generated">
            <a:extLst>
              <a:ext uri="{FF2B5EF4-FFF2-40B4-BE49-F238E27FC236}">
                <a16:creationId xmlns:a16="http://schemas.microsoft.com/office/drawing/2014/main" id="{8848FF02-757F-6645-8B05-72AD51EC36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7068" y="12673934"/>
            <a:ext cx="9712267" cy="6951939"/>
          </a:xfrm>
          <a:prstGeom prst="rect">
            <a:avLst/>
          </a:prstGeom>
        </p:spPr>
      </p:pic>
      <p:sp>
        <p:nvSpPr>
          <p:cNvPr id="4" name="TextBox 3">
            <a:extLst>
              <a:ext uri="{FF2B5EF4-FFF2-40B4-BE49-F238E27FC236}">
                <a16:creationId xmlns:a16="http://schemas.microsoft.com/office/drawing/2014/main" id="{31F228D3-BCA1-0C47-ABFD-9549C7BF4E69}"/>
              </a:ext>
            </a:extLst>
          </p:cNvPr>
          <p:cNvSpPr txBox="1"/>
          <p:nvPr/>
        </p:nvSpPr>
        <p:spPr>
          <a:xfrm>
            <a:off x="11918782" y="19819849"/>
            <a:ext cx="9190553" cy="1015663"/>
          </a:xfrm>
          <a:prstGeom prst="rect">
            <a:avLst/>
          </a:prstGeom>
          <a:noFill/>
        </p:spPr>
        <p:txBody>
          <a:bodyPr wrap="square" rtlCol="0">
            <a:spAutoFit/>
          </a:bodyPr>
          <a:lstStyle/>
          <a:p>
            <a:r>
              <a:rPr lang="en-US" sz="2000" dirty="0"/>
              <a:t>CT abdomen pelvis wo and w contrast. Interval increase in size and number of innumerable liver cysts consistent with history of polycystic liver disease. Hepatomegaly measures up to 22.1 cm in craniocaudal dimension.</a:t>
            </a:r>
          </a:p>
        </p:txBody>
      </p:sp>
      <p:sp>
        <p:nvSpPr>
          <p:cNvPr id="22" name="TextBox 21">
            <a:extLst>
              <a:ext uri="{FF2B5EF4-FFF2-40B4-BE49-F238E27FC236}">
                <a16:creationId xmlns:a16="http://schemas.microsoft.com/office/drawing/2014/main" id="{54E51D45-ADD8-6846-A5D1-C46D1D209372}"/>
              </a:ext>
            </a:extLst>
          </p:cNvPr>
          <p:cNvSpPr txBox="1"/>
          <p:nvPr/>
        </p:nvSpPr>
        <p:spPr>
          <a:xfrm>
            <a:off x="798144" y="16239272"/>
            <a:ext cx="10072647" cy="830997"/>
          </a:xfrm>
          <a:prstGeom prst="rect">
            <a:avLst/>
          </a:prstGeom>
          <a:solidFill>
            <a:schemeClr val="tx2"/>
          </a:solidFill>
          <a:ln>
            <a:noFill/>
          </a:ln>
          <a:effectLst/>
        </p:spPr>
        <p:style>
          <a:lnRef idx="2">
            <a:schemeClr val="dk1"/>
          </a:lnRef>
          <a:fillRef idx="1">
            <a:schemeClr val="lt1"/>
          </a:fillRef>
          <a:effectRef idx="0">
            <a:schemeClr val="dk1"/>
          </a:effectRef>
          <a:fontRef idx="minor">
            <a:schemeClr val="dk1"/>
          </a:fontRef>
        </p:style>
        <p:txBody>
          <a:bodyPr wrap="square" lIns="182880" rIns="182880" rtlCol="0">
            <a:spAutoFit/>
          </a:bodyPr>
          <a:lstStyle/>
          <a:p>
            <a:pPr algn="ctr" defTabSz="3135215">
              <a:defRPr/>
            </a:pPr>
            <a:r>
              <a:rPr lang="en-US" sz="4800" dirty="0">
                <a:solidFill>
                  <a:schemeClr val="bg1"/>
                </a:solidFill>
                <a:latin typeface="Calibri" panose="020F0502020204030204" pitchFamily="34" charset="0"/>
                <a:cs typeface="Calibri" panose="020F0502020204030204" pitchFamily="34" charset="0"/>
              </a:rPr>
              <a:t>Pathophysiology</a:t>
            </a:r>
          </a:p>
        </p:txBody>
      </p:sp>
      <p:sp>
        <p:nvSpPr>
          <p:cNvPr id="5" name="TextBox 4">
            <a:extLst>
              <a:ext uri="{FF2B5EF4-FFF2-40B4-BE49-F238E27FC236}">
                <a16:creationId xmlns:a16="http://schemas.microsoft.com/office/drawing/2014/main" id="{3832DBAD-42CF-5044-BE5C-725DB1ED8B21}"/>
              </a:ext>
            </a:extLst>
          </p:cNvPr>
          <p:cNvSpPr txBox="1"/>
          <p:nvPr/>
        </p:nvSpPr>
        <p:spPr>
          <a:xfrm>
            <a:off x="798144" y="17351770"/>
            <a:ext cx="10072647" cy="3541611"/>
          </a:xfrm>
          <a:prstGeom prst="rect">
            <a:avLst/>
          </a:prstGeom>
          <a:noFill/>
        </p:spPr>
        <p:txBody>
          <a:bodyPr wrap="square" rtlCol="0">
            <a:spAutoFit/>
          </a:bodyPr>
          <a:lstStyle/>
          <a:p>
            <a:r>
              <a:rPr lang="en-US" sz="2400" dirty="0">
                <a:latin typeface="Calibri" panose="020F0502020204030204" pitchFamily="34" charset="0"/>
                <a:cs typeface="Calibri" panose="020F0502020204030204" pitchFamily="34" charset="0"/>
              </a:rPr>
              <a:t>ADPLD is associated with several identified genes including mutations in PRKCSH in about 20% of cases and mutations in SEC6 in about 15% of cases. The PRKSCH gene encodes the beta-subunit of glucosidase II which functions in glycoprotein processing. Although ADPLD is autosomal dominant, patients with the germline mutation are thought to develop hepatic cystogenesis through a second somatic mutation causing the loss of heterozygosity.</a:t>
            </a:r>
            <a:r>
              <a:rPr lang="en-US" sz="2400" baseline="30000" dirty="0">
                <a:latin typeface="Calibri" panose="020F0502020204030204" pitchFamily="34" charset="0"/>
                <a:cs typeface="Calibri" panose="020F0502020204030204" pitchFamily="34" charset="0"/>
              </a:rPr>
              <a:t>2,4</a:t>
            </a:r>
            <a:r>
              <a:rPr lang="en-US" sz="2400" dirty="0">
                <a:latin typeface="Calibri" panose="020F0502020204030204" pitchFamily="34" charset="0"/>
                <a:cs typeface="Calibri" panose="020F0502020204030204" pitchFamily="34" charset="0"/>
              </a:rPr>
              <a:t> Loss of function in the PRKSCH gene product leads to proliferation of biliary epithelium and connective tissues.  </a:t>
            </a:r>
          </a:p>
          <a:p>
            <a:endParaRPr lang="en-US" dirty="0"/>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debatingdenim|08-2022"/>
</p:tagLst>
</file>

<file path=ppt/theme/theme1.xml><?xml version="1.0" encoding="utf-8"?>
<a:theme xmlns:a="http://schemas.openxmlformats.org/drawingml/2006/main" name="Default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45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45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331</TotalTime>
  <Words>1204</Words>
  <Application>Microsoft Macintosh PowerPoint</Application>
  <PresentationFormat>Custom</PresentationFormat>
  <Paragraphs>24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Amaranth</vt:lpstr>
      <vt:lpstr>Calibri</vt:lpstr>
      <vt:lpstr>Titillium Web</vt:lpstr>
      <vt:lpstr>Default Design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research poster</dc:title>
  <dc:subject>Free Poster Presentation Example</dc:subject>
  <dc:creator>Graphicsland/MakeSigns.com</dc:creator>
  <cp:keywords>scientific, research, template, custom, poster, presentation, symposium, printing, PowerPoint, create, design, example, sample, download</cp:keywords>
  <dc:description>We offer free PowerPoint poster templates to help you design your very own scientific poster presentation.</dc:description>
  <cp:lastModifiedBy>Phil Kim</cp:lastModifiedBy>
  <cp:revision>63</cp:revision>
  <dcterms:modified xsi:type="dcterms:W3CDTF">2025-04-21T22:40:22Z</dcterms:modified>
  <cp:category>templates for scientific poster</cp:category>
</cp:coreProperties>
</file>