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7" r:id="rId2"/>
  </p:sldIdLst>
  <p:sldSz cx="32918400" cy="21945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3"/>
    <p:restoredTop sz="94694"/>
  </p:normalViewPr>
  <p:slideViewPr>
    <p:cSldViewPr snapToGrid="0">
      <p:cViewPr>
        <p:scale>
          <a:sx n="33" d="100"/>
          <a:sy n="33" d="100"/>
        </p:scale>
        <p:origin x="92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207F78-D0DE-4744-BDA0-3E1D5E31DD9C}" type="datetimeFigureOut">
              <a:rPr lang="en-US" smtClean="0"/>
              <a:t>4/24/25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75607C-AEE0-664F-BA76-3DF6E9A67E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9117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1pPr>
    <a:lvl2pPr marL="1316736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2pPr>
    <a:lvl3pPr marL="2633472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3pPr>
    <a:lvl4pPr marL="3950208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4pPr>
    <a:lvl5pPr marL="5266944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5pPr>
    <a:lvl6pPr marL="6583680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6pPr>
    <a:lvl7pPr marL="7900416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7pPr>
    <a:lvl8pPr marL="9217152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8pPr>
    <a:lvl9pPr marL="10533888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" name="Google Shape;11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2" name="Google Shape;11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8880" y="3591562"/>
            <a:ext cx="27980640" cy="7640320"/>
          </a:xfrm>
        </p:spPr>
        <p:txBody>
          <a:bodyPr anchor="b"/>
          <a:lstStyle>
            <a:lvl1pPr algn="ctr">
              <a:defRPr sz="19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114800" y="11526522"/>
            <a:ext cx="24688800" cy="5298438"/>
          </a:xfrm>
        </p:spPr>
        <p:txBody>
          <a:bodyPr/>
          <a:lstStyle>
            <a:lvl1pPr marL="0" indent="0" algn="ctr">
              <a:buNone/>
              <a:defRPr sz="7680"/>
            </a:lvl1pPr>
            <a:lvl2pPr marL="1463040" indent="0" algn="ctr">
              <a:buNone/>
              <a:defRPr sz="6400"/>
            </a:lvl2pPr>
            <a:lvl3pPr marL="2926080" indent="0" algn="ctr">
              <a:buNone/>
              <a:defRPr sz="5760"/>
            </a:lvl3pPr>
            <a:lvl4pPr marL="4389120" indent="0" algn="ctr">
              <a:buNone/>
              <a:defRPr sz="5120"/>
            </a:lvl4pPr>
            <a:lvl5pPr marL="5852160" indent="0" algn="ctr">
              <a:buNone/>
              <a:defRPr sz="5120"/>
            </a:lvl5pPr>
            <a:lvl6pPr marL="7315200" indent="0" algn="ctr">
              <a:buNone/>
              <a:defRPr sz="5120"/>
            </a:lvl6pPr>
            <a:lvl7pPr marL="8778240" indent="0" algn="ctr">
              <a:buNone/>
              <a:defRPr sz="5120"/>
            </a:lvl7pPr>
            <a:lvl8pPr marL="10241280" indent="0" algn="ctr">
              <a:buNone/>
              <a:defRPr sz="5120"/>
            </a:lvl8pPr>
            <a:lvl9pPr marL="11704320" indent="0" algn="ctr">
              <a:buNone/>
              <a:defRPr sz="51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94632-0A04-6342-AF64-AFD8ED1DE6C2}" type="datetimeFigureOut">
              <a:rPr lang="en-US" smtClean="0"/>
              <a:t>4/24/25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7A8B-A903-1C4C-9FB3-FC6AF1A92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2706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94632-0A04-6342-AF64-AFD8ED1DE6C2}" type="datetimeFigureOut">
              <a:rPr lang="en-US" smtClean="0"/>
              <a:t>4/24/25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7A8B-A903-1C4C-9FB3-FC6AF1A92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1179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5997" y="5471167"/>
            <a:ext cx="28392120" cy="9128758"/>
          </a:xfrm>
        </p:spPr>
        <p:txBody>
          <a:bodyPr anchor="b"/>
          <a:lstStyle>
            <a:lvl1pPr>
              <a:defRPr sz="19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45997" y="14686287"/>
            <a:ext cx="28392120" cy="4800598"/>
          </a:xfrm>
        </p:spPr>
        <p:txBody>
          <a:bodyPr/>
          <a:lstStyle>
            <a:lvl1pPr marL="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1pPr>
            <a:lvl2pPr marL="146304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2pPr>
            <a:lvl3pPr marL="292608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3pPr>
            <a:lvl4pPr marL="438912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4pPr>
            <a:lvl5pPr marL="585216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5pPr>
            <a:lvl6pPr marL="731520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6pPr>
            <a:lvl7pPr marL="877824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7pPr>
            <a:lvl8pPr marL="1024128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8pPr>
            <a:lvl9pPr marL="1170432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94632-0A04-6342-AF64-AFD8ED1DE6C2}" type="datetimeFigureOut">
              <a:rPr lang="en-US" smtClean="0"/>
              <a:t>4/24/25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7A8B-A903-1C4C-9FB3-FC6AF1A92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0636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63140" y="5842000"/>
            <a:ext cx="13990320" cy="139242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664940" y="5842000"/>
            <a:ext cx="13990320" cy="139242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94632-0A04-6342-AF64-AFD8ED1DE6C2}" type="datetimeFigureOut">
              <a:rPr lang="en-US" smtClean="0"/>
              <a:t>4/24/25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7A8B-A903-1C4C-9FB3-FC6AF1A92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895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168405"/>
            <a:ext cx="28392120" cy="42418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7431" y="5379722"/>
            <a:ext cx="13926024" cy="2636518"/>
          </a:xfrm>
        </p:spPr>
        <p:txBody>
          <a:bodyPr anchor="b"/>
          <a:lstStyle>
            <a:lvl1pPr marL="0" indent="0">
              <a:buNone/>
              <a:defRPr sz="7680" b="1"/>
            </a:lvl1pPr>
            <a:lvl2pPr marL="1463040" indent="0">
              <a:buNone/>
              <a:defRPr sz="6400" b="1"/>
            </a:lvl2pPr>
            <a:lvl3pPr marL="2926080" indent="0">
              <a:buNone/>
              <a:defRPr sz="5760" b="1"/>
            </a:lvl3pPr>
            <a:lvl4pPr marL="4389120" indent="0">
              <a:buNone/>
              <a:defRPr sz="5120" b="1"/>
            </a:lvl4pPr>
            <a:lvl5pPr marL="5852160" indent="0">
              <a:buNone/>
              <a:defRPr sz="5120" b="1"/>
            </a:lvl5pPr>
            <a:lvl6pPr marL="7315200" indent="0">
              <a:buNone/>
              <a:defRPr sz="5120" b="1"/>
            </a:lvl6pPr>
            <a:lvl7pPr marL="8778240" indent="0">
              <a:buNone/>
              <a:defRPr sz="5120" b="1"/>
            </a:lvl7pPr>
            <a:lvl8pPr marL="10241280" indent="0">
              <a:buNone/>
              <a:defRPr sz="5120" b="1"/>
            </a:lvl8pPr>
            <a:lvl9pPr marL="11704320" indent="0">
              <a:buNone/>
              <a:defRPr sz="5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67431" y="8016240"/>
            <a:ext cx="13926024" cy="117906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664942" y="5379722"/>
            <a:ext cx="13994608" cy="2636518"/>
          </a:xfrm>
        </p:spPr>
        <p:txBody>
          <a:bodyPr anchor="b"/>
          <a:lstStyle>
            <a:lvl1pPr marL="0" indent="0">
              <a:buNone/>
              <a:defRPr sz="7680" b="1"/>
            </a:lvl1pPr>
            <a:lvl2pPr marL="1463040" indent="0">
              <a:buNone/>
              <a:defRPr sz="6400" b="1"/>
            </a:lvl2pPr>
            <a:lvl3pPr marL="2926080" indent="0">
              <a:buNone/>
              <a:defRPr sz="5760" b="1"/>
            </a:lvl3pPr>
            <a:lvl4pPr marL="4389120" indent="0">
              <a:buNone/>
              <a:defRPr sz="5120" b="1"/>
            </a:lvl4pPr>
            <a:lvl5pPr marL="5852160" indent="0">
              <a:buNone/>
              <a:defRPr sz="5120" b="1"/>
            </a:lvl5pPr>
            <a:lvl6pPr marL="7315200" indent="0">
              <a:buNone/>
              <a:defRPr sz="5120" b="1"/>
            </a:lvl6pPr>
            <a:lvl7pPr marL="8778240" indent="0">
              <a:buNone/>
              <a:defRPr sz="5120" b="1"/>
            </a:lvl7pPr>
            <a:lvl8pPr marL="10241280" indent="0">
              <a:buNone/>
              <a:defRPr sz="5120" b="1"/>
            </a:lvl8pPr>
            <a:lvl9pPr marL="11704320" indent="0">
              <a:buNone/>
              <a:defRPr sz="5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664942" y="8016240"/>
            <a:ext cx="13994608" cy="117906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94632-0A04-6342-AF64-AFD8ED1DE6C2}" type="datetimeFigureOut">
              <a:rPr lang="en-US" smtClean="0"/>
              <a:t>4/24/25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7A8B-A903-1C4C-9FB3-FC6AF1A92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365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94632-0A04-6342-AF64-AFD8ED1DE6C2}" type="datetimeFigureOut">
              <a:rPr lang="en-US" smtClean="0"/>
              <a:t>4/24/25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7A8B-A903-1C4C-9FB3-FC6AF1A92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1957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94632-0A04-6342-AF64-AFD8ED1DE6C2}" type="datetimeFigureOut">
              <a:rPr lang="en-US" smtClean="0"/>
              <a:t>4/24/25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7A8B-A903-1C4C-9FB3-FC6AF1A92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27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</p:spPr>
        <p:txBody>
          <a:bodyPr anchor="b"/>
          <a:lstStyle>
            <a:lvl1pPr>
              <a:defRPr sz="10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94608" y="3159765"/>
            <a:ext cx="16664940" cy="15595600"/>
          </a:xfrm>
        </p:spPr>
        <p:txBody>
          <a:bodyPr/>
          <a:lstStyle>
            <a:lvl1pPr>
              <a:defRPr sz="10240"/>
            </a:lvl1pPr>
            <a:lvl2pPr>
              <a:defRPr sz="8960"/>
            </a:lvl2pPr>
            <a:lvl3pPr>
              <a:defRPr sz="7680"/>
            </a:lvl3pPr>
            <a:lvl4pPr>
              <a:defRPr sz="6400"/>
            </a:lvl4pPr>
            <a:lvl5pPr>
              <a:defRPr sz="6400"/>
            </a:lvl5pPr>
            <a:lvl6pPr>
              <a:defRPr sz="6400"/>
            </a:lvl6pPr>
            <a:lvl7pPr>
              <a:defRPr sz="6400"/>
            </a:lvl7pPr>
            <a:lvl8pPr>
              <a:defRPr sz="6400"/>
            </a:lvl8pPr>
            <a:lvl9pPr>
              <a:defRPr sz="6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6583680"/>
            <a:ext cx="10617041" cy="12197082"/>
          </a:xfrm>
        </p:spPr>
        <p:txBody>
          <a:bodyPr/>
          <a:lstStyle>
            <a:lvl1pPr marL="0" indent="0">
              <a:buNone/>
              <a:defRPr sz="5120"/>
            </a:lvl1pPr>
            <a:lvl2pPr marL="1463040" indent="0">
              <a:buNone/>
              <a:defRPr sz="4480"/>
            </a:lvl2pPr>
            <a:lvl3pPr marL="2926080" indent="0">
              <a:buNone/>
              <a:defRPr sz="3840"/>
            </a:lvl3pPr>
            <a:lvl4pPr marL="4389120" indent="0">
              <a:buNone/>
              <a:defRPr sz="3200"/>
            </a:lvl4pPr>
            <a:lvl5pPr marL="5852160" indent="0">
              <a:buNone/>
              <a:defRPr sz="3200"/>
            </a:lvl5pPr>
            <a:lvl6pPr marL="7315200" indent="0">
              <a:buNone/>
              <a:defRPr sz="3200"/>
            </a:lvl6pPr>
            <a:lvl7pPr marL="8778240" indent="0">
              <a:buNone/>
              <a:defRPr sz="3200"/>
            </a:lvl7pPr>
            <a:lvl8pPr marL="10241280" indent="0">
              <a:buNone/>
              <a:defRPr sz="3200"/>
            </a:lvl8pPr>
            <a:lvl9pPr marL="11704320" indent="0">
              <a:buNone/>
              <a:defRPr sz="3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94632-0A04-6342-AF64-AFD8ED1DE6C2}" type="datetimeFigureOut">
              <a:rPr lang="en-US" smtClean="0"/>
              <a:t>4/24/25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7A8B-A903-1C4C-9FB3-FC6AF1A92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7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</p:spPr>
        <p:txBody>
          <a:bodyPr anchor="b"/>
          <a:lstStyle>
            <a:lvl1pPr>
              <a:defRPr sz="10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994608" y="3159765"/>
            <a:ext cx="16664940" cy="15595600"/>
          </a:xfrm>
        </p:spPr>
        <p:txBody>
          <a:bodyPr anchor="t"/>
          <a:lstStyle>
            <a:lvl1pPr marL="0" indent="0">
              <a:buNone/>
              <a:defRPr sz="10240"/>
            </a:lvl1pPr>
            <a:lvl2pPr marL="1463040" indent="0">
              <a:buNone/>
              <a:defRPr sz="8960"/>
            </a:lvl2pPr>
            <a:lvl3pPr marL="2926080" indent="0">
              <a:buNone/>
              <a:defRPr sz="7680"/>
            </a:lvl3pPr>
            <a:lvl4pPr marL="4389120" indent="0">
              <a:buNone/>
              <a:defRPr sz="6400"/>
            </a:lvl4pPr>
            <a:lvl5pPr marL="5852160" indent="0">
              <a:buNone/>
              <a:defRPr sz="6400"/>
            </a:lvl5pPr>
            <a:lvl6pPr marL="7315200" indent="0">
              <a:buNone/>
              <a:defRPr sz="6400"/>
            </a:lvl6pPr>
            <a:lvl7pPr marL="8778240" indent="0">
              <a:buNone/>
              <a:defRPr sz="6400"/>
            </a:lvl7pPr>
            <a:lvl8pPr marL="10241280" indent="0">
              <a:buNone/>
              <a:defRPr sz="6400"/>
            </a:lvl8pPr>
            <a:lvl9pPr marL="11704320" indent="0">
              <a:buNone/>
              <a:defRPr sz="6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6583680"/>
            <a:ext cx="10617041" cy="12197082"/>
          </a:xfrm>
        </p:spPr>
        <p:txBody>
          <a:bodyPr/>
          <a:lstStyle>
            <a:lvl1pPr marL="0" indent="0">
              <a:buNone/>
              <a:defRPr sz="5120"/>
            </a:lvl1pPr>
            <a:lvl2pPr marL="1463040" indent="0">
              <a:buNone/>
              <a:defRPr sz="4480"/>
            </a:lvl2pPr>
            <a:lvl3pPr marL="2926080" indent="0">
              <a:buNone/>
              <a:defRPr sz="3840"/>
            </a:lvl3pPr>
            <a:lvl4pPr marL="4389120" indent="0">
              <a:buNone/>
              <a:defRPr sz="3200"/>
            </a:lvl4pPr>
            <a:lvl5pPr marL="5852160" indent="0">
              <a:buNone/>
              <a:defRPr sz="3200"/>
            </a:lvl5pPr>
            <a:lvl6pPr marL="7315200" indent="0">
              <a:buNone/>
              <a:defRPr sz="3200"/>
            </a:lvl6pPr>
            <a:lvl7pPr marL="8778240" indent="0">
              <a:buNone/>
              <a:defRPr sz="3200"/>
            </a:lvl7pPr>
            <a:lvl8pPr marL="10241280" indent="0">
              <a:buNone/>
              <a:defRPr sz="3200"/>
            </a:lvl8pPr>
            <a:lvl9pPr marL="11704320" indent="0">
              <a:buNone/>
              <a:defRPr sz="3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94632-0A04-6342-AF64-AFD8ED1DE6C2}" type="datetimeFigureOut">
              <a:rPr lang="en-US" smtClean="0"/>
              <a:t>4/24/25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7A8B-A903-1C4C-9FB3-FC6AF1A92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914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94632-0A04-6342-AF64-AFD8ED1DE6C2}" type="datetimeFigureOut">
              <a:rPr lang="en-US" smtClean="0"/>
              <a:t>4/24/25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7A8B-A903-1C4C-9FB3-FC6AF1A92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827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557232" y="1168400"/>
            <a:ext cx="7098030" cy="1859788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63142" y="1168400"/>
            <a:ext cx="20882610" cy="1859788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94632-0A04-6342-AF64-AFD8ED1DE6C2}" type="datetimeFigureOut">
              <a:rPr lang="en-US" smtClean="0"/>
              <a:t>4/24/25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27A8B-A903-1C4C-9FB3-FC6AF1A92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2843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63140" y="1168405"/>
            <a:ext cx="28392120" cy="42418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3140" y="5842000"/>
            <a:ext cx="28392120" cy="139242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F94632-0A04-6342-AF64-AFD8ED1DE6C2}" type="datetimeFigureOut">
              <a:rPr lang="en-US" smtClean="0"/>
              <a:t>4/24/25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F27A8B-A903-1C4C-9FB3-FC6AF1A92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244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926080" rtl="0" eaLnBrk="1" latinLnBrk="0" hangingPunct="1">
        <a:lnSpc>
          <a:spcPct val="90000"/>
        </a:lnSpc>
        <a:spcBef>
          <a:spcPct val="0"/>
        </a:spcBef>
        <a:buNone/>
        <a:defRPr sz="140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31520" indent="-731520" algn="l" defTabSz="2926080" rtl="0" eaLnBrk="1" latinLnBrk="0" hangingPunct="1">
        <a:lnSpc>
          <a:spcPct val="90000"/>
        </a:lnSpc>
        <a:spcBef>
          <a:spcPts val="3200"/>
        </a:spcBef>
        <a:buFont typeface="Arial" panose="020B0604020202020204" pitchFamily="34" charset="0"/>
        <a:buChar char="•"/>
        <a:defRPr sz="896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768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6400" kern="1200">
          <a:solidFill>
            <a:schemeClr val="tx1"/>
          </a:solidFill>
          <a:latin typeface="+mn-lt"/>
          <a:ea typeface="+mn-ea"/>
          <a:cs typeface="+mn-cs"/>
        </a:defRPr>
      </a:lvl3pPr>
      <a:lvl4pPr marL="512064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5pPr>
      <a:lvl6pPr marL="804672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6pPr>
      <a:lvl7pPr marL="950976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7pPr>
      <a:lvl8pPr marL="1097280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8pPr>
      <a:lvl9pPr marL="1243584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1pPr>
      <a:lvl2pPr marL="146304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2pPr>
      <a:lvl3pPr marL="292608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3pPr>
      <a:lvl4pPr marL="438912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4pPr>
      <a:lvl5pPr marL="585216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5pPr>
      <a:lvl6pPr marL="731520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6pPr>
      <a:lvl7pPr marL="877824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7pPr>
      <a:lvl8pPr marL="1024128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8pPr>
      <a:lvl9pPr marL="1170432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/>
          <p:nvPr/>
        </p:nvSpPr>
        <p:spPr>
          <a:xfrm>
            <a:off x="0" y="44779"/>
            <a:ext cx="32918400" cy="5286245"/>
          </a:xfrm>
          <a:prstGeom prst="rect">
            <a:avLst/>
          </a:prstGeom>
          <a:gradFill>
            <a:gsLst>
              <a:gs pos="0">
                <a:srgbClr val="235078"/>
              </a:gs>
              <a:gs pos="5000">
                <a:srgbClr val="235078"/>
              </a:gs>
              <a:gs pos="100000">
                <a:srgbClr val="1482A5"/>
              </a:gs>
            </a:gsLst>
            <a:lin ang="0" scaled="0"/>
          </a:gradFill>
          <a:ln>
            <a:noFill/>
          </a:ln>
        </p:spPr>
        <p:txBody>
          <a:bodyPr spcFirstLastPara="1" wrap="square" lIns="77139" tIns="38559" rIns="77139" bIns="38559" anchor="ctr" anchorCtr="0">
            <a:noAutofit/>
          </a:bodyPr>
          <a:lstStyle/>
          <a:p>
            <a:pPr>
              <a:buClr>
                <a:srgbClr val="000000"/>
              </a:buClr>
              <a:buSzPts val="4428"/>
            </a:pPr>
            <a:endParaRPr sz="373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7"/>
          <p:cNvSpPr/>
          <p:nvPr/>
        </p:nvSpPr>
        <p:spPr>
          <a:xfrm>
            <a:off x="0" y="21004017"/>
            <a:ext cx="32918400" cy="990164"/>
          </a:xfrm>
          <a:prstGeom prst="rect">
            <a:avLst/>
          </a:prstGeom>
          <a:gradFill>
            <a:gsLst>
              <a:gs pos="0">
                <a:srgbClr val="235078"/>
              </a:gs>
              <a:gs pos="5000">
                <a:srgbClr val="235078"/>
              </a:gs>
              <a:gs pos="100000">
                <a:srgbClr val="1482A5"/>
              </a:gs>
            </a:gsLst>
            <a:lin ang="0" scaled="0"/>
          </a:gradFill>
          <a:ln>
            <a:noFill/>
          </a:ln>
        </p:spPr>
        <p:txBody>
          <a:bodyPr spcFirstLastPara="1" wrap="square" lIns="77139" tIns="38559" rIns="77139" bIns="38559" anchor="ctr" anchorCtr="0">
            <a:noAutofit/>
          </a:bodyPr>
          <a:lstStyle/>
          <a:p>
            <a:pPr>
              <a:buClr>
                <a:srgbClr val="000000"/>
              </a:buClr>
              <a:buSzPts val="4428"/>
            </a:pPr>
            <a:endParaRPr sz="3737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 txBox="1"/>
          <p:nvPr/>
        </p:nvSpPr>
        <p:spPr>
          <a:xfrm>
            <a:off x="1472193" y="1406229"/>
            <a:ext cx="24657738" cy="2586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1993" tIns="35986" rIns="71993" bIns="35986" anchor="t" anchorCtr="0">
            <a:noAutofit/>
          </a:bodyPr>
          <a:lstStyle/>
          <a:p>
            <a:r>
              <a:rPr lang="en-US" sz="6600" b="1" dirty="0">
                <a:solidFill>
                  <a:schemeClr val="bg1"/>
                </a:solidFill>
                <a:latin typeface="Helvetica" pitchFamily="2" charset="0"/>
              </a:rPr>
              <a:t>Idiopathic Adult Hypertrophic Pyloric Stenosis:</a:t>
            </a:r>
          </a:p>
          <a:p>
            <a:r>
              <a:rPr lang="en-US" sz="6000" b="1" i="1" dirty="0">
                <a:solidFill>
                  <a:schemeClr val="bg1"/>
                </a:solidFill>
                <a:latin typeface="Helvetica" pitchFamily="2" charset="0"/>
              </a:rPr>
              <a:t>Known but rare cause in adults</a:t>
            </a:r>
          </a:p>
          <a:p>
            <a:endParaRPr lang="en-US" sz="6075" dirty="0">
              <a:latin typeface="Helvetica" pitchFamily="2" charset="0"/>
            </a:endParaRPr>
          </a:p>
        </p:txBody>
      </p:sp>
      <p:sp>
        <p:nvSpPr>
          <p:cNvPr id="117" name="Google Shape;117;p7"/>
          <p:cNvSpPr txBox="1"/>
          <p:nvPr/>
        </p:nvSpPr>
        <p:spPr>
          <a:xfrm>
            <a:off x="1472193" y="3548696"/>
            <a:ext cx="23145750" cy="626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1993" tIns="35986" rIns="71993" bIns="35986" anchor="t" anchorCtr="0">
            <a:spAutoFit/>
          </a:bodyPr>
          <a:lstStyle/>
          <a:p>
            <a:r>
              <a:rPr lang="en-US" sz="3600" i="1" dirty="0" err="1">
                <a:solidFill>
                  <a:schemeClr val="bg1"/>
                </a:solidFill>
                <a:latin typeface="Helvetica" pitchFamily="2" charset="0"/>
              </a:rPr>
              <a:t>Ajaypreet</a:t>
            </a:r>
            <a:r>
              <a:rPr lang="en-US" sz="3600" i="1" dirty="0">
                <a:solidFill>
                  <a:schemeClr val="bg1"/>
                </a:solidFill>
                <a:latin typeface="Helvetica" pitchFamily="2" charset="0"/>
              </a:rPr>
              <a:t> Singh MD, Atinderpal Singh MD, Muhamad Oum MD, Kamalpreet Gill MD, Mehdi </a:t>
            </a:r>
            <a:r>
              <a:rPr lang="en-US" sz="3600" i="1" dirty="0" err="1">
                <a:solidFill>
                  <a:schemeClr val="bg1"/>
                </a:solidFill>
                <a:latin typeface="Helvetica" pitchFamily="2" charset="0"/>
              </a:rPr>
              <a:t>Hakimipour</a:t>
            </a:r>
            <a:r>
              <a:rPr lang="en-US" sz="3600" i="1" dirty="0">
                <a:solidFill>
                  <a:schemeClr val="bg1"/>
                </a:solidFill>
                <a:latin typeface="Helvetica" pitchFamily="2" charset="0"/>
              </a:rPr>
              <a:t> MD </a:t>
            </a:r>
          </a:p>
        </p:txBody>
      </p:sp>
      <p:sp>
        <p:nvSpPr>
          <p:cNvPr id="118" name="Google Shape;118;p7"/>
          <p:cNvSpPr/>
          <p:nvPr/>
        </p:nvSpPr>
        <p:spPr>
          <a:xfrm>
            <a:off x="1034866" y="5755066"/>
            <a:ext cx="9115596" cy="4813417"/>
          </a:xfrm>
          <a:prstGeom prst="roundRect">
            <a:avLst>
              <a:gd name="adj" fmla="val 1380"/>
            </a:avLst>
          </a:prstGeom>
          <a:solidFill>
            <a:srgbClr val="B4D3E2"/>
          </a:solidFill>
          <a:ln>
            <a:noFill/>
          </a:ln>
        </p:spPr>
        <p:txBody>
          <a:bodyPr spcFirstLastPara="1" wrap="square" lIns="154300" tIns="38559" rIns="154300" bIns="38559" anchor="ctr" anchorCtr="0">
            <a:noAutofit/>
          </a:bodyPr>
          <a:lstStyle/>
          <a:p>
            <a:pPr>
              <a:buClr>
                <a:srgbClr val="000000"/>
              </a:buClr>
              <a:buSzPts val="2400"/>
            </a:pPr>
            <a:endParaRPr sz="2025">
              <a:solidFill>
                <a:srgbClr val="000000"/>
              </a:solidFill>
              <a:latin typeface="Amaranth"/>
              <a:ea typeface="Amaranth"/>
              <a:cs typeface="Amaranth"/>
              <a:sym typeface="Amaranth"/>
            </a:endParaRPr>
          </a:p>
        </p:txBody>
      </p:sp>
      <p:sp>
        <p:nvSpPr>
          <p:cNvPr id="119" name="Google Shape;119;p7"/>
          <p:cNvSpPr txBox="1"/>
          <p:nvPr/>
        </p:nvSpPr>
        <p:spPr>
          <a:xfrm>
            <a:off x="1316021" y="6692474"/>
            <a:ext cx="8641936" cy="3196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7139" tIns="38559" rIns="77139" bIns="38559" anchor="t" anchorCtr="0">
            <a:spAutoFit/>
          </a:bodyPr>
          <a:lstStyle/>
          <a:p>
            <a:r>
              <a:rPr lang="en-US" sz="2533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Hypertrophic pyloric stenosis is widely recognized as a</a:t>
            </a:r>
            <a:r>
              <a:rPr lang="en-US" sz="25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33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disease in infants, with clinical manifestation appearing</a:t>
            </a:r>
            <a:r>
              <a:rPr lang="en-US" sz="25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33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between 3 and 5 weeks of age. However, an adult form has</a:t>
            </a:r>
            <a:r>
              <a:rPr lang="en-US" sz="25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33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been well-established since the 19th century but with only</a:t>
            </a:r>
            <a:r>
              <a:rPr lang="en-US" sz="25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33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approximately 300 cases documented worldwide. This</a:t>
            </a:r>
            <a:endParaRPr lang="en-US" sz="2533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33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case is about a 59-year-old Hispanic male patient who was</a:t>
            </a:r>
            <a:r>
              <a:rPr lang="en-US" sz="25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33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admitted due to intractable nausea and vomiting with</a:t>
            </a:r>
            <a:r>
              <a:rPr lang="en-US" sz="25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33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abdominal pain, decreased appetite, and unintentional</a:t>
            </a:r>
            <a:r>
              <a:rPr lang="en-US" sz="2533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33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 loss.</a:t>
            </a:r>
            <a:endParaRPr lang="en-US" sz="2533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10957687" y="5776742"/>
            <a:ext cx="10092711" cy="656307"/>
          </a:xfrm>
          <a:prstGeom prst="rect">
            <a:avLst/>
          </a:prstGeom>
          <a:solidFill>
            <a:srgbClr val="1482A5"/>
          </a:solidFill>
          <a:ln>
            <a:noFill/>
          </a:ln>
        </p:spPr>
        <p:txBody>
          <a:bodyPr spcFirstLastPara="1" wrap="square" lIns="154300" tIns="38559" rIns="154300" bIns="38559" anchor="ctr" anchorCtr="0">
            <a:noAutofit/>
          </a:bodyPr>
          <a:lstStyle/>
          <a:p>
            <a:pPr>
              <a:buClr>
                <a:srgbClr val="000000"/>
              </a:buClr>
              <a:buSzPts val="4000"/>
            </a:pPr>
            <a:r>
              <a:rPr lang="en-US" sz="3375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Case Report</a:t>
            </a:r>
            <a:endParaRPr sz="1183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7"/>
          <p:cNvSpPr txBox="1"/>
          <p:nvPr/>
        </p:nvSpPr>
        <p:spPr>
          <a:xfrm>
            <a:off x="10957687" y="6738510"/>
            <a:ext cx="10092711" cy="10111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7139" tIns="38559" rIns="77139" bIns="38559" anchor="t" anchorCtr="0">
            <a:spAutoFit/>
          </a:bodyPr>
          <a:lstStyle/>
          <a:p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59-year-old Hispanic male with an unremarkable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medical history presented to the emergency department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complaining of persistent nausea and vomiting for almost a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year, which intensified over the past 2 months. The patient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 no apparent predisposing factors related to the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digestive tract. Initially, a nuclear medicine gastric study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was attempted but the patient could not tolerate it due to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vomiting. Subsequently, the patient then underwent an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esophagogastroduodenoscopy (EGD), revealing a benign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 severe stenosis at the pylorus, as shown in Figure 2. A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tissue biopsy taken during this EGD showed signs of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chronic gastritis but was negative for metaplasia,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dysplasia, or neoplasia. Balloon dilation of the pylorus up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9mm was performed, but there was continued stenosis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 the duodenal bulb.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Despite the procedure, the patient still experienced some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minimal nausea with liquids. An upper gastrointestinal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(UGI) series showed persistent edematous thickening and significant narrowing of the pylorus channel, even after balloon dilation as noted in Figure 1. The patient was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discharged with a plan for surgery follow-up. However, the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patient returned to the emergency department (ED) before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his follow-up appointment with continuous nausea and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vomiting, mostly with solids. During this second hospital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stay, the patient underwent a Laparoscopic Antrectomy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with Roux Y Anastomosis and Bilateral Truncal Vagotomy.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One month, post-operatively, the patient has tolerated both</a:t>
            </a:r>
            <a:r>
              <a:rPr lang="en-US" sz="2800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solids</a:t>
            </a:r>
            <a:r>
              <a:rPr lang="en-US" sz="2800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liquids.</a:t>
            </a:r>
            <a:endParaRPr lang="en-US" sz="2800" dirty="0">
              <a:solidFill>
                <a:srgbClr val="1C1C1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Google Shape;124;p7"/>
          <p:cNvSpPr/>
          <p:nvPr/>
        </p:nvSpPr>
        <p:spPr>
          <a:xfrm>
            <a:off x="23134342" y="5755065"/>
            <a:ext cx="8790140" cy="677983"/>
          </a:xfrm>
          <a:prstGeom prst="rect">
            <a:avLst/>
          </a:prstGeom>
          <a:solidFill>
            <a:srgbClr val="1482A5"/>
          </a:solidFill>
          <a:ln>
            <a:noFill/>
          </a:ln>
        </p:spPr>
        <p:txBody>
          <a:bodyPr spcFirstLastPara="1" wrap="square" lIns="154300" tIns="38559" rIns="154300" bIns="38559" anchor="ctr" anchorCtr="0">
            <a:noAutofit/>
          </a:bodyPr>
          <a:lstStyle/>
          <a:p>
            <a:pPr>
              <a:buClr>
                <a:srgbClr val="000000"/>
              </a:buClr>
              <a:buSzPts val="4000"/>
            </a:pPr>
            <a:r>
              <a:rPr lang="en-US" sz="3375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sz="1183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7"/>
          <p:cNvSpPr/>
          <p:nvPr/>
        </p:nvSpPr>
        <p:spPr>
          <a:xfrm>
            <a:off x="1034866" y="10867879"/>
            <a:ext cx="9115596" cy="638012"/>
          </a:xfrm>
          <a:prstGeom prst="rect">
            <a:avLst/>
          </a:prstGeom>
          <a:solidFill>
            <a:srgbClr val="1482A5"/>
          </a:solidFill>
          <a:ln>
            <a:noFill/>
          </a:ln>
        </p:spPr>
        <p:txBody>
          <a:bodyPr spcFirstLastPara="1" wrap="square" lIns="154300" tIns="38559" rIns="154300" bIns="38559" anchor="ctr" anchorCtr="0">
            <a:noAutofit/>
          </a:bodyPr>
          <a:lstStyle/>
          <a:p>
            <a:pPr>
              <a:buClr>
                <a:srgbClr val="000000"/>
              </a:buClr>
              <a:buSzPts val="4000"/>
            </a:pPr>
            <a:r>
              <a:rPr lang="en-US" sz="3375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Methodology</a:t>
            </a:r>
            <a:endParaRPr sz="1183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7"/>
          <p:cNvSpPr/>
          <p:nvPr/>
        </p:nvSpPr>
        <p:spPr>
          <a:xfrm>
            <a:off x="1316021" y="6051649"/>
            <a:ext cx="6003401" cy="441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7139" tIns="38559" rIns="77139" bIns="38559" anchor="ctr" anchorCtr="0">
            <a:noAutofit/>
          </a:bodyPr>
          <a:lstStyle/>
          <a:p>
            <a:pPr>
              <a:buClr>
                <a:srgbClr val="000000"/>
              </a:buClr>
              <a:buSzPts val="4000"/>
            </a:pPr>
            <a:r>
              <a:rPr lang="en-US" sz="3375" dirty="0">
                <a:solidFill>
                  <a:srgbClr val="235078"/>
                </a:solidFill>
                <a:latin typeface="Arial"/>
                <a:ea typeface="Arial"/>
                <a:cs typeface="Arial"/>
                <a:sym typeface="Arial"/>
              </a:rPr>
              <a:t>Abstract</a:t>
            </a:r>
            <a:endParaRPr sz="1183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7"/>
          <p:cNvSpPr txBox="1"/>
          <p:nvPr/>
        </p:nvSpPr>
        <p:spPr>
          <a:xfrm>
            <a:off x="23197812" y="6625263"/>
            <a:ext cx="8726670" cy="7279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7139" tIns="38559" rIns="77139" bIns="38559" anchor="t" anchorCtr="0">
            <a:spAutoFit/>
          </a:bodyPr>
          <a:lstStyle/>
          <a:p>
            <a:r>
              <a:rPr lang="en-US" sz="3600" i="1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Unlike its more common infantile counterpart, adult hypertrophic pyloric stenosis (AHPS) often presents</a:t>
            </a:r>
            <a:r>
              <a:rPr lang="en-US" sz="3600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i="1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diagnostic challenges due to its rarity and nonspecific</a:t>
            </a:r>
            <a:r>
              <a:rPr lang="en-US" sz="3600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i="1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symptoms such as postprandial nausea, vomiting, and</a:t>
            </a:r>
            <a:r>
              <a:rPr lang="en-US" sz="3600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i="1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abdominal pain. The etiology of AHPS remains largely</a:t>
            </a:r>
            <a:r>
              <a:rPr lang="en-US" sz="3600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i="1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idiopathic, though associations with peptic ulcer disease</a:t>
            </a:r>
            <a:r>
              <a:rPr lang="en-US" sz="3600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i="1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certain inflammatory conditions have been noted.</a:t>
            </a:r>
            <a:r>
              <a:rPr lang="en-US" sz="3600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i="1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Diagnosis typically involves endoscopy and barium studies,</a:t>
            </a:r>
            <a:r>
              <a:rPr lang="en-US" sz="3600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i="1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treatment often requires surgical intervention, such as</a:t>
            </a:r>
            <a:r>
              <a:rPr lang="en-US" sz="3600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i="1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pyloromyotomy or pyloroplasty.</a:t>
            </a:r>
            <a:endParaRPr lang="en-US" sz="3600" dirty="0">
              <a:solidFill>
                <a:srgbClr val="11111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7456F9-81B0-125E-C088-F615EE8E0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14" y="11837039"/>
            <a:ext cx="9072648" cy="396312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074595E-0480-B93B-7B60-B7CD42B6CD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4256" y="16602391"/>
            <a:ext cx="9016206" cy="379056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464D0AD-E7B8-F7FA-0E8A-45EF3A076C7F}"/>
              </a:ext>
            </a:extLst>
          </p:cNvPr>
          <p:cNvSpPr txBox="1"/>
          <p:nvPr/>
        </p:nvSpPr>
        <p:spPr>
          <a:xfrm>
            <a:off x="3580524" y="16006662"/>
            <a:ext cx="4830540" cy="637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25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Figure 1: UGI series</a:t>
            </a:r>
            <a:r>
              <a:rPr lang="en-US" sz="2025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25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showing stenosis</a:t>
            </a:r>
            <a:endParaRPr lang="en-US" sz="2025" dirty="0">
              <a:solidFill>
                <a:srgbClr val="1C1C1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52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2CDC85-0009-3489-6E71-E3B69536D10D}"/>
              </a:ext>
            </a:extLst>
          </p:cNvPr>
          <p:cNvSpPr txBox="1"/>
          <p:nvPr/>
        </p:nvSpPr>
        <p:spPr>
          <a:xfrm>
            <a:off x="3863955" y="20539371"/>
            <a:ext cx="4547109" cy="403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25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Figure 2: EGD</a:t>
            </a:r>
            <a:r>
              <a:rPr lang="en-US" sz="2025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25" i="1" dirty="0">
                <a:solidFill>
                  <a:srgbClr val="1C1C1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showing stenosis</a:t>
            </a:r>
            <a:endParaRPr lang="en-US" sz="2025" dirty="0">
              <a:solidFill>
                <a:srgbClr val="1C1C1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</TotalTime>
  <Words>456</Words>
  <Application>Microsoft Macintosh PowerPoint</Application>
  <PresentationFormat>Custom</PresentationFormat>
  <Paragraphs>14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Amaranth</vt:lpstr>
      <vt:lpstr>Aptos</vt:lpstr>
      <vt:lpstr>Aptos Display</vt:lpstr>
      <vt:lpstr>Arial</vt:lpstr>
      <vt:lpstr>Calibri</vt:lpstr>
      <vt:lpstr>Helvetica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Singh ,Ajaypreet</dc:creator>
  <cp:lastModifiedBy>Phil Kim</cp:lastModifiedBy>
  <cp:revision>3</cp:revision>
  <dcterms:created xsi:type="dcterms:W3CDTF">2025-04-25T04:26:30Z</dcterms:created>
  <dcterms:modified xsi:type="dcterms:W3CDTF">2025-04-25T05:11:10Z</dcterms:modified>
</cp:coreProperties>
</file>