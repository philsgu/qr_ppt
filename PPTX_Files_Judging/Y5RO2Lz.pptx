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3"/>
    <p:restoredTop sz="94694"/>
  </p:normalViewPr>
  <p:slideViewPr>
    <p:cSldViewPr snapToGrid="0">
      <p:cViewPr>
        <p:scale>
          <a:sx n="33" d="100"/>
          <a:sy n="33" d="100"/>
        </p:scale>
        <p:origin x="92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07F78-D0DE-4744-BDA0-3E1D5E31DD9C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5607C-AEE0-664F-BA76-3DF6E9A67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11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0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1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6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9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6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9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2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843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94632-0A04-6342-AF64-AFD8ED1DE6C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27A8B-A903-1C4C-9FB3-FC6AF1A9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4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44779"/>
            <a:ext cx="32918400" cy="5286245"/>
          </a:xfrm>
          <a:prstGeom prst="rect">
            <a:avLst/>
          </a:prstGeom>
          <a:gradFill>
            <a:gsLst>
              <a:gs pos="0">
                <a:srgbClr val="235078"/>
              </a:gs>
              <a:gs pos="5000">
                <a:srgbClr val="235078"/>
              </a:gs>
              <a:gs pos="100000">
                <a:srgbClr val="1482A5"/>
              </a:gs>
            </a:gsLst>
            <a:lin ang="0" scaled="0"/>
          </a:gradFill>
          <a:ln>
            <a:noFill/>
          </a:ln>
        </p:spPr>
        <p:txBody>
          <a:bodyPr spcFirstLastPara="1" wrap="square" lIns="77139" tIns="38559" rIns="77139" bIns="38559" anchor="ctr" anchorCtr="0">
            <a:noAutofit/>
          </a:bodyPr>
          <a:lstStyle/>
          <a:p>
            <a:pPr>
              <a:buClr>
                <a:srgbClr val="000000"/>
              </a:buClr>
              <a:buSzPts val="4428"/>
            </a:pPr>
            <a:endParaRPr sz="37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0" y="21004017"/>
            <a:ext cx="32918400" cy="990164"/>
          </a:xfrm>
          <a:prstGeom prst="rect">
            <a:avLst/>
          </a:prstGeom>
          <a:gradFill>
            <a:gsLst>
              <a:gs pos="0">
                <a:srgbClr val="235078"/>
              </a:gs>
              <a:gs pos="5000">
                <a:srgbClr val="235078"/>
              </a:gs>
              <a:gs pos="100000">
                <a:srgbClr val="1482A5"/>
              </a:gs>
            </a:gsLst>
            <a:lin ang="0" scaled="0"/>
          </a:gradFill>
          <a:ln>
            <a:noFill/>
          </a:ln>
        </p:spPr>
        <p:txBody>
          <a:bodyPr spcFirstLastPara="1" wrap="square" lIns="77139" tIns="38559" rIns="77139" bIns="38559" anchor="ctr" anchorCtr="0">
            <a:noAutofit/>
          </a:bodyPr>
          <a:lstStyle/>
          <a:p>
            <a:pPr>
              <a:buClr>
                <a:srgbClr val="000000"/>
              </a:buClr>
              <a:buSzPts val="4428"/>
            </a:pPr>
            <a:endParaRPr sz="373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1472193" y="1406229"/>
            <a:ext cx="24657738" cy="258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993" tIns="35986" rIns="71993" bIns="35986" anchor="t" anchorCtr="0">
            <a:no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Helvetica" pitchFamily="2" charset="0"/>
              </a:rPr>
              <a:t>Idiopathic Adult Hypertrophic Pyloric Stenosis:</a:t>
            </a:r>
          </a:p>
          <a:p>
            <a:r>
              <a:rPr lang="en-US" sz="6000" b="1" i="1" dirty="0">
                <a:solidFill>
                  <a:schemeClr val="bg1"/>
                </a:solidFill>
                <a:latin typeface="Helvetica" pitchFamily="2" charset="0"/>
              </a:rPr>
              <a:t>Known but rare cause in adults</a:t>
            </a:r>
          </a:p>
          <a:p>
            <a:endParaRPr lang="en-US" sz="6075" dirty="0">
              <a:latin typeface="Helvetica" pitchFamily="2" charset="0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1472193" y="3548696"/>
            <a:ext cx="23145750" cy="62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993" tIns="35986" rIns="71993" bIns="35986" anchor="t" anchorCtr="0">
            <a:spAutoFit/>
          </a:bodyPr>
          <a:lstStyle/>
          <a:p>
            <a:r>
              <a:rPr lang="en-US" sz="3600" i="1" dirty="0" err="1">
                <a:solidFill>
                  <a:schemeClr val="bg1"/>
                </a:solidFill>
                <a:latin typeface="Helvetica" pitchFamily="2" charset="0"/>
              </a:rPr>
              <a:t>Ajaypreet</a:t>
            </a:r>
            <a:r>
              <a:rPr lang="en-US" sz="3600" i="1" dirty="0">
                <a:solidFill>
                  <a:schemeClr val="bg1"/>
                </a:solidFill>
                <a:latin typeface="Helvetica" pitchFamily="2" charset="0"/>
              </a:rPr>
              <a:t> Singh MD, Atinderpal Singh MD, Muhamad Oum MD, Kamalpreet Gill MD, Mehdi </a:t>
            </a:r>
            <a:r>
              <a:rPr lang="en-US" sz="3600" i="1" dirty="0" err="1">
                <a:solidFill>
                  <a:schemeClr val="bg1"/>
                </a:solidFill>
                <a:latin typeface="Helvetica" pitchFamily="2" charset="0"/>
              </a:rPr>
              <a:t>Hakimipour</a:t>
            </a:r>
            <a:r>
              <a:rPr lang="en-US" sz="3600" i="1" dirty="0">
                <a:solidFill>
                  <a:schemeClr val="bg1"/>
                </a:solidFill>
                <a:latin typeface="Helvetica" pitchFamily="2" charset="0"/>
              </a:rPr>
              <a:t> MD </a:t>
            </a:r>
          </a:p>
        </p:txBody>
      </p:sp>
      <p:sp>
        <p:nvSpPr>
          <p:cNvPr id="118" name="Google Shape;118;p7"/>
          <p:cNvSpPr/>
          <p:nvPr/>
        </p:nvSpPr>
        <p:spPr>
          <a:xfrm>
            <a:off x="1034866" y="5755066"/>
            <a:ext cx="9115596" cy="4813417"/>
          </a:xfrm>
          <a:prstGeom prst="roundRect">
            <a:avLst>
              <a:gd name="adj" fmla="val 1380"/>
            </a:avLst>
          </a:prstGeom>
          <a:solidFill>
            <a:srgbClr val="B4D3E2"/>
          </a:solidFill>
          <a:ln>
            <a:noFill/>
          </a:ln>
        </p:spPr>
        <p:txBody>
          <a:bodyPr spcFirstLastPara="1" wrap="square" lIns="154300" tIns="38559" rIns="154300" bIns="38559" anchor="ctr" anchorCtr="0">
            <a:noAutofit/>
          </a:bodyPr>
          <a:lstStyle/>
          <a:p>
            <a:pPr>
              <a:buClr>
                <a:srgbClr val="000000"/>
              </a:buClr>
              <a:buSzPts val="2400"/>
            </a:pPr>
            <a:endParaRPr sz="2025">
              <a:solidFill>
                <a:srgbClr val="000000"/>
              </a:solidFill>
              <a:latin typeface="Amaranth"/>
              <a:ea typeface="Amaranth"/>
              <a:cs typeface="Amaranth"/>
              <a:sym typeface="Amaranth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1316021" y="6692474"/>
            <a:ext cx="8641936" cy="3196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39" tIns="38559" rIns="77139" bIns="38559" anchor="t" anchorCtr="0">
            <a:spAutoFit/>
          </a:bodyPr>
          <a:lstStyle/>
          <a:p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Hypertrophic pyloric stenosis is widely recognized as a</a:t>
            </a:r>
            <a:r>
              <a:rPr lang="en-US" sz="2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in infants, with clinical manifestation appearing</a:t>
            </a:r>
            <a:r>
              <a:rPr lang="en-US" sz="2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3 and 5 weeks of age. However, an adult form has</a:t>
            </a:r>
            <a:r>
              <a:rPr lang="en-US" sz="2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well-established since the 19th century but with only</a:t>
            </a:r>
            <a:r>
              <a:rPr lang="en-US" sz="2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300 cases documented worldwide. This</a:t>
            </a:r>
            <a:endParaRPr lang="en-US" sz="2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is about a 59-year-old Hispanic male patient who was</a:t>
            </a:r>
            <a:r>
              <a:rPr lang="en-US" sz="2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admitted due to intractable nausea and vomiting with</a:t>
            </a:r>
            <a:r>
              <a:rPr lang="en-US" sz="2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abdominal pain, decreased appetite, and unintentional</a:t>
            </a:r>
            <a:r>
              <a:rPr lang="en-US" sz="2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loss.</a:t>
            </a:r>
            <a:endParaRPr lang="en-US" sz="2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0957687" y="5776742"/>
            <a:ext cx="10092711" cy="656307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txBody>
          <a:bodyPr spcFirstLastPara="1" wrap="square" lIns="154300" tIns="38559" rIns="154300" bIns="38559" anchor="ctr" anchorCtr="0">
            <a:noAutofit/>
          </a:bodyPr>
          <a:lstStyle/>
          <a:p>
            <a:pPr>
              <a:buClr>
                <a:srgbClr val="000000"/>
              </a:buClr>
              <a:buSzPts val="4000"/>
            </a:pPr>
            <a:r>
              <a:rPr lang="en-US" sz="3375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Case Report</a:t>
            </a:r>
            <a:endParaRPr sz="118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0957687" y="6738510"/>
            <a:ext cx="10092711" cy="1011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39" tIns="38559" rIns="77139" bIns="38559" anchor="t" anchorCtr="0">
            <a:spAutoFit/>
          </a:bodyPr>
          <a:lstStyle/>
          <a:p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59-year-old Hispanic male with an unremarkable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 presented to the emergency department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complaining of persistent nausea and vomiting for almost a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year, which intensified over the past 2 months. The patient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no apparent predisposing factors related to the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digestive tract. Initially, a nuclear medicine gastric study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attempted but the patient could not tolerate it due to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vomiting. Subsequently, the patient then underwent an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esophagogastroduodenoscopy (EGD), revealing a benign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severe stenosis at the pylorus, as shown in Figure 2. A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 biopsy taken during this EGD showed signs of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 gastritis but was negative for metaplasia,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dysplasia, or neoplasia. Balloon dilation of the pylorus up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9mm was performed, but there was continued stenosis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duodenal bulb.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Despite the procedure, the patient still experienced some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nausea with liquids. An upper gastrointestinal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(UGI) series showed persistent edematous thickening and significant narrowing of the pylorus channel, even after balloon dilation as noted in Figure 1. The patient was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discharged with a plan for surgery follow-up. However, the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returned to the emergency department (ED) before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follow-up appointment with continuous nausea and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vomiting, mostly with solids. During this second hospital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stay, the patient underwent a Laparoscopic Antrectomy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Roux Y Anastomosis and Bilateral Truncal Vagotomy.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month, post-operatively, the patient has tolerated both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solids</a:t>
            </a:r>
            <a:r>
              <a:rPr lang="en-US" sz="28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liquids.</a:t>
            </a:r>
            <a:endParaRPr lang="en-US" sz="2800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3134342" y="5755065"/>
            <a:ext cx="8790140" cy="677983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txBody>
          <a:bodyPr spcFirstLastPara="1" wrap="square" lIns="154300" tIns="38559" rIns="154300" bIns="38559" anchor="ctr" anchorCtr="0">
            <a:noAutofit/>
          </a:bodyPr>
          <a:lstStyle/>
          <a:p>
            <a:pPr>
              <a:buClr>
                <a:srgbClr val="000000"/>
              </a:buClr>
              <a:buSzPts val="4000"/>
            </a:pPr>
            <a:r>
              <a:rPr lang="en-US" sz="337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1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34866" y="10867879"/>
            <a:ext cx="9115596" cy="638012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txBody>
          <a:bodyPr spcFirstLastPara="1" wrap="square" lIns="154300" tIns="38559" rIns="154300" bIns="38559" anchor="ctr" anchorCtr="0">
            <a:noAutofit/>
          </a:bodyPr>
          <a:lstStyle/>
          <a:p>
            <a:pPr>
              <a:buClr>
                <a:srgbClr val="000000"/>
              </a:buClr>
              <a:buSzPts val="4000"/>
            </a:pPr>
            <a:r>
              <a:rPr lang="en-US" sz="3375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18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316021" y="6051649"/>
            <a:ext cx="6003401" cy="44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39" tIns="38559" rIns="77139" bIns="38559" anchor="ctr" anchorCtr="0">
            <a:noAutofit/>
          </a:bodyPr>
          <a:lstStyle/>
          <a:p>
            <a:pPr>
              <a:buClr>
                <a:srgbClr val="000000"/>
              </a:buClr>
              <a:buSzPts val="4000"/>
            </a:pPr>
            <a:r>
              <a:rPr lang="en-US" sz="3375" dirty="0">
                <a:solidFill>
                  <a:srgbClr val="235078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sz="118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23197812" y="6625263"/>
            <a:ext cx="8726670" cy="727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39" tIns="38559" rIns="77139" bIns="38559" anchor="t" anchorCtr="0">
            <a:spAutoFit/>
          </a:bodyPr>
          <a:lstStyle/>
          <a:p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its more common infantile counterpart, adult hypertrophic pyloric stenosis (AHPS) often presents</a:t>
            </a: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challenges due to its rarity and nonspecific</a:t>
            </a: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 such as postprandial nausea, vomiting, and</a:t>
            </a: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abdominal pain. The etiology of AHPS remains largely</a:t>
            </a: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idiopathic, though associations with peptic ulcer disease</a:t>
            </a: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certain inflammatory conditions have been noted.</a:t>
            </a: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 typically involves endoscopy and barium studies,</a:t>
            </a: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treatment often requires surgical intervention, such as</a:t>
            </a: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pyloromyotomy or pyloroplasty.</a:t>
            </a:r>
            <a:endParaRPr lang="en-US" sz="36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7456F9-81B0-125E-C088-F615EE8E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14" y="11837039"/>
            <a:ext cx="9072648" cy="3963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74595E-0480-B93B-7B60-B7CD42B6C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256" y="16602391"/>
            <a:ext cx="9016206" cy="37905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64D0AD-E7B8-F7FA-0E8A-45EF3A076C7F}"/>
              </a:ext>
            </a:extLst>
          </p:cNvPr>
          <p:cNvSpPr txBox="1"/>
          <p:nvPr/>
        </p:nvSpPr>
        <p:spPr>
          <a:xfrm>
            <a:off x="3580524" y="16006662"/>
            <a:ext cx="4830540" cy="637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25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1: UGI series</a:t>
            </a:r>
            <a:r>
              <a:rPr lang="en-US" sz="2025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25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stenosis</a:t>
            </a:r>
            <a:endParaRPr lang="en-US" sz="2025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2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CDC85-0009-3489-6E71-E3B69536D10D}"/>
              </a:ext>
            </a:extLst>
          </p:cNvPr>
          <p:cNvSpPr txBox="1"/>
          <p:nvPr/>
        </p:nvSpPr>
        <p:spPr>
          <a:xfrm>
            <a:off x="3863955" y="20539371"/>
            <a:ext cx="454710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25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EGD</a:t>
            </a:r>
            <a:r>
              <a:rPr lang="en-US" sz="2025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25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stenosis</a:t>
            </a:r>
            <a:endParaRPr lang="en-US" sz="2025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Picture 129" descr="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456</Words>
  <Application>Microsoft Macintosh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Amaranth</vt:lpstr>
      <vt:lpstr>Aptos</vt:lpstr>
      <vt:lpstr>Aptos Display</vt:lpstr>
      <vt:lpstr>Arial</vt:lpstr>
      <vt:lpstr>Calibri</vt:lpstr>
      <vt:lpstr>Helvetica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 ,Ajaypreet</dc:creator>
  <cp:lastModifiedBy>Phil Kim</cp:lastModifiedBy>
  <cp:revision>3</cp:revision>
  <dcterms:created xsi:type="dcterms:W3CDTF">2025-04-25T04:26:30Z</dcterms:created>
  <dcterms:modified xsi:type="dcterms:W3CDTF">2025-04-25T05:11:10Z</dcterms:modified>
</cp:coreProperties>
</file>