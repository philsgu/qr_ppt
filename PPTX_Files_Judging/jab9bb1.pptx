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00503050000020004" pitchFamily="2" charset="77"/>
      <p:regular r:id="rId3"/>
    </p:embeddedFont>
    <p:embeddedFont>
      <p:font typeface="Titillium Web" pitchFamily="2" charset="77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1pPr>
    <a:lvl2pPr marL="326390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2pPr>
    <a:lvl3pPr marL="652780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3pPr>
    <a:lvl4pPr marL="979805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4pPr>
    <a:lvl5pPr marL="1306195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5pPr>
    <a:lvl6pPr marL="1632585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6pPr>
    <a:lvl7pPr marL="1958975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7pPr>
    <a:lvl8pPr marL="2286000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8pPr>
    <a:lvl9pPr marL="2612390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00" userDrawn="1">
          <p15:clr>
            <a:srgbClr val="A4A3A4"/>
          </p15:clr>
        </p15:guide>
        <p15:guide id="2" pos="103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 showGuides="1">
      <p:cViewPr varScale="1">
        <p:scale>
          <a:sx n="47" d="100"/>
          <a:sy n="47" d="100"/>
        </p:scale>
        <p:origin x="3152" y="264"/>
      </p:cViewPr>
      <p:guideLst>
        <p:guide orient="horz" pos="6900"/>
        <p:guide pos="1035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139F80-A41F-4296-BEDA-4E4BEC89A86F}" type="doc">
      <dgm:prSet loTypeId="urn:microsoft.com/office/officeart/2005/8/layout/cycle3#1" loCatId="cycle" qsTypeId="urn:microsoft.com/office/officeart/2005/8/quickstyle/simple1#1" qsCatId="simple" csTypeId="urn:microsoft.com/office/officeart/2005/8/colors/colorful2#1" csCatId="accent1" phldr="0"/>
      <dgm:spPr/>
      <dgm:t>
        <a:bodyPr/>
        <a:lstStyle/>
        <a:p>
          <a:endParaRPr lang="en-US"/>
        </a:p>
      </dgm:t>
    </dgm:pt>
    <dgm:pt modelId="{ED27F895-F932-4520-A6E7-20717B1B6ABA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PLAN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Identified gaps in career guidance and designed an anonymous needs assessment survey</a:t>
          </a:r>
          <a:endParaRPr lang="en-US" sz="2000">
            <a:sym typeface="+mn-ea"/>
          </a:endParaRPr>
        </a:p>
      </dgm:t>
    </dgm:pt>
    <dgm:pt modelId="{E4F3F18A-396C-4AEE-B550-7690C2F59830}" type="parTrans" cxnId="{0F7102A4-AA98-4E74-846F-F5245DC6D69F}">
      <dgm:prSet/>
      <dgm:spPr/>
      <dgm:t>
        <a:bodyPr/>
        <a:lstStyle/>
        <a:p>
          <a:endParaRPr lang="en-US"/>
        </a:p>
      </dgm:t>
    </dgm:pt>
    <dgm:pt modelId="{7197E9C7-2BFC-4382-A4C1-AF8E70D3407A}" type="sibTrans" cxnId="{0F7102A4-AA98-4E74-846F-F5245DC6D69F}">
      <dgm:prSet/>
      <dgm:spPr/>
      <dgm:t>
        <a:bodyPr/>
        <a:lstStyle/>
        <a:p>
          <a:endParaRPr lang="en-US"/>
        </a:p>
      </dgm:t>
    </dgm:pt>
    <dgm:pt modelId="{FAC4F552-553A-4AE6-BC40-237F3697F56A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DO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Distributed a 19-question survey to IM residents; received 2</a:t>
          </a:r>
          <a:r>
            <a:rPr lang="en-US" sz="2000">
              <a:sym typeface="+mn-ea"/>
            </a:rPr>
            <a:t>8</a:t>
          </a:r>
          <a:r>
            <a:rPr sz="2000">
              <a:sym typeface="+mn-ea"/>
            </a:rPr>
            <a:t> responses</a:t>
          </a:r>
          <a:endParaRPr lang="en-US" sz="2000"/>
        </a:p>
      </dgm:t>
    </dgm:pt>
    <dgm:pt modelId="{7FD9B64E-5280-4B70-903C-6F2BE28A6CE5}" type="parTrans" cxnId="{59AE8C01-EFA8-4DD0-9680-63AE1B0BC8E2}">
      <dgm:prSet/>
      <dgm:spPr/>
      <dgm:t>
        <a:bodyPr/>
        <a:lstStyle/>
        <a:p>
          <a:endParaRPr lang="en-US"/>
        </a:p>
      </dgm:t>
    </dgm:pt>
    <dgm:pt modelId="{C214425F-F630-4C52-8627-F2DE8D0D90BA}" type="sibTrans" cxnId="{59AE8C01-EFA8-4DD0-9680-63AE1B0BC8E2}">
      <dgm:prSet/>
      <dgm:spPr/>
      <dgm:t>
        <a:bodyPr/>
        <a:lstStyle/>
        <a:p>
          <a:endParaRPr lang="en-US"/>
        </a:p>
      </dgm:t>
    </dgm:pt>
    <dgm:pt modelId="{65F0DA01-8262-450D-BD62-8690C98FDAD2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STUDY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Analyzed data on confidence, exposure, barriers, and preferred formats</a:t>
          </a:r>
          <a:endParaRPr lang="en-US" sz="2000">
            <a:sym typeface="+mn-ea"/>
          </a:endParaRPr>
        </a:p>
      </dgm:t>
    </dgm:pt>
    <dgm:pt modelId="{45A96CE7-8DBE-4F8A-87D0-854153A0DCCB}" type="parTrans" cxnId="{1E1272DD-6742-490C-9AA3-64853B99596A}">
      <dgm:prSet/>
      <dgm:spPr/>
      <dgm:t>
        <a:bodyPr/>
        <a:lstStyle/>
        <a:p>
          <a:endParaRPr lang="en-US"/>
        </a:p>
      </dgm:t>
    </dgm:pt>
    <dgm:pt modelId="{E3AA9C70-C00F-41C3-AC24-14264B3DF079}" type="sibTrans" cxnId="{1E1272DD-6742-490C-9AA3-64853B99596A}">
      <dgm:prSet/>
      <dgm:spPr/>
      <dgm:t>
        <a:bodyPr/>
        <a:lstStyle/>
        <a:p>
          <a:endParaRPr lang="en-US"/>
        </a:p>
      </dgm:t>
    </dgm:pt>
    <dgm:pt modelId="{F31169B2-585C-4BD6-AAB7-1E90D256C935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ACT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Developed a slide-based resource covering </a:t>
          </a:r>
          <a:r>
            <a:rPr lang="en-US" sz="2000">
              <a:sym typeface="+mn-ea"/>
            </a:rPr>
            <a:t>all 3</a:t>
          </a:r>
          <a:r>
            <a:rPr sz="2000">
              <a:sym typeface="+mn-ea"/>
            </a:rPr>
            <a:t>tracks; preparing for rollout and feedback</a:t>
          </a:r>
          <a:endParaRPr lang="en-US" sz="2000">
            <a:sym typeface="+mn-ea"/>
          </a:endParaRPr>
        </a:p>
      </dgm:t>
    </dgm:pt>
    <dgm:pt modelId="{EE61BEF3-F390-4F05-94B5-481342196429}" type="parTrans" cxnId="{10D01C57-1E77-4593-BED7-AEC69A2D4C28}">
      <dgm:prSet/>
      <dgm:spPr/>
      <dgm:t>
        <a:bodyPr/>
        <a:lstStyle/>
        <a:p>
          <a:endParaRPr lang="en-US"/>
        </a:p>
      </dgm:t>
    </dgm:pt>
    <dgm:pt modelId="{D5E542A6-2C10-4832-8E38-82821B7DF259}" type="sibTrans" cxnId="{10D01C57-1E77-4593-BED7-AEC69A2D4C28}">
      <dgm:prSet/>
      <dgm:spPr/>
      <dgm:t>
        <a:bodyPr/>
        <a:lstStyle/>
        <a:p>
          <a:endParaRPr lang="en-US"/>
        </a:p>
      </dgm:t>
    </dgm:pt>
    <dgm:pt modelId="{1DF4AACC-FCFE-4478-BA2F-B6B158A02CB5}" type="pres">
      <dgm:prSet presAssocID="{30139F80-A41F-4296-BEDA-4E4BEC89A86F}" presName="Name0" presStyleCnt="0">
        <dgm:presLayoutVars>
          <dgm:dir/>
          <dgm:resizeHandles val="exact"/>
        </dgm:presLayoutVars>
      </dgm:prSet>
      <dgm:spPr/>
    </dgm:pt>
    <dgm:pt modelId="{0AF41DD3-82AC-4D68-969B-AFC5197C8579}" type="pres">
      <dgm:prSet presAssocID="{30139F80-A41F-4296-BEDA-4E4BEC89A86F}" presName="cycle" presStyleCnt="0"/>
      <dgm:spPr/>
    </dgm:pt>
    <dgm:pt modelId="{22A11489-3ABA-40F8-A51D-1DD036252FB1}" type="pres">
      <dgm:prSet presAssocID="{ED27F895-F932-4520-A6E7-20717B1B6ABA}" presName="nodeFirstNode" presStyleLbl="node1" presStyleIdx="0" presStyleCnt="4">
        <dgm:presLayoutVars>
          <dgm:bulletEnabled val="1"/>
        </dgm:presLayoutVars>
      </dgm:prSet>
      <dgm:spPr/>
    </dgm:pt>
    <dgm:pt modelId="{337EB5E2-1680-494E-8F98-087A78809C28}" type="pres">
      <dgm:prSet presAssocID="{7197E9C7-2BFC-4382-A4C1-AF8E70D3407A}" presName="sibTransFirstNode" presStyleLbl="bgShp" presStyleIdx="0" presStyleCnt="1"/>
      <dgm:spPr/>
    </dgm:pt>
    <dgm:pt modelId="{688DC5BA-912A-4A40-91DF-67B2BDDD2B94}" type="pres">
      <dgm:prSet presAssocID="{FAC4F552-553A-4AE6-BC40-237F3697F56A}" presName="nodeFollowingNodes" presStyleLbl="node1" presStyleIdx="1" presStyleCnt="4">
        <dgm:presLayoutVars>
          <dgm:bulletEnabled val="1"/>
        </dgm:presLayoutVars>
      </dgm:prSet>
      <dgm:spPr/>
    </dgm:pt>
    <dgm:pt modelId="{28D855B3-3DD3-4000-8129-7193272CBB99}" type="pres">
      <dgm:prSet presAssocID="{65F0DA01-8262-450D-BD62-8690C98FDAD2}" presName="nodeFollowingNodes" presStyleLbl="node1" presStyleIdx="2" presStyleCnt="4">
        <dgm:presLayoutVars>
          <dgm:bulletEnabled val="1"/>
        </dgm:presLayoutVars>
      </dgm:prSet>
      <dgm:spPr/>
    </dgm:pt>
    <dgm:pt modelId="{BFF1AEDD-3E7C-471E-AC6C-1F6B329BE939}" type="pres">
      <dgm:prSet presAssocID="{F31169B2-585C-4BD6-AAB7-1E90D256C935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59AE8C01-EFA8-4DD0-9680-63AE1B0BC8E2}" srcId="{30139F80-A41F-4296-BEDA-4E4BEC89A86F}" destId="{FAC4F552-553A-4AE6-BC40-237F3697F56A}" srcOrd="1" destOrd="0" parTransId="{7FD9B64E-5280-4B70-903C-6F2BE28A6CE5}" sibTransId="{C214425F-F630-4C52-8627-F2DE8D0D90BA}"/>
    <dgm:cxn modelId="{CB0AC925-F29A-4FC9-AD7E-F126A421D3FA}" type="presOf" srcId="{30139F80-A41F-4296-BEDA-4E4BEC89A86F}" destId="{1DF4AACC-FCFE-4478-BA2F-B6B158A02CB5}" srcOrd="0" destOrd="0" presId="urn:microsoft.com/office/officeart/2005/8/layout/cycle3#1"/>
    <dgm:cxn modelId="{2D867D2E-F508-4C3C-89EE-6A18F2C810B1}" type="presOf" srcId="{FAC4F552-553A-4AE6-BC40-237F3697F56A}" destId="{688DC5BA-912A-4A40-91DF-67B2BDDD2B94}" srcOrd="0" destOrd="0" presId="urn:microsoft.com/office/officeart/2005/8/layout/cycle3#1"/>
    <dgm:cxn modelId="{3826A455-EFFA-400F-8B78-80618795C290}" type="presOf" srcId="{F31169B2-585C-4BD6-AAB7-1E90D256C935}" destId="{BFF1AEDD-3E7C-471E-AC6C-1F6B329BE939}" srcOrd="0" destOrd="0" presId="urn:microsoft.com/office/officeart/2005/8/layout/cycle3#1"/>
    <dgm:cxn modelId="{10D01C57-1E77-4593-BED7-AEC69A2D4C28}" srcId="{30139F80-A41F-4296-BEDA-4E4BEC89A86F}" destId="{F31169B2-585C-4BD6-AAB7-1E90D256C935}" srcOrd="3" destOrd="0" parTransId="{EE61BEF3-F390-4F05-94B5-481342196429}" sibTransId="{D5E542A6-2C10-4832-8E38-82821B7DF259}"/>
    <dgm:cxn modelId="{BF0E2464-2AF0-44CA-A6A8-E4878D1EB224}" type="presOf" srcId="{ED27F895-F932-4520-A6E7-20717B1B6ABA}" destId="{22A11489-3ABA-40F8-A51D-1DD036252FB1}" srcOrd="0" destOrd="0" presId="urn:microsoft.com/office/officeart/2005/8/layout/cycle3#1"/>
    <dgm:cxn modelId="{8C59AA6C-DEC7-45EA-B53D-4DCE4DA03B43}" type="presOf" srcId="{65F0DA01-8262-450D-BD62-8690C98FDAD2}" destId="{28D855B3-3DD3-4000-8129-7193272CBB99}" srcOrd="0" destOrd="0" presId="urn:microsoft.com/office/officeart/2005/8/layout/cycle3#1"/>
    <dgm:cxn modelId="{4D70A471-6DA8-4836-B9DE-49BE1503DB41}" type="presOf" srcId="{7197E9C7-2BFC-4382-A4C1-AF8E70D3407A}" destId="{337EB5E2-1680-494E-8F98-087A78809C28}" srcOrd="0" destOrd="0" presId="urn:microsoft.com/office/officeart/2005/8/layout/cycle3#1"/>
    <dgm:cxn modelId="{0F7102A4-AA98-4E74-846F-F5245DC6D69F}" srcId="{30139F80-A41F-4296-BEDA-4E4BEC89A86F}" destId="{ED27F895-F932-4520-A6E7-20717B1B6ABA}" srcOrd="0" destOrd="0" parTransId="{E4F3F18A-396C-4AEE-B550-7690C2F59830}" sibTransId="{7197E9C7-2BFC-4382-A4C1-AF8E70D3407A}"/>
    <dgm:cxn modelId="{1E1272DD-6742-490C-9AA3-64853B99596A}" srcId="{30139F80-A41F-4296-BEDA-4E4BEC89A86F}" destId="{65F0DA01-8262-450D-BD62-8690C98FDAD2}" srcOrd="2" destOrd="0" parTransId="{45A96CE7-8DBE-4F8A-87D0-854153A0DCCB}" sibTransId="{E3AA9C70-C00F-41C3-AC24-14264B3DF079}"/>
    <dgm:cxn modelId="{A53F6167-674D-45BF-A0F9-85DB705E68B1}" type="presParOf" srcId="{1DF4AACC-FCFE-4478-BA2F-B6B158A02CB5}" destId="{0AF41DD3-82AC-4D68-969B-AFC5197C8579}" srcOrd="0" destOrd="0" presId="urn:microsoft.com/office/officeart/2005/8/layout/cycle3#1"/>
    <dgm:cxn modelId="{8CF2AE9B-AC50-4328-9DBB-6BDCEB82D6C9}" type="presParOf" srcId="{0AF41DD3-82AC-4D68-969B-AFC5197C8579}" destId="{22A11489-3ABA-40F8-A51D-1DD036252FB1}" srcOrd="0" destOrd="0" presId="urn:microsoft.com/office/officeart/2005/8/layout/cycle3#1"/>
    <dgm:cxn modelId="{3F68BE51-D031-45EF-8EAD-C89D5DF601E3}" type="presParOf" srcId="{0AF41DD3-82AC-4D68-969B-AFC5197C8579}" destId="{337EB5E2-1680-494E-8F98-087A78809C28}" srcOrd="1" destOrd="0" presId="urn:microsoft.com/office/officeart/2005/8/layout/cycle3#1"/>
    <dgm:cxn modelId="{5706B61A-63CB-44F9-B30D-8CA5484EC22A}" type="presParOf" srcId="{0AF41DD3-82AC-4D68-969B-AFC5197C8579}" destId="{688DC5BA-912A-4A40-91DF-67B2BDDD2B94}" srcOrd="2" destOrd="0" presId="urn:microsoft.com/office/officeart/2005/8/layout/cycle3#1"/>
    <dgm:cxn modelId="{61E472F2-44F4-4F4E-AFB8-D0F10C459E2B}" type="presParOf" srcId="{0AF41DD3-82AC-4D68-969B-AFC5197C8579}" destId="{28D855B3-3DD3-4000-8129-7193272CBB99}" srcOrd="3" destOrd="0" presId="urn:microsoft.com/office/officeart/2005/8/layout/cycle3#1"/>
    <dgm:cxn modelId="{D725D436-A8A9-4064-BDB7-1A7016DAF3F6}" type="presParOf" srcId="{0AF41DD3-82AC-4D68-969B-AFC5197C8579}" destId="{BFF1AEDD-3E7C-471E-AC6C-1F6B329BE939}" srcOrd="4" destOrd="0" presId="urn:microsoft.com/office/officeart/2005/8/layout/cycle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EB5E2-1680-494E-8F98-087A78809C28}">
      <dsp:nvSpPr>
        <dsp:cNvPr id="0" name=""/>
        <dsp:cNvSpPr/>
      </dsp:nvSpPr>
      <dsp:spPr>
        <a:xfrm>
          <a:off x="1647485" y="-145268"/>
          <a:ext cx="5710598" cy="5710598"/>
        </a:xfrm>
        <a:prstGeom prst="circularArrow">
          <a:avLst>
            <a:gd name="adj1" fmla="val 4668"/>
            <a:gd name="adj2" fmla="val 272909"/>
            <a:gd name="adj3" fmla="val 12857574"/>
            <a:gd name="adj4" fmla="val 18013021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11489-3ABA-40F8-A51D-1DD036252FB1}">
      <dsp:nvSpPr>
        <dsp:cNvPr id="0" name=""/>
        <dsp:cNvSpPr/>
      </dsp:nvSpPr>
      <dsp:spPr bwMode="white">
        <a:xfrm>
          <a:off x="2614165" y="2723"/>
          <a:ext cx="3777238" cy="18886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PLAN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Identified gaps in career guidance and designed an anonymous needs assessment survey</a:t>
          </a:r>
          <a:endParaRPr lang="en-US" sz="2000" kern="1200">
            <a:sym typeface="+mn-ea"/>
          </a:endParaRPr>
        </a:p>
      </dsp:txBody>
      <dsp:txXfrm>
        <a:off x="2706360" y="94918"/>
        <a:ext cx="3592848" cy="1704229"/>
      </dsp:txXfrm>
    </dsp:sp>
    <dsp:sp modelId="{688DC5BA-912A-4A40-91DF-67B2BDDD2B94}">
      <dsp:nvSpPr>
        <dsp:cNvPr id="0" name=""/>
        <dsp:cNvSpPr/>
      </dsp:nvSpPr>
      <dsp:spPr bwMode="white">
        <a:xfrm>
          <a:off x="4664649" y="2053207"/>
          <a:ext cx="3777238" cy="1888619"/>
        </a:xfrm>
        <a:prstGeom prst="roundRect">
          <a:avLst/>
        </a:prstGeom>
        <a:solidFill>
          <a:schemeClr val="accent2">
            <a:hueOff val="-508499"/>
            <a:satOff val="0"/>
            <a:lumOff val="-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DO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Distributed a 19-question survey to IM residents; received 2</a:t>
          </a:r>
          <a:r>
            <a:rPr lang="en-US" sz="2000" kern="1200">
              <a:sym typeface="+mn-ea"/>
            </a:rPr>
            <a:t>8</a:t>
          </a:r>
          <a:r>
            <a:rPr sz="2000" kern="1200">
              <a:sym typeface="+mn-ea"/>
            </a:rPr>
            <a:t> responses</a:t>
          </a:r>
          <a:endParaRPr lang="en-US" sz="2000" kern="1200"/>
        </a:p>
      </dsp:txBody>
      <dsp:txXfrm>
        <a:off x="4756844" y="2145402"/>
        <a:ext cx="3592848" cy="1704229"/>
      </dsp:txXfrm>
    </dsp:sp>
    <dsp:sp modelId="{28D855B3-3DD3-4000-8129-7193272CBB99}">
      <dsp:nvSpPr>
        <dsp:cNvPr id="0" name=""/>
        <dsp:cNvSpPr/>
      </dsp:nvSpPr>
      <dsp:spPr bwMode="white">
        <a:xfrm>
          <a:off x="2614165" y="4103691"/>
          <a:ext cx="3777238" cy="1888619"/>
        </a:xfrm>
        <a:prstGeom prst="roundRect">
          <a:avLst/>
        </a:prstGeom>
        <a:solidFill>
          <a:schemeClr val="accent2">
            <a:hueOff val="-1016998"/>
            <a:satOff val="0"/>
            <a:lumOff val="-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STUDY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Analyzed data on confidence, exposure, barriers, and preferred formats</a:t>
          </a:r>
          <a:endParaRPr lang="en-US" sz="2000" kern="1200">
            <a:sym typeface="+mn-ea"/>
          </a:endParaRPr>
        </a:p>
      </dsp:txBody>
      <dsp:txXfrm>
        <a:off x="2706360" y="4195886"/>
        <a:ext cx="3592848" cy="1704229"/>
      </dsp:txXfrm>
    </dsp:sp>
    <dsp:sp modelId="{BFF1AEDD-3E7C-471E-AC6C-1F6B329BE939}">
      <dsp:nvSpPr>
        <dsp:cNvPr id="0" name=""/>
        <dsp:cNvSpPr/>
      </dsp:nvSpPr>
      <dsp:spPr bwMode="white">
        <a:xfrm>
          <a:off x="563681" y="2053207"/>
          <a:ext cx="3777238" cy="1888619"/>
        </a:xfrm>
        <a:prstGeom prst="roundRect">
          <a:avLst/>
        </a:prstGeom>
        <a:solidFill>
          <a:schemeClr val="accent2">
            <a:hueOff val="-1525497"/>
            <a:satOff val="0"/>
            <a:lumOff val="-1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ACT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Developed a slide-based resource covering </a:t>
          </a:r>
          <a:r>
            <a:rPr lang="en-US" sz="2000" kern="1200">
              <a:sym typeface="+mn-ea"/>
            </a:rPr>
            <a:t>all 3</a:t>
          </a:r>
          <a:r>
            <a:rPr sz="2000" kern="1200">
              <a:sym typeface="+mn-ea"/>
            </a:rPr>
            <a:t>tracks; preparing for rollout and feedback</a:t>
          </a:r>
          <a:endParaRPr lang="en-US" sz="2000" kern="1200">
            <a:sym typeface="+mn-ea"/>
          </a:endParaRPr>
        </a:p>
      </dsp:txBody>
      <dsp:txXfrm>
        <a:off x="655876" y="2145402"/>
        <a:ext cx="3592848" cy="170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#1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dstNode" val="node1"/>
                <dgm:param type="connRout" val="longCurve"/>
                <dgm:param type="begPts" val="midR"/>
                <dgm:param type="endPts" val="midL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dstNode" val="node1"/>
                <dgm:param type="connRout" val="longCurve"/>
                <dgm:param type="begPts" val="midL"/>
                <dgm:param type="endPts" val="midR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dstNode" val="nodeFirstNode"/>
                      <dgm:param type="connRout" val="longCurve"/>
                      <dgm:param type="begPts" val="midR"/>
                      <dgm:param type="endPts" val="midL"/>
                    </dgm:alg>
                  </dgm:if>
                  <dgm:else name="Name15">
                    <dgm:alg type="conn">
                      <dgm:param type="dstNode" val="nodeFirstNode"/>
                      <dgm:param type="connRout" val="longCurve"/>
                      <dgm:param type="begPts" val="midL"/>
                      <dgm:param type="endPts" val="midR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00" indent="0" algn="ctr">
              <a:buNone/>
              <a:defRPr/>
            </a:lvl2pPr>
            <a:lvl3pPr marL="609600" indent="0" algn="ctr">
              <a:buNone/>
              <a:defRPr/>
            </a:lvl3pPr>
            <a:lvl4pPr marL="914400" indent="0" algn="ctr">
              <a:buNone/>
              <a:defRPr/>
            </a:lvl4pPr>
            <a:lvl5pPr marL="1219200" indent="0" algn="ctr">
              <a:buNone/>
              <a:defRPr/>
            </a:lvl5pPr>
            <a:lvl6pPr marL="1524000" indent="0" algn="ctr">
              <a:buNone/>
              <a:defRPr/>
            </a:lvl6pPr>
            <a:lvl7pPr marL="1828800" indent="0" algn="ctr">
              <a:buNone/>
              <a:defRPr/>
            </a:lvl7pPr>
            <a:lvl8pPr marL="2133600" indent="0" algn="ctr">
              <a:buNone/>
              <a:defRPr/>
            </a:lvl8pPr>
            <a:lvl9pPr marL="2438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5"/>
            </a:lvl1pPr>
            <a:lvl2pPr marL="304800" indent="0">
              <a:buNone/>
              <a:defRPr sz="1200"/>
            </a:lvl2pPr>
            <a:lvl3pPr marL="609600" indent="0">
              <a:buNone/>
              <a:defRPr sz="1065"/>
            </a:lvl3pPr>
            <a:lvl4pPr marL="914400" indent="0">
              <a:buNone/>
              <a:defRPr sz="935"/>
            </a:lvl4pPr>
            <a:lvl5pPr marL="1219200" indent="0">
              <a:buNone/>
              <a:defRPr sz="935"/>
            </a:lvl5pPr>
            <a:lvl6pPr marL="1524000" indent="0">
              <a:buNone/>
              <a:defRPr sz="935"/>
            </a:lvl6pPr>
            <a:lvl7pPr marL="1828800" indent="0">
              <a:buNone/>
              <a:defRPr sz="935"/>
            </a:lvl7pPr>
            <a:lvl8pPr marL="2133600" indent="0">
              <a:buNone/>
              <a:defRPr sz="935"/>
            </a:lvl8pPr>
            <a:lvl9pPr marL="2438400" indent="0">
              <a:buNone/>
              <a:defRPr sz="9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/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algn="ctr"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algn="r"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2pPr>
      <a:lvl3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3pPr>
      <a:lvl4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4pPr>
      <a:lvl5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5pPr>
      <a:lvl6pPr marL="3048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6pPr>
      <a:lvl7pPr marL="6096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7pPr>
      <a:lvl8pPr marL="9144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8pPr>
      <a:lvl9pPr marL="12192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9pPr>
    </p:titleStyle>
    <p:bodyStyle>
      <a:defPPr>
        <a:defRPr kern="1200"/>
      </a:defPPr>
      <a:lvl1pPr marL="1176020" indent="-1176020" algn="l" defTabSz="3134995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ea typeface="+mn-ea"/>
          <a:cs typeface="+mn-cs"/>
        </a:defRPr>
      </a:lvl1pPr>
      <a:lvl2pPr marL="2547620" indent="-979805" algn="l" defTabSz="3134995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20" indent="-784225" algn="l" defTabSz="3134995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400" indent="-784225" algn="l" defTabSz="3134995" rtl="0" eaLnBrk="0" fontAlgn="base" hangingPunct="0">
        <a:spcBef>
          <a:spcPct val="20000"/>
        </a:spcBef>
        <a:spcAft>
          <a:spcPct val="0"/>
        </a:spcAft>
        <a:buChar char="–"/>
        <a:defRPr sz="6865">
          <a:solidFill>
            <a:schemeClr val="tx1"/>
          </a:solidFill>
          <a:latin typeface="+mn-lt"/>
        </a:defRPr>
      </a:lvl4pPr>
      <a:lvl5pPr marL="7054215" indent="-782955" algn="l" defTabSz="3134995" rtl="0" eaLnBrk="0" fontAlgn="base" hangingPunct="0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5pPr>
      <a:lvl6pPr marL="73590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6pPr>
      <a:lvl7pPr marL="76638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7pPr>
      <a:lvl8pPr marL="79686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8pPr>
      <a:lvl9pPr marL="82734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s 22"/>
          <p:cNvSpPr/>
          <p:nvPr/>
        </p:nvSpPr>
        <p:spPr>
          <a:xfrm>
            <a:off x="11440160" y="4286250"/>
            <a:ext cx="10389235" cy="1652079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22335490" y="4819650"/>
            <a:ext cx="10067290" cy="159740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05460" y="4803140"/>
            <a:ext cx="10389235" cy="159937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2385" y="-50165"/>
            <a:ext cx="32950785" cy="4467225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4430"/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32328" y="20964846"/>
            <a:ext cx="32950730" cy="980753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91440" tIns="45720" rIns="91440" bIns="45720" anchor="ctr"/>
          <a:lstStyle>
            <a:defPPr>
              <a:defRPr kern="1200"/>
            </a:defPPr>
          </a:lstStyle>
          <a:p>
            <a:pPr defTabSz="3136265"/>
            <a:endParaRPr lang="en-US" sz="443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/>
          <p:cNvSpPr txBox="1"/>
          <p:nvPr/>
        </p:nvSpPr>
        <p:spPr>
          <a:xfrm>
            <a:off x="4627245" y="687070"/>
            <a:ext cx="23921720" cy="183134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120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5700" dirty="0">
                <a:solidFill>
                  <a:schemeClr val="bg1"/>
                </a:solidFill>
                <a:latin typeface="Amaranth" panose="02000503050000020004" pitchFamily="2" charset="0"/>
              </a:rPr>
              <a:t>Quality Improvement Project: Enhancing Career Pathway Guidance for Internal Medicine Residents</a:t>
            </a:r>
          </a:p>
        </p:txBody>
      </p:sp>
      <p:sp>
        <p:nvSpPr>
          <p:cNvPr id="35" name="Text Placeholder 16"/>
          <p:cNvSpPr txBox="1"/>
          <p:nvPr/>
        </p:nvSpPr>
        <p:spPr>
          <a:xfrm>
            <a:off x="3470308" y="2778414"/>
            <a:ext cx="27432000" cy="1438910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565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125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bg1"/>
                </a:solidFill>
                <a:latin typeface="Titillium Web" panose="00000500000000000000" pitchFamily="2" charset="0"/>
              </a:rPr>
              <a:t>Yazan Haroun, MD; Advisor: Anupama Poliyedath, MD</a:t>
            </a:r>
          </a:p>
          <a:p>
            <a:pPr algn="ctr"/>
            <a:r>
              <a:rPr lang="en-US" sz="4000">
                <a:solidFill>
                  <a:schemeClr val="bg1"/>
                </a:solidFill>
                <a:latin typeface="Titillium Web" panose="00000500000000000000" pitchFamily="2" charset="0"/>
              </a:rPr>
              <a:t>Graduate Medical Education Internal Medicine - Saint Agnes Medical Center, Fresno CA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514350" y="4815205"/>
            <a:ext cx="10379710" cy="66675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Background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1413490" y="4813935"/>
            <a:ext cx="10415905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2312630" y="856615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Discussion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53390" y="10088880"/>
            <a:ext cx="10480040" cy="64579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Objectives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14350" y="13672185"/>
            <a:ext cx="1037971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Methodolgy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22312630" y="1511427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Future Considerations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22312630" y="1797558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References</a:t>
            </a:r>
          </a:p>
        </p:txBody>
      </p:sp>
      <p:sp>
        <p:nvSpPr>
          <p:cNvPr id="26" name="Text Box 25"/>
          <p:cNvSpPr txBox="1"/>
          <p:nvPr/>
        </p:nvSpPr>
        <p:spPr>
          <a:xfrm>
            <a:off x="732790" y="5612130"/>
            <a:ext cx="10058400" cy="412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Career planning is a critical part of Internal Medicine residency, yet many residents report limited structured exposure to key post-residency options like hospitalist medicine, primary care, and subspecialty fellowship. </a:t>
            </a:r>
          </a:p>
          <a:p>
            <a:endParaRPr lang="en-US" altLang="en-US" sz="2400"/>
          </a:p>
          <a:p>
            <a:r>
              <a:rPr lang="en-US" altLang="en-US" sz="2400"/>
              <a:t>Time constraints, inconsistent mentorship, and lack of formal guidance often contribute to decision fatigue and uncertainty.</a:t>
            </a:r>
          </a:p>
          <a:p>
            <a:endParaRPr lang="en-US" altLang="en-US" sz="2400"/>
          </a:p>
          <a:p>
            <a:r>
              <a:rPr lang="en-US" altLang="en-US" sz="2400"/>
              <a:t>Literature supports the value of targeted career counseling in improving satisfaction and confidence, yet most programs still rely on informal or late-stage advising. [1] [2] 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773430" y="11057255"/>
            <a:ext cx="101606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Assess resident exposure, confidence, and support across major career tracks.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Identify key barriers to informed career decision-making.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Develop a resident-informed educational resource tailored to their needs.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Prepare for future implementation and evaluation of its impact.</a:t>
            </a:r>
          </a:p>
        </p:txBody>
      </p:sp>
      <p:graphicFrame>
        <p:nvGraphicFramePr>
          <p:cNvPr id="29" name="Diagram 28"/>
          <p:cNvGraphicFramePr/>
          <p:nvPr/>
        </p:nvGraphicFramePr>
        <p:xfrm>
          <a:off x="1190625" y="14529435"/>
          <a:ext cx="9005570" cy="599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" name="Picture 33"/>
          <p:cNvPicPr/>
          <p:nvPr/>
        </p:nvPicPr>
        <p:blipFill>
          <a:blip r:embed="rId7"/>
          <a:srcRect l="4243" t="21142" r="5489" b="8707"/>
          <a:stretch>
            <a:fillRect/>
          </a:stretch>
        </p:blipFill>
        <p:spPr>
          <a:xfrm>
            <a:off x="11558905" y="5945505"/>
            <a:ext cx="9529445" cy="2988310"/>
          </a:xfrm>
          <a:prstGeom prst="rect">
            <a:avLst/>
          </a:prstGeom>
        </p:spPr>
      </p:pic>
      <p:pic>
        <p:nvPicPr>
          <p:cNvPr id="41" name="Picture 40"/>
          <p:cNvPicPr/>
          <p:nvPr/>
        </p:nvPicPr>
        <p:blipFill>
          <a:blip r:embed="rId8"/>
          <a:srcRect t="28189" b="8054"/>
          <a:stretch>
            <a:fillRect/>
          </a:stretch>
        </p:blipFill>
        <p:spPr>
          <a:xfrm>
            <a:off x="12628245" y="9583420"/>
            <a:ext cx="8166100" cy="3376930"/>
          </a:xfrm>
          <a:prstGeom prst="rect">
            <a:avLst/>
          </a:prstGeom>
        </p:spPr>
      </p:pic>
      <p:pic>
        <p:nvPicPr>
          <p:cNvPr id="44" name="Picture 43"/>
          <p:cNvPicPr/>
          <p:nvPr/>
        </p:nvPicPr>
        <p:blipFill>
          <a:blip r:embed="rId9"/>
          <a:srcRect t="21323" r="1424" b="5929"/>
          <a:stretch>
            <a:fillRect/>
          </a:stretch>
        </p:blipFill>
        <p:spPr>
          <a:xfrm>
            <a:off x="22478365" y="5922645"/>
            <a:ext cx="9768840" cy="2604770"/>
          </a:xfrm>
          <a:prstGeom prst="rect">
            <a:avLst/>
          </a:prstGeom>
        </p:spPr>
      </p:pic>
      <p:pic>
        <p:nvPicPr>
          <p:cNvPr id="47" name="Picture 46"/>
          <p:cNvPicPr/>
          <p:nvPr/>
        </p:nvPicPr>
        <p:blipFill>
          <a:blip r:embed="rId10"/>
          <a:srcRect t="21009" b="4111"/>
          <a:stretch>
            <a:fillRect/>
          </a:stretch>
        </p:blipFill>
        <p:spPr>
          <a:xfrm>
            <a:off x="11779250" y="13345795"/>
            <a:ext cx="9645015" cy="3217545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12978765" y="15830550"/>
            <a:ext cx="1336040" cy="333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Not Confident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1469390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Slightly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1639697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Somewhat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1815973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Fairly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1987804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Very </a:t>
            </a:r>
          </a:p>
          <a:p>
            <a:pPr algn="ctr"/>
            <a:r>
              <a:rPr lang="en-US" sz="1400"/>
              <a:t>Confident</a:t>
            </a:r>
          </a:p>
        </p:txBody>
      </p:sp>
      <p:pic>
        <p:nvPicPr>
          <p:cNvPr id="54" name="Picture 53"/>
          <p:cNvPicPr/>
          <p:nvPr/>
        </p:nvPicPr>
        <p:blipFill>
          <a:blip r:embed="rId11"/>
          <a:srcRect t="20895" r="6493" b="8672"/>
          <a:stretch>
            <a:fillRect/>
          </a:stretch>
        </p:blipFill>
        <p:spPr>
          <a:xfrm>
            <a:off x="11514455" y="16815435"/>
            <a:ext cx="10306050" cy="3870325"/>
          </a:xfrm>
          <a:prstGeom prst="rect">
            <a:avLst/>
          </a:prstGeom>
        </p:spPr>
      </p:pic>
      <p:sp>
        <p:nvSpPr>
          <p:cNvPr id="55" name="Text Box 54"/>
          <p:cNvSpPr txBox="1"/>
          <p:nvPr/>
        </p:nvSpPr>
        <p:spPr>
          <a:xfrm>
            <a:off x="11699240" y="5674995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Figure 1: Intended career path after </a:t>
            </a:r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residency</a:t>
            </a:r>
            <a:r>
              <a:rPr lang="en-US" sz="1800" b="1"/>
              <a:t>.</a:t>
            </a:r>
          </a:p>
        </p:txBody>
      </p:sp>
      <p:sp>
        <p:nvSpPr>
          <p:cNvPr id="56" name="Text Box 55"/>
          <p:cNvSpPr txBox="1"/>
          <p:nvPr/>
        </p:nvSpPr>
        <p:spPr>
          <a:xfrm>
            <a:off x="11699240" y="9122410"/>
            <a:ext cx="8596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Figure 2: Residents’ familiarity </a:t>
            </a:r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with </a:t>
            </a:r>
            <a:r>
              <a:rPr lang="en-US" sz="1800" b="1"/>
              <a:t>key responsibilities, lifestyle, and scope of career pathways.</a:t>
            </a:r>
          </a:p>
        </p:txBody>
      </p:sp>
      <p:sp>
        <p:nvSpPr>
          <p:cNvPr id="57" name="Text Box 56"/>
          <p:cNvSpPr txBox="1"/>
          <p:nvPr/>
        </p:nvSpPr>
        <p:spPr>
          <a:xfrm>
            <a:off x="11699240" y="12974955"/>
            <a:ext cx="946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3: Residents’ confidence in ability to choose a post-residency career path.</a:t>
            </a:r>
          </a:p>
        </p:txBody>
      </p:sp>
      <p:sp>
        <p:nvSpPr>
          <p:cNvPr id="58" name="Text Box 57"/>
          <p:cNvSpPr txBox="1"/>
          <p:nvPr/>
        </p:nvSpPr>
        <p:spPr>
          <a:xfrm>
            <a:off x="11699240" y="16524605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4: Possible barriers for post-residency career path planning.</a:t>
            </a:r>
          </a:p>
        </p:txBody>
      </p:sp>
      <p:sp>
        <p:nvSpPr>
          <p:cNvPr id="59" name="Text Box 58"/>
          <p:cNvSpPr txBox="1"/>
          <p:nvPr/>
        </p:nvSpPr>
        <p:spPr>
          <a:xfrm>
            <a:off x="22672040" y="5582920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5: Residents’ preference on suggested formats for career resources.</a:t>
            </a: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auto">
          <a:xfrm>
            <a:off x="22335490" y="4806315"/>
            <a:ext cx="10079355" cy="69024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61" name="Text Box 60"/>
          <p:cNvSpPr txBox="1"/>
          <p:nvPr/>
        </p:nvSpPr>
        <p:spPr>
          <a:xfrm>
            <a:off x="22485350" y="9342755"/>
            <a:ext cx="9768205" cy="3405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/>
              <a:t>Survey findings highlighted critical gaps in exposure, confidence, and support regarding career planning. While interest in hospitalist and fellowship paths was high, many reported limited exposure to fellowship-prep experiences or outpatient primary care. Only a small proportion felt very confident in making post-residency decisions, and nearly half lacked a dedicated mentor to guide them.</a:t>
            </a:r>
          </a:p>
          <a:p>
            <a:endParaRPr lang="en-US" altLang="en-US" sz="2400" dirty="0"/>
          </a:p>
          <a:p>
            <a:r>
              <a:rPr lang="en-US" altLang="en-US" sz="2400" dirty="0"/>
              <a:t>Residents preferred video formats, short presentations, and interactive experiences as career guidance resources, and emphasized the importance of addressing both professional and personal goals.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 response, a slide-based educational resource covering Hospitalist, Primary Care, and Fellowship tracks was created. The project demonstrates the value of resident-informed guidance and sets the stage for future feedback and expansion.</a:t>
            </a:r>
          </a:p>
        </p:txBody>
      </p:sp>
      <p:sp>
        <p:nvSpPr>
          <p:cNvPr id="63" name="Text Box 62"/>
          <p:cNvSpPr txBox="1"/>
          <p:nvPr/>
        </p:nvSpPr>
        <p:spPr>
          <a:xfrm>
            <a:off x="22623145" y="15869285"/>
            <a:ext cx="96793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Deploy the resource and collect feedback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Expand content and consider adding live panels or mentorship components.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Explore integration into intern orientation or formal residency curriculum.</a:t>
            </a:r>
          </a:p>
        </p:txBody>
      </p:sp>
      <p:sp>
        <p:nvSpPr>
          <p:cNvPr id="70" name="Rectangles 69"/>
          <p:cNvSpPr/>
          <p:nvPr/>
        </p:nvSpPr>
        <p:spPr>
          <a:xfrm>
            <a:off x="11616690" y="5661025"/>
            <a:ext cx="10059670" cy="326199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11619865" y="9046210"/>
            <a:ext cx="10059670" cy="368236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11623675" y="12851765"/>
            <a:ext cx="10059670" cy="346265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11623675" y="16475075"/>
            <a:ext cx="10059670" cy="4080510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22458680" y="5582920"/>
            <a:ext cx="9844405" cy="277304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85350" y="18753455"/>
            <a:ext cx="9933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en-US" sz="1800"/>
              <a:t>Ramanan, R. A., Taylor, W. C., Davis, R. B., &amp; Phillips, R. S. (2006). Mentoring matters. Mentoring and career preparation in internal medicine residency training. Journal of general internal medicine, 21(4), 340–345. https://doi.org/10.1111/j.1525-1497.2006.00346.x</a:t>
            </a:r>
          </a:p>
          <a:p>
            <a:pPr marL="457200" indent="-457200">
              <a:buAutoNum type="arabicPeriod"/>
            </a:pPr>
            <a:r>
              <a:rPr lang="en-US" altLang="en-US" sz="1800"/>
              <a:t>DeCastro, R., Griffith, K. A., Ubel, P. A., Stewart, A., &amp; Jagsi, R. (2014). Mentoring and the career satisfaction of male and female academic medical faculty. Academic medicine : journal of the Association of American Medical Colleges, 89(2), 301–311. https://doi.org/10.1097/ACM.0000000000000109</a:t>
            </a:r>
          </a:p>
          <a:p>
            <a:endParaRPr lang="en-US" altLang="en-US" sz="180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584</Words>
  <Application>Microsoft Macintosh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Titillium Web</vt:lpstr>
      <vt:lpstr>Arial Bold</vt:lpstr>
      <vt:lpstr>Symbol</vt:lpstr>
      <vt:lpstr>Arial</vt:lpstr>
      <vt:lpstr>Amaranth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Phil Kim</cp:lastModifiedBy>
  <cp:revision>36</cp:revision>
  <dcterms:created xsi:type="dcterms:W3CDTF">2025-04-26T02:58:54Z</dcterms:created>
  <dcterms:modified xsi:type="dcterms:W3CDTF">2025-04-26T17:33:08Z</dcterms:modified>
  <cp:category>scientific poster 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64A058144F9AD9AEEE4B0C68EC4E06A0_43</vt:lpwstr>
  </property>
  <property fmtid="{D5CDD505-2E9C-101B-9397-08002B2CF9AE}" pid="3" name="KSOProductBuildVer">
    <vt:lpwstr>1033-6.11.0.8608</vt:lpwstr>
  </property>
</Properties>
</file>