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2"/>
  </p:sldIdLst>
  <p:sldSz cx="32918400" cy="21945600"/>
  <p:notesSz cx="5800725" cy="9094788"/>
  <p:embeddedFontLst>
    <p:embeddedFont>
      <p:font typeface="Amaranth" panose="02000503050000020004" pitchFamily="2" charset="77"/>
      <p:regular r:id="rId3"/>
    </p:embeddedFont>
    <p:embeddedFont>
      <p:font typeface="Titillium Web" pitchFamily="2" charset="77"/>
      <p:regular r:id="rId4"/>
      <p:bold r:id="rId5"/>
      <p:italic r:id="rId6"/>
      <p:boldItalic r:id="rId7"/>
    </p:embeddedFont>
  </p:embeddedFontLst>
  <p:custDataLst>
    <p:tags r:id="rId8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6640" kern="1200">
        <a:solidFill>
          <a:schemeClr val="tx1"/>
        </a:solidFill>
        <a:latin typeface="Arial" panose="020B0604020202090204"/>
        <a:ea typeface="+mn-ea"/>
        <a:cs typeface="+mn-cs"/>
      </a:defRPr>
    </a:lvl1pPr>
    <a:lvl2pPr marL="326390" algn="l" rtl="0" fontAlgn="base">
      <a:spcBef>
        <a:spcPct val="0"/>
      </a:spcBef>
      <a:spcAft>
        <a:spcPct val="0"/>
      </a:spcAft>
      <a:defRPr sz="6640" kern="1200">
        <a:solidFill>
          <a:schemeClr val="tx1"/>
        </a:solidFill>
        <a:latin typeface="Arial" panose="020B0604020202090204"/>
        <a:ea typeface="+mn-ea"/>
        <a:cs typeface="+mn-cs"/>
      </a:defRPr>
    </a:lvl2pPr>
    <a:lvl3pPr marL="652780" algn="l" rtl="0" fontAlgn="base">
      <a:spcBef>
        <a:spcPct val="0"/>
      </a:spcBef>
      <a:spcAft>
        <a:spcPct val="0"/>
      </a:spcAft>
      <a:defRPr sz="6640" kern="1200">
        <a:solidFill>
          <a:schemeClr val="tx1"/>
        </a:solidFill>
        <a:latin typeface="Arial" panose="020B0604020202090204"/>
        <a:ea typeface="+mn-ea"/>
        <a:cs typeface="+mn-cs"/>
      </a:defRPr>
    </a:lvl3pPr>
    <a:lvl4pPr marL="979805" algn="l" rtl="0" fontAlgn="base">
      <a:spcBef>
        <a:spcPct val="0"/>
      </a:spcBef>
      <a:spcAft>
        <a:spcPct val="0"/>
      </a:spcAft>
      <a:defRPr sz="6640" kern="1200">
        <a:solidFill>
          <a:schemeClr val="tx1"/>
        </a:solidFill>
        <a:latin typeface="Arial" panose="020B0604020202090204"/>
        <a:ea typeface="+mn-ea"/>
        <a:cs typeface="+mn-cs"/>
      </a:defRPr>
    </a:lvl4pPr>
    <a:lvl5pPr marL="1306195" algn="l" rtl="0" fontAlgn="base">
      <a:spcBef>
        <a:spcPct val="0"/>
      </a:spcBef>
      <a:spcAft>
        <a:spcPct val="0"/>
      </a:spcAft>
      <a:defRPr sz="6640" kern="1200">
        <a:solidFill>
          <a:schemeClr val="tx1"/>
        </a:solidFill>
        <a:latin typeface="Arial" panose="020B0604020202090204"/>
        <a:ea typeface="+mn-ea"/>
        <a:cs typeface="+mn-cs"/>
      </a:defRPr>
    </a:lvl5pPr>
    <a:lvl6pPr marL="1632585" algn="l" defTabSz="652780" rtl="0" eaLnBrk="1" latinLnBrk="0" hangingPunct="1">
      <a:defRPr sz="6640" kern="1200">
        <a:solidFill>
          <a:schemeClr val="tx1"/>
        </a:solidFill>
        <a:latin typeface="Arial" panose="020B0604020202090204"/>
        <a:ea typeface="+mn-ea"/>
        <a:cs typeface="+mn-cs"/>
      </a:defRPr>
    </a:lvl6pPr>
    <a:lvl7pPr marL="1958975" algn="l" defTabSz="652780" rtl="0" eaLnBrk="1" latinLnBrk="0" hangingPunct="1">
      <a:defRPr sz="6640" kern="1200">
        <a:solidFill>
          <a:schemeClr val="tx1"/>
        </a:solidFill>
        <a:latin typeface="Arial" panose="020B0604020202090204"/>
        <a:ea typeface="+mn-ea"/>
        <a:cs typeface="+mn-cs"/>
      </a:defRPr>
    </a:lvl7pPr>
    <a:lvl8pPr marL="2286000" algn="l" defTabSz="652780" rtl="0" eaLnBrk="1" latinLnBrk="0" hangingPunct="1">
      <a:defRPr sz="6640" kern="1200">
        <a:solidFill>
          <a:schemeClr val="tx1"/>
        </a:solidFill>
        <a:latin typeface="Arial" panose="020B0604020202090204"/>
        <a:ea typeface="+mn-ea"/>
        <a:cs typeface="+mn-cs"/>
      </a:defRPr>
    </a:lvl8pPr>
    <a:lvl9pPr marL="2612390" algn="l" defTabSz="652780" rtl="0" eaLnBrk="1" latinLnBrk="0" hangingPunct="1">
      <a:defRPr sz="6640" kern="1200">
        <a:solidFill>
          <a:schemeClr val="tx1"/>
        </a:solidFill>
        <a:latin typeface="Arial" panose="020B0604020202090204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900" userDrawn="1">
          <p15:clr>
            <a:srgbClr val="A4A3A4"/>
          </p15:clr>
        </p15:guide>
        <p15:guide id="2" pos="1035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15620"/>
    <p:restoredTop sz="94660"/>
  </p:normalViewPr>
  <p:slideViewPr>
    <p:cSldViewPr snapToGrid="0" showGuides="1">
      <p:cViewPr varScale="1">
        <p:scale>
          <a:sx n="47" d="100"/>
          <a:sy n="47" d="100"/>
        </p:scale>
        <p:origin x="3152" y="264"/>
      </p:cViewPr>
      <p:guideLst>
        <p:guide orient="horz" pos="6900"/>
        <p:guide pos="10351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font" Target="fonts/font1.fntdata"/><Relationship Id="rId4" Type="http://schemas.openxmlformats.org/officeDocument/2006/relationships/font" Target="fonts/font2.fntdata"/><Relationship Id="rId5" Type="http://schemas.openxmlformats.org/officeDocument/2006/relationships/font" Target="fonts/font3.fntdata"/><Relationship Id="rId6" Type="http://schemas.openxmlformats.org/officeDocument/2006/relationships/font" Target="fonts/font4.fntdata"/><Relationship Id="rId7" Type="http://schemas.openxmlformats.org/officeDocument/2006/relationships/font" Target="fonts/font5.fntdata"/><Relationship Id="rId8" Type="http://schemas.openxmlformats.org/officeDocument/2006/relationships/tags" Target="tags/tag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#1">
  <dgm:title val=""/>
  <dgm:desc val=""/>
  <dgm:catLst>
    <dgm:cat type="colorful" pri="10200"/>
  </dgm:catLst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0139F80-A41F-4296-BEDA-4E4BEC89A86F}" type="doc">
      <dgm:prSet loTypeId="urn:microsoft.com/office/officeart/2005/8/layout/cycle3#1" loCatId="cycle" qsTypeId="urn:microsoft.com/office/officeart/2005/8/quickstyle/simple1#1" qsCatId="simple" csTypeId="urn:microsoft.com/office/officeart/2005/8/colors/colorful2#1" csCatId="accent1" phldr="0"/>
      <dgm:spPr/>
      <dgm:t>
        <a:bodyPr/>
        <a:lstStyle/>
        <a:p>
          <a:endParaRPr lang="en-US"/>
        </a:p>
      </dgm:t>
    </dgm:pt>
    <dgm:pt modelId="{ED27F895-F932-4520-A6E7-20717B1B6ABA}">
      <dgm:prSet phldrT="[Text]" phldr="0" custT="1"/>
      <dgm:spPr/>
      <dgm:t>
        <a:bodyPr vert="horz" wrap="square"/>
        <a:lstStyle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u="sng">
              <a:sym typeface="+mn-ea"/>
            </a:rPr>
            <a:t>PLAN</a:t>
          </a:r>
          <a:endParaRPr sz="2000">
            <a:sym typeface="+mn-ea"/>
          </a:endParaRPr>
        </a:p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sz="2000">
              <a:sym typeface="+mn-ea"/>
            </a:rPr>
            <a:t>Identified gaps in career guidance and designed an anonymous needs assessment survey</a:t>
          </a:r>
          <a:endParaRPr lang="en-US" sz="2000">
            <a:sym typeface="+mn-ea"/>
          </a:endParaRPr>
        </a:p>
      </dgm:t>
    </dgm:pt>
    <dgm:pt modelId="{E4F3F18A-396C-4AEE-B550-7690C2F59830}" type="parTrans" cxnId="{0F7102A4-AA98-4E74-846F-F5245DC6D69F}">
      <dgm:prSet/>
      <dgm:spPr/>
      <dgm:t>
        <a:bodyPr/>
        <a:lstStyle/>
        <a:p>
          <a:endParaRPr lang="en-US"/>
        </a:p>
      </dgm:t>
    </dgm:pt>
    <dgm:pt modelId="{7197E9C7-2BFC-4382-A4C1-AF8E70D3407A}" type="sibTrans" cxnId="{0F7102A4-AA98-4E74-846F-F5245DC6D69F}">
      <dgm:prSet/>
      <dgm:spPr/>
      <dgm:t>
        <a:bodyPr/>
        <a:lstStyle/>
        <a:p>
          <a:endParaRPr lang="en-US"/>
        </a:p>
      </dgm:t>
    </dgm:pt>
    <dgm:pt modelId="{FAC4F552-553A-4AE6-BC40-237F3697F56A}">
      <dgm:prSet phldrT="[Text]" phldr="0" custT="1"/>
      <dgm:spPr/>
      <dgm:t>
        <a:bodyPr vert="horz" wrap="square"/>
        <a:lstStyle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u="sng">
              <a:sym typeface="+mn-ea"/>
            </a:rPr>
            <a:t>DO</a:t>
          </a:r>
          <a:endParaRPr sz="2000">
            <a:sym typeface="+mn-ea"/>
          </a:endParaRPr>
        </a:p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sz="2000">
              <a:sym typeface="+mn-ea"/>
            </a:rPr>
            <a:t>Distributed a 19-question survey to IM residents; received 2</a:t>
          </a:r>
          <a:r>
            <a:rPr lang="en-US" sz="2000">
              <a:sym typeface="+mn-ea"/>
            </a:rPr>
            <a:t>8</a:t>
          </a:r>
          <a:r>
            <a:rPr sz="2000">
              <a:sym typeface="+mn-ea"/>
            </a:rPr>
            <a:t> responses</a:t>
          </a:r>
          <a:endParaRPr lang="en-US" sz="2000"/>
        </a:p>
      </dgm:t>
    </dgm:pt>
    <dgm:pt modelId="{7FD9B64E-5280-4B70-903C-6F2BE28A6CE5}" type="parTrans" cxnId="{59AE8C01-EFA8-4DD0-9680-63AE1B0BC8E2}">
      <dgm:prSet/>
      <dgm:spPr/>
      <dgm:t>
        <a:bodyPr/>
        <a:lstStyle/>
        <a:p>
          <a:endParaRPr lang="en-US"/>
        </a:p>
      </dgm:t>
    </dgm:pt>
    <dgm:pt modelId="{C214425F-F630-4C52-8627-F2DE8D0D90BA}" type="sibTrans" cxnId="{59AE8C01-EFA8-4DD0-9680-63AE1B0BC8E2}">
      <dgm:prSet/>
      <dgm:spPr/>
      <dgm:t>
        <a:bodyPr/>
        <a:lstStyle/>
        <a:p>
          <a:endParaRPr lang="en-US"/>
        </a:p>
      </dgm:t>
    </dgm:pt>
    <dgm:pt modelId="{65F0DA01-8262-450D-BD62-8690C98FDAD2}">
      <dgm:prSet phldrT="[Text]" phldr="0" custT="1"/>
      <dgm:spPr/>
      <dgm:t>
        <a:bodyPr vert="horz" wrap="square"/>
        <a:lstStyle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u="sng">
              <a:sym typeface="+mn-ea"/>
            </a:rPr>
            <a:t>STUDY</a:t>
          </a:r>
          <a:endParaRPr sz="2000">
            <a:sym typeface="+mn-ea"/>
          </a:endParaRPr>
        </a:p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sz="2000">
              <a:sym typeface="+mn-ea"/>
            </a:rPr>
            <a:t>Analyzed data on confidence, exposure, barriers, and preferred formats</a:t>
          </a:r>
          <a:endParaRPr lang="en-US" sz="2000">
            <a:sym typeface="+mn-ea"/>
          </a:endParaRPr>
        </a:p>
      </dgm:t>
    </dgm:pt>
    <dgm:pt modelId="{45A96CE7-8DBE-4F8A-87D0-854153A0DCCB}" type="parTrans" cxnId="{1E1272DD-6742-490C-9AA3-64853B99596A}">
      <dgm:prSet/>
      <dgm:spPr/>
      <dgm:t>
        <a:bodyPr/>
        <a:lstStyle/>
        <a:p>
          <a:endParaRPr lang="en-US"/>
        </a:p>
      </dgm:t>
    </dgm:pt>
    <dgm:pt modelId="{E3AA9C70-C00F-41C3-AC24-14264B3DF079}" type="sibTrans" cxnId="{1E1272DD-6742-490C-9AA3-64853B99596A}">
      <dgm:prSet/>
      <dgm:spPr/>
      <dgm:t>
        <a:bodyPr/>
        <a:lstStyle/>
        <a:p>
          <a:endParaRPr lang="en-US"/>
        </a:p>
      </dgm:t>
    </dgm:pt>
    <dgm:pt modelId="{F31169B2-585C-4BD6-AAB7-1E90D256C935}">
      <dgm:prSet phldrT="[Text]" phldr="0" custT="1"/>
      <dgm:spPr/>
      <dgm:t>
        <a:bodyPr vert="horz" wrap="square"/>
        <a:lstStyle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u="sng">
              <a:sym typeface="+mn-ea"/>
            </a:rPr>
            <a:t>ACT</a:t>
          </a:r>
          <a:endParaRPr sz="2000">
            <a:sym typeface="+mn-ea"/>
          </a:endParaRPr>
        </a:p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sz="2000">
              <a:sym typeface="+mn-ea"/>
            </a:rPr>
            <a:t>Developed a slide-based resource covering </a:t>
          </a:r>
          <a:r>
            <a:rPr lang="en-US" sz="2000">
              <a:sym typeface="+mn-ea"/>
            </a:rPr>
            <a:t>all 3</a:t>
          </a:r>
          <a:r>
            <a:rPr sz="2000">
              <a:sym typeface="+mn-ea"/>
            </a:rPr>
            <a:t>tracks; preparing for rollout and feedback</a:t>
          </a:r>
          <a:endParaRPr lang="en-US" sz="2000">
            <a:sym typeface="+mn-ea"/>
          </a:endParaRPr>
        </a:p>
      </dgm:t>
    </dgm:pt>
    <dgm:pt modelId="{EE61BEF3-F390-4F05-94B5-481342196429}" type="parTrans" cxnId="{10D01C57-1E77-4593-BED7-AEC69A2D4C28}">
      <dgm:prSet/>
      <dgm:spPr/>
      <dgm:t>
        <a:bodyPr/>
        <a:lstStyle/>
        <a:p>
          <a:endParaRPr lang="en-US"/>
        </a:p>
      </dgm:t>
    </dgm:pt>
    <dgm:pt modelId="{D5E542A6-2C10-4832-8E38-82821B7DF259}" type="sibTrans" cxnId="{10D01C57-1E77-4593-BED7-AEC69A2D4C28}">
      <dgm:prSet/>
      <dgm:spPr/>
      <dgm:t>
        <a:bodyPr/>
        <a:lstStyle/>
        <a:p>
          <a:endParaRPr lang="en-US"/>
        </a:p>
      </dgm:t>
    </dgm:pt>
    <dgm:pt modelId="{1DF4AACC-FCFE-4478-BA2F-B6B158A02CB5}" type="pres">
      <dgm:prSet presAssocID="{30139F80-A41F-4296-BEDA-4E4BEC89A86F}" presName="Name0" presStyleCnt="0">
        <dgm:presLayoutVars>
          <dgm:dir/>
          <dgm:resizeHandles val="exact"/>
        </dgm:presLayoutVars>
      </dgm:prSet>
      <dgm:spPr/>
    </dgm:pt>
    <dgm:pt modelId="{0AF41DD3-82AC-4D68-969B-AFC5197C8579}" type="pres">
      <dgm:prSet presAssocID="{30139F80-A41F-4296-BEDA-4E4BEC89A86F}" presName="cycle" presStyleCnt="0"/>
      <dgm:spPr/>
    </dgm:pt>
    <dgm:pt modelId="{22A11489-3ABA-40F8-A51D-1DD036252FB1}" type="pres">
      <dgm:prSet presAssocID="{ED27F895-F932-4520-A6E7-20717B1B6ABA}" presName="nodeFirstNode" presStyleLbl="node1" presStyleIdx="0" presStyleCnt="4">
        <dgm:presLayoutVars>
          <dgm:bulletEnabled val="1"/>
        </dgm:presLayoutVars>
      </dgm:prSet>
      <dgm:spPr/>
    </dgm:pt>
    <dgm:pt modelId="{337EB5E2-1680-494E-8F98-087A78809C28}" type="pres">
      <dgm:prSet presAssocID="{7197E9C7-2BFC-4382-A4C1-AF8E70D3407A}" presName="sibTransFirstNode" presStyleLbl="bgShp" presStyleIdx="0" presStyleCnt="1"/>
      <dgm:spPr/>
    </dgm:pt>
    <dgm:pt modelId="{688DC5BA-912A-4A40-91DF-67B2BDDD2B94}" type="pres">
      <dgm:prSet presAssocID="{FAC4F552-553A-4AE6-BC40-237F3697F56A}" presName="nodeFollowingNodes" presStyleLbl="node1" presStyleIdx="1" presStyleCnt="4">
        <dgm:presLayoutVars>
          <dgm:bulletEnabled val="1"/>
        </dgm:presLayoutVars>
      </dgm:prSet>
      <dgm:spPr/>
    </dgm:pt>
    <dgm:pt modelId="{28D855B3-3DD3-4000-8129-7193272CBB99}" type="pres">
      <dgm:prSet presAssocID="{65F0DA01-8262-450D-BD62-8690C98FDAD2}" presName="nodeFollowingNodes" presStyleLbl="node1" presStyleIdx="2" presStyleCnt="4">
        <dgm:presLayoutVars>
          <dgm:bulletEnabled val="1"/>
        </dgm:presLayoutVars>
      </dgm:prSet>
      <dgm:spPr/>
    </dgm:pt>
    <dgm:pt modelId="{BFF1AEDD-3E7C-471E-AC6C-1F6B329BE939}" type="pres">
      <dgm:prSet presAssocID="{F31169B2-585C-4BD6-AAB7-1E90D256C935}" presName="nodeFollowingNodes" presStyleLbl="node1" presStyleIdx="3" presStyleCnt="4">
        <dgm:presLayoutVars>
          <dgm:bulletEnabled val="1"/>
        </dgm:presLayoutVars>
      </dgm:prSet>
      <dgm:spPr/>
    </dgm:pt>
  </dgm:ptLst>
  <dgm:cxnLst>
    <dgm:cxn modelId="{59AE8C01-EFA8-4DD0-9680-63AE1B0BC8E2}" srcId="{30139F80-A41F-4296-BEDA-4E4BEC89A86F}" destId="{FAC4F552-553A-4AE6-BC40-237F3697F56A}" srcOrd="1" destOrd="0" parTransId="{7FD9B64E-5280-4B70-903C-6F2BE28A6CE5}" sibTransId="{C214425F-F630-4C52-8627-F2DE8D0D90BA}"/>
    <dgm:cxn modelId="{CB0AC925-F29A-4FC9-AD7E-F126A421D3FA}" type="presOf" srcId="{30139F80-A41F-4296-BEDA-4E4BEC89A86F}" destId="{1DF4AACC-FCFE-4478-BA2F-B6B158A02CB5}" srcOrd="0" destOrd="0" presId="urn:microsoft.com/office/officeart/2005/8/layout/cycle3#1"/>
    <dgm:cxn modelId="{2D867D2E-F508-4C3C-89EE-6A18F2C810B1}" type="presOf" srcId="{FAC4F552-553A-4AE6-BC40-237F3697F56A}" destId="{688DC5BA-912A-4A40-91DF-67B2BDDD2B94}" srcOrd="0" destOrd="0" presId="urn:microsoft.com/office/officeart/2005/8/layout/cycle3#1"/>
    <dgm:cxn modelId="{3826A455-EFFA-400F-8B78-80618795C290}" type="presOf" srcId="{F31169B2-585C-4BD6-AAB7-1E90D256C935}" destId="{BFF1AEDD-3E7C-471E-AC6C-1F6B329BE939}" srcOrd="0" destOrd="0" presId="urn:microsoft.com/office/officeart/2005/8/layout/cycle3#1"/>
    <dgm:cxn modelId="{10D01C57-1E77-4593-BED7-AEC69A2D4C28}" srcId="{30139F80-A41F-4296-BEDA-4E4BEC89A86F}" destId="{F31169B2-585C-4BD6-AAB7-1E90D256C935}" srcOrd="3" destOrd="0" parTransId="{EE61BEF3-F390-4F05-94B5-481342196429}" sibTransId="{D5E542A6-2C10-4832-8E38-82821B7DF259}"/>
    <dgm:cxn modelId="{BF0E2464-2AF0-44CA-A6A8-E4878D1EB224}" type="presOf" srcId="{ED27F895-F932-4520-A6E7-20717B1B6ABA}" destId="{22A11489-3ABA-40F8-A51D-1DD036252FB1}" srcOrd="0" destOrd="0" presId="urn:microsoft.com/office/officeart/2005/8/layout/cycle3#1"/>
    <dgm:cxn modelId="{8C59AA6C-DEC7-45EA-B53D-4DCE4DA03B43}" type="presOf" srcId="{65F0DA01-8262-450D-BD62-8690C98FDAD2}" destId="{28D855B3-3DD3-4000-8129-7193272CBB99}" srcOrd="0" destOrd="0" presId="urn:microsoft.com/office/officeart/2005/8/layout/cycle3#1"/>
    <dgm:cxn modelId="{4D70A471-6DA8-4836-B9DE-49BE1503DB41}" type="presOf" srcId="{7197E9C7-2BFC-4382-A4C1-AF8E70D3407A}" destId="{337EB5E2-1680-494E-8F98-087A78809C28}" srcOrd="0" destOrd="0" presId="urn:microsoft.com/office/officeart/2005/8/layout/cycle3#1"/>
    <dgm:cxn modelId="{0F7102A4-AA98-4E74-846F-F5245DC6D69F}" srcId="{30139F80-A41F-4296-BEDA-4E4BEC89A86F}" destId="{ED27F895-F932-4520-A6E7-20717B1B6ABA}" srcOrd="0" destOrd="0" parTransId="{E4F3F18A-396C-4AEE-B550-7690C2F59830}" sibTransId="{7197E9C7-2BFC-4382-A4C1-AF8E70D3407A}"/>
    <dgm:cxn modelId="{1E1272DD-6742-490C-9AA3-64853B99596A}" srcId="{30139F80-A41F-4296-BEDA-4E4BEC89A86F}" destId="{65F0DA01-8262-450D-BD62-8690C98FDAD2}" srcOrd="2" destOrd="0" parTransId="{45A96CE7-8DBE-4F8A-87D0-854153A0DCCB}" sibTransId="{E3AA9C70-C00F-41C3-AC24-14264B3DF079}"/>
    <dgm:cxn modelId="{A53F6167-674D-45BF-A0F9-85DB705E68B1}" type="presParOf" srcId="{1DF4AACC-FCFE-4478-BA2F-B6B158A02CB5}" destId="{0AF41DD3-82AC-4D68-969B-AFC5197C8579}" srcOrd="0" destOrd="0" presId="urn:microsoft.com/office/officeart/2005/8/layout/cycle3#1"/>
    <dgm:cxn modelId="{8CF2AE9B-AC50-4328-9DBB-6BDCEB82D6C9}" type="presParOf" srcId="{0AF41DD3-82AC-4D68-969B-AFC5197C8579}" destId="{22A11489-3ABA-40F8-A51D-1DD036252FB1}" srcOrd="0" destOrd="0" presId="urn:microsoft.com/office/officeart/2005/8/layout/cycle3#1"/>
    <dgm:cxn modelId="{3F68BE51-D031-45EF-8EAD-C89D5DF601E3}" type="presParOf" srcId="{0AF41DD3-82AC-4D68-969B-AFC5197C8579}" destId="{337EB5E2-1680-494E-8F98-087A78809C28}" srcOrd="1" destOrd="0" presId="urn:microsoft.com/office/officeart/2005/8/layout/cycle3#1"/>
    <dgm:cxn modelId="{5706B61A-63CB-44F9-B30D-8CA5484EC22A}" type="presParOf" srcId="{0AF41DD3-82AC-4D68-969B-AFC5197C8579}" destId="{688DC5BA-912A-4A40-91DF-67B2BDDD2B94}" srcOrd="2" destOrd="0" presId="urn:microsoft.com/office/officeart/2005/8/layout/cycle3#1"/>
    <dgm:cxn modelId="{61E472F2-44F4-4F4E-AFB8-D0F10C459E2B}" type="presParOf" srcId="{0AF41DD3-82AC-4D68-969B-AFC5197C8579}" destId="{28D855B3-3DD3-4000-8129-7193272CBB99}" srcOrd="3" destOrd="0" presId="urn:microsoft.com/office/officeart/2005/8/layout/cycle3#1"/>
    <dgm:cxn modelId="{D725D436-A8A9-4064-BDB7-1A7016DAF3F6}" type="presParOf" srcId="{0AF41DD3-82AC-4D68-969B-AFC5197C8579}" destId="{BFF1AEDD-3E7C-471E-AC6C-1F6B329BE939}" srcOrd="4" destOrd="0" presId="urn:microsoft.com/office/officeart/2005/8/layout/cycle3#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37EB5E2-1680-494E-8F98-087A78809C28}">
      <dsp:nvSpPr>
        <dsp:cNvPr id="0" name=""/>
        <dsp:cNvSpPr/>
      </dsp:nvSpPr>
      <dsp:spPr>
        <a:xfrm>
          <a:off x="1647485" y="-145268"/>
          <a:ext cx="5710598" cy="5710598"/>
        </a:xfrm>
        <a:prstGeom prst="circularArrow">
          <a:avLst>
            <a:gd name="adj1" fmla="val 4668"/>
            <a:gd name="adj2" fmla="val 272909"/>
            <a:gd name="adj3" fmla="val 12857574"/>
            <a:gd name="adj4" fmla="val 18013021"/>
            <a:gd name="adj5" fmla="val 4847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2A11489-3ABA-40F8-A51D-1DD036252FB1}">
      <dsp:nvSpPr>
        <dsp:cNvPr id="0" name=""/>
        <dsp:cNvSpPr/>
      </dsp:nvSpPr>
      <dsp:spPr bwMode="white">
        <a:xfrm>
          <a:off x="2614165" y="2723"/>
          <a:ext cx="3777238" cy="1888619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u="sng" kern="1200">
              <a:sym typeface="+mn-ea"/>
            </a:rPr>
            <a:t>PLAN</a:t>
          </a:r>
          <a:endParaRPr sz="2000" kern="1200">
            <a:sym typeface="+mn-ea"/>
          </a:endParaRPr>
        </a:p>
        <a:p>
          <a:pPr marL="0" lvl="0" indent="0" algn="ctr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sz="2000" kern="1200">
              <a:sym typeface="+mn-ea"/>
            </a:rPr>
            <a:t>Identified gaps in career guidance and designed an anonymous needs assessment survey</a:t>
          </a:r>
          <a:endParaRPr lang="en-US" sz="2000" kern="1200">
            <a:sym typeface="+mn-ea"/>
          </a:endParaRPr>
        </a:p>
      </dsp:txBody>
      <dsp:txXfrm>
        <a:off x="2706360" y="94918"/>
        <a:ext cx="3592848" cy="1704229"/>
      </dsp:txXfrm>
    </dsp:sp>
    <dsp:sp modelId="{688DC5BA-912A-4A40-91DF-67B2BDDD2B94}">
      <dsp:nvSpPr>
        <dsp:cNvPr id="0" name=""/>
        <dsp:cNvSpPr/>
      </dsp:nvSpPr>
      <dsp:spPr bwMode="white">
        <a:xfrm>
          <a:off x="4664649" y="2053207"/>
          <a:ext cx="3777238" cy="1888619"/>
        </a:xfrm>
        <a:prstGeom prst="roundRect">
          <a:avLst/>
        </a:prstGeom>
        <a:solidFill>
          <a:schemeClr val="accent2">
            <a:hueOff val="-508499"/>
            <a:satOff val="0"/>
            <a:lumOff val="-470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u="sng" kern="1200">
              <a:sym typeface="+mn-ea"/>
            </a:rPr>
            <a:t>DO</a:t>
          </a:r>
          <a:endParaRPr sz="2000" kern="1200">
            <a:sym typeface="+mn-ea"/>
          </a:endParaRPr>
        </a:p>
        <a:p>
          <a:pPr marL="0" lvl="0" indent="0" algn="ctr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sz="2000" kern="1200">
              <a:sym typeface="+mn-ea"/>
            </a:rPr>
            <a:t>Distributed a 19-question survey to IM residents; received 2</a:t>
          </a:r>
          <a:r>
            <a:rPr lang="en-US" sz="2000" kern="1200">
              <a:sym typeface="+mn-ea"/>
            </a:rPr>
            <a:t>8</a:t>
          </a:r>
          <a:r>
            <a:rPr sz="2000" kern="1200">
              <a:sym typeface="+mn-ea"/>
            </a:rPr>
            <a:t> responses</a:t>
          </a:r>
          <a:endParaRPr lang="en-US" sz="2000" kern="1200"/>
        </a:p>
      </dsp:txBody>
      <dsp:txXfrm>
        <a:off x="4756844" y="2145402"/>
        <a:ext cx="3592848" cy="1704229"/>
      </dsp:txXfrm>
    </dsp:sp>
    <dsp:sp modelId="{28D855B3-3DD3-4000-8129-7193272CBB99}">
      <dsp:nvSpPr>
        <dsp:cNvPr id="0" name=""/>
        <dsp:cNvSpPr/>
      </dsp:nvSpPr>
      <dsp:spPr bwMode="white">
        <a:xfrm>
          <a:off x="2614165" y="4103691"/>
          <a:ext cx="3777238" cy="1888619"/>
        </a:xfrm>
        <a:prstGeom prst="roundRect">
          <a:avLst/>
        </a:prstGeom>
        <a:solidFill>
          <a:schemeClr val="accent2">
            <a:hueOff val="-1016998"/>
            <a:satOff val="0"/>
            <a:lumOff val="-9412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u="sng" kern="1200">
              <a:sym typeface="+mn-ea"/>
            </a:rPr>
            <a:t>STUDY</a:t>
          </a:r>
          <a:endParaRPr sz="2000" kern="1200">
            <a:sym typeface="+mn-ea"/>
          </a:endParaRPr>
        </a:p>
        <a:p>
          <a:pPr marL="0" lvl="0" indent="0" algn="ctr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sz="2000" kern="1200">
              <a:sym typeface="+mn-ea"/>
            </a:rPr>
            <a:t>Analyzed data on confidence, exposure, barriers, and preferred formats</a:t>
          </a:r>
          <a:endParaRPr lang="en-US" sz="2000" kern="1200">
            <a:sym typeface="+mn-ea"/>
          </a:endParaRPr>
        </a:p>
      </dsp:txBody>
      <dsp:txXfrm>
        <a:off x="2706360" y="4195886"/>
        <a:ext cx="3592848" cy="1704229"/>
      </dsp:txXfrm>
    </dsp:sp>
    <dsp:sp modelId="{BFF1AEDD-3E7C-471E-AC6C-1F6B329BE939}">
      <dsp:nvSpPr>
        <dsp:cNvPr id="0" name=""/>
        <dsp:cNvSpPr/>
      </dsp:nvSpPr>
      <dsp:spPr bwMode="white">
        <a:xfrm>
          <a:off x="563681" y="2053207"/>
          <a:ext cx="3777238" cy="1888619"/>
        </a:xfrm>
        <a:prstGeom prst="roundRect">
          <a:avLst/>
        </a:prstGeom>
        <a:solidFill>
          <a:schemeClr val="accent2">
            <a:hueOff val="-1525497"/>
            <a:satOff val="0"/>
            <a:lumOff val="-1411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u="sng" kern="1200">
              <a:sym typeface="+mn-ea"/>
            </a:rPr>
            <a:t>ACT</a:t>
          </a:r>
          <a:endParaRPr sz="2000" kern="1200">
            <a:sym typeface="+mn-ea"/>
          </a:endParaRPr>
        </a:p>
        <a:p>
          <a:pPr marL="0" lvl="0" indent="0" algn="ctr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sz="2000" kern="1200">
              <a:sym typeface="+mn-ea"/>
            </a:rPr>
            <a:t>Developed a slide-based resource covering </a:t>
          </a:r>
          <a:r>
            <a:rPr lang="en-US" sz="2000" kern="1200">
              <a:sym typeface="+mn-ea"/>
            </a:rPr>
            <a:t>all 3</a:t>
          </a:r>
          <a:r>
            <a:rPr sz="2000" kern="1200">
              <a:sym typeface="+mn-ea"/>
            </a:rPr>
            <a:t>tracks; preparing for rollout and feedback</a:t>
          </a:r>
          <a:endParaRPr lang="en-US" sz="2000" kern="1200">
            <a:sym typeface="+mn-ea"/>
          </a:endParaRPr>
        </a:p>
      </dsp:txBody>
      <dsp:txXfrm>
        <a:off x="655876" y="2145402"/>
        <a:ext cx="3592848" cy="170422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3#1">
  <dgm:title val=""/>
  <dgm:desc val=""/>
  <dgm:catLst>
    <dgm:cat type="cycle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>
          <dgm:prSet qsTypeId="urn:microsoft.com/office/officeart/2005/8/quickstyle/simple5"/>
        </dgm:pt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>
          <dgm:prSet csTypeId="urn:microsoft.com/office/officeart/2005/8/colors/accent6_5"/>
        </dgm:pt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ch" ptType="node" func="cnt" op="equ" val="2">
        <dgm:alg type="composite">
          <dgm:param type="ar" val="0.9"/>
        </dgm:alg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  <dgm:constr type="ctrX" for="ch" forName="node1" refType="w" fact="0.5"/>
          <dgm:constr type="t" for="ch" forName="node1"/>
          <dgm:constr type="w" for="ch" forName="node1" refType="w" fact="0.8"/>
          <dgm:constr type="h" for="ch" forName="node1" refType="w" refFor="ch" refForName="node1" fact="0.5"/>
          <dgm:constr type="ctrX" for="ch" forName="sibTrans" refType="w" fact="0.5"/>
          <dgm:constr type="t" for="ch" forName="sibTrans"/>
          <dgm:constr type="w" for="ch" forName="sibTrans" refType="w" fact="0.8"/>
          <dgm:constr type="h" for="ch" forName="sibTrans" refType="w" refFor="ch" refForName="node1" fact="0.5"/>
          <dgm:constr type="userA" for="ch" forName="sibTrans" refType="w" fact="1.07"/>
          <dgm:constr type="ctrX" for="ch" forName="node2" refType="w" fact="0.5"/>
          <dgm:constr type="b" for="ch" forName="node2" refType="h"/>
          <dgm:constr type="w" for="ch" forName="node2" refType="w" fact="0.8"/>
          <dgm:constr type="h" for="ch" forName="node2" refType="w" refFor="ch" refForName="node1" fact="0.5"/>
          <dgm:constr type="l" for="ch" forName="sp1"/>
          <dgm:constr type="t" for="ch" forName="sp1" refType="h" fact="0.5"/>
          <dgm:constr type="w" for="ch" forName="sp1" val="1"/>
          <dgm:constr type="h" for="ch" forName="sp1" val="1"/>
          <dgm:constr type="r" for="ch" forName="sp2" refType="w"/>
          <dgm:constr type="t" for="ch" forName="sp2" refType="h" fact="0.5"/>
          <dgm:constr type="w" for="ch" forName="sp2" val="1"/>
          <dgm:constr type="h" for="ch" forName="sp2" val="1"/>
        </dgm:constrLst>
        <dgm:ruleLst/>
      </dgm:if>
      <dgm:else name="Name3">
        <dgm:alg type="composite"/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</dgm:constrLst>
        <dgm:ruleLst/>
      </dgm:else>
    </dgm:choose>
    <dgm:choose name="Name4">
      <dgm:if name="Name5" axis="ch" ptType="node" func="cnt" op="equ" val="2">
        <dgm:layoutNode name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ibTrans" styleLbl="bgShp">
          <dgm:choose name="Name6">
            <dgm:if name="Name7" func="var" arg="dir" op="equ" val="norm">
              <dgm:alg type="conn">
                <dgm:param type="dstNode" val="node1"/>
                <dgm:param type="connRout" val="longCurve"/>
                <dgm:param type="begPts" val="midR"/>
                <dgm:param type="endPts" val="midL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 fact="-1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if>
            <dgm:else name="Name8">
              <dgm:alg type="conn">
                <dgm:param type="dstNode" val="node1"/>
                <dgm:param type="connRout" val="longCurve"/>
                <dgm:param type="begPts" val="midL"/>
                <dgm:param type="endPts" val="midR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else>
          </dgm:choose>
          <dgm:ruleLst/>
        </dgm:layoutNode>
        <dgm:layoutNode name="node2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p1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p2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if>
      <dgm:else name="Name9">
        <dgm:layoutNode name="cycle">
          <dgm:choose name="Name10">
            <dgm:if name="Name11" func="var" arg="dir" op="equ" val="norm">
              <dgm:alg type="cycle">
                <dgm:param type="stAng" val="0"/>
                <dgm:param type="spanAng" val="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 fact="-1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if>
            <dgm:else name="Name12">
              <dgm:alg type="cycle">
                <dgm:param type="stAng" val="0"/>
                <dgm:param type="spanAng" val="-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else>
          </dgm:choose>
          <dgm:ruleLst/>
          <dgm:forEach name="nodesFirstNodeForEach" axis="ch" ptType="node" cnt="1">
            <dgm:layoutNode name="nodeFirstNode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forEach name="sibTransForEach" axis="followSib" ptType="sibTrans" cnt="1">
              <dgm:layoutNode name="sibTransFirstNode" styleLbl="bgShp">
                <dgm:choose name="Name13">
                  <dgm:if name="Name14" func="var" arg="dir" op="equ" val="norm">
                    <dgm:alg type="conn">
                      <dgm:param type="dstNode" val="nodeFirstNode"/>
                      <dgm:param type="connRout" val="longCurve"/>
                      <dgm:param type="begPts" val="midR"/>
                      <dgm:param type="endPts" val="midL"/>
                    </dgm:alg>
                  </dgm:if>
                  <dgm:else name="Name15">
                    <dgm:alg type="conn">
                      <dgm:param type="dstNode" val="nodeFirstNode"/>
                      <dgm:param type="connRout" val="longCurve"/>
                      <dgm:param type="begPts" val="midL"/>
                      <dgm:param type="endPts" val="midR"/>
                    </dgm:alg>
                  </dgm:else>
                </dgm:choose>
                <dgm:shape xmlns:r="http://schemas.openxmlformats.org/officeDocument/2006/relationships" type="conn" r:blip="" zOrderOff="-2">
                  <dgm:adjLst/>
                </dgm:shape>
                <dgm:presOf axis="self"/>
                <dgm:choose name="Name16">
                  <dgm:if name="Name17" axis="par ch" ptType="doc node" func="cnt" op="equ" val="3">
                    <dgm:constrLst>
                      <dgm:constr type="userA"/>
                      <dgm:constr type="diam" refType="userA" fact="1.01"/>
                      <dgm:constr type="begPad" refType="connDist" fact="-0.2"/>
                      <dgm:constr type="endPad" refType="connDist" fact="0.05"/>
                    </dgm:constrLst>
                  </dgm:if>
                  <dgm:if name="Name18" axis="par ch" ptType="doc node" func="cnt" op="equ" val="4">
                    <dgm:constrLst>
                      <dgm:constr type="userA"/>
                      <dgm:constr type="diam" refType="userA" fact="1.26"/>
                      <dgm:constr type="begPad" refType="connDist" fact="-0.2"/>
                      <dgm:constr type="endPad" refType="connDist" fact="0.05"/>
                    </dgm:constrLst>
                  </dgm:if>
                  <dgm:if name="Name19" axis="par ch" ptType="doc node" func="cnt" op="equ" val="5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if>
                  <dgm:if name="Name20" axis="par ch" ptType="doc node" func="cnt" op="equ" val="6">
                    <dgm:constrLst>
                      <dgm:constr type="userA"/>
                      <dgm:constr type="diam" refType="userA" fact="1.1"/>
                      <dgm:constr type="begPad" refType="connDist" fact="-0.2"/>
                      <dgm:constr type="endPad" refType="connDist" fact="0.05"/>
                    </dgm:constrLst>
                  </dgm:if>
                  <dgm:else name="Name21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else>
                </dgm:choose>
                <dgm:ruleLst/>
              </dgm:layoutNode>
            </dgm:forEach>
          </dgm:forEach>
          <dgm:forEach name="followingNodesForEach" axis="ch" ptType="node" st="2">
            <dgm:layoutNode name="nodeFollowingNodes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forEach>
        </dgm:layoutNod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69356" y="6817784"/>
            <a:ext cx="27979688" cy="4703233"/>
          </a:xfrm>
        </p:spPr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7523" y="12435417"/>
            <a:ext cx="23043356" cy="5609167"/>
          </a:xfrm>
        </p:spPr>
        <p:txBody>
          <a:bodyPr/>
          <a:lstStyle>
            <a:defPPr>
              <a:defRPr kern="1200"/>
            </a:defPPr>
            <a:lvl1pPr marL="0" indent="0" algn="ctr">
              <a:buNone/>
              <a:defRPr/>
            </a:lvl1pPr>
            <a:lvl2pPr marL="304800" indent="0" algn="ctr">
              <a:buNone/>
              <a:defRPr/>
            </a:lvl2pPr>
            <a:lvl3pPr marL="609600" indent="0" algn="ctr">
              <a:buNone/>
              <a:defRPr/>
            </a:lvl3pPr>
            <a:lvl4pPr marL="914400" indent="0" algn="ctr">
              <a:buNone/>
              <a:defRPr/>
            </a:lvl4pPr>
            <a:lvl5pPr marL="1219200" indent="0" algn="ctr">
              <a:buNone/>
              <a:defRPr/>
            </a:lvl5pPr>
            <a:lvl6pPr marL="1524000" indent="0" algn="ctr">
              <a:buNone/>
              <a:defRPr/>
            </a:lvl6pPr>
            <a:lvl7pPr marL="1828800" indent="0" algn="ctr">
              <a:buNone/>
              <a:defRPr/>
            </a:lvl7pPr>
            <a:lvl8pPr marL="2133600" indent="0" algn="ctr">
              <a:buNone/>
              <a:defRPr/>
            </a:lvl8pPr>
            <a:lvl9pPr marL="24384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E9E44D62-E9B9-4A1F-9D60-78A1B8BD2136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D772C493-C7EB-4BEF-9EB3-C72AA1A173D7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0325" y="14102293"/>
            <a:ext cx="27980878" cy="4358217"/>
          </a:xfrm>
        </p:spPr>
        <p:txBody>
          <a:bodyPr anchor="t"/>
          <a:lstStyle>
            <a:defPPr>
              <a:defRPr kern="1200"/>
            </a:defPPr>
            <a:lvl1pPr algn="l">
              <a:defRPr sz="266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00325" y="9301692"/>
            <a:ext cx="27980878" cy="4800600"/>
          </a:xfrm>
        </p:spPr>
        <p:txBody>
          <a:bodyPr anchor="b"/>
          <a:lstStyle>
            <a:defPPr>
              <a:defRPr kern="1200"/>
            </a:defPPr>
            <a:lvl1pPr marL="0" indent="0">
              <a:buNone/>
              <a:defRPr sz="1335"/>
            </a:lvl1pPr>
            <a:lvl2pPr marL="304800" indent="0">
              <a:buNone/>
              <a:defRPr sz="1200"/>
            </a:lvl2pPr>
            <a:lvl3pPr marL="609600" indent="0">
              <a:buNone/>
              <a:defRPr sz="1065"/>
            </a:lvl3pPr>
            <a:lvl4pPr marL="914400" indent="0">
              <a:buNone/>
              <a:defRPr sz="935"/>
            </a:lvl4pPr>
            <a:lvl5pPr marL="1219200" indent="0">
              <a:buNone/>
              <a:defRPr sz="935"/>
            </a:lvl5pPr>
            <a:lvl6pPr marL="1524000" indent="0">
              <a:buNone/>
              <a:defRPr sz="935"/>
            </a:lvl6pPr>
            <a:lvl7pPr marL="1828800" indent="0">
              <a:buNone/>
              <a:defRPr sz="935"/>
            </a:lvl7pPr>
            <a:lvl8pPr marL="2133600" indent="0">
              <a:buNone/>
              <a:defRPr sz="935"/>
            </a:lvl8pPr>
            <a:lvl9pPr marL="2438400" indent="0">
              <a:buNone/>
              <a:defRPr sz="93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3239EF23-2AC5-4B50-8C9E-5F8D49668A77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45444" y="5120217"/>
            <a:ext cx="14756606" cy="14483293"/>
          </a:xfrm>
        </p:spPr>
        <p:txBody>
          <a:bodyPr/>
          <a:lstStyle>
            <a:defPPr>
              <a:defRPr kern="1200"/>
            </a:defPPr>
            <a:lvl1pPr>
              <a:defRPr sz="1865"/>
            </a:lvl1pPr>
            <a:lvl2pPr>
              <a:defRPr sz="1600"/>
            </a:lvl2pPr>
            <a:lvl3pPr>
              <a:defRPr sz="1335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516352" y="5120217"/>
            <a:ext cx="14756606" cy="14483293"/>
          </a:xfrm>
        </p:spPr>
        <p:txBody>
          <a:bodyPr/>
          <a:lstStyle>
            <a:defPPr>
              <a:defRPr kern="1200"/>
            </a:defPPr>
            <a:lvl1pPr>
              <a:defRPr sz="1865"/>
            </a:lvl1pPr>
            <a:lvl2pPr>
              <a:defRPr sz="1600"/>
            </a:lvl2pPr>
            <a:lvl3pPr>
              <a:defRPr sz="1335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0BBD8762-0F6F-41F2-8E1E-C5EF6CE7FF3C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45444" y="4912784"/>
            <a:ext cx="14544675" cy="2046817"/>
          </a:xfrm>
        </p:spPr>
        <p:txBody>
          <a:bodyPr anchor="b"/>
          <a:lstStyle>
            <a:defPPr>
              <a:defRPr kern="1200"/>
            </a:defPPr>
            <a:lvl1pPr marL="0" indent="0">
              <a:buNone/>
              <a:defRPr sz="1600" b="1"/>
            </a:lvl1pPr>
            <a:lvl2pPr marL="304800" indent="0">
              <a:buNone/>
              <a:defRPr sz="1335" b="1"/>
            </a:lvl2pPr>
            <a:lvl3pPr marL="609600" indent="0">
              <a:buNone/>
              <a:defRPr sz="1200" b="1"/>
            </a:lvl3pPr>
            <a:lvl4pPr marL="914400" indent="0">
              <a:buNone/>
              <a:defRPr sz="1065" b="1"/>
            </a:lvl4pPr>
            <a:lvl5pPr marL="1219200" indent="0">
              <a:buNone/>
              <a:defRPr sz="1065" b="1"/>
            </a:lvl5pPr>
            <a:lvl6pPr marL="1524000" indent="0">
              <a:buNone/>
              <a:defRPr sz="1065" b="1"/>
            </a:lvl6pPr>
            <a:lvl7pPr marL="1828800" indent="0">
              <a:buNone/>
              <a:defRPr sz="1065" b="1"/>
            </a:lvl7pPr>
            <a:lvl8pPr marL="2133600" indent="0">
              <a:buNone/>
              <a:defRPr sz="1065" b="1"/>
            </a:lvl8pPr>
            <a:lvl9pPr marL="2438400" indent="0">
              <a:buNone/>
              <a:defRPr sz="1065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45444" y="6959600"/>
            <a:ext cx="14544675" cy="12643908"/>
          </a:xfrm>
        </p:spPr>
        <p:txBody>
          <a:bodyPr/>
          <a:lstStyle>
            <a:defPPr>
              <a:defRPr kern="1200"/>
            </a:defPPr>
            <a:lvl1pPr>
              <a:defRPr sz="1600"/>
            </a:lvl1pPr>
            <a:lvl2pPr>
              <a:defRPr sz="1335"/>
            </a:lvl2pPr>
            <a:lvl3pPr>
              <a:defRPr sz="1200"/>
            </a:lvl3pPr>
            <a:lvl4pPr>
              <a:defRPr sz="1065"/>
            </a:lvl4pPr>
            <a:lvl5pPr>
              <a:defRPr sz="1065"/>
            </a:lvl5pPr>
            <a:lvl6pPr>
              <a:defRPr sz="1065"/>
            </a:lvl6pPr>
            <a:lvl7pPr>
              <a:defRPr sz="1065"/>
            </a:lvl7pPr>
            <a:lvl8pPr>
              <a:defRPr sz="1065"/>
            </a:lvl8pPr>
            <a:lvl9pPr>
              <a:defRPr sz="106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722328" y="4912784"/>
            <a:ext cx="14550630" cy="2046817"/>
          </a:xfrm>
        </p:spPr>
        <p:txBody>
          <a:bodyPr anchor="b"/>
          <a:lstStyle>
            <a:defPPr>
              <a:defRPr kern="1200"/>
            </a:defPPr>
            <a:lvl1pPr marL="0" indent="0">
              <a:buNone/>
              <a:defRPr sz="1600" b="1"/>
            </a:lvl1pPr>
            <a:lvl2pPr marL="304800" indent="0">
              <a:buNone/>
              <a:defRPr sz="1335" b="1"/>
            </a:lvl2pPr>
            <a:lvl3pPr marL="609600" indent="0">
              <a:buNone/>
              <a:defRPr sz="1200" b="1"/>
            </a:lvl3pPr>
            <a:lvl4pPr marL="914400" indent="0">
              <a:buNone/>
              <a:defRPr sz="1065" b="1"/>
            </a:lvl4pPr>
            <a:lvl5pPr marL="1219200" indent="0">
              <a:buNone/>
              <a:defRPr sz="1065" b="1"/>
            </a:lvl5pPr>
            <a:lvl6pPr marL="1524000" indent="0">
              <a:buNone/>
              <a:defRPr sz="1065" b="1"/>
            </a:lvl6pPr>
            <a:lvl7pPr marL="1828800" indent="0">
              <a:buNone/>
              <a:defRPr sz="1065" b="1"/>
            </a:lvl7pPr>
            <a:lvl8pPr marL="2133600" indent="0">
              <a:buNone/>
              <a:defRPr sz="1065" b="1"/>
            </a:lvl8pPr>
            <a:lvl9pPr marL="2438400" indent="0">
              <a:buNone/>
              <a:defRPr sz="1065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722328" y="6959600"/>
            <a:ext cx="14550630" cy="12643908"/>
          </a:xfrm>
        </p:spPr>
        <p:txBody>
          <a:bodyPr/>
          <a:lstStyle>
            <a:defPPr>
              <a:defRPr kern="1200"/>
            </a:defPPr>
            <a:lvl1pPr>
              <a:defRPr sz="1600"/>
            </a:lvl1pPr>
            <a:lvl2pPr>
              <a:defRPr sz="1335"/>
            </a:lvl2pPr>
            <a:lvl3pPr>
              <a:defRPr sz="1200"/>
            </a:lvl3pPr>
            <a:lvl4pPr>
              <a:defRPr sz="1065"/>
            </a:lvl4pPr>
            <a:lvl5pPr>
              <a:defRPr sz="1065"/>
            </a:lvl5pPr>
            <a:lvl6pPr>
              <a:defRPr sz="1065"/>
            </a:lvl6pPr>
            <a:lvl7pPr>
              <a:defRPr sz="1065"/>
            </a:lvl7pPr>
            <a:lvl8pPr>
              <a:defRPr sz="1065"/>
            </a:lvl8pPr>
            <a:lvl9pPr>
              <a:defRPr sz="106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C245EB89-E1F0-4213-BFCF-D6A06A13C4E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F9249905-9305-4041-8B60-8DE0824E8129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97C76933-D99D-4DC1-BD09-1072CC92B201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5444" y="874184"/>
            <a:ext cx="10829925" cy="3717925"/>
          </a:xfrm>
        </p:spPr>
        <p:txBody>
          <a:bodyPr anchor="b"/>
          <a:lstStyle>
            <a:defPPr>
              <a:defRPr kern="1200"/>
            </a:defPPr>
            <a:lvl1pPr algn="l">
              <a:defRPr sz="1335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70656" y="874184"/>
            <a:ext cx="18402300" cy="18729325"/>
          </a:xfrm>
        </p:spPr>
        <p:txBody>
          <a:bodyPr/>
          <a:lstStyle>
            <a:defPPr>
              <a:defRPr kern="1200"/>
            </a:defPPr>
            <a:lvl1pPr>
              <a:defRPr sz="2135"/>
            </a:lvl1pPr>
            <a:lvl2pPr>
              <a:defRPr sz="1865"/>
            </a:lvl2pPr>
            <a:lvl3pPr>
              <a:defRPr sz="1600"/>
            </a:lvl3pPr>
            <a:lvl4pPr>
              <a:defRPr sz="1335"/>
            </a:lvl4pPr>
            <a:lvl5pPr>
              <a:defRPr sz="1335"/>
            </a:lvl5pPr>
            <a:lvl6pPr>
              <a:defRPr sz="1335"/>
            </a:lvl6pPr>
            <a:lvl7pPr>
              <a:defRPr sz="1335"/>
            </a:lvl7pPr>
            <a:lvl8pPr>
              <a:defRPr sz="1335"/>
            </a:lvl8pPr>
            <a:lvl9pPr>
              <a:defRPr sz="133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45444" y="4592109"/>
            <a:ext cx="10829925" cy="15011400"/>
          </a:xfrm>
        </p:spPr>
        <p:txBody>
          <a:bodyPr/>
          <a:lstStyle>
            <a:defPPr>
              <a:defRPr kern="1200"/>
            </a:defPPr>
            <a:lvl1pPr marL="0" indent="0">
              <a:buNone/>
              <a:defRPr sz="935"/>
            </a:lvl1pPr>
            <a:lvl2pPr marL="304800" indent="0">
              <a:buNone/>
              <a:defRPr sz="800"/>
            </a:lvl2pPr>
            <a:lvl3pPr marL="609600" indent="0">
              <a:buNone/>
              <a:defRPr sz="665"/>
            </a:lvl3pPr>
            <a:lvl4pPr marL="914400" indent="0">
              <a:buNone/>
              <a:defRPr sz="600"/>
            </a:lvl4pPr>
            <a:lvl5pPr marL="1219200" indent="0">
              <a:buNone/>
              <a:defRPr sz="600"/>
            </a:lvl5pPr>
            <a:lvl6pPr marL="1524000" indent="0">
              <a:buNone/>
              <a:defRPr sz="600"/>
            </a:lvl6pPr>
            <a:lvl7pPr marL="1828800" indent="0">
              <a:buNone/>
              <a:defRPr sz="600"/>
            </a:lvl7pPr>
            <a:lvl8pPr marL="2133600" indent="0">
              <a:buNone/>
              <a:defRPr sz="600"/>
            </a:lvl8pPr>
            <a:lvl9pPr marL="2438400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EF6A5529-8465-4E7D-9DB8-D374C51CD792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51997" y="15361709"/>
            <a:ext cx="19751280" cy="1813983"/>
          </a:xfrm>
        </p:spPr>
        <p:txBody>
          <a:bodyPr anchor="b"/>
          <a:lstStyle>
            <a:defPPr>
              <a:defRPr kern="1200"/>
            </a:defPPr>
            <a:lvl1pPr algn="l">
              <a:defRPr sz="1335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451997" y="1961092"/>
            <a:ext cx="19751280" cy="13166725"/>
          </a:xfrm>
        </p:spPr>
        <p:txBody>
          <a:bodyPr/>
          <a:lstStyle>
            <a:defPPr>
              <a:defRPr kern="1200"/>
            </a:defPPr>
            <a:lvl1pPr marL="0" indent="0">
              <a:buNone/>
              <a:defRPr sz="2135"/>
            </a:lvl1pPr>
            <a:lvl2pPr marL="304800" indent="0">
              <a:buNone/>
              <a:defRPr sz="1865"/>
            </a:lvl2pPr>
            <a:lvl3pPr marL="609600" indent="0">
              <a:buNone/>
              <a:defRPr sz="1600"/>
            </a:lvl3pPr>
            <a:lvl4pPr marL="914400" indent="0">
              <a:buNone/>
              <a:defRPr sz="1335"/>
            </a:lvl4pPr>
            <a:lvl5pPr marL="1219200" indent="0">
              <a:buNone/>
              <a:defRPr sz="1335"/>
            </a:lvl5pPr>
            <a:lvl6pPr marL="1524000" indent="0">
              <a:buNone/>
              <a:defRPr sz="1335"/>
            </a:lvl6pPr>
            <a:lvl7pPr marL="1828800" indent="0">
              <a:buNone/>
              <a:defRPr sz="1335"/>
            </a:lvl7pPr>
            <a:lvl8pPr marL="2133600" indent="0">
              <a:buNone/>
              <a:defRPr sz="1335"/>
            </a:lvl8pPr>
            <a:lvl9pPr marL="2438400" indent="0">
              <a:buNone/>
              <a:defRPr sz="1335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1997" y="17175693"/>
            <a:ext cx="19751280" cy="2574925"/>
          </a:xfrm>
        </p:spPr>
        <p:txBody>
          <a:bodyPr/>
          <a:lstStyle>
            <a:defPPr>
              <a:defRPr kern="1200"/>
            </a:defPPr>
            <a:lvl1pPr marL="0" indent="0">
              <a:buNone/>
              <a:defRPr sz="935"/>
            </a:lvl1pPr>
            <a:lvl2pPr marL="304800" indent="0">
              <a:buNone/>
              <a:defRPr sz="800"/>
            </a:lvl2pPr>
            <a:lvl3pPr marL="609600" indent="0">
              <a:buNone/>
              <a:defRPr sz="665"/>
            </a:lvl3pPr>
            <a:lvl4pPr marL="914400" indent="0">
              <a:buNone/>
              <a:defRPr sz="600"/>
            </a:lvl4pPr>
            <a:lvl5pPr marL="1219200" indent="0">
              <a:buNone/>
              <a:defRPr sz="600"/>
            </a:lvl5pPr>
            <a:lvl6pPr marL="1524000" indent="0">
              <a:buNone/>
              <a:defRPr sz="600"/>
            </a:lvl6pPr>
            <a:lvl7pPr marL="1828800" indent="0">
              <a:buNone/>
              <a:defRPr sz="600"/>
            </a:lvl7pPr>
            <a:lvl8pPr marL="2133600" indent="0">
              <a:buNone/>
              <a:defRPr sz="600"/>
            </a:lvl8pPr>
            <a:lvl9pPr marL="2438400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3C022C6C-C3BF-4CE1-8842-0AC597017372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8A277C51-0625-40F0-8A02-D153CC2D7029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866080" y="878417"/>
            <a:ext cx="7406878" cy="18725093"/>
          </a:xfrm>
        </p:spPr>
        <p:txBody>
          <a:bodyPr vert="eaVert"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45444" y="878417"/>
            <a:ext cx="22106334" cy="18725093"/>
          </a:xfrm>
        </p:spPr>
        <p:txBody>
          <a:bodyPr vert="eaVert"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6C9A1A37-7051-412A-8F35-8483CD8F48E7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645444" y="878417"/>
            <a:ext cx="29627512" cy="3657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8" tIns="235129" rIns="470258" bIns="235129" anchor="ctr" anchorCtr="0" compatLnSpc="1"/>
          <a:lstStyle>
            <a:defPPr>
              <a:defRPr kern="1200"/>
            </a:def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645444" y="5120217"/>
            <a:ext cx="29627512" cy="144832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8" tIns="235129" rIns="470258" bIns="235129" anchor="t" anchorCtr="0" compatLnSpc="1"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1645444" y="19984507"/>
            <a:ext cx="7681913" cy="152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8" tIns="235129" rIns="470258" bIns="235129" anchor="t" anchorCtr="0" compatLnSpc="1"/>
          <a:lstStyle>
            <a:defPPr>
              <a:defRPr kern="1200"/>
            </a:defPPr>
            <a:lvl1pPr defTabSz="3134995">
              <a:defRPr sz="4800" smtClean="0">
                <a:latin typeface="Arial" panose="020B0604020202090204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1246644" y="19984507"/>
            <a:ext cx="10425113" cy="152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8" tIns="235129" rIns="470258" bIns="235129" anchor="t" anchorCtr="0" compatLnSpc="1"/>
          <a:lstStyle>
            <a:defPPr>
              <a:defRPr kern="1200"/>
            </a:defPPr>
            <a:lvl1pPr algn="ctr" defTabSz="3134995">
              <a:defRPr sz="4800" smtClean="0">
                <a:latin typeface="Arial" panose="020B0604020202090204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23591044" y="19984507"/>
            <a:ext cx="7681913" cy="152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8" tIns="235129" rIns="470258" bIns="235129" anchor="t" anchorCtr="0" compatLnSpc="1"/>
          <a:lstStyle>
            <a:defPPr>
              <a:defRPr kern="1200"/>
            </a:defPPr>
            <a:lvl1pPr algn="r" defTabSz="3134995">
              <a:defRPr sz="4800" smtClean="0">
                <a:latin typeface="Arial" panose="020B0604020202090204" pitchFamily="34" charset="0"/>
              </a:defRPr>
            </a:lvl1pPr>
          </a:lstStyle>
          <a:p>
            <a:pPr>
              <a:defRPr/>
            </a:pPr>
            <a:fld id="{25043CB6-A91D-4176-912B-555F54C38C99}" type="slidenum">
              <a:rPr lang="en-US"/>
              <a:t>‹#›</a:t>
            </a:fld>
            <a:endParaRPr lang="en-US"/>
          </a:p>
        </p:txBody>
      </p:sp>
      <p:pic>
        <p:nvPicPr>
          <p:cNvPr id="1031" name="New picture"/>
          <p:cNvPicPr/>
          <p:nvPr/>
        </p:nvPicPr>
        <p:blipFill>
          <a:blip r:embed="rId13"/>
          <a:stretch>
            <a:fillRect/>
          </a:stretch>
        </p:blipFill>
        <p:spPr>
          <a:xfrm rot="16200000">
            <a:off x="-11074400" y="10972800"/>
            <a:ext cx="14274800" cy="3937000"/>
          </a:xfrm>
          <a:prstGeom prst="rect">
            <a:avLst/>
          </a:prstGeom>
        </p:spPr>
      </p:pic>
      <p:pic>
        <p:nvPicPr>
          <p:cNvPr id="1032" name="New picture"/>
          <p:cNvPicPr/>
          <p:nvPr/>
        </p:nvPicPr>
        <p:blipFill>
          <a:blip r:embed="rId13"/>
          <a:stretch>
            <a:fillRect/>
          </a:stretch>
        </p:blipFill>
        <p:spPr>
          <a:xfrm rot="5400000">
            <a:off x="29718000" y="10972800"/>
            <a:ext cx="14274800" cy="3937000"/>
          </a:xfrm>
          <a:prstGeom prst="rect">
            <a:avLst/>
          </a:prstGeom>
        </p:spPr>
      </p:pic>
      <p:pic>
        <p:nvPicPr>
          <p:cNvPr id="1033" name="New picture"/>
          <p:cNvPicPr/>
          <p:nvPr/>
        </p:nvPicPr>
        <p:blipFill>
          <a:blip r:embed="rId14"/>
          <a:stretch>
            <a:fillRect/>
          </a:stretch>
        </p:blipFill>
        <p:spPr>
          <a:xfrm>
            <a:off x="1460500" y="22453600"/>
            <a:ext cx="29997400" cy="1447800"/>
          </a:xfrm>
          <a:prstGeom prst="rect">
            <a:avLst/>
          </a:prstGeom>
        </p:spPr>
      </p:pic>
      <p:sp>
        <p:nvSpPr>
          <p:cNvPr id="1034" name="New shape"/>
          <p:cNvSpPr/>
          <p:nvPr/>
        </p:nvSpPr>
        <p:spPr>
          <a:xfrm>
            <a:off x="1460500" y="23025100"/>
            <a:ext cx="16459200" cy="127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4560">
                <a:solidFill>
                  <a:srgbClr val="808080"/>
                </a:solidFill>
              </a:rPr>
              <a:t>Template ID: conceptualizingcobalt  Size: 36x24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xStyles>
    <p:titleStyle>
      <a:defPPr>
        <a:defRPr kern="1200"/>
      </a:defPPr>
      <a:lvl1pPr algn="ctr" defTabSz="3134995" rtl="0" eaLnBrk="0" fontAlgn="base" hangingPunct="0">
        <a:spcBef>
          <a:spcPct val="0"/>
        </a:spcBef>
        <a:spcAft>
          <a:spcPct val="0"/>
        </a:spcAft>
        <a:defRPr sz="15065">
          <a:solidFill>
            <a:schemeClr val="tx2"/>
          </a:solidFill>
          <a:latin typeface="+mj-lt"/>
          <a:ea typeface="+mj-ea"/>
          <a:cs typeface="+mj-cs"/>
        </a:defRPr>
      </a:lvl1pPr>
      <a:lvl2pPr algn="ctr" defTabSz="3134995" rtl="0" eaLnBrk="0" fontAlgn="base" hangingPunct="0">
        <a:spcBef>
          <a:spcPct val="0"/>
        </a:spcBef>
        <a:spcAft>
          <a:spcPct val="0"/>
        </a:spcAft>
        <a:defRPr sz="15065">
          <a:solidFill>
            <a:schemeClr val="tx2"/>
          </a:solidFill>
          <a:latin typeface="Arial" panose="020B0604020202090204" pitchFamily="34" charset="0"/>
        </a:defRPr>
      </a:lvl2pPr>
      <a:lvl3pPr algn="ctr" defTabSz="3134995" rtl="0" eaLnBrk="0" fontAlgn="base" hangingPunct="0">
        <a:spcBef>
          <a:spcPct val="0"/>
        </a:spcBef>
        <a:spcAft>
          <a:spcPct val="0"/>
        </a:spcAft>
        <a:defRPr sz="15065">
          <a:solidFill>
            <a:schemeClr val="tx2"/>
          </a:solidFill>
          <a:latin typeface="Arial" panose="020B0604020202090204" pitchFamily="34" charset="0"/>
        </a:defRPr>
      </a:lvl3pPr>
      <a:lvl4pPr algn="ctr" defTabSz="3134995" rtl="0" eaLnBrk="0" fontAlgn="base" hangingPunct="0">
        <a:spcBef>
          <a:spcPct val="0"/>
        </a:spcBef>
        <a:spcAft>
          <a:spcPct val="0"/>
        </a:spcAft>
        <a:defRPr sz="15065">
          <a:solidFill>
            <a:schemeClr val="tx2"/>
          </a:solidFill>
          <a:latin typeface="Arial" panose="020B0604020202090204" pitchFamily="34" charset="0"/>
        </a:defRPr>
      </a:lvl4pPr>
      <a:lvl5pPr algn="ctr" defTabSz="3134995" rtl="0" eaLnBrk="0" fontAlgn="base" hangingPunct="0">
        <a:spcBef>
          <a:spcPct val="0"/>
        </a:spcBef>
        <a:spcAft>
          <a:spcPct val="0"/>
        </a:spcAft>
        <a:defRPr sz="15065">
          <a:solidFill>
            <a:schemeClr val="tx2"/>
          </a:solidFill>
          <a:latin typeface="Arial" panose="020B0604020202090204" pitchFamily="34" charset="0"/>
        </a:defRPr>
      </a:lvl5pPr>
      <a:lvl6pPr marL="304800" algn="ctr" defTabSz="3134995" rtl="0" fontAlgn="base">
        <a:spcBef>
          <a:spcPct val="0"/>
        </a:spcBef>
        <a:spcAft>
          <a:spcPct val="0"/>
        </a:spcAft>
        <a:defRPr sz="15065">
          <a:solidFill>
            <a:schemeClr val="tx2"/>
          </a:solidFill>
          <a:latin typeface="Arial" panose="020B0604020202090204" pitchFamily="34" charset="0"/>
        </a:defRPr>
      </a:lvl6pPr>
      <a:lvl7pPr marL="609600" algn="ctr" defTabSz="3134995" rtl="0" fontAlgn="base">
        <a:spcBef>
          <a:spcPct val="0"/>
        </a:spcBef>
        <a:spcAft>
          <a:spcPct val="0"/>
        </a:spcAft>
        <a:defRPr sz="15065">
          <a:solidFill>
            <a:schemeClr val="tx2"/>
          </a:solidFill>
          <a:latin typeface="Arial" panose="020B0604020202090204" pitchFamily="34" charset="0"/>
        </a:defRPr>
      </a:lvl7pPr>
      <a:lvl8pPr marL="914400" algn="ctr" defTabSz="3134995" rtl="0" fontAlgn="base">
        <a:spcBef>
          <a:spcPct val="0"/>
        </a:spcBef>
        <a:spcAft>
          <a:spcPct val="0"/>
        </a:spcAft>
        <a:defRPr sz="15065">
          <a:solidFill>
            <a:schemeClr val="tx2"/>
          </a:solidFill>
          <a:latin typeface="Arial" panose="020B0604020202090204" pitchFamily="34" charset="0"/>
        </a:defRPr>
      </a:lvl8pPr>
      <a:lvl9pPr marL="1219200" algn="ctr" defTabSz="3134995" rtl="0" fontAlgn="base">
        <a:spcBef>
          <a:spcPct val="0"/>
        </a:spcBef>
        <a:spcAft>
          <a:spcPct val="0"/>
        </a:spcAft>
        <a:defRPr sz="15065">
          <a:solidFill>
            <a:schemeClr val="tx2"/>
          </a:solidFill>
          <a:latin typeface="Arial" panose="020B0604020202090204" pitchFamily="34" charset="0"/>
        </a:defRPr>
      </a:lvl9pPr>
    </p:titleStyle>
    <p:bodyStyle>
      <a:defPPr>
        <a:defRPr kern="1200"/>
      </a:defPPr>
      <a:lvl1pPr marL="1176020" indent="-1176020" algn="l" defTabSz="3134995" rtl="0" eaLnBrk="0" fontAlgn="base" hangingPunct="0">
        <a:spcBef>
          <a:spcPct val="20000"/>
        </a:spcBef>
        <a:spcAft>
          <a:spcPct val="0"/>
        </a:spcAft>
        <a:buChar char="•"/>
        <a:defRPr sz="11000">
          <a:solidFill>
            <a:schemeClr val="tx1"/>
          </a:solidFill>
          <a:latin typeface="+mn-lt"/>
          <a:ea typeface="+mn-ea"/>
          <a:cs typeface="+mn-cs"/>
        </a:defRPr>
      </a:lvl1pPr>
      <a:lvl2pPr marL="2547620" indent="-979805" algn="l" defTabSz="3134995" rtl="0" eaLnBrk="0" fontAlgn="base" hangingPunct="0">
        <a:spcBef>
          <a:spcPct val="20000"/>
        </a:spcBef>
        <a:spcAft>
          <a:spcPct val="0"/>
        </a:spcAft>
        <a:buChar char="–"/>
        <a:defRPr sz="9600">
          <a:solidFill>
            <a:schemeClr val="tx1"/>
          </a:solidFill>
          <a:latin typeface="+mn-lt"/>
        </a:defRPr>
      </a:lvl2pPr>
      <a:lvl3pPr marL="3919220" indent="-784225" algn="l" defTabSz="3134995" rtl="0" eaLnBrk="0" fontAlgn="base" hangingPunct="0">
        <a:spcBef>
          <a:spcPct val="20000"/>
        </a:spcBef>
        <a:spcAft>
          <a:spcPct val="0"/>
        </a:spcAft>
        <a:buChar char="•"/>
        <a:defRPr sz="8200">
          <a:solidFill>
            <a:schemeClr val="tx1"/>
          </a:solidFill>
          <a:latin typeface="+mn-lt"/>
        </a:defRPr>
      </a:lvl3pPr>
      <a:lvl4pPr marL="5486400" indent="-784225" algn="l" defTabSz="3134995" rtl="0" eaLnBrk="0" fontAlgn="base" hangingPunct="0">
        <a:spcBef>
          <a:spcPct val="20000"/>
        </a:spcBef>
        <a:spcAft>
          <a:spcPct val="0"/>
        </a:spcAft>
        <a:buChar char="–"/>
        <a:defRPr sz="6865">
          <a:solidFill>
            <a:schemeClr val="tx1"/>
          </a:solidFill>
          <a:latin typeface="+mn-lt"/>
        </a:defRPr>
      </a:lvl4pPr>
      <a:lvl5pPr marL="7054215" indent="-782955" algn="l" defTabSz="3134995" rtl="0" eaLnBrk="0" fontAlgn="base" hangingPunct="0">
        <a:spcBef>
          <a:spcPct val="20000"/>
        </a:spcBef>
        <a:spcAft>
          <a:spcPct val="0"/>
        </a:spcAft>
        <a:buChar char="»"/>
        <a:defRPr sz="6865">
          <a:solidFill>
            <a:schemeClr val="tx1"/>
          </a:solidFill>
          <a:latin typeface="+mn-lt"/>
        </a:defRPr>
      </a:lvl5pPr>
      <a:lvl6pPr marL="7359015" indent="-782955" algn="l" defTabSz="3134995" rtl="0" fontAlgn="base">
        <a:spcBef>
          <a:spcPct val="20000"/>
        </a:spcBef>
        <a:spcAft>
          <a:spcPct val="0"/>
        </a:spcAft>
        <a:buChar char="»"/>
        <a:defRPr sz="6865">
          <a:solidFill>
            <a:schemeClr val="tx1"/>
          </a:solidFill>
          <a:latin typeface="+mn-lt"/>
        </a:defRPr>
      </a:lvl6pPr>
      <a:lvl7pPr marL="7663815" indent="-782955" algn="l" defTabSz="3134995" rtl="0" fontAlgn="base">
        <a:spcBef>
          <a:spcPct val="20000"/>
        </a:spcBef>
        <a:spcAft>
          <a:spcPct val="0"/>
        </a:spcAft>
        <a:buChar char="»"/>
        <a:defRPr sz="6865">
          <a:solidFill>
            <a:schemeClr val="tx1"/>
          </a:solidFill>
          <a:latin typeface="+mn-lt"/>
        </a:defRPr>
      </a:lvl7pPr>
      <a:lvl8pPr marL="7968615" indent="-782955" algn="l" defTabSz="3134995" rtl="0" fontAlgn="base">
        <a:spcBef>
          <a:spcPct val="20000"/>
        </a:spcBef>
        <a:spcAft>
          <a:spcPct val="0"/>
        </a:spcAft>
        <a:buChar char="»"/>
        <a:defRPr sz="6865">
          <a:solidFill>
            <a:schemeClr val="tx1"/>
          </a:solidFill>
          <a:latin typeface="+mn-lt"/>
        </a:defRPr>
      </a:lvl8pPr>
      <a:lvl9pPr marL="8273415" indent="-782955" algn="l" defTabSz="3134995" rtl="0" fontAlgn="base">
        <a:spcBef>
          <a:spcPct val="20000"/>
        </a:spcBef>
        <a:spcAft>
          <a:spcPct val="0"/>
        </a:spcAft>
        <a:buChar char="»"/>
        <a:defRPr sz="6865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60960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00" algn="l" defTabSz="60960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00" algn="l" defTabSz="60960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algn="l" defTabSz="60960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00" algn="l" defTabSz="60960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00" algn="l" defTabSz="60960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00" algn="l" defTabSz="60960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600" algn="l" defTabSz="60960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400" algn="l" defTabSz="60960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1.xml"/><Relationship Id="rId3" Type="http://schemas.openxmlformats.org/officeDocument/2006/relationships/diagramLayout" Target="../diagrams/layout1.xml"/><Relationship Id="rId4" Type="http://schemas.openxmlformats.org/officeDocument/2006/relationships/diagramQuickStyle" Target="../diagrams/quickStyle1.xml"/><Relationship Id="rId5" Type="http://schemas.openxmlformats.org/officeDocument/2006/relationships/diagramColors" Target="../diagrams/colors1.xml"/><Relationship Id="rId6" Type="http://schemas.microsoft.com/office/2007/relationships/diagramDrawing" Target="../diagrams/drawing1.xml"/><Relationship Id="rId7" Type="http://schemas.openxmlformats.org/officeDocument/2006/relationships/image" Target="../media/image3.png"/><Relationship Id="rId8" Type="http://schemas.openxmlformats.org/officeDocument/2006/relationships/image" Target="../media/image4.png"/><Relationship Id="rId9" Type="http://schemas.openxmlformats.org/officeDocument/2006/relationships/image" Target="../media/image5.png"/><Relationship Id="rId10" Type="http://schemas.openxmlformats.org/officeDocument/2006/relationships/image" Target="../media/image6.png"/><Relationship Id="rId11" Type="http://schemas.openxmlformats.org/officeDocument/2006/relationships/image" Target="../media/image7.png"/><Relationship Id="rId1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s 22"/>
          <p:cNvSpPr/>
          <p:nvPr/>
        </p:nvSpPr>
        <p:spPr>
          <a:xfrm>
            <a:off x="11440160" y="4286250"/>
            <a:ext cx="10389235" cy="16520795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47021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en-US" sz="9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</a:endParaRPr>
          </a:p>
        </p:txBody>
      </p:sp>
      <p:sp>
        <p:nvSpPr>
          <p:cNvPr id="24" name="Rectangles 23"/>
          <p:cNvSpPr/>
          <p:nvPr/>
        </p:nvSpPr>
        <p:spPr>
          <a:xfrm>
            <a:off x="22335490" y="4819650"/>
            <a:ext cx="10067290" cy="1597406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47021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en-US" sz="9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</a:endParaRPr>
          </a:p>
        </p:txBody>
      </p:sp>
      <p:sp>
        <p:nvSpPr>
          <p:cNvPr id="22" name="Rectangles 21"/>
          <p:cNvSpPr/>
          <p:nvPr/>
        </p:nvSpPr>
        <p:spPr>
          <a:xfrm>
            <a:off x="505460" y="4803140"/>
            <a:ext cx="10389235" cy="15993745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47021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en-US" sz="9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</a:endParaRPr>
          </a:p>
        </p:txBody>
      </p:sp>
      <p:sp>
        <p:nvSpPr>
          <p:cNvPr id="32" name="Rectangle 27"/>
          <p:cNvSpPr>
            <a:spLocks noChangeArrowheads="1"/>
          </p:cNvSpPr>
          <p:nvPr/>
        </p:nvSpPr>
        <p:spPr bwMode="auto">
          <a:xfrm>
            <a:off x="-32385" y="-50165"/>
            <a:ext cx="32950785" cy="4467225"/>
          </a:xfrm>
          <a:prstGeom prst="rect">
            <a:avLst/>
          </a:prstGeom>
          <a:gradFill>
            <a:gsLst>
              <a:gs pos="5000">
                <a:srgbClr val="235078"/>
              </a:gs>
              <a:gs pos="100000">
                <a:srgbClr val="1482A5"/>
              </a:gs>
            </a:gsLst>
            <a:lin ang="0" scaled="1"/>
          </a:gradFill>
          <a:ln>
            <a:noFill/>
          </a:ln>
        </p:spPr>
        <p:txBody>
          <a:bodyPr wrap="none" anchor="ctr"/>
          <a:lstStyle>
            <a:defPPr>
              <a:defRPr kern="1200"/>
            </a:defPPr>
          </a:lstStyle>
          <a:p>
            <a:endParaRPr lang="en-US" sz="4430"/>
          </a:p>
        </p:txBody>
      </p:sp>
      <p:sp>
        <p:nvSpPr>
          <p:cNvPr id="33" name="Rectangle 29"/>
          <p:cNvSpPr>
            <a:spLocks noChangeArrowheads="1"/>
          </p:cNvSpPr>
          <p:nvPr/>
        </p:nvSpPr>
        <p:spPr bwMode="auto">
          <a:xfrm>
            <a:off x="-32328" y="20964846"/>
            <a:ext cx="32950730" cy="980753"/>
          </a:xfrm>
          <a:prstGeom prst="rect">
            <a:avLst/>
          </a:prstGeom>
          <a:gradFill>
            <a:gsLst>
              <a:gs pos="5000">
                <a:srgbClr val="235078"/>
              </a:gs>
              <a:gs pos="100000">
                <a:srgbClr val="1482A5"/>
              </a:gs>
            </a:gsLst>
            <a:lin ang="0" scaled="1"/>
          </a:gradFill>
          <a:ln>
            <a:noFill/>
          </a:ln>
        </p:spPr>
        <p:txBody>
          <a:bodyPr lIns="91440" tIns="45720" rIns="91440" bIns="45720" anchor="ctr"/>
          <a:lstStyle>
            <a:defPPr>
              <a:defRPr kern="1200"/>
            </a:defPPr>
          </a:lstStyle>
          <a:p>
            <a:pPr defTabSz="3136265"/>
            <a:endParaRPr lang="en-US" sz="4430">
              <a:solidFill>
                <a:schemeClr val="bg1"/>
              </a:solidFill>
              <a:sym typeface="Symbol" pitchFamily="18" charset="2"/>
            </a:endParaRPr>
          </a:p>
        </p:txBody>
      </p:sp>
      <p:sp>
        <p:nvSpPr>
          <p:cNvPr id="31" name="Title 11"/>
          <p:cNvSpPr txBox="1"/>
          <p:nvPr/>
        </p:nvSpPr>
        <p:spPr>
          <a:xfrm>
            <a:off x="4627245" y="687070"/>
            <a:ext cx="23921720" cy="1831340"/>
          </a:xfrm>
          <a:prstGeom prst="rect">
            <a:avLst/>
          </a:prstGeom>
        </p:spPr>
        <p:txBody>
          <a:bodyPr lIns="85344" tIns="42672" rIns="85344" bIns="42672"/>
          <a:lstStyle>
            <a:defPPr>
              <a:defRPr kern="1200"/>
            </a:defPPr>
            <a:lvl1pPr algn="ctr" defTabSz="4389120" rtl="0" eaLnBrk="1" latinLnBrk="0" hangingPunct="1">
              <a:spcBef>
                <a:spcPct val="0"/>
              </a:spcBef>
              <a:buNone/>
              <a:defRPr sz="13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en-US" sz="5700" dirty="0">
                <a:solidFill>
                  <a:schemeClr val="bg1"/>
                </a:solidFill>
                <a:latin typeface="Amaranth" panose="02000503050000020004" pitchFamily="2" charset="0"/>
              </a:rPr>
              <a:t>Quality Improvement Project: Enhancing Career Pathway Guidance for Internal Medicine Residents</a:t>
            </a:r>
          </a:p>
        </p:txBody>
      </p:sp>
      <p:sp>
        <p:nvSpPr>
          <p:cNvPr id="35" name="Text Placeholder 16"/>
          <p:cNvSpPr txBox="1"/>
          <p:nvPr/>
        </p:nvSpPr>
        <p:spPr>
          <a:xfrm>
            <a:off x="3470308" y="2778414"/>
            <a:ext cx="27432000" cy="1438910"/>
          </a:xfrm>
          <a:prstGeom prst="rect">
            <a:avLst/>
          </a:prstGeom>
        </p:spPr>
        <p:txBody>
          <a:bodyPr lIns="85344" tIns="42672" rIns="85344" bIns="42672">
            <a:spAutoFit/>
          </a:bodyPr>
          <a:lstStyle>
            <a:defPPr>
              <a:defRPr kern="1200"/>
            </a:defPPr>
            <a:lvl1pPr marL="0" indent="0" algn="l" defTabSz="4389120" rtl="0" eaLnBrk="1" latinLnBrk="0" hangingPunct="1">
              <a:spcBef>
                <a:spcPct val="20000"/>
              </a:spcBef>
              <a:buFont typeface="Arial" panose="020B0604020202090204" pitchFamily="34" charset="0"/>
              <a:buNone/>
              <a:defRPr sz="13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66160" indent="-1371600" algn="l" defTabSz="4389120" rtl="0" eaLnBrk="1" latinLnBrk="0" hangingPunct="1">
              <a:spcBef>
                <a:spcPct val="20000"/>
              </a:spcBef>
              <a:buFont typeface="Arial" panose="020B0604020202090204" pitchFamily="34" charset="0"/>
              <a:buChar char="–"/>
              <a:defRPr sz="1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86400" indent="-1097280" algn="l" defTabSz="4389120" rtl="0" eaLnBrk="1" latinLnBrk="0" hangingPunct="1">
              <a:spcBef>
                <a:spcPct val="20000"/>
              </a:spcBef>
              <a:buFont typeface="Arial" panose="020B0604020202090204" pitchFamily="34" charset="0"/>
              <a:buChar char="•"/>
              <a:defRPr sz="1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680960" indent="-1097280" algn="l" defTabSz="4389120" rtl="0" eaLnBrk="1" latinLnBrk="0" hangingPunct="1">
              <a:spcBef>
                <a:spcPct val="20000"/>
              </a:spcBef>
              <a:buFont typeface="Arial" panose="020B0604020202090204" pitchFamily="34" charset="0"/>
              <a:buChar char="–"/>
              <a:defRPr sz="9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875520" indent="-1097280" algn="l" defTabSz="4389120" rtl="0" eaLnBrk="1" latinLnBrk="0" hangingPunct="1">
              <a:spcBef>
                <a:spcPct val="20000"/>
              </a:spcBef>
              <a:buFont typeface="Arial" panose="020B0604020202090204" pitchFamily="34" charset="0"/>
              <a:buChar char="»"/>
              <a:defRPr sz="9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2070080" indent="-1097280" algn="l" defTabSz="4389120" rtl="0" eaLnBrk="1" latinLnBrk="0" hangingPunct="1">
              <a:spcBef>
                <a:spcPct val="20000"/>
              </a:spcBef>
              <a:buFont typeface="Arial" panose="020B0604020202090204" pitchFamily="34" charset="0"/>
              <a:buChar char="•"/>
              <a:defRPr sz="9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64640" indent="-1097280" algn="l" defTabSz="4389120" rtl="0" eaLnBrk="1" latinLnBrk="0" hangingPunct="1">
              <a:spcBef>
                <a:spcPct val="20000"/>
              </a:spcBef>
              <a:buFont typeface="Arial" panose="020B0604020202090204" pitchFamily="34" charset="0"/>
              <a:buChar char="•"/>
              <a:defRPr sz="9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458565" indent="-1097280" algn="l" defTabSz="4389120" rtl="0" eaLnBrk="1" latinLnBrk="0" hangingPunct="1">
              <a:spcBef>
                <a:spcPct val="20000"/>
              </a:spcBef>
              <a:buFont typeface="Arial" panose="020B0604020202090204" pitchFamily="34" charset="0"/>
              <a:buChar char="•"/>
              <a:defRPr sz="9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653125" indent="-1097280" algn="l" defTabSz="4389120" rtl="0" eaLnBrk="1" latinLnBrk="0" hangingPunct="1">
              <a:spcBef>
                <a:spcPct val="20000"/>
              </a:spcBef>
              <a:buFont typeface="Arial" panose="020B0604020202090204" pitchFamily="34" charset="0"/>
              <a:buChar char="•"/>
              <a:defRPr sz="9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4000">
                <a:solidFill>
                  <a:schemeClr val="bg1"/>
                </a:solidFill>
                <a:latin typeface="Titillium Web" panose="00000500000000000000" pitchFamily="2" charset="0"/>
              </a:rPr>
              <a:t>Yazan Haroun, MD; Advisor: Anupama Poliyedath, MD</a:t>
            </a:r>
          </a:p>
          <a:p>
            <a:pPr algn="ctr"/>
            <a:r>
              <a:rPr lang="en-US" sz="4000">
                <a:solidFill>
                  <a:schemeClr val="bg1"/>
                </a:solidFill>
                <a:latin typeface="Titillium Web" panose="00000500000000000000" pitchFamily="2" charset="0"/>
              </a:rPr>
              <a:t>Graduate Medical Education Internal Medicine - Saint Agnes Medical Center, Fresno CA</a:t>
            </a:r>
          </a:p>
        </p:txBody>
      </p:sp>
      <p:sp>
        <p:nvSpPr>
          <p:cNvPr id="16" name="Rectangle 5"/>
          <p:cNvSpPr>
            <a:spLocks noChangeArrowheads="1"/>
          </p:cNvSpPr>
          <p:nvPr/>
        </p:nvSpPr>
        <p:spPr bwMode="auto">
          <a:xfrm>
            <a:off x="514350" y="4815205"/>
            <a:ext cx="10379710" cy="666750"/>
          </a:xfrm>
          <a:prstGeom prst="rect">
            <a:avLst/>
          </a:prstGeom>
          <a:solidFill>
            <a:srgbClr val="1482A5"/>
          </a:solidFill>
          <a:ln>
            <a:noFill/>
          </a:ln>
          <a:effectLst/>
        </p:spPr>
        <p:txBody>
          <a:bodyPr wrap="none" lIns="182880" tIns="45720" rIns="182880" bIns="45720" anchor="ctr"/>
          <a:lstStyle>
            <a:defPPr>
              <a:defRPr kern="1200"/>
            </a:defPPr>
          </a:lstStyle>
          <a:p>
            <a:pPr algn="ctr" defTabSz="3136265"/>
            <a:r>
              <a:rPr lang="en-US" sz="3600">
                <a:solidFill>
                  <a:schemeClr val="bg1"/>
                </a:solidFill>
                <a:latin typeface="Amaranth" panose="02000503050000020004" pitchFamily="2" charset="0"/>
              </a:rPr>
              <a:t>Background</a:t>
            </a:r>
          </a:p>
        </p:txBody>
      </p:sp>
      <p:sp>
        <p:nvSpPr>
          <p:cNvPr id="13" name="Rectangle 5"/>
          <p:cNvSpPr>
            <a:spLocks noChangeArrowheads="1"/>
          </p:cNvSpPr>
          <p:nvPr/>
        </p:nvSpPr>
        <p:spPr bwMode="auto">
          <a:xfrm>
            <a:off x="11413490" y="4813935"/>
            <a:ext cx="10415905" cy="675640"/>
          </a:xfrm>
          <a:prstGeom prst="rect">
            <a:avLst/>
          </a:prstGeom>
          <a:solidFill>
            <a:srgbClr val="1482A5"/>
          </a:solidFill>
          <a:ln>
            <a:noFill/>
          </a:ln>
          <a:effectLst/>
        </p:spPr>
        <p:txBody>
          <a:bodyPr wrap="none" lIns="182880" tIns="45720" rIns="182880" bIns="45720" anchor="ctr"/>
          <a:lstStyle>
            <a:defPPr>
              <a:defRPr kern="1200"/>
            </a:defPPr>
          </a:lstStyle>
          <a:p>
            <a:pPr algn="ctr" defTabSz="3136265"/>
            <a:r>
              <a:rPr lang="en-US" sz="3600">
                <a:solidFill>
                  <a:schemeClr val="bg1"/>
                </a:solidFill>
                <a:latin typeface="Amaranth" panose="02000503050000020004" pitchFamily="2" charset="0"/>
              </a:rPr>
              <a:t>Results</a:t>
            </a:r>
          </a:p>
        </p:txBody>
      </p:sp>
      <p:sp>
        <p:nvSpPr>
          <p:cNvPr id="14" name="Rectangle 5"/>
          <p:cNvSpPr>
            <a:spLocks noChangeArrowheads="1"/>
          </p:cNvSpPr>
          <p:nvPr/>
        </p:nvSpPr>
        <p:spPr bwMode="auto">
          <a:xfrm>
            <a:off x="22312630" y="8566150"/>
            <a:ext cx="10093960" cy="675640"/>
          </a:xfrm>
          <a:prstGeom prst="rect">
            <a:avLst/>
          </a:prstGeom>
          <a:solidFill>
            <a:srgbClr val="1482A5"/>
          </a:solidFill>
          <a:ln>
            <a:noFill/>
          </a:ln>
          <a:effectLst/>
        </p:spPr>
        <p:txBody>
          <a:bodyPr wrap="none" lIns="182880" tIns="45720" rIns="182880" bIns="45720" anchor="ctr"/>
          <a:lstStyle>
            <a:defPPr>
              <a:defRPr kern="1200"/>
            </a:defPPr>
          </a:lstStyle>
          <a:p>
            <a:pPr algn="ctr" defTabSz="3136265"/>
            <a:r>
              <a:rPr lang="en-US" sz="3600">
                <a:solidFill>
                  <a:schemeClr val="bg1"/>
                </a:solidFill>
                <a:latin typeface="Amaranth" panose="02000503050000020004" pitchFamily="2" charset="0"/>
              </a:rPr>
              <a:t>Discussion</a:t>
            </a:r>
          </a:p>
        </p:txBody>
      </p:sp>
      <p:sp>
        <p:nvSpPr>
          <p:cNvPr id="15" name="Rectangle 5"/>
          <p:cNvSpPr>
            <a:spLocks noChangeArrowheads="1"/>
          </p:cNvSpPr>
          <p:nvPr/>
        </p:nvSpPr>
        <p:spPr bwMode="auto">
          <a:xfrm>
            <a:off x="453390" y="10088880"/>
            <a:ext cx="10480040" cy="645795"/>
          </a:xfrm>
          <a:prstGeom prst="rect">
            <a:avLst/>
          </a:prstGeom>
          <a:solidFill>
            <a:srgbClr val="1482A5"/>
          </a:solidFill>
          <a:ln>
            <a:noFill/>
          </a:ln>
          <a:effectLst/>
        </p:spPr>
        <p:txBody>
          <a:bodyPr wrap="none" lIns="182880" tIns="45720" rIns="182880" bIns="45720" anchor="ctr"/>
          <a:lstStyle>
            <a:defPPr>
              <a:defRPr kern="1200"/>
            </a:defPPr>
          </a:lstStyle>
          <a:p>
            <a:pPr algn="ctr" defTabSz="3136265"/>
            <a:r>
              <a:rPr lang="en-US" sz="3600">
                <a:solidFill>
                  <a:schemeClr val="bg1"/>
                </a:solidFill>
                <a:latin typeface="Amaranth" panose="02000503050000020004" pitchFamily="2" charset="0"/>
              </a:rPr>
              <a:t>Objectives</a:t>
            </a:r>
          </a:p>
        </p:txBody>
      </p:sp>
      <p:sp>
        <p:nvSpPr>
          <p:cNvPr id="19" name="Rectangle 5"/>
          <p:cNvSpPr>
            <a:spLocks noChangeArrowheads="1"/>
          </p:cNvSpPr>
          <p:nvPr/>
        </p:nvSpPr>
        <p:spPr bwMode="auto">
          <a:xfrm>
            <a:off x="514350" y="13672185"/>
            <a:ext cx="10379710" cy="675640"/>
          </a:xfrm>
          <a:prstGeom prst="rect">
            <a:avLst/>
          </a:prstGeom>
          <a:solidFill>
            <a:srgbClr val="1482A5"/>
          </a:solidFill>
          <a:ln>
            <a:noFill/>
          </a:ln>
          <a:effectLst/>
        </p:spPr>
        <p:txBody>
          <a:bodyPr wrap="none" lIns="182880" tIns="45720" rIns="182880" bIns="45720" anchor="ctr"/>
          <a:lstStyle>
            <a:defPPr>
              <a:defRPr kern="1200"/>
            </a:defPPr>
          </a:lstStyle>
          <a:p>
            <a:pPr algn="ctr" defTabSz="3136265"/>
            <a:r>
              <a:rPr lang="en-US" sz="3600">
                <a:solidFill>
                  <a:schemeClr val="bg1"/>
                </a:solidFill>
                <a:latin typeface="Amaranth" panose="02000503050000020004" pitchFamily="2" charset="0"/>
              </a:rPr>
              <a:t>Methodolgy</a:t>
            </a:r>
          </a:p>
        </p:txBody>
      </p:sp>
      <p:sp>
        <p:nvSpPr>
          <p:cNvPr id="20" name="Rectangle 5"/>
          <p:cNvSpPr>
            <a:spLocks noChangeArrowheads="1"/>
          </p:cNvSpPr>
          <p:nvPr/>
        </p:nvSpPr>
        <p:spPr bwMode="auto">
          <a:xfrm>
            <a:off x="22312630" y="15114270"/>
            <a:ext cx="10093960" cy="675640"/>
          </a:xfrm>
          <a:prstGeom prst="rect">
            <a:avLst/>
          </a:prstGeom>
          <a:solidFill>
            <a:srgbClr val="1482A5"/>
          </a:solidFill>
          <a:ln>
            <a:noFill/>
          </a:ln>
          <a:effectLst/>
        </p:spPr>
        <p:txBody>
          <a:bodyPr wrap="none" lIns="182880" tIns="45720" rIns="182880" bIns="45720" anchor="ctr"/>
          <a:lstStyle>
            <a:defPPr>
              <a:defRPr kern="1200"/>
            </a:defPPr>
          </a:lstStyle>
          <a:p>
            <a:pPr algn="ctr" defTabSz="3136265"/>
            <a:r>
              <a:rPr lang="en-US" sz="3600">
                <a:solidFill>
                  <a:schemeClr val="bg1"/>
                </a:solidFill>
                <a:latin typeface="Amaranth" panose="02000503050000020004" pitchFamily="2" charset="0"/>
              </a:rPr>
              <a:t>Future Considerations</a:t>
            </a:r>
          </a:p>
        </p:txBody>
      </p:sp>
      <p:sp>
        <p:nvSpPr>
          <p:cNvPr id="21" name="Rectangle 5"/>
          <p:cNvSpPr>
            <a:spLocks noChangeArrowheads="1"/>
          </p:cNvSpPr>
          <p:nvPr/>
        </p:nvSpPr>
        <p:spPr bwMode="auto">
          <a:xfrm>
            <a:off x="22312630" y="17975580"/>
            <a:ext cx="10093960" cy="675640"/>
          </a:xfrm>
          <a:prstGeom prst="rect">
            <a:avLst/>
          </a:prstGeom>
          <a:solidFill>
            <a:srgbClr val="1482A5"/>
          </a:solidFill>
          <a:ln>
            <a:noFill/>
          </a:ln>
          <a:effectLst/>
        </p:spPr>
        <p:txBody>
          <a:bodyPr wrap="none" lIns="182880" tIns="45720" rIns="182880" bIns="45720" anchor="ctr"/>
          <a:lstStyle>
            <a:defPPr>
              <a:defRPr kern="1200"/>
            </a:defPPr>
          </a:lstStyle>
          <a:p>
            <a:pPr algn="ctr" defTabSz="3136265"/>
            <a:r>
              <a:rPr lang="en-US" sz="3600">
                <a:solidFill>
                  <a:schemeClr val="bg1"/>
                </a:solidFill>
                <a:latin typeface="Amaranth" panose="02000503050000020004" pitchFamily="2" charset="0"/>
              </a:rPr>
              <a:t>References</a:t>
            </a:r>
          </a:p>
        </p:txBody>
      </p:sp>
      <p:sp>
        <p:nvSpPr>
          <p:cNvPr id="26" name="Text Box 25"/>
          <p:cNvSpPr txBox="1"/>
          <p:nvPr/>
        </p:nvSpPr>
        <p:spPr>
          <a:xfrm>
            <a:off x="732790" y="5612130"/>
            <a:ext cx="10058400" cy="41268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en-US" sz="2400"/>
              <a:t>Career planning is a critical part of Internal Medicine residency, yet many residents report limited structured exposure to key post-residency options like hospitalist medicine, primary care, and subspecialty fellowship. </a:t>
            </a:r>
          </a:p>
          <a:p>
            <a:endParaRPr lang="en-US" altLang="en-US" sz="2400"/>
          </a:p>
          <a:p>
            <a:r>
              <a:rPr lang="en-US" altLang="en-US" sz="2400"/>
              <a:t>Time constraints, inconsistent mentorship, and lack of formal guidance often contribute to decision fatigue and uncertainty.</a:t>
            </a:r>
          </a:p>
          <a:p>
            <a:endParaRPr lang="en-US" altLang="en-US" sz="2400"/>
          </a:p>
          <a:p>
            <a:r>
              <a:rPr lang="en-US" altLang="en-US" sz="2400"/>
              <a:t>Literature supports the value of targeted career counseling in improving satisfaction and confidence, yet most programs still rely on informal or late-stage advising. [1] [2] </a:t>
            </a:r>
          </a:p>
        </p:txBody>
      </p:sp>
      <p:sp>
        <p:nvSpPr>
          <p:cNvPr id="27" name="Text Box 26"/>
          <p:cNvSpPr txBox="1"/>
          <p:nvPr/>
        </p:nvSpPr>
        <p:spPr>
          <a:xfrm>
            <a:off x="773430" y="11057255"/>
            <a:ext cx="10160635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90204" pitchFamily="34" charset="0"/>
              <a:buChar char="•"/>
            </a:pPr>
            <a:r>
              <a:rPr lang="en-US" altLang="en-US" sz="2400"/>
              <a:t>Assess resident exposure, confidence, and support across major career tracks.</a:t>
            </a:r>
          </a:p>
          <a:p>
            <a:pPr marL="342900" indent="-342900">
              <a:buFont typeface="Arial" panose="020B0604020202090204" pitchFamily="34" charset="0"/>
              <a:buChar char="•"/>
            </a:pPr>
            <a:r>
              <a:rPr lang="en-US" altLang="en-US" sz="2400"/>
              <a:t>Identify key barriers to informed career decision-making.</a:t>
            </a:r>
          </a:p>
          <a:p>
            <a:pPr marL="342900" indent="-342900">
              <a:buFont typeface="Arial" panose="020B0604020202090204" pitchFamily="34" charset="0"/>
              <a:buChar char="•"/>
            </a:pPr>
            <a:r>
              <a:rPr lang="en-US" altLang="en-US" sz="2400"/>
              <a:t>Develop a resident-informed educational resource tailored to their needs.</a:t>
            </a:r>
          </a:p>
          <a:p>
            <a:pPr marL="342900" indent="-342900">
              <a:buFont typeface="Arial" panose="020B0604020202090204" pitchFamily="34" charset="0"/>
              <a:buChar char="•"/>
            </a:pPr>
            <a:r>
              <a:rPr lang="en-US" altLang="en-US" sz="2400"/>
              <a:t>Prepare for future implementation and evaluation of its impact.</a:t>
            </a:r>
          </a:p>
        </p:txBody>
      </p:sp>
      <p:graphicFrame>
        <p:nvGraphicFramePr>
          <p:cNvPr id="29" name="Diagram 28"/>
          <p:cNvGraphicFramePr/>
          <p:nvPr/>
        </p:nvGraphicFramePr>
        <p:xfrm>
          <a:off x="1190625" y="14529435"/>
          <a:ext cx="9005570" cy="59950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34" name="Picture 33"/>
          <p:cNvPicPr/>
          <p:nvPr/>
        </p:nvPicPr>
        <p:blipFill>
          <a:blip r:embed="rId7"/>
          <a:srcRect l="4243" t="21142" r="5489" b="8707"/>
          <a:stretch>
            <a:fillRect/>
          </a:stretch>
        </p:blipFill>
        <p:spPr>
          <a:xfrm>
            <a:off x="11558905" y="5945505"/>
            <a:ext cx="9529445" cy="2988310"/>
          </a:xfrm>
          <a:prstGeom prst="rect">
            <a:avLst/>
          </a:prstGeom>
        </p:spPr>
      </p:pic>
      <p:pic>
        <p:nvPicPr>
          <p:cNvPr id="41" name="Picture 40"/>
          <p:cNvPicPr/>
          <p:nvPr/>
        </p:nvPicPr>
        <p:blipFill>
          <a:blip r:embed="rId8"/>
          <a:srcRect t="28189" b="8054"/>
          <a:stretch>
            <a:fillRect/>
          </a:stretch>
        </p:blipFill>
        <p:spPr>
          <a:xfrm>
            <a:off x="12628245" y="9583420"/>
            <a:ext cx="8166100" cy="3376930"/>
          </a:xfrm>
          <a:prstGeom prst="rect">
            <a:avLst/>
          </a:prstGeom>
        </p:spPr>
      </p:pic>
      <p:pic>
        <p:nvPicPr>
          <p:cNvPr id="44" name="Picture 43"/>
          <p:cNvPicPr/>
          <p:nvPr/>
        </p:nvPicPr>
        <p:blipFill>
          <a:blip r:embed="rId9"/>
          <a:srcRect t="21323" r="1424" b="5929"/>
          <a:stretch>
            <a:fillRect/>
          </a:stretch>
        </p:blipFill>
        <p:spPr>
          <a:xfrm>
            <a:off x="22478365" y="5922645"/>
            <a:ext cx="9768840" cy="2604770"/>
          </a:xfrm>
          <a:prstGeom prst="rect">
            <a:avLst/>
          </a:prstGeom>
        </p:spPr>
      </p:pic>
      <p:pic>
        <p:nvPicPr>
          <p:cNvPr id="47" name="Picture 46"/>
          <p:cNvPicPr/>
          <p:nvPr/>
        </p:nvPicPr>
        <p:blipFill>
          <a:blip r:embed="rId10"/>
          <a:srcRect t="21009" b="4111"/>
          <a:stretch>
            <a:fillRect/>
          </a:stretch>
        </p:blipFill>
        <p:spPr>
          <a:xfrm>
            <a:off x="11779250" y="13345795"/>
            <a:ext cx="9645015" cy="3217545"/>
          </a:xfrm>
          <a:prstGeom prst="rect">
            <a:avLst/>
          </a:prstGeom>
        </p:spPr>
      </p:pic>
      <p:sp>
        <p:nvSpPr>
          <p:cNvPr id="48" name="Text Box 47"/>
          <p:cNvSpPr txBox="1"/>
          <p:nvPr/>
        </p:nvSpPr>
        <p:spPr>
          <a:xfrm>
            <a:off x="12978765" y="15830550"/>
            <a:ext cx="1336040" cy="3333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noAutofit/>
          </a:bodyPr>
          <a:lstStyle/>
          <a:p>
            <a:pPr algn="ctr"/>
            <a:r>
              <a:rPr lang="en-US" sz="1400"/>
              <a:t>Not Confident</a:t>
            </a:r>
          </a:p>
        </p:txBody>
      </p:sp>
      <p:sp>
        <p:nvSpPr>
          <p:cNvPr id="49" name="Text Box 48"/>
          <p:cNvSpPr txBox="1"/>
          <p:nvPr/>
        </p:nvSpPr>
        <p:spPr>
          <a:xfrm>
            <a:off x="14693900" y="15830550"/>
            <a:ext cx="1336040" cy="40449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noAutofit/>
          </a:bodyPr>
          <a:lstStyle/>
          <a:p>
            <a:pPr algn="ctr"/>
            <a:r>
              <a:rPr lang="en-US" sz="1400"/>
              <a:t>Slightly </a:t>
            </a:r>
          </a:p>
          <a:p>
            <a:pPr algn="ctr"/>
            <a:r>
              <a:rPr lang="en-US" sz="1400"/>
              <a:t>Confident</a:t>
            </a:r>
          </a:p>
        </p:txBody>
      </p:sp>
      <p:sp>
        <p:nvSpPr>
          <p:cNvPr id="50" name="Text Box 49"/>
          <p:cNvSpPr txBox="1"/>
          <p:nvPr/>
        </p:nvSpPr>
        <p:spPr>
          <a:xfrm>
            <a:off x="16396970" y="15830550"/>
            <a:ext cx="1336040" cy="40449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noAutofit/>
          </a:bodyPr>
          <a:lstStyle/>
          <a:p>
            <a:pPr algn="ctr"/>
            <a:r>
              <a:rPr lang="en-US" sz="1400"/>
              <a:t>Somewhat </a:t>
            </a:r>
          </a:p>
          <a:p>
            <a:pPr algn="ctr"/>
            <a:r>
              <a:rPr lang="en-US" sz="1400"/>
              <a:t>Confident</a:t>
            </a:r>
          </a:p>
        </p:txBody>
      </p:sp>
      <p:sp>
        <p:nvSpPr>
          <p:cNvPr id="51" name="Text Box 50"/>
          <p:cNvSpPr txBox="1"/>
          <p:nvPr/>
        </p:nvSpPr>
        <p:spPr>
          <a:xfrm>
            <a:off x="18159730" y="15830550"/>
            <a:ext cx="1336040" cy="40449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noAutofit/>
          </a:bodyPr>
          <a:lstStyle/>
          <a:p>
            <a:pPr algn="ctr"/>
            <a:r>
              <a:rPr lang="en-US" sz="1400"/>
              <a:t>Fairly </a:t>
            </a:r>
          </a:p>
          <a:p>
            <a:pPr algn="ctr"/>
            <a:r>
              <a:rPr lang="en-US" sz="1400"/>
              <a:t>Confident</a:t>
            </a:r>
          </a:p>
        </p:txBody>
      </p:sp>
      <p:sp>
        <p:nvSpPr>
          <p:cNvPr id="52" name="Text Box 51"/>
          <p:cNvSpPr txBox="1"/>
          <p:nvPr/>
        </p:nvSpPr>
        <p:spPr>
          <a:xfrm>
            <a:off x="19878040" y="15830550"/>
            <a:ext cx="1336040" cy="40449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noAutofit/>
          </a:bodyPr>
          <a:lstStyle/>
          <a:p>
            <a:pPr algn="ctr"/>
            <a:r>
              <a:rPr lang="en-US" sz="1400"/>
              <a:t>Very </a:t>
            </a:r>
          </a:p>
          <a:p>
            <a:pPr algn="ctr"/>
            <a:r>
              <a:rPr lang="en-US" sz="1400"/>
              <a:t>Confident</a:t>
            </a:r>
          </a:p>
        </p:txBody>
      </p:sp>
      <p:pic>
        <p:nvPicPr>
          <p:cNvPr id="54" name="Picture 53"/>
          <p:cNvPicPr/>
          <p:nvPr/>
        </p:nvPicPr>
        <p:blipFill>
          <a:blip r:embed="rId11"/>
          <a:srcRect t="20895" r="6493" b="8672"/>
          <a:stretch>
            <a:fillRect/>
          </a:stretch>
        </p:blipFill>
        <p:spPr>
          <a:xfrm>
            <a:off x="11514455" y="16815435"/>
            <a:ext cx="10306050" cy="3870325"/>
          </a:xfrm>
          <a:prstGeom prst="rect">
            <a:avLst/>
          </a:prstGeom>
        </p:spPr>
      </p:pic>
      <p:sp>
        <p:nvSpPr>
          <p:cNvPr id="55" name="Text Box 54"/>
          <p:cNvSpPr txBox="1"/>
          <p:nvPr/>
        </p:nvSpPr>
        <p:spPr>
          <a:xfrm>
            <a:off x="11699240" y="5674995"/>
            <a:ext cx="109728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/>
              <a:t>Figure 1: Intended career path after </a:t>
            </a:r>
            <a:r>
              <a:rPr lang="en-US" sz="1800" b="1">
                <a:latin typeface="Arial Bold" panose="020B0604020202090204" charset="0"/>
                <a:cs typeface="Arial Bold" panose="020B0604020202090204" charset="0"/>
              </a:rPr>
              <a:t>residency</a:t>
            </a:r>
            <a:r>
              <a:rPr lang="en-US" sz="1800" b="1"/>
              <a:t>.</a:t>
            </a:r>
          </a:p>
        </p:txBody>
      </p:sp>
      <p:sp>
        <p:nvSpPr>
          <p:cNvPr id="56" name="Text Box 55"/>
          <p:cNvSpPr txBox="1"/>
          <p:nvPr/>
        </p:nvSpPr>
        <p:spPr>
          <a:xfrm>
            <a:off x="11699240" y="9122410"/>
            <a:ext cx="859663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/>
              <a:t>Figure 2: Residents’ familiarity </a:t>
            </a:r>
            <a:r>
              <a:rPr lang="en-US" sz="1800" b="1">
                <a:latin typeface="Arial Bold" panose="020B0604020202090204" charset="0"/>
                <a:cs typeface="Arial Bold" panose="020B0604020202090204" charset="0"/>
              </a:rPr>
              <a:t>with </a:t>
            </a:r>
            <a:r>
              <a:rPr lang="en-US" sz="1800" b="1"/>
              <a:t>key responsibilities, lifestyle, and scope of career pathways.</a:t>
            </a:r>
          </a:p>
        </p:txBody>
      </p:sp>
      <p:sp>
        <p:nvSpPr>
          <p:cNvPr id="57" name="Text Box 56"/>
          <p:cNvSpPr txBox="1"/>
          <p:nvPr/>
        </p:nvSpPr>
        <p:spPr>
          <a:xfrm>
            <a:off x="11699240" y="12974955"/>
            <a:ext cx="94672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>
                <a:latin typeface="Arial Bold" panose="020B0604020202090204" charset="0"/>
                <a:cs typeface="Arial Bold" panose="020B0604020202090204" charset="0"/>
              </a:rPr>
              <a:t>Figure 3: Residents’ confidence in ability to choose a post-residency career path.</a:t>
            </a:r>
          </a:p>
        </p:txBody>
      </p:sp>
      <p:sp>
        <p:nvSpPr>
          <p:cNvPr id="58" name="Text Box 57"/>
          <p:cNvSpPr txBox="1"/>
          <p:nvPr/>
        </p:nvSpPr>
        <p:spPr>
          <a:xfrm>
            <a:off x="11699240" y="16524605"/>
            <a:ext cx="109728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>
                <a:latin typeface="Arial Bold" panose="020B0604020202090204" charset="0"/>
                <a:cs typeface="Arial Bold" panose="020B0604020202090204" charset="0"/>
              </a:rPr>
              <a:t>Figure 4: Possible barriers for post-residency career path planning.</a:t>
            </a:r>
          </a:p>
        </p:txBody>
      </p:sp>
      <p:sp>
        <p:nvSpPr>
          <p:cNvPr id="59" name="Text Box 58"/>
          <p:cNvSpPr txBox="1"/>
          <p:nvPr/>
        </p:nvSpPr>
        <p:spPr>
          <a:xfrm>
            <a:off x="22672040" y="5582920"/>
            <a:ext cx="109728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>
                <a:latin typeface="Arial Bold" panose="020B0604020202090204" charset="0"/>
                <a:cs typeface="Arial Bold" panose="020B0604020202090204" charset="0"/>
              </a:rPr>
              <a:t>Figure 5: Residents’ preference on suggested formats for career resources.</a:t>
            </a:r>
          </a:p>
        </p:txBody>
      </p:sp>
      <p:sp>
        <p:nvSpPr>
          <p:cNvPr id="60" name="Rectangle 5"/>
          <p:cNvSpPr>
            <a:spLocks noChangeArrowheads="1"/>
          </p:cNvSpPr>
          <p:nvPr/>
        </p:nvSpPr>
        <p:spPr bwMode="auto">
          <a:xfrm>
            <a:off x="22335490" y="4806315"/>
            <a:ext cx="10079355" cy="690245"/>
          </a:xfrm>
          <a:prstGeom prst="rect">
            <a:avLst/>
          </a:prstGeom>
          <a:solidFill>
            <a:srgbClr val="1482A5"/>
          </a:solidFill>
          <a:ln>
            <a:noFill/>
          </a:ln>
          <a:effectLst/>
        </p:spPr>
        <p:txBody>
          <a:bodyPr wrap="none" lIns="182880" tIns="45720" rIns="182880" bIns="45720" anchor="ctr"/>
          <a:lstStyle>
            <a:defPPr>
              <a:defRPr kern="1200"/>
            </a:defPPr>
          </a:lstStyle>
          <a:p>
            <a:pPr algn="ctr" defTabSz="3136265"/>
            <a:r>
              <a:rPr lang="en-US" sz="3600">
                <a:solidFill>
                  <a:schemeClr val="bg1"/>
                </a:solidFill>
                <a:latin typeface="Amaranth" panose="02000503050000020004" pitchFamily="2" charset="0"/>
              </a:rPr>
              <a:t>Results</a:t>
            </a:r>
          </a:p>
        </p:txBody>
      </p:sp>
      <p:sp>
        <p:nvSpPr>
          <p:cNvPr id="61" name="Text Box 60"/>
          <p:cNvSpPr txBox="1"/>
          <p:nvPr/>
        </p:nvSpPr>
        <p:spPr>
          <a:xfrm>
            <a:off x="22485350" y="9342755"/>
            <a:ext cx="9768205" cy="34055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en-US" sz="2400" dirty="0"/>
              <a:t>Survey findings highlighted critical gaps in exposure, confidence, and support regarding career planning. While interest in hospitalist and fellowship paths was high, many reported limited exposure to fellowship-prep experiences or outpatient primary care. Only a small proportion felt very confident in making post-residency decisions, and nearly half lacked a dedicated mentor to guide them.</a:t>
            </a:r>
          </a:p>
          <a:p>
            <a:endParaRPr lang="en-US" altLang="en-US" sz="2400" dirty="0"/>
          </a:p>
          <a:p>
            <a:r>
              <a:rPr lang="en-US" altLang="en-US" sz="2400" dirty="0"/>
              <a:t>Residents preferred video formats, short presentations, and interactive experiences as career guidance resources, and emphasized the importance of addressing both professional and personal goals.</a:t>
            </a:r>
          </a:p>
          <a:p>
            <a:endParaRPr lang="en-US" altLang="en-US" sz="2400" dirty="0"/>
          </a:p>
          <a:p>
            <a:r>
              <a:rPr lang="en-US" altLang="en-US" sz="2400" dirty="0"/>
              <a:t>In response, a slide-based educational resource covering Hospitalist, Primary Care, and Fellowship tracks was created. The project demonstrates the value of resident-informed guidance and sets the stage for future feedback and expansion.</a:t>
            </a:r>
          </a:p>
        </p:txBody>
      </p:sp>
      <p:sp>
        <p:nvSpPr>
          <p:cNvPr id="63" name="Text Box 62"/>
          <p:cNvSpPr txBox="1"/>
          <p:nvPr/>
        </p:nvSpPr>
        <p:spPr>
          <a:xfrm>
            <a:off x="22623145" y="15869285"/>
            <a:ext cx="9679305" cy="1938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90204" pitchFamily="34" charset="0"/>
              <a:buChar char="•"/>
            </a:pPr>
            <a:r>
              <a:rPr lang="en-US" altLang="en-US" sz="2400"/>
              <a:t>Deploy the resource and collect feedback</a:t>
            </a:r>
          </a:p>
          <a:p>
            <a:pPr marL="342900" indent="-342900">
              <a:buFont typeface="Arial" panose="020B0604020202090204" pitchFamily="34" charset="0"/>
              <a:buChar char="•"/>
            </a:pPr>
            <a:r>
              <a:rPr lang="en-US" altLang="en-US" sz="2400"/>
              <a:t>Expand content and consider adding live panels or mentorship components.</a:t>
            </a:r>
          </a:p>
          <a:p>
            <a:pPr marL="342900" indent="-342900">
              <a:buFont typeface="Arial" panose="020B0604020202090204" pitchFamily="34" charset="0"/>
              <a:buChar char="•"/>
            </a:pPr>
            <a:r>
              <a:rPr lang="en-US" altLang="en-US" sz="2400"/>
              <a:t>Explore integration into intern orientation or formal residency curriculum.</a:t>
            </a:r>
          </a:p>
        </p:txBody>
      </p:sp>
      <p:sp>
        <p:nvSpPr>
          <p:cNvPr id="70" name="Rectangles 69"/>
          <p:cNvSpPr/>
          <p:nvPr/>
        </p:nvSpPr>
        <p:spPr>
          <a:xfrm>
            <a:off x="11616690" y="5661025"/>
            <a:ext cx="10059670" cy="3261995"/>
          </a:xfrm>
          <a:prstGeom prst="rect">
            <a:avLst/>
          </a:prstGeom>
          <a:noFill/>
          <a:ln w="9525" cap="flat" cmpd="sng" algn="ctr">
            <a:solidFill>
              <a:srgbClr val="00B0F0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47021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en-US" sz="9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</a:endParaRPr>
          </a:p>
        </p:txBody>
      </p:sp>
      <p:sp>
        <p:nvSpPr>
          <p:cNvPr id="71" name="Rectangles 70"/>
          <p:cNvSpPr/>
          <p:nvPr/>
        </p:nvSpPr>
        <p:spPr>
          <a:xfrm>
            <a:off x="11619865" y="9046210"/>
            <a:ext cx="10059670" cy="3682365"/>
          </a:xfrm>
          <a:prstGeom prst="rect">
            <a:avLst/>
          </a:prstGeom>
          <a:noFill/>
          <a:ln w="9525" cap="flat" cmpd="sng" algn="ctr">
            <a:solidFill>
              <a:srgbClr val="00B0F0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47021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en-US" sz="9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</a:endParaRPr>
          </a:p>
        </p:txBody>
      </p:sp>
      <p:sp>
        <p:nvSpPr>
          <p:cNvPr id="72" name="Rectangles 71"/>
          <p:cNvSpPr/>
          <p:nvPr/>
        </p:nvSpPr>
        <p:spPr>
          <a:xfrm>
            <a:off x="11623675" y="12851765"/>
            <a:ext cx="10059670" cy="3462655"/>
          </a:xfrm>
          <a:prstGeom prst="rect">
            <a:avLst/>
          </a:prstGeom>
          <a:noFill/>
          <a:ln w="9525" cap="flat" cmpd="sng" algn="ctr">
            <a:solidFill>
              <a:srgbClr val="00B0F0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47021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en-US" sz="9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</a:endParaRPr>
          </a:p>
        </p:txBody>
      </p:sp>
      <p:sp>
        <p:nvSpPr>
          <p:cNvPr id="73" name="Rectangles 72"/>
          <p:cNvSpPr/>
          <p:nvPr/>
        </p:nvSpPr>
        <p:spPr>
          <a:xfrm>
            <a:off x="11623675" y="16475075"/>
            <a:ext cx="10059670" cy="4080510"/>
          </a:xfrm>
          <a:prstGeom prst="rect">
            <a:avLst/>
          </a:prstGeom>
          <a:noFill/>
          <a:ln w="9525" cap="flat" cmpd="sng" algn="ctr">
            <a:solidFill>
              <a:srgbClr val="00B0F0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47021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en-US" sz="9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</a:endParaRPr>
          </a:p>
        </p:txBody>
      </p:sp>
      <p:sp>
        <p:nvSpPr>
          <p:cNvPr id="75" name="Rectangles 74"/>
          <p:cNvSpPr/>
          <p:nvPr/>
        </p:nvSpPr>
        <p:spPr>
          <a:xfrm>
            <a:off x="22458680" y="5582920"/>
            <a:ext cx="9844405" cy="2773045"/>
          </a:xfrm>
          <a:prstGeom prst="rect">
            <a:avLst/>
          </a:prstGeom>
          <a:noFill/>
          <a:ln w="9525" cap="flat" cmpd="sng" algn="ctr">
            <a:solidFill>
              <a:srgbClr val="00B0F0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47021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en-US" sz="9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22485350" y="18753455"/>
            <a:ext cx="9933940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altLang="en-US" sz="1800"/>
              <a:t>Ramanan, R. A., Taylor, W. C., Davis, R. B., &amp; Phillips, R. S. (2006). Mentoring matters. Mentoring and career preparation in internal medicine residency training. Journal of general internal medicine, 21(4), 340–345. https://doi.org/10.1111/j.1525-1497.2006.00346.x</a:t>
            </a:r>
          </a:p>
          <a:p>
            <a:pPr marL="457200" indent="-457200">
              <a:buAutoNum type="arabicPeriod"/>
            </a:pPr>
            <a:r>
              <a:rPr lang="en-US" altLang="en-US" sz="1800"/>
              <a:t>DeCastro, R., Griffith, K. A., Ubel, P. A., Stewart, A., &amp; Jagsi, R. (2014). Mentoring and the career satisfaction of male and female academic medical faculty. Academic medicine : journal of the Association of American Medical Colleges, 89(2), 301–311. https://doi.org/10.1097/ACM.0000000000000109</a:t>
            </a:r>
          </a:p>
          <a:p>
            <a:endParaRPr lang="en-US" altLang="en-US" sz="1800"/>
          </a:p>
        </p:txBody>
      </p:sp>
      <p:pic>
        <p:nvPicPr>
          <p:cNvPr id="76" name="Picture 75" descr="56Q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9279088" y="576072"/>
            <a:ext cx="2103120" cy="3108960"/>
          </a:xfrm>
          <a:prstGeom prst="rect">
            <a:avLst/>
          </a:prstGeom>
        </p:spPr>
      </p:pic>
    </p:spTree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NET" val="4.0.30319.42000"/>
  <p:tag name="AS_OS" val="Microsoft Windows NT 6.2.9200.0"/>
  <p:tag name="AS_RELEASE_DATE" val="2022.04.14"/>
  <p:tag name="AS_TITLE" val="Aspose.Slides for .NET 4.0 Client Profile"/>
  <p:tag name="AS_VERSION" val="22.4"/>
  <p:tag name="POSTERNERDTEMPLATE" val="conceptualizingcobalt|08-2022"/>
</p:tagLst>
</file>

<file path=ppt/theme/theme1.xml><?xml version="1.0" encoding="utf-8"?>
<a:theme xmlns:a="http://schemas.openxmlformats.org/drawingml/2006/main" name="Default Design">
  <a:themeElements>
    <a:clrScheme name="Verve">
      <a:dk1>
        <a:sysClr val="windowText" lastClr="000000"/>
      </a:dk1>
      <a:lt1>
        <a:sysClr val="window" lastClr="FFFFFF"/>
      </a:lt1>
      <a:dk2>
        <a:srgbClr val="666666"/>
      </a:dk2>
      <a:lt2>
        <a:srgbClr val="D2D2D2"/>
      </a:lt2>
      <a:accent1>
        <a:srgbClr val="FF388C"/>
      </a:accent1>
      <a:accent2>
        <a:srgbClr val="E40059"/>
      </a:accent2>
      <a:accent3>
        <a:srgbClr val="9C007F"/>
      </a:accent3>
      <a:accent4>
        <a:srgbClr val="68007F"/>
      </a:accent4>
      <a:accent5>
        <a:srgbClr val="005BD3"/>
      </a:accent5>
      <a:accent6>
        <a:srgbClr val="00349E"/>
      </a:accent6>
      <a:hlink>
        <a:srgbClr val="17BBFD"/>
      </a:hlink>
      <a:folHlink>
        <a:srgbClr val="FF79C2"/>
      </a:folHlink>
    </a:clrScheme>
    <a:fontScheme name="Default Design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4702175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93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90204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4702175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93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90204" pitchFamily="34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584</Words>
  <Application>Microsoft Macintosh PowerPoint</Application>
  <PresentationFormat>Custom</PresentationFormat>
  <Paragraphs>52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Titillium Web</vt:lpstr>
      <vt:lpstr>Arial Bold</vt:lpstr>
      <vt:lpstr>Symbol</vt:lpstr>
      <vt:lpstr>Arial</vt:lpstr>
      <vt:lpstr>Amaranth</vt:lpstr>
      <vt:lpstr>Default Design</vt:lpstr>
      <vt:lpstr>PowerPoint Presentation</vt:lpstr>
    </vt:vector>
  </TitlesOfParts>
  <Company>Graphicsland/MAKESIGNS.COM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to create a scientific poster</dc:title>
  <dc:subject>Example Of A Sample Research Poster</dc:subject>
  <dc:creator>Graphicsland/MakeSigns.com</dc:creator>
  <cp:keywords>scientific, research, template, custom, poster, presentation, symposium, printing, PowerPoint, create, design, example, sample, download</cp:keywords>
  <dc:description>Download our scientific poster templates at no cost to you and get one step closer to making a great research poster.</dc:description>
  <cp:lastModifiedBy>Phil Kim</cp:lastModifiedBy>
  <cp:revision>36</cp:revision>
  <dcterms:created xsi:type="dcterms:W3CDTF">2025-04-26T02:58:54Z</dcterms:created>
  <dcterms:modified xsi:type="dcterms:W3CDTF">2025-04-26T17:33:08Z</dcterms:modified>
  <cp:category>scientific poster PowerPoint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64A058144F9AD9AEEE4B0C68EC4E06A0_43</vt:lpwstr>
  </property>
  <property fmtid="{D5CDD505-2E9C-101B-9397-08002B2CF9AE}" pid="3" name="KSOProductBuildVer">
    <vt:lpwstr>1033-6.11.0.8608</vt:lpwstr>
  </property>
</Properties>
</file>