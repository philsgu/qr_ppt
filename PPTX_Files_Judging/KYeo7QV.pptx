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5800725" cy="9094788"/>
  <p:embeddedFontLst>
    <p:embeddedFont>
      <p:font typeface="Amaranth" panose="02000503050000020004" pitchFamily="2" charset="77"/>
      <p:regular r:id="rId3"/>
    </p:embeddedFont>
    <p:embeddedFont>
      <p:font typeface="Titillium Web" pitchFamily="2" charset="77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6642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6642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 snapToGrid="0">
      <p:cViewPr>
        <p:scale>
          <a:sx n="56" d="100"/>
          <a:sy n="56" d="100"/>
        </p:scale>
        <p:origin x="4304" y="144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9E44D62-E9B9-4A1F-9D60-78A1B8BD213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2747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D772C493-C7EB-4BEF-9EB3-C72AA1A173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922162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239EF23-2AC5-4B50-8C9E-5F8D49668A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62582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5444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0217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BBD8762-0F6F-41F2-8E1E-C5EF6CE7FF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9722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245EB89-E1F0-4213-BFCF-D6A06A13C4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5668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9249905-9305-4041-8B60-8DE0824E81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1219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C76933-D99D-4DC1-BD09-1072CC92B2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9367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6A5529-8465-4E7D-9DB8-D374C51CD7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111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C022C6C-C3BF-4CE1-8842-0AC59701737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10504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A277C51-0625-40F0-8A02-D153CC2D70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590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6080" y="878417"/>
            <a:ext cx="740687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5444" y="878417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C9A1A37-7051-412A-8F35-8483CD8F48E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706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5444" y="878417"/>
            <a:ext cx="2962751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5444" y="5120217"/>
            <a:ext cx="2962751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54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6644" y="19984507"/>
            <a:ext cx="104251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1044" y="19984507"/>
            <a:ext cx="7681913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4940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25043CB6-A91D-4176-912B-555F54C38C9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conceptualizingcobalt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2pPr>
      <a:lvl3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3pPr>
      <a:lvl4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4pPr>
      <a:lvl5pPr algn="ctr" defTabSz="3134940" rtl="0" eaLnBrk="0" fontAlgn="base" hangingPunct="0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5pPr>
      <a:lvl6pPr marL="304815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6pPr>
      <a:lvl7pPr marL="609630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7pPr>
      <a:lvl8pPr marL="914446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8pPr>
      <a:lvl9pPr marL="1219261" algn="ctr" defTabSz="3134940" rtl="0" fontAlgn="base">
        <a:spcBef>
          <a:spcPct val="0"/>
        </a:spcBef>
        <a:spcAft>
          <a:spcPct val="0"/>
        </a:spcAft>
        <a:defRPr sz="15067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5867" indent="-1175867" algn="l" defTabSz="3134940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7536" indent="-980066" algn="l" defTabSz="3134940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19205" indent="-784265" algn="l" defTabSz="3134940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4940" rtl="0" eaLnBrk="0" fontAlgn="base" hangingPunct="0">
        <a:spcBef>
          <a:spcPct val="20000"/>
        </a:spcBef>
        <a:spcAft>
          <a:spcPct val="0"/>
        </a:spcAft>
        <a:buChar char="–"/>
        <a:defRPr sz="6867">
          <a:solidFill>
            <a:schemeClr val="tx1"/>
          </a:solidFill>
          <a:latin typeface="+mn-lt"/>
        </a:defRPr>
      </a:lvl4pPr>
      <a:lvl5pPr marL="7054145" indent="-783206" algn="l" defTabSz="3134940" rtl="0" eaLnBrk="0" fontAlgn="base" hangingPunct="0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5pPr>
      <a:lvl6pPr marL="7358960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6pPr>
      <a:lvl7pPr marL="7663775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7pPr>
      <a:lvl8pPr marL="7968590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8pPr>
      <a:lvl9pPr marL="8273406" indent="-783206" algn="l" defTabSz="3134940" rtl="0" fontAlgn="base">
        <a:spcBef>
          <a:spcPct val="20000"/>
        </a:spcBef>
        <a:spcAft>
          <a:spcPct val="0"/>
        </a:spcAft>
        <a:buChar char="»"/>
        <a:defRPr sz="68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D1E0E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29"/>
          <p:cNvSpPr>
            <a:spLocks noChangeArrowheads="1"/>
          </p:cNvSpPr>
          <p:nvPr/>
        </p:nvSpPr>
        <p:spPr bwMode="auto">
          <a:xfrm>
            <a:off x="-32328" y="20964846"/>
            <a:ext cx="32950730" cy="980753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defTabSz="3135999"/>
            <a:endParaRPr lang="en-US" sz="4428">
              <a:solidFill>
                <a:schemeClr val="bg1"/>
              </a:solidFill>
              <a:sym typeface="Symbol" pitchFamily="18" charset="2"/>
            </a:endParaRPr>
          </a:p>
        </p:txBody>
      </p:sp>
      <p:sp>
        <p:nvSpPr>
          <p:cNvPr id="31" name="Title 11">
            <a:extLst>
              <a:ext uri="{FF2B5EF4-FFF2-40B4-BE49-F238E27FC236}">
                <a16:creationId xmlns:a16="http://schemas.microsoft.com/office/drawing/2014/main" id="{A3F6428D-1FA6-42BA-BAEA-3577E1620F6B}"/>
              </a:ext>
            </a:extLst>
          </p:cNvPr>
          <p:cNvSpPr txBox="1"/>
          <p:nvPr/>
        </p:nvSpPr>
        <p:spPr>
          <a:xfrm>
            <a:off x="714408" y="528257"/>
            <a:ext cx="27432000" cy="1831290"/>
          </a:xfrm>
          <a:prstGeom prst="rect">
            <a:avLst/>
          </a:prstGeom>
        </p:spPr>
        <p:txBody>
          <a:bodyPr lIns="85344" tIns="42672" rIns="85344" bIns="42672"/>
          <a:lstStyle>
            <a:defPPr>
              <a:defRPr kern="1200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5700" dirty="0">
              <a:solidFill>
                <a:schemeClr val="bg1"/>
              </a:solidFill>
              <a:latin typeface="Amaranth" panose="02000503050000020004" pitchFamily="2" charset="0"/>
            </a:endParaRP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30C08963-BE29-4B96-B122-F15F02A3F7E3}"/>
              </a:ext>
            </a:extLst>
          </p:cNvPr>
          <p:cNvSpPr txBox="1"/>
          <p:nvPr/>
        </p:nvSpPr>
        <p:spPr>
          <a:xfrm>
            <a:off x="714408" y="2518699"/>
            <a:ext cx="27432000" cy="1338828"/>
          </a:xfrm>
          <a:prstGeom prst="rect">
            <a:avLst/>
          </a:prstGeom>
        </p:spPr>
        <p:txBody>
          <a:bodyPr lIns="85344" tIns="42672" rIns="85344" bIns="42672">
            <a:spAutoFit/>
          </a:bodyPr>
          <a:lstStyle>
            <a:defPPr>
              <a:defRPr kern="1200"/>
            </a:defPPr>
            <a:lvl1pPr marL="0" indent="0" algn="l" defTabSz="4389028" rtl="0" eaLnBrk="1" latinLnBrk="0" hangingPunct="1">
              <a:spcBef>
                <a:spcPct val="20000"/>
              </a:spcBef>
              <a:buFont typeface="Arial" pitchFamily="34" charset="0"/>
              <a:buNone/>
              <a:defRPr sz="13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086" indent="-1371572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286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800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314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69828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342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8857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371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700">
                <a:solidFill>
                  <a:schemeClr val="bg1"/>
                </a:solidFill>
                <a:latin typeface="Titillium Web" panose="00000500000000000000" pitchFamily="2" charset="0"/>
              </a:rPr>
              <a:t>Add Author Names and Information</a:t>
            </a:r>
          </a:p>
          <a:p>
            <a:r>
              <a:rPr lang="en-US" sz="3700">
                <a:solidFill>
                  <a:schemeClr val="bg1"/>
                </a:solidFill>
                <a:latin typeface="Titillium Web" panose="00000500000000000000" pitchFamily="2" charset="0"/>
              </a:rPr>
              <a:t>Include University or Department Names if Needed</a:t>
            </a: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98FCC399-CA5D-4873-B45E-22BAE0F51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39164" y="4814507"/>
            <a:ext cx="7515257" cy="522817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r>
              <a:rPr lang="en-US" sz="2800" dirty="0">
                <a:solidFill>
                  <a:schemeClr val="bg1"/>
                </a:solidFill>
                <a:latin typeface="Amaranth" panose="02000503050000020004" pitchFamily="2" charset="0"/>
              </a:rPr>
              <a:t>Methodology</a:t>
            </a:r>
            <a:endParaRPr lang="en-US" sz="2400" dirty="0">
              <a:solidFill>
                <a:schemeClr val="bg1"/>
              </a:solidFill>
              <a:latin typeface="Amaranth" panose="02000503050000020004" pitchFamily="2" charset="0"/>
            </a:endParaRPr>
          </a:p>
        </p:txBody>
      </p:sp>
      <p:sp>
        <p:nvSpPr>
          <p:cNvPr id="38" name="Rectangle 5">
            <a:extLst>
              <a:ext uri="{FF2B5EF4-FFF2-40B4-BE49-F238E27FC236}">
                <a16:creationId xmlns:a16="http://schemas.microsoft.com/office/drawing/2014/main" id="{991B9DF0-7DD4-4C17-94B6-6C493D1C3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3978" y="4814507"/>
            <a:ext cx="7515257" cy="522817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r>
              <a:rPr lang="en-US" sz="2800">
                <a:solidFill>
                  <a:schemeClr val="bg1"/>
                </a:solidFill>
                <a:latin typeface="Amaranth" panose="02000503050000020004" pitchFamily="2" charset="0"/>
              </a:rPr>
              <a:t>Results</a:t>
            </a:r>
          </a:p>
        </p:txBody>
      </p:sp>
      <p:sp>
        <p:nvSpPr>
          <p:cNvPr id="42" name="Rectangle 5">
            <a:extLst>
              <a:ext uri="{FF2B5EF4-FFF2-40B4-BE49-F238E27FC236}">
                <a16:creationId xmlns:a16="http://schemas.microsoft.com/office/drawing/2014/main" id="{C08CCD14-6632-49E3-A19B-81E98D465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8792" y="4814507"/>
            <a:ext cx="7515257" cy="522817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r>
              <a:rPr lang="en-US" sz="2800">
                <a:solidFill>
                  <a:schemeClr val="bg1"/>
                </a:solidFill>
                <a:latin typeface="Amaranth" panose="02000503050000020004" pitchFamily="2" charset="0"/>
              </a:rPr>
              <a:t>Conclusion</a:t>
            </a:r>
          </a:p>
        </p:txBody>
      </p:sp>
      <p:sp>
        <p:nvSpPr>
          <p:cNvPr id="46" name="Rectangle 5">
            <a:extLst>
              <a:ext uri="{FF2B5EF4-FFF2-40B4-BE49-F238E27FC236}">
                <a16:creationId xmlns:a16="http://schemas.microsoft.com/office/drawing/2014/main" id="{88D57C6D-9B7C-4799-9EEF-AD493DF30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88792" y="15599239"/>
            <a:ext cx="7515257" cy="522817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r>
              <a:rPr lang="en-US" sz="2800" dirty="0">
                <a:solidFill>
                  <a:schemeClr val="bg1"/>
                </a:solidFill>
                <a:latin typeface="Amaranth" panose="02000503050000020004" pitchFamily="2" charset="0"/>
              </a:rPr>
              <a:t>Acknowledgements</a:t>
            </a:r>
          </a:p>
        </p:txBody>
      </p:sp>
      <p:sp>
        <p:nvSpPr>
          <p:cNvPr id="16" name="Rectangle 5">
            <a:extLst>
              <a:ext uri="{FF2B5EF4-FFF2-40B4-BE49-F238E27FC236}">
                <a16:creationId xmlns:a16="http://schemas.microsoft.com/office/drawing/2014/main" id="{620C51D2-3423-4C6C-A077-34B27F321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530" y="13222199"/>
            <a:ext cx="7515257" cy="522817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r>
              <a:rPr lang="en-US" sz="2800">
                <a:solidFill>
                  <a:schemeClr val="bg1"/>
                </a:solidFill>
                <a:latin typeface="Amaranth" panose="02000503050000020004" pitchFamily="2" charset="0"/>
              </a:rPr>
              <a:t>Introduction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AD2E301E-E7B3-4BB5-B48D-F76D6F65BBE3}"/>
              </a:ext>
            </a:extLst>
          </p:cNvPr>
          <p:cNvSpPr txBox="1"/>
          <p:nvPr/>
        </p:nvSpPr>
        <p:spPr>
          <a:xfrm>
            <a:off x="24888790" y="5557518"/>
            <a:ext cx="7364806" cy="9325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4000" dirty="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This pilot QI project demonstrated that a simple,  bedside education intervention on sick day management was well-received and addressed critical knowledge deficits among ICU-admitted DKA patients. While no readmissions occurred in either group, patient-reported data suggest the intervention holds promise for improving long-term self-management. A larger study with extended follow-up is warranted to assess its impact on clinical outcomes. </a:t>
            </a:r>
          </a:p>
        </p:txBody>
      </p:sp>
      <p:sp>
        <p:nvSpPr>
          <p:cNvPr id="3" name="Rectangle 27">
            <a:extLst>
              <a:ext uri="{FF2B5EF4-FFF2-40B4-BE49-F238E27FC236}">
                <a16:creationId xmlns:a16="http://schemas.microsoft.com/office/drawing/2014/main" id="{A7F1ADF2-6A6B-0EA3-E4AB-3C4D9D2AE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165" y="0"/>
            <a:ext cx="32950730" cy="4286250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wrap="none" anchor="ctr"/>
          <a:lstStyle>
            <a:defPPr>
              <a:defRPr kern="1200"/>
            </a:defPPr>
          </a:lstStyle>
          <a:p>
            <a:pPr algn="ctr"/>
            <a:r>
              <a:rPr lang="en-US" sz="5400" b="1" dirty="0">
                <a:solidFill>
                  <a:schemeClr val="bg1"/>
                </a:solidFill>
                <a:latin typeface="+mj-lt"/>
              </a:rPr>
              <a:t>Improving Sick Day Management to Reduce Hospitalization in </a:t>
            </a:r>
          </a:p>
          <a:p>
            <a:pPr algn="ctr"/>
            <a:r>
              <a:rPr lang="en-US" sz="5400" b="1" dirty="0">
                <a:solidFill>
                  <a:schemeClr val="bg1"/>
                </a:solidFill>
                <a:latin typeface="+mj-lt"/>
              </a:rPr>
              <a:t>Diabetic Ketoacidosis: A pilot Educational Intervention</a:t>
            </a:r>
          </a:p>
          <a:p>
            <a:pPr algn="ctr"/>
            <a:br>
              <a:rPr lang="en-US" sz="3600" b="1" dirty="0">
                <a:solidFill>
                  <a:schemeClr val="bg1"/>
                </a:solidFill>
                <a:latin typeface="+mj-lt"/>
              </a:rPr>
            </a:br>
            <a:r>
              <a:rPr lang="en-US" sz="3600" b="1" dirty="0">
                <a:solidFill>
                  <a:schemeClr val="bg1"/>
                </a:solidFill>
                <a:latin typeface="+mj-lt"/>
              </a:rPr>
              <a:t>Mareza Tatulyan, Dogan Sevki </a:t>
            </a:r>
            <a:r>
              <a:rPr lang="en-US" sz="3600" b="1" dirty="0" err="1">
                <a:solidFill>
                  <a:schemeClr val="bg1"/>
                </a:solidFill>
                <a:latin typeface="+mj-lt"/>
              </a:rPr>
              <a:t>Kalamanoglu</a:t>
            </a:r>
            <a:r>
              <a:rPr lang="en-US" sz="3600" b="1" dirty="0">
                <a:solidFill>
                  <a:schemeClr val="bg1"/>
                </a:solidFill>
                <a:latin typeface="+mj-lt"/>
              </a:rPr>
              <a:t>, Batuhan Cakmak, Anupama </a:t>
            </a:r>
            <a:r>
              <a:rPr lang="en-US" sz="3600" b="1" dirty="0" err="1">
                <a:solidFill>
                  <a:schemeClr val="bg1"/>
                </a:solidFill>
                <a:latin typeface="+mj-lt"/>
              </a:rPr>
              <a:t>Poliyedath</a:t>
            </a:r>
            <a:endParaRPr lang="en-US" sz="36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60FBD8-A0A9-1C41-1224-DC554E23BF8D}"/>
              </a:ext>
            </a:extLst>
          </p:cNvPr>
          <p:cNvSpPr txBox="1"/>
          <p:nvPr/>
        </p:nvSpPr>
        <p:spPr>
          <a:xfrm>
            <a:off x="514348" y="5446550"/>
            <a:ext cx="7821576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Hospitalization for diabetic ketoacidosis remain a significant burden on healthcare systems and patients. In this improvement pilot study, we assessed whether providing patient-friendly educational materials on sick day management, accompanied by a brief verbal explanation , could reduce 30-day readmissions in patients  admitted to the ICU for DKA. Patients were randomly assigned to either an intervention group receiving the education or a control group receiving standard care. While the short timeframe and limited sample size did not yield a statistically significant reduction in readmission rates, qualitative feedback revealed substantial knowledge gaps. Our findings highlight the critical role of targeted patient education in preventing DKA recurrence. 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93E4F167-70BD-B63E-AE1E-E0D62AEB81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348" y="4813852"/>
            <a:ext cx="7515257" cy="522817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182880" tIns="45720" rIns="182880" bIns="45720" anchor="ctr"/>
          <a:lstStyle>
            <a:defPPr>
              <a:defRPr kern="1200"/>
            </a:defPPr>
          </a:lstStyle>
          <a:p>
            <a:pPr defTabSz="3135999"/>
            <a:r>
              <a:rPr lang="en-US" sz="2800" dirty="0">
                <a:solidFill>
                  <a:schemeClr val="bg1"/>
                </a:solidFill>
                <a:latin typeface="Amaranth" panose="02000503050000020004" pitchFamily="2" charset="0"/>
              </a:rPr>
              <a:t>Abstract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794D2-4BB2-E576-CE71-2D924A64B650}"/>
              </a:ext>
            </a:extLst>
          </p:cNvPr>
          <p:cNvSpPr txBox="1"/>
          <p:nvPr/>
        </p:nvSpPr>
        <p:spPr>
          <a:xfrm>
            <a:off x="507841" y="13908140"/>
            <a:ext cx="7515257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Diabetic ketoacidosis is a life –threatening complication of diabetes, often precipitated by illness, insulin omission, or lack of patient awareness on sick day protocols. Numerous studies (e.g. by ADA and BMJ Open Diabetes Research &amp; Care) have identified patient education as a key factor in DKA prevention . Yet, structured sick day teaching remains underutilized during inpatient admissions. This project aimed to address that gap by offering brief, patient-friendly education on sick day management to ICU-admitted DKA patients and evaluating the impact on 30-day rehospitalization rates.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5376B-84CB-B48F-8447-9E9446A8D3CA}"/>
              </a:ext>
            </a:extLst>
          </p:cNvPr>
          <p:cNvSpPr txBox="1"/>
          <p:nvPr/>
        </p:nvSpPr>
        <p:spPr>
          <a:xfrm>
            <a:off x="8639164" y="5557518"/>
            <a:ext cx="7515257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Design</a:t>
            </a:r>
            <a:r>
              <a:rPr lang="en-US" sz="2800" dirty="0"/>
              <a:t>: Prospective pilot quality improvement project</a:t>
            </a:r>
          </a:p>
          <a:p>
            <a:r>
              <a:rPr lang="en-US" sz="2800" b="1" dirty="0"/>
              <a:t>Setting: </a:t>
            </a:r>
            <a:r>
              <a:rPr lang="en-US" sz="2800" dirty="0"/>
              <a:t>ICU at a community hospital</a:t>
            </a:r>
          </a:p>
          <a:p>
            <a:r>
              <a:rPr lang="en-US" sz="2800" b="1" dirty="0"/>
              <a:t>Participants: </a:t>
            </a:r>
            <a:r>
              <a:rPr lang="en-US" sz="2800" dirty="0"/>
              <a:t>13 patients admitted for DKA </a:t>
            </a:r>
          </a:p>
          <a:p>
            <a:r>
              <a:rPr lang="en-US" sz="2800" dirty="0"/>
              <a:t>(7 intervention, 6 control)</a:t>
            </a:r>
          </a:p>
          <a:p>
            <a:r>
              <a:rPr lang="en-US" sz="2800" b="1" dirty="0"/>
              <a:t>Intervention: </a:t>
            </a:r>
            <a:r>
              <a:rPr lang="en-US" sz="2800" dirty="0"/>
              <a:t>1-page educational handout and brief verbal explanation of sick day management</a:t>
            </a:r>
          </a:p>
          <a:p>
            <a:r>
              <a:rPr lang="en-US" sz="2800" b="1" dirty="0"/>
              <a:t>Control: </a:t>
            </a:r>
            <a:r>
              <a:rPr lang="en-US" sz="2800" dirty="0"/>
              <a:t>Standard care without targeted education</a:t>
            </a:r>
          </a:p>
          <a:p>
            <a:r>
              <a:rPr lang="en-US" sz="2800" b="1" dirty="0"/>
              <a:t>Follow-Up</a:t>
            </a:r>
            <a:r>
              <a:rPr lang="en-US" sz="2800" dirty="0"/>
              <a:t>: Readmission tracking over 30 days + patient survey on usefulness of education</a:t>
            </a:r>
          </a:p>
          <a:p>
            <a:r>
              <a:rPr lang="en-US" sz="2800" b="1" dirty="0"/>
              <a:t>Primary outcome: </a:t>
            </a:r>
            <a:r>
              <a:rPr lang="en-US" sz="2800" dirty="0"/>
              <a:t>30-day readmission rate</a:t>
            </a:r>
          </a:p>
          <a:p>
            <a:r>
              <a:rPr lang="en-US" sz="2800" b="1" dirty="0"/>
              <a:t>Secondary outcome: </a:t>
            </a:r>
            <a:r>
              <a:rPr lang="en-US" sz="2800" dirty="0"/>
              <a:t>Patient feedback and baseline knowledge of sick day management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6C5D87-496A-1BCE-D862-6F5CA54FFD2E}"/>
              </a:ext>
            </a:extLst>
          </p:cNvPr>
          <p:cNvSpPr txBox="1"/>
          <p:nvPr/>
        </p:nvSpPr>
        <p:spPr>
          <a:xfrm>
            <a:off x="16763977" y="5477681"/>
            <a:ext cx="7515257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30-Day Readmissions: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Education group - 0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Control group – 0</a:t>
            </a:r>
            <a:br>
              <a:rPr lang="en-US" sz="2800" dirty="0"/>
            </a:br>
            <a:endParaRPr lang="en-US" sz="2800" dirty="0"/>
          </a:p>
          <a:p>
            <a:r>
              <a:rPr lang="en-US" sz="2800" b="1" dirty="0"/>
              <a:t>Pre-Education Awareness: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2 of 7 patients ( 29%) were aware of sick day protocols</a:t>
            </a:r>
            <a:br>
              <a:rPr lang="en-US" sz="2800" dirty="0"/>
            </a:br>
            <a:endParaRPr lang="en-US" sz="2800" dirty="0"/>
          </a:p>
          <a:p>
            <a:r>
              <a:rPr lang="en-US" sz="2800" b="1" dirty="0"/>
              <a:t>Survey Feedback from Education Group</a:t>
            </a:r>
            <a:r>
              <a:rPr lang="en-US" sz="2800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5 patients ( 71%) rated the education as very useful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2 patients ( 29%) rated as somewhat useful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None rated it neutral or unhelpful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Despite no measurable impact on readmissions in this small sample, the intervention revealed significant baseline knowledge gaps and was well-received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66189E9-BF9C-065D-992E-FD1C26D01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933" y="13931127"/>
            <a:ext cx="15066442" cy="446969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F67E126-B15C-5ACC-B0B5-C1048444D61F}"/>
              </a:ext>
            </a:extLst>
          </p:cNvPr>
          <p:cNvSpPr txBox="1"/>
          <p:nvPr/>
        </p:nvSpPr>
        <p:spPr>
          <a:xfrm>
            <a:off x="24855838" y="16289371"/>
            <a:ext cx="75152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thank Dr. </a:t>
            </a:r>
            <a:r>
              <a:rPr lang="en-US" sz="2400" dirty="0" err="1"/>
              <a:t>Poliyedath</a:t>
            </a:r>
            <a:r>
              <a:rPr lang="en-US" sz="2400" dirty="0"/>
              <a:t> for guidance throughout this project, ICU physicians who supported the distribution of educational materials and permitted this patient-centered initiative. We deeply grateful tot the patients who participated and shared their time and feedback.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conceptualizingcobalt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526</Words>
  <Application>Microsoft Macintosh PowerPoint</Application>
  <PresentationFormat>Custom</PresentationFormat>
  <Paragraphs>34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Symbol</vt:lpstr>
      <vt:lpstr>Titillium Web</vt:lpstr>
      <vt:lpstr>Arial</vt:lpstr>
      <vt:lpstr>Amaranth</vt:lpstr>
      <vt:lpstr>Default Design</vt:lpstr>
      <vt:lpstr>PowerPoint Presentation</vt:lpstr>
    </vt:vector>
  </TitlesOfParts>
  <Company>Graphicsland/MAKESIGNS.COM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to create a scientific poster</dc:title>
  <dc:subject>Example Of A Sample Research Poster</dc:subject>
  <dc:creator>Graphicsland/MakeSigns.com</dc:creator>
  <cp:keywords>scientific, research, template, custom, poster, presentation, symposium, printing, PowerPoint, create, design, example, sample, download</cp:keywords>
  <dc:description>Download our scientific poster templates at no cost to you and get one step closer to making a great research poster.</dc:description>
  <cp:lastModifiedBy>Phil Kim</cp:lastModifiedBy>
  <cp:revision>34</cp:revision>
  <dcterms:modified xsi:type="dcterms:W3CDTF">2025-04-27T04:50:13Z</dcterms:modified>
  <cp:category>scientific poster PowerPoint</cp:category>
</cp:coreProperties>
</file>