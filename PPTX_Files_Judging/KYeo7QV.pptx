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00503050000020004" pitchFamily="2" charset="77"/>
      <p:regular r:id="rId3"/>
    </p:embeddedFont>
    <p:embeddedFont>
      <p:font typeface="Titillium Web" pitchFamily="2" charset="77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4304" y="144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2pPr>
      <a:lvl3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3pPr>
      <a:lvl4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4pPr>
      <a:lvl5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5pPr>
      <a:lvl6pPr marL="304815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6pPr>
      <a:lvl7pPr marL="609630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7pPr>
      <a:lvl8pPr marL="914446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8pPr>
      <a:lvl9pPr marL="1219261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175867" indent="-1175867" algn="l" defTabSz="3134940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7536" indent="-980066" algn="l" defTabSz="313494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5" indent="-784265" algn="l" defTabSz="3134940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674" indent="-784265" algn="l" defTabSz="3134940" rtl="0" eaLnBrk="0" fontAlgn="base" hangingPunct="0">
        <a:spcBef>
          <a:spcPct val="20000"/>
        </a:spcBef>
        <a:spcAft>
          <a:spcPct val="0"/>
        </a:spcAft>
        <a:buChar char="–"/>
        <a:defRPr sz="6867">
          <a:solidFill>
            <a:schemeClr val="tx1"/>
          </a:solidFill>
          <a:latin typeface="+mn-lt"/>
        </a:defRPr>
      </a:lvl4pPr>
      <a:lvl5pPr marL="7054145" indent="-783206" algn="l" defTabSz="3134940" rtl="0" eaLnBrk="0" fontAlgn="base" hangingPunct="0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5pPr>
      <a:lvl6pPr marL="735896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6pPr>
      <a:lvl7pPr marL="7663775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7pPr>
      <a:lvl8pPr marL="796859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8pPr>
      <a:lvl9pPr marL="8273406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32328" y="20964846"/>
            <a:ext cx="32950730" cy="980753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91440" tIns="45720" rIns="91440" bIns="45720" anchor="ctr"/>
          <a:lstStyle>
            <a:defPPr>
              <a:defRPr kern="1200"/>
            </a:defPPr>
          </a:lstStyle>
          <a:p>
            <a:pPr defTabSz="3135999"/>
            <a:endParaRPr lang="en-US" sz="4428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714408" y="528257"/>
            <a:ext cx="27432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5700" dirty="0">
              <a:solidFill>
                <a:schemeClr val="bg1"/>
              </a:solidFill>
              <a:latin typeface="Amaranth" panose="02000503050000020004" pitchFamily="2" charset="0"/>
            </a:endParaRP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714408" y="2518699"/>
            <a:ext cx="27432000" cy="1338828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>
                <a:solidFill>
                  <a:schemeClr val="bg1"/>
                </a:solidFill>
                <a:latin typeface="Titillium Web" panose="00000500000000000000" pitchFamily="2" charset="0"/>
              </a:rPr>
              <a:t>Add Author Names and Information</a:t>
            </a:r>
          </a:p>
          <a:p>
            <a:r>
              <a:rPr lang="en-US" sz="3700">
                <a:solidFill>
                  <a:schemeClr val="bg1"/>
                </a:solidFill>
                <a:latin typeface="Titillium Web" panose="00000500000000000000" pitchFamily="2" charset="0"/>
              </a:rPr>
              <a:t>Include University or Department Names if Needed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FCC399-CA5D-4873-B45E-22BAE0F5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9164" y="4814507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 dirty="0">
                <a:solidFill>
                  <a:schemeClr val="bg1"/>
                </a:solidFill>
                <a:latin typeface="Amaranth" panose="02000503050000020004" pitchFamily="2" charset="0"/>
              </a:rPr>
              <a:t>Methodology</a:t>
            </a:r>
            <a:endParaRPr lang="en-US" sz="2400" dirty="0">
              <a:solidFill>
                <a:schemeClr val="bg1"/>
              </a:solidFill>
              <a:latin typeface="Amaranth" panose="02000503050000020004" pitchFamily="2" charset="0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991B9DF0-7DD4-4C17-94B6-6C493D1C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3978" y="4814507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08CCD14-6632-49E3-A19B-81E98D465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8792" y="4814507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>
                <a:solidFill>
                  <a:schemeClr val="bg1"/>
                </a:solidFill>
                <a:latin typeface="Amaranth" panose="02000503050000020004" pitchFamily="2" charset="0"/>
              </a:rPr>
              <a:t>Conclusion</a:t>
            </a: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88D57C6D-9B7C-4799-9EEF-AD493DF3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8792" y="15599239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 dirty="0">
                <a:solidFill>
                  <a:schemeClr val="bg1"/>
                </a:solidFill>
                <a:latin typeface="Amaranth" panose="02000503050000020004" pitchFamily="2" charset="0"/>
              </a:rPr>
              <a:t>Acknowledgements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620C51D2-3423-4C6C-A077-34B27F32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530" y="13222199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>
                <a:solidFill>
                  <a:schemeClr val="bg1"/>
                </a:solidFill>
                <a:latin typeface="Amaranth" panose="02000503050000020004" pitchFamily="2" charset="0"/>
              </a:rPr>
              <a:t>Introduction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2E301E-E7B3-4BB5-B48D-F76D6F65BBE3}"/>
              </a:ext>
            </a:extLst>
          </p:cNvPr>
          <p:cNvSpPr txBox="1"/>
          <p:nvPr/>
        </p:nvSpPr>
        <p:spPr>
          <a:xfrm>
            <a:off x="24888790" y="5557518"/>
            <a:ext cx="7364806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4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This pilot QI project demonstrated that a simple,  bedside education intervention on sick day management was well-received and addressed critical knowledge deficits among ICU-admitted DKA patients. While no readmissions occurred in either group, patient-reported data suggest the intervention holds promise for improving long-term self-management. A larger study with extended follow-up is warranted to assess its impact on clinical outcomes. 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A7F1ADF2-6A6B-0EA3-E4AB-3C4D9D2AE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165" y="0"/>
            <a:ext cx="32950730" cy="428625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+mj-lt"/>
              </a:rPr>
              <a:t>Improving Sick Day Management to Reduce Hospitalization in 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  <a:latin typeface="+mj-lt"/>
              </a:rPr>
              <a:t>Diabetic Ketoacidosis: A pilot Educational Intervention</a:t>
            </a:r>
          </a:p>
          <a:p>
            <a:pPr algn="ctr"/>
            <a:br>
              <a:rPr lang="en-US" sz="3600" b="1" dirty="0">
                <a:solidFill>
                  <a:schemeClr val="bg1"/>
                </a:solidFill>
                <a:latin typeface="+mj-lt"/>
              </a:rPr>
            </a:br>
            <a:r>
              <a:rPr lang="en-US" sz="3600" b="1" dirty="0">
                <a:solidFill>
                  <a:schemeClr val="bg1"/>
                </a:solidFill>
                <a:latin typeface="+mj-lt"/>
              </a:rPr>
              <a:t>Mareza Tatulyan, Dogan Sevki </a:t>
            </a:r>
            <a:r>
              <a:rPr lang="en-US" sz="3600" b="1" dirty="0" err="1">
                <a:solidFill>
                  <a:schemeClr val="bg1"/>
                </a:solidFill>
                <a:latin typeface="+mj-lt"/>
              </a:rPr>
              <a:t>Kalamanoglu</a:t>
            </a:r>
            <a:r>
              <a:rPr lang="en-US" sz="3600" b="1" dirty="0">
                <a:solidFill>
                  <a:schemeClr val="bg1"/>
                </a:solidFill>
                <a:latin typeface="+mj-lt"/>
              </a:rPr>
              <a:t>, Batuhan Cakmak, Anupama </a:t>
            </a:r>
            <a:r>
              <a:rPr lang="en-US" sz="3600" b="1" dirty="0" err="1">
                <a:solidFill>
                  <a:schemeClr val="bg1"/>
                </a:solidFill>
                <a:latin typeface="+mj-lt"/>
              </a:rPr>
              <a:t>Poliyedath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0FBD8-A0A9-1C41-1224-DC554E23BF8D}"/>
              </a:ext>
            </a:extLst>
          </p:cNvPr>
          <p:cNvSpPr txBox="1"/>
          <p:nvPr/>
        </p:nvSpPr>
        <p:spPr>
          <a:xfrm>
            <a:off x="514348" y="5446550"/>
            <a:ext cx="7821576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Hospitalization for diabetic ketoacidosis remain a significant burden on healthcare systems and patients. In this improvement pilot study, we assessed whether providing patient-friendly educational materials on sick day management, accompanied by a brief verbal explanation , could reduce 30-day readmissions in patients  admitted to the ICU for DKA. Patients were randomly assigned to either an intervention group receiving the education or a control group receiving standard care. While the short timeframe and limited sample size did not yield a statistically significant reduction in readmission rates, qualitative feedback revealed substantial knowledge gaps. Our findings highlight the critical role of targeted patient education in preventing DKA recurrence.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3E4F167-70BD-B63E-AE1E-E0D62AEB8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48" y="4813852"/>
            <a:ext cx="7515257" cy="522817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r>
              <a:rPr lang="en-US" sz="2800" dirty="0">
                <a:solidFill>
                  <a:schemeClr val="bg1"/>
                </a:solidFill>
                <a:latin typeface="Amaranth" panose="02000503050000020004" pitchFamily="2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794D2-4BB2-E576-CE71-2D924A64B650}"/>
              </a:ext>
            </a:extLst>
          </p:cNvPr>
          <p:cNvSpPr txBox="1"/>
          <p:nvPr/>
        </p:nvSpPr>
        <p:spPr>
          <a:xfrm>
            <a:off x="507841" y="13908140"/>
            <a:ext cx="751525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Diabetic ketoacidosis is a life –threatening complication of diabetes, often precipitated by illness, insulin omission, or lack of patient awareness on sick day protocols. Numerous studies (e.g. by ADA and BMJ Open Diabetes Research &amp; Care) have identified patient education as a key factor in DKA prevention . Yet, structured sick day teaching remains underutilized during inpatient admissions. This project aimed to address that gap by offering brief, patient-friendly education on sick day management to ICU-admitted DKA patients and evaluating the impact on 30-day rehospitalization rates.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5376B-84CB-B48F-8447-9E9446A8D3CA}"/>
              </a:ext>
            </a:extLst>
          </p:cNvPr>
          <p:cNvSpPr txBox="1"/>
          <p:nvPr/>
        </p:nvSpPr>
        <p:spPr>
          <a:xfrm>
            <a:off x="8639164" y="5557518"/>
            <a:ext cx="751525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Design</a:t>
            </a:r>
            <a:r>
              <a:rPr lang="en-US" sz="2800" dirty="0"/>
              <a:t>: Prospective pilot quality improvement project</a:t>
            </a:r>
          </a:p>
          <a:p>
            <a:r>
              <a:rPr lang="en-US" sz="2800" b="1" dirty="0"/>
              <a:t>Setting: </a:t>
            </a:r>
            <a:r>
              <a:rPr lang="en-US" sz="2800" dirty="0"/>
              <a:t>ICU at a community hospital</a:t>
            </a:r>
          </a:p>
          <a:p>
            <a:r>
              <a:rPr lang="en-US" sz="2800" b="1" dirty="0"/>
              <a:t>Participants: </a:t>
            </a:r>
            <a:r>
              <a:rPr lang="en-US" sz="2800" dirty="0"/>
              <a:t>13 patients admitted for DKA </a:t>
            </a:r>
          </a:p>
          <a:p>
            <a:r>
              <a:rPr lang="en-US" sz="2800" dirty="0"/>
              <a:t>(7 intervention, 6 control)</a:t>
            </a:r>
          </a:p>
          <a:p>
            <a:r>
              <a:rPr lang="en-US" sz="2800" b="1" dirty="0"/>
              <a:t>Intervention: </a:t>
            </a:r>
            <a:r>
              <a:rPr lang="en-US" sz="2800" dirty="0"/>
              <a:t>1-page educational handout and brief verbal explanation of sick day management</a:t>
            </a:r>
          </a:p>
          <a:p>
            <a:r>
              <a:rPr lang="en-US" sz="2800" b="1" dirty="0"/>
              <a:t>Control: </a:t>
            </a:r>
            <a:r>
              <a:rPr lang="en-US" sz="2800" dirty="0"/>
              <a:t>Standard care without targeted education</a:t>
            </a:r>
          </a:p>
          <a:p>
            <a:r>
              <a:rPr lang="en-US" sz="2800" b="1" dirty="0"/>
              <a:t>Follow-Up</a:t>
            </a:r>
            <a:r>
              <a:rPr lang="en-US" sz="2800" dirty="0"/>
              <a:t>: Readmission tracking over 30 days + patient survey on usefulness of education</a:t>
            </a:r>
          </a:p>
          <a:p>
            <a:r>
              <a:rPr lang="en-US" sz="2800" b="1" dirty="0"/>
              <a:t>Primary outcome: </a:t>
            </a:r>
            <a:r>
              <a:rPr lang="en-US" sz="2800" dirty="0"/>
              <a:t>30-day readmission rate</a:t>
            </a:r>
          </a:p>
          <a:p>
            <a:r>
              <a:rPr lang="en-US" sz="2800" b="1" dirty="0"/>
              <a:t>Secondary outcome: </a:t>
            </a:r>
            <a:r>
              <a:rPr lang="en-US" sz="2800" dirty="0"/>
              <a:t>Patient feedback and baseline knowledge of sick day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C5D87-496A-1BCE-D862-6F5CA54FFD2E}"/>
              </a:ext>
            </a:extLst>
          </p:cNvPr>
          <p:cNvSpPr txBox="1"/>
          <p:nvPr/>
        </p:nvSpPr>
        <p:spPr>
          <a:xfrm>
            <a:off x="16763977" y="5477681"/>
            <a:ext cx="7515257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30-Day Readmissions: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Education group - 0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 group – 0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Pre-Education Awareness: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2 of 7 patients ( 29%) were aware of sick day protocols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Survey Feedback from Education Group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5 patients ( 71%) rated the education as very useful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2 patients ( 29%) rated as somewhat useful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None rated it neutral or unhelpful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Despite no measurable impact on readmissions in this small sample, the intervention revealed significant baseline knowledge gaps and was well-received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6189E9-BF9C-065D-992E-FD1C26D01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933" y="13931127"/>
            <a:ext cx="15066442" cy="44696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67E126-B15C-5ACC-B0B5-C1048444D61F}"/>
              </a:ext>
            </a:extLst>
          </p:cNvPr>
          <p:cNvSpPr txBox="1"/>
          <p:nvPr/>
        </p:nvSpPr>
        <p:spPr>
          <a:xfrm>
            <a:off x="24855838" y="16289371"/>
            <a:ext cx="75152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thank Dr. </a:t>
            </a:r>
            <a:r>
              <a:rPr lang="en-US" sz="2400" dirty="0" err="1"/>
              <a:t>Poliyedath</a:t>
            </a:r>
            <a:r>
              <a:rPr lang="en-US" sz="2400" dirty="0"/>
              <a:t> for guidance throughout this project, ICU physicians who supported the distribution of educational materials and permitted this patient-centered initiative. We deeply grateful tot the patients who participated and shared their time and feedback.</a:t>
            </a:r>
          </a:p>
        </p:txBody>
      </p:sp>
      <p:pic>
        <p:nvPicPr>
          <p:cNvPr id="231" name="Picture 230" descr="32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526</Words>
  <Application>Microsoft Macintosh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Symbol</vt:lpstr>
      <vt:lpstr>Titillium Web</vt:lpstr>
      <vt:lpstr>Arial</vt:lpstr>
      <vt:lpstr>Amaranth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Phil Kim</cp:lastModifiedBy>
  <cp:revision>34</cp:revision>
  <dcterms:modified xsi:type="dcterms:W3CDTF">2025-04-27T04:50:13Z</dcterms:modified>
  <cp:category>scientific poster PowerPoint</cp:category>
</cp:coreProperties>
</file>