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jtT1an5QXhHkVrbTbMbUw/LY5uw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73"/>
  </p:normalViewPr>
  <p:slideViewPr>
    <p:cSldViewPr snapToGrid="0">
      <p:cViewPr>
        <p:scale>
          <a:sx n="32" d="100"/>
          <a:sy n="32" d="100"/>
        </p:scale>
        <p:origin x="416"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0" Type="http://customschemas.google.com/relationships/presentationmetadata" Target="metadata"/><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radiopaedia.org/articles/cognitive-bias-in-diagnostic-radiology?lang=us" TargetMode="External"/><Relationship Id="rId4" Type="http://schemas.openxmlformats.org/officeDocument/2006/relationships/hyperlink" Target="https://www.uptodate.com/contents/spinal-cord-injury-without-radiographic-abnormality-sciwora-in-children?search=sciwora&amp;source=search_result&amp;selectedTitle=1%7E13&amp;usage_type=default&amp;display_rank=1" TargetMode="External"/><Relationship Id="rId5" Type="http://schemas.openxmlformats.org/officeDocument/2006/relationships/hyperlink" Target="https://pmc.ncbi.nlm.nih.gov/articles/PMC8950331/#B1-jpm-12-00473" TargetMode="External"/><Relationship Id="rId6" Type="http://schemas.openxmlformats.org/officeDocument/2006/relationships/hyperlink" Target="https://pubmed.ncbi.nlm.nih.gov/31363857/"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4e5512c6aa_1_0: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4e5512c6aa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CT image: shows a LACK of a fracture, dislocation, malalignment. degenerative changes are severe, but not outlandish</a:t>
            </a:r>
            <a:endParaRPr/>
          </a:p>
          <a:p>
            <a:pPr marL="0" lvl="0" indent="0" algn="l" rtl="0">
              <a:spcBef>
                <a:spcPts val="0"/>
              </a:spcBef>
              <a:spcAft>
                <a:spcPts val="0"/>
              </a:spcAft>
              <a:buNone/>
            </a:pPr>
            <a:endParaRPr/>
          </a:p>
          <a:p>
            <a:pPr marL="0" lvl="0" indent="0" algn="l" rtl="0">
              <a:spcBef>
                <a:spcPts val="0"/>
              </a:spcBef>
              <a:spcAft>
                <a:spcPts val="0"/>
              </a:spcAft>
              <a:buNone/>
            </a:pPr>
            <a:r>
              <a:rPr lang="en-US"/>
              <a:t>MR: bright signal from c5-c7. Also note the bright CSF (seen below the cerebellum), which should completely surround a health cord, as it does around C1 and T2, but that bright signal is noticeable absent around c5-c7 as well. The bright region in the posterior soft tissues hints at possible whiplash type injury. </a:t>
            </a:r>
            <a:endParaRPr/>
          </a:p>
          <a:p>
            <a:pPr marL="0" lvl="0" indent="0" algn="l" rtl="0">
              <a:spcBef>
                <a:spcPts val="0"/>
              </a:spcBef>
              <a:spcAft>
                <a:spcPts val="0"/>
              </a:spcAft>
              <a:buNone/>
            </a:pPr>
            <a:endParaRPr/>
          </a:p>
          <a:p>
            <a:pPr marL="0" lvl="0" indent="0" algn="l" rtl="0">
              <a:spcBef>
                <a:spcPts val="0"/>
              </a:spcBef>
              <a:spcAft>
                <a:spcPts val="0"/>
              </a:spcAft>
              <a:buNone/>
            </a:pPr>
            <a:r>
              <a:rPr lang="en-US"/>
              <a:t>GLF = ground level fall</a:t>
            </a:r>
            <a:endParaRPr/>
          </a:p>
          <a:p>
            <a:pPr marL="0" lvl="0" indent="0" algn="l" rtl="0">
              <a:spcBef>
                <a:spcPts val="0"/>
              </a:spcBef>
              <a:spcAft>
                <a:spcPts val="0"/>
              </a:spcAft>
              <a:buNone/>
            </a:pPr>
            <a:endParaRPr/>
          </a:p>
          <a:p>
            <a:pPr marL="0" lvl="0" indent="0" algn="l" rtl="0">
              <a:spcBef>
                <a:spcPts val="0"/>
              </a:spcBef>
              <a:spcAft>
                <a:spcPts val="0"/>
              </a:spcAft>
              <a:buNone/>
            </a:pPr>
            <a:r>
              <a:rPr lang="en-US"/>
              <a:t>“Search satisfaction is the tendency to prematurely stop searching after early findings satisfy the reader”</a:t>
            </a:r>
            <a:endParaRPr/>
          </a:p>
          <a:p>
            <a:pPr marL="0" lvl="0" indent="0" algn="l" rtl="0">
              <a:spcBef>
                <a:spcPts val="0"/>
              </a:spcBef>
              <a:spcAft>
                <a:spcPts val="0"/>
              </a:spcAft>
              <a:buNone/>
            </a:pPr>
            <a:r>
              <a:rPr lang="en-US"/>
              <a:t>“Zebra Retreat bias: A reader will not make a rare diagnosis, which is otherwise supported by the available evidence due to a lack of confidence.”</a:t>
            </a:r>
            <a:endParaRPr/>
          </a:p>
          <a:p>
            <a:pPr marL="0" lvl="0" indent="0" algn="l" rtl="0">
              <a:spcBef>
                <a:spcPts val="0"/>
              </a:spcBef>
              <a:spcAft>
                <a:spcPts val="0"/>
              </a:spcAft>
              <a:buNone/>
            </a:pPr>
            <a:endParaRPr/>
          </a:p>
          <a:p>
            <a:pPr marL="0" lvl="0" indent="0" algn="l" rtl="0">
              <a:spcBef>
                <a:spcPts val="0"/>
              </a:spcBef>
              <a:spcAft>
                <a:spcPts val="0"/>
              </a:spcAft>
              <a:buNone/>
            </a:pPr>
            <a:r>
              <a:rPr lang="en-US" u="sng">
                <a:solidFill>
                  <a:schemeClr val="hlink"/>
                </a:solidFill>
                <a:hlinkClick r:id="rId3"/>
              </a:rPr>
              <a:t>https://radiopaedia.org/articles/cognitive-bias-in-diagnostic-radiology?lang=us</a:t>
            </a:r>
            <a:endParaRPr/>
          </a:p>
          <a:p>
            <a:pPr marL="0" lvl="0" indent="0" algn="l" rtl="0">
              <a:spcBef>
                <a:spcPts val="0"/>
              </a:spcBef>
              <a:spcAft>
                <a:spcPts val="0"/>
              </a:spcAft>
              <a:buNone/>
            </a:pPr>
            <a:endParaRPr/>
          </a:p>
          <a:p>
            <a:pPr marL="0" lvl="0" indent="0" algn="l" rtl="0">
              <a:spcBef>
                <a:spcPts val="0"/>
              </a:spcBef>
              <a:spcAft>
                <a:spcPts val="0"/>
              </a:spcAft>
              <a:buNone/>
            </a:pPr>
            <a:r>
              <a:rPr lang="en-US"/>
              <a:t>Obfuscation: The severe tremors made it unclear if the physical exam finding was indeed hyperreflexia, or if it was just a manifestation from the SEVERE tremors</a:t>
            </a:r>
            <a:endParaRPr/>
          </a:p>
          <a:p>
            <a:pPr marL="0" lvl="0" indent="0" algn="l" rtl="0">
              <a:spcBef>
                <a:spcPts val="0"/>
              </a:spcBef>
              <a:spcAft>
                <a:spcPts val="0"/>
              </a:spcAft>
              <a:buNone/>
            </a:pPr>
            <a:r>
              <a:rPr lang="en-US"/>
              <a:t>Compliance: Pt initially refused MR, then could not tolerate, and eventually needed MR under anesthesia, which required NPO status, all delaying imaging</a:t>
            </a:r>
            <a:endParaRPr/>
          </a:p>
          <a:p>
            <a:pPr marL="0" lvl="0" indent="0" algn="l" rtl="0">
              <a:spcBef>
                <a:spcPts val="0"/>
              </a:spcBef>
              <a:spcAft>
                <a:spcPts val="0"/>
              </a:spcAft>
              <a:buNone/>
            </a:pPr>
            <a:endParaRPr/>
          </a:p>
          <a:p>
            <a:pPr marL="0" lvl="0" indent="0" algn="l" rtl="0">
              <a:spcBef>
                <a:spcPts val="0"/>
              </a:spcBef>
              <a:spcAft>
                <a:spcPts val="0"/>
              </a:spcAft>
              <a:buNone/>
            </a:pPr>
            <a:r>
              <a:rPr lang="en-US"/>
              <a:t>SCIWORA: </a:t>
            </a:r>
            <a:r>
              <a:rPr lang="en-US" u="sng">
                <a:solidFill>
                  <a:schemeClr val="hlink"/>
                </a:solidFill>
                <a:hlinkClick r:id="rId4"/>
              </a:rPr>
              <a:t>https://www.uptodate.com/contents/spinal-cord-injury-without-radiographic-abnormality-sciwora-in-children?search=sciwora&amp;source=search_result&amp;selectedTitle=1%7E13&amp;usage_type=default&amp;display_rank=1</a:t>
            </a:r>
            <a:r>
              <a:rPr lang="en-US"/>
              <a:t>  </a:t>
            </a:r>
            <a:endParaRPr/>
          </a:p>
          <a:p>
            <a:pPr marL="0" lvl="0" indent="0" algn="l" rtl="0">
              <a:spcBef>
                <a:spcPts val="0"/>
              </a:spcBef>
              <a:spcAft>
                <a:spcPts val="0"/>
              </a:spcAft>
              <a:buNone/>
            </a:pPr>
            <a:r>
              <a:rPr lang="en-US"/>
              <a:t>sciwora has mostly been described in pediatrics. </a:t>
            </a:r>
            <a:endParaRPr/>
          </a:p>
          <a:p>
            <a:pPr marL="0" lvl="0" indent="0" algn="l" rtl="0">
              <a:spcBef>
                <a:spcPts val="0"/>
              </a:spcBef>
              <a:spcAft>
                <a:spcPts val="0"/>
              </a:spcAft>
              <a:buNone/>
            </a:pPr>
            <a:endParaRPr/>
          </a:p>
          <a:p>
            <a:pPr marL="0" lvl="0" indent="0" algn="l" rtl="0">
              <a:spcBef>
                <a:spcPts val="0"/>
              </a:spcBef>
              <a:spcAft>
                <a:spcPts val="0"/>
              </a:spcAft>
              <a:buNone/>
            </a:pPr>
            <a:r>
              <a:rPr lang="en-US"/>
              <a:t>SCIWORA is a terrible name. “radiographic abnormality” does not include MR for some dumb reason. Is also only related to “abnormalities” that could “typically” lead to an SCI, so the severe degenerative changes do not count towards an abnormality, which again shows that SCIWORA is a terrible acronym.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u="sng">
                <a:solidFill>
                  <a:schemeClr val="hlink"/>
                </a:solidFill>
                <a:hlinkClick r:id="rId5"/>
              </a:rPr>
              <a:t>https://pmc.ncbi.nlm.nih.gov/articles/PMC8950331/#B1-jpm-12-00473</a:t>
            </a:r>
            <a:r>
              <a:rPr lang="en-US"/>
              <a:t>  (great article!)</a:t>
            </a:r>
            <a:endParaRPr/>
          </a:p>
          <a:p>
            <a:pPr marL="0" lvl="0" indent="0" algn="l" rtl="0">
              <a:spcBef>
                <a:spcPts val="0"/>
              </a:spcBef>
              <a:spcAft>
                <a:spcPts val="0"/>
              </a:spcAft>
              <a:buNone/>
            </a:pPr>
            <a:r>
              <a:rPr lang="en-US" u="sng">
                <a:solidFill>
                  <a:schemeClr val="hlink"/>
                </a:solidFill>
                <a:hlinkClick r:id="rId6"/>
              </a:rPr>
              <a:t>https://pubmed.ncbi.nlm.nih.gov/31363857/</a:t>
            </a:r>
            <a:r>
              <a:rPr lang="en-US"/>
              <a:t> (another great article!)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7" name="Google Shape;87;g34e5512c6aa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700" cy="7640400"/>
          </a:xfrm>
          <a:prstGeom prst="rect">
            <a:avLst/>
          </a:prstGeom>
          <a:noFill/>
          <a:ln>
            <a:noFill/>
          </a:ln>
        </p:spPr>
        <p:txBody>
          <a:bodyPr spcFirstLastPara="1" wrap="square" lIns="66025" tIns="33000" rIns="66025" bIns="33000" anchor="b" anchorCtr="0">
            <a:normAutofit/>
          </a:bodyPr>
          <a:lstStyle>
            <a:lvl1pPr lvl="0" algn="ctr">
              <a:lnSpc>
                <a:spcPct val="90000"/>
              </a:lnSpc>
              <a:spcBef>
                <a:spcPts val="0"/>
              </a:spcBef>
              <a:spcAft>
                <a:spcPts val="0"/>
              </a:spcAft>
              <a:buClr>
                <a:schemeClr val="dk1"/>
              </a:buClr>
              <a:buSzPts val="20800"/>
              <a:buFont typeface="Calibri"/>
              <a:buNone/>
              <a:defRPr sz="20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7" name="Google Shape;17;p7"/>
          <p:cNvSpPr txBox="1">
            <a:spLocks noGrp="1"/>
          </p:cNvSpPr>
          <p:nvPr>
            <p:ph type="subTitle" idx="1"/>
          </p:nvPr>
        </p:nvSpPr>
        <p:spPr>
          <a:xfrm>
            <a:off x="4114800" y="11526521"/>
            <a:ext cx="24688800" cy="5298300"/>
          </a:xfrm>
          <a:prstGeom prst="rect">
            <a:avLst/>
          </a:prstGeom>
          <a:noFill/>
          <a:ln>
            <a:noFill/>
          </a:ln>
        </p:spPr>
        <p:txBody>
          <a:bodyPr spcFirstLastPara="1" wrap="square" lIns="66025" tIns="33000" rIns="66025" bIns="33000" anchor="t" anchorCtr="0">
            <a:normAutofit/>
          </a:bodyPr>
          <a:lstStyle>
            <a:lvl1pPr lvl="0" algn="ctr">
              <a:lnSpc>
                <a:spcPct val="90000"/>
              </a:lnSpc>
              <a:spcBef>
                <a:spcPts val="3500"/>
              </a:spcBef>
              <a:spcAft>
                <a:spcPts val="0"/>
              </a:spcAft>
              <a:buClr>
                <a:schemeClr val="dk1"/>
              </a:buClr>
              <a:buSzPts val="8300"/>
              <a:buNone/>
              <a:defRPr sz="8300"/>
            </a:lvl1pPr>
            <a:lvl2pPr lvl="1" algn="ctr">
              <a:lnSpc>
                <a:spcPct val="90000"/>
              </a:lnSpc>
              <a:spcBef>
                <a:spcPts val="1700"/>
              </a:spcBef>
              <a:spcAft>
                <a:spcPts val="0"/>
              </a:spcAft>
              <a:buClr>
                <a:schemeClr val="dk1"/>
              </a:buClr>
              <a:buSzPts val="6900"/>
              <a:buNone/>
              <a:defRPr sz="6900"/>
            </a:lvl2pPr>
            <a:lvl3pPr lvl="2" algn="ctr">
              <a:lnSpc>
                <a:spcPct val="90000"/>
              </a:lnSpc>
              <a:spcBef>
                <a:spcPts val="1700"/>
              </a:spcBef>
              <a:spcAft>
                <a:spcPts val="0"/>
              </a:spcAft>
              <a:buClr>
                <a:schemeClr val="dk1"/>
              </a:buClr>
              <a:buSzPts val="6200"/>
              <a:buNone/>
              <a:defRPr sz="6200"/>
            </a:lvl3pPr>
            <a:lvl4pPr lvl="3" algn="ctr">
              <a:lnSpc>
                <a:spcPct val="90000"/>
              </a:lnSpc>
              <a:spcBef>
                <a:spcPts val="1700"/>
              </a:spcBef>
              <a:spcAft>
                <a:spcPts val="0"/>
              </a:spcAft>
              <a:buClr>
                <a:schemeClr val="dk1"/>
              </a:buClr>
              <a:buSzPts val="5500"/>
              <a:buNone/>
              <a:defRPr sz="5500"/>
            </a:lvl4pPr>
            <a:lvl5pPr lvl="4" algn="ctr">
              <a:lnSpc>
                <a:spcPct val="90000"/>
              </a:lnSpc>
              <a:spcBef>
                <a:spcPts val="1700"/>
              </a:spcBef>
              <a:spcAft>
                <a:spcPts val="0"/>
              </a:spcAft>
              <a:buClr>
                <a:schemeClr val="dk1"/>
              </a:buClr>
              <a:buSzPts val="5500"/>
              <a:buNone/>
              <a:defRPr sz="5500"/>
            </a:lvl5pPr>
            <a:lvl6pPr lvl="5" algn="ctr">
              <a:lnSpc>
                <a:spcPct val="90000"/>
              </a:lnSpc>
              <a:spcBef>
                <a:spcPts val="1700"/>
              </a:spcBef>
              <a:spcAft>
                <a:spcPts val="0"/>
              </a:spcAft>
              <a:buClr>
                <a:schemeClr val="dk1"/>
              </a:buClr>
              <a:buSzPts val="5500"/>
              <a:buNone/>
              <a:defRPr sz="5500"/>
            </a:lvl6pPr>
            <a:lvl7pPr lvl="6" algn="ctr">
              <a:lnSpc>
                <a:spcPct val="90000"/>
              </a:lnSpc>
              <a:spcBef>
                <a:spcPts val="1700"/>
              </a:spcBef>
              <a:spcAft>
                <a:spcPts val="0"/>
              </a:spcAft>
              <a:buClr>
                <a:schemeClr val="dk1"/>
              </a:buClr>
              <a:buSzPts val="5500"/>
              <a:buNone/>
              <a:defRPr sz="5500"/>
            </a:lvl7pPr>
            <a:lvl8pPr lvl="7" algn="ctr">
              <a:lnSpc>
                <a:spcPct val="90000"/>
              </a:lnSpc>
              <a:spcBef>
                <a:spcPts val="1700"/>
              </a:spcBef>
              <a:spcAft>
                <a:spcPts val="0"/>
              </a:spcAft>
              <a:buClr>
                <a:schemeClr val="dk1"/>
              </a:buClr>
              <a:buSzPts val="5500"/>
              <a:buNone/>
              <a:defRPr sz="5500"/>
            </a:lvl8pPr>
            <a:lvl9pPr lvl="8" algn="ctr">
              <a:lnSpc>
                <a:spcPct val="90000"/>
              </a:lnSpc>
              <a:spcBef>
                <a:spcPts val="1700"/>
              </a:spcBef>
              <a:spcAft>
                <a:spcPts val="0"/>
              </a:spcAft>
              <a:buClr>
                <a:schemeClr val="dk1"/>
              </a:buClr>
              <a:buSzPts val="5500"/>
              <a:buNone/>
              <a:defRPr sz="5500"/>
            </a:lvl9pPr>
          </a:lstStyle>
          <a:p>
            <a:endParaRPr/>
          </a:p>
        </p:txBody>
      </p:sp>
      <p:sp>
        <p:nvSpPr>
          <p:cNvPr id="18" name="Google Shape;18;p7"/>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19" name="Google Shape;19;p7"/>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0" name="Google Shape;20;p7"/>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3" name="Google Shape;23;p8"/>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24" name="Google Shape;24;p8"/>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5" name="Google Shape;25;p8"/>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6" name="Google Shape;26;p8"/>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000" cy="9128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20800"/>
              <a:buFont typeface="Calibri"/>
              <a:buNone/>
              <a:defRPr sz="20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9" name="Google Shape;29;p9"/>
          <p:cNvSpPr txBox="1">
            <a:spLocks noGrp="1"/>
          </p:cNvSpPr>
          <p:nvPr>
            <p:ph type="body" idx="1"/>
          </p:nvPr>
        </p:nvSpPr>
        <p:spPr>
          <a:xfrm>
            <a:off x="2245996" y="14686286"/>
            <a:ext cx="28392000" cy="48006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8300"/>
              <a:buNone/>
              <a:defRPr sz="8300">
                <a:solidFill>
                  <a:schemeClr val="dk1"/>
                </a:solidFill>
              </a:defRPr>
            </a:lvl1pPr>
            <a:lvl2pPr marL="914400" lvl="1" indent="-228600" algn="l">
              <a:lnSpc>
                <a:spcPct val="90000"/>
              </a:lnSpc>
              <a:spcBef>
                <a:spcPts val="1700"/>
              </a:spcBef>
              <a:spcAft>
                <a:spcPts val="0"/>
              </a:spcAft>
              <a:buClr>
                <a:srgbClr val="888888"/>
              </a:buClr>
              <a:buSzPts val="6900"/>
              <a:buNone/>
              <a:defRPr sz="6900">
                <a:solidFill>
                  <a:srgbClr val="888888"/>
                </a:solidFill>
              </a:defRPr>
            </a:lvl2pPr>
            <a:lvl3pPr marL="1371600" lvl="2" indent="-228600" algn="l">
              <a:lnSpc>
                <a:spcPct val="90000"/>
              </a:lnSpc>
              <a:spcBef>
                <a:spcPts val="1700"/>
              </a:spcBef>
              <a:spcAft>
                <a:spcPts val="0"/>
              </a:spcAft>
              <a:buClr>
                <a:srgbClr val="888888"/>
              </a:buClr>
              <a:buSzPts val="6200"/>
              <a:buNone/>
              <a:defRPr sz="6200">
                <a:solidFill>
                  <a:srgbClr val="888888"/>
                </a:solidFill>
              </a:defRPr>
            </a:lvl3pPr>
            <a:lvl4pPr marL="1828800" lvl="3" indent="-228600" algn="l">
              <a:lnSpc>
                <a:spcPct val="90000"/>
              </a:lnSpc>
              <a:spcBef>
                <a:spcPts val="1700"/>
              </a:spcBef>
              <a:spcAft>
                <a:spcPts val="0"/>
              </a:spcAft>
              <a:buClr>
                <a:srgbClr val="888888"/>
              </a:buClr>
              <a:buSzPts val="5500"/>
              <a:buNone/>
              <a:defRPr sz="5500">
                <a:solidFill>
                  <a:srgbClr val="888888"/>
                </a:solidFill>
              </a:defRPr>
            </a:lvl4pPr>
            <a:lvl5pPr marL="2286000" lvl="4" indent="-228600" algn="l">
              <a:lnSpc>
                <a:spcPct val="90000"/>
              </a:lnSpc>
              <a:spcBef>
                <a:spcPts val="1700"/>
              </a:spcBef>
              <a:spcAft>
                <a:spcPts val="0"/>
              </a:spcAft>
              <a:buClr>
                <a:srgbClr val="888888"/>
              </a:buClr>
              <a:buSzPts val="5500"/>
              <a:buNone/>
              <a:defRPr sz="5500">
                <a:solidFill>
                  <a:srgbClr val="888888"/>
                </a:solidFill>
              </a:defRPr>
            </a:lvl5pPr>
            <a:lvl6pPr marL="2743200" lvl="5" indent="-228600" algn="l">
              <a:lnSpc>
                <a:spcPct val="90000"/>
              </a:lnSpc>
              <a:spcBef>
                <a:spcPts val="1700"/>
              </a:spcBef>
              <a:spcAft>
                <a:spcPts val="0"/>
              </a:spcAft>
              <a:buClr>
                <a:srgbClr val="888888"/>
              </a:buClr>
              <a:buSzPts val="5500"/>
              <a:buNone/>
              <a:defRPr sz="5500">
                <a:solidFill>
                  <a:srgbClr val="888888"/>
                </a:solidFill>
              </a:defRPr>
            </a:lvl6pPr>
            <a:lvl7pPr marL="3200400" lvl="6" indent="-228600" algn="l">
              <a:lnSpc>
                <a:spcPct val="90000"/>
              </a:lnSpc>
              <a:spcBef>
                <a:spcPts val="1700"/>
              </a:spcBef>
              <a:spcAft>
                <a:spcPts val="0"/>
              </a:spcAft>
              <a:buClr>
                <a:srgbClr val="888888"/>
              </a:buClr>
              <a:buSzPts val="5500"/>
              <a:buNone/>
              <a:defRPr sz="5500">
                <a:solidFill>
                  <a:srgbClr val="888888"/>
                </a:solidFill>
              </a:defRPr>
            </a:lvl7pPr>
            <a:lvl8pPr marL="3657600" lvl="7" indent="-228600" algn="l">
              <a:lnSpc>
                <a:spcPct val="90000"/>
              </a:lnSpc>
              <a:spcBef>
                <a:spcPts val="1700"/>
              </a:spcBef>
              <a:spcAft>
                <a:spcPts val="0"/>
              </a:spcAft>
              <a:buClr>
                <a:srgbClr val="888888"/>
              </a:buClr>
              <a:buSzPts val="5500"/>
              <a:buNone/>
              <a:defRPr sz="5500">
                <a:solidFill>
                  <a:srgbClr val="888888"/>
                </a:solidFill>
              </a:defRPr>
            </a:lvl8pPr>
            <a:lvl9pPr marL="4114800" lvl="8" indent="-228600" algn="l">
              <a:lnSpc>
                <a:spcPct val="90000"/>
              </a:lnSpc>
              <a:spcBef>
                <a:spcPts val="1700"/>
              </a:spcBef>
              <a:spcAft>
                <a:spcPts val="0"/>
              </a:spcAft>
              <a:buClr>
                <a:srgbClr val="888888"/>
              </a:buClr>
              <a:buSzPts val="5500"/>
              <a:buNone/>
              <a:defRPr sz="5500">
                <a:solidFill>
                  <a:srgbClr val="888888"/>
                </a:solidFill>
              </a:defRPr>
            </a:lvl9pPr>
          </a:lstStyle>
          <a:p>
            <a:endParaRPr/>
          </a:p>
        </p:txBody>
      </p:sp>
      <p:sp>
        <p:nvSpPr>
          <p:cNvPr id="30" name="Google Shape;30;p9"/>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1" name="Google Shape;31;p9"/>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2" name="Google Shape;32;p9"/>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5" name="Google Shape;35;p10"/>
          <p:cNvSpPr txBox="1">
            <a:spLocks noGrp="1"/>
          </p:cNvSpPr>
          <p:nvPr>
            <p:ph type="body" idx="1"/>
          </p:nvPr>
        </p:nvSpPr>
        <p:spPr>
          <a:xfrm>
            <a:off x="22631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6" name="Google Shape;36;p10"/>
          <p:cNvSpPr txBox="1">
            <a:spLocks noGrp="1"/>
          </p:cNvSpPr>
          <p:nvPr>
            <p:ph type="body" idx="2"/>
          </p:nvPr>
        </p:nvSpPr>
        <p:spPr>
          <a:xfrm>
            <a:off x="166649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7" name="Google Shape;37;p10"/>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8" name="Google Shape;38;p10"/>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9" name="Google Shape;39;p10"/>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2" name="Google Shape;42;p11"/>
          <p:cNvSpPr txBox="1">
            <a:spLocks noGrp="1"/>
          </p:cNvSpPr>
          <p:nvPr>
            <p:ph type="body" idx="1"/>
          </p:nvPr>
        </p:nvSpPr>
        <p:spPr>
          <a:xfrm>
            <a:off x="2267432" y="5379721"/>
            <a:ext cx="13926000" cy="26367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3" name="Google Shape;43;p11"/>
          <p:cNvSpPr txBox="1">
            <a:spLocks noGrp="1"/>
          </p:cNvSpPr>
          <p:nvPr>
            <p:ph type="body" idx="2"/>
          </p:nvPr>
        </p:nvSpPr>
        <p:spPr>
          <a:xfrm>
            <a:off x="2267432" y="8016240"/>
            <a:ext cx="139260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4" name="Google Shape;44;p11"/>
          <p:cNvSpPr txBox="1">
            <a:spLocks noGrp="1"/>
          </p:cNvSpPr>
          <p:nvPr>
            <p:ph type="body" idx="3"/>
          </p:nvPr>
        </p:nvSpPr>
        <p:spPr>
          <a:xfrm>
            <a:off x="16664941" y="5379721"/>
            <a:ext cx="13994700" cy="26367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5" name="Google Shape;45;p11"/>
          <p:cNvSpPr txBox="1">
            <a:spLocks noGrp="1"/>
          </p:cNvSpPr>
          <p:nvPr>
            <p:ph type="body" idx="4"/>
          </p:nvPr>
        </p:nvSpPr>
        <p:spPr>
          <a:xfrm>
            <a:off x="16664941" y="8016240"/>
            <a:ext cx="139947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6" name="Google Shape;46;p11"/>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7" name="Google Shape;47;p11"/>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8" name="Google Shape;48;p11"/>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51" name="Google Shape;51;p12"/>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2" name="Google Shape;52;p12"/>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3" name="Google Shape;53;p12"/>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6" name="Google Shape;56;p13"/>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7" name="Google Shape;57;p13"/>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0" name="Google Shape;60;p14"/>
          <p:cNvSpPr txBox="1">
            <a:spLocks noGrp="1"/>
          </p:cNvSpPr>
          <p:nvPr>
            <p:ph type="body" idx="1"/>
          </p:nvPr>
        </p:nvSpPr>
        <p:spPr>
          <a:xfrm>
            <a:off x="13994608" y="3159765"/>
            <a:ext cx="16665000" cy="15595500"/>
          </a:xfrm>
          <a:prstGeom prst="rect">
            <a:avLst/>
          </a:prstGeom>
          <a:noFill/>
          <a:ln>
            <a:noFill/>
          </a:ln>
        </p:spPr>
        <p:txBody>
          <a:bodyPr spcFirstLastPara="1" wrap="square" lIns="66025" tIns="33000" rIns="66025" bIns="33000" anchor="t" anchorCtr="0">
            <a:normAutofit/>
          </a:bodyPr>
          <a:lstStyle>
            <a:lvl1pPr marL="457200" lvl="0" indent="-933450" algn="l">
              <a:lnSpc>
                <a:spcPct val="90000"/>
              </a:lnSpc>
              <a:spcBef>
                <a:spcPts val="3500"/>
              </a:spcBef>
              <a:spcAft>
                <a:spcPts val="0"/>
              </a:spcAft>
              <a:buClr>
                <a:schemeClr val="dk1"/>
              </a:buClr>
              <a:buSzPts val="11100"/>
              <a:buChar char="•"/>
              <a:defRPr sz="11100"/>
            </a:lvl1pPr>
            <a:lvl2pPr marL="914400" lvl="1" indent="-844550" algn="l">
              <a:lnSpc>
                <a:spcPct val="90000"/>
              </a:lnSpc>
              <a:spcBef>
                <a:spcPts val="1700"/>
              </a:spcBef>
              <a:spcAft>
                <a:spcPts val="0"/>
              </a:spcAft>
              <a:buClr>
                <a:schemeClr val="dk1"/>
              </a:buClr>
              <a:buSzPts val="9700"/>
              <a:buChar char="•"/>
              <a:defRPr sz="9700"/>
            </a:lvl2pPr>
            <a:lvl3pPr marL="1371600" lvl="2" indent="-755650" algn="l">
              <a:lnSpc>
                <a:spcPct val="90000"/>
              </a:lnSpc>
              <a:spcBef>
                <a:spcPts val="1700"/>
              </a:spcBef>
              <a:spcAft>
                <a:spcPts val="0"/>
              </a:spcAft>
              <a:buClr>
                <a:schemeClr val="dk1"/>
              </a:buClr>
              <a:buSzPts val="8300"/>
              <a:buChar char="•"/>
              <a:defRPr sz="8300"/>
            </a:lvl3pPr>
            <a:lvl4pPr marL="1828800" lvl="3" indent="-666750" algn="l">
              <a:lnSpc>
                <a:spcPct val="90000"/>
              </a:lnSpc>
              <a:spcBef>
                <a:spcPts val="1700"/>
              </a:spcBef>
              <a:spcAft>
                <a:spcPts val="0"/>
              </a:spcAft>
              <a:buClr>
                <a:schemeClr val="dk1"/>
              </a:buClr>
              <a:buSzPts val="6900"/>
              <a:buChar char="•"/>
              <a:defRPr sz="6900"/>
            </a:lvl4pPr>
            <a:lvl5pPr marL="2286000" lvl="4" indent="-666750" algn="l">
              <a:lnSpc>
                <a:spcPct val="90000"/>
              </a:lnSpc>
              <a:spcBef>
                <a:spcPts val="1700"/>
              </a:spcBef>
              <a:spcAft>
                <a:spcPts val="0"/>
              </a:spcAft>
              <a:buClr>
                <a:schemeClr val="dk1"/>
              </a:buClr>
              <a:buSzPts val="6900"/>
              <a:buChar char="•"/>
              <a:defRPr sz="6900"/>
            </a:lvl5pPr>
            <a:lvl6pPr marL="2743200" lvl="5" indent="-666750" algn="l">
              <a:lnSpc>
                <a:spcPct val="90000"/>
              </a:lnSpc>
              <a:spcBef>
                <a:spcPts val="1700"/>
              </a:spcBef>
              <a:spcAft>
                <a:spcPts val="0"/>
              </a:spcAft>
              <a:buClr>
                <a:schemeClr val="dk1"/>
              </a:buClr>
              <a:buSzPts val="6900"/>
              <a:buChar char="•"/>
              <a:defRPr sz="6900"/>
            </a:lvl6pPr>
            <a:lvl7pPr marL="3200400" lvl="6" indent="-666750" algn="l">
              <a:lnSpc>
                <a:spcPct val="90000"/>
              </a:lnSpc>
              <a:spcBef>
                <a:spcPts val="1700"/>
              </a:spcBef>
              <a:spcAft>
                <a:spcPts val="0"/>
              </a:spcAft>
              <a:buClr>
                <a:schemeClr val="dk1"/>
              </a:buClr>
              <a:buSzPts val="6900"/>
              <a:buChar char="•"/>
              <a:defRPr sz="6900"/>
            </a:lvl7pPr>
            <a:lvl8pPr marL="3657600" lvl="7" indent="-666750" algn="l">
              <a:lnSpc>
                <a:spcPct val="90000"/>
              </a:lnSpc>
              <a:spcBef>
                <a:spcPts val="1700"/>
              </a:spcBef>
              <a:spcAft>
                <a:spcPts val="0"/>
              </a:spcAft>
              <a:buClr>
                <a:schemeClr val="dk1"/>
              </a:buClr>
              <a:buSzPts val="6900"/>
              <a:buChar char="•"/>
              <a:defRPr sz="6900"/>
            </a:lvl8pPr>
            <a:lvl9pPr marL="4114800" lvl="8" indent="-666750" algn="l">
              <a:lnSpc>
                <a:spcPct val="90000"/>
              </a:lnSpc>
              <a:spcBef>
                <a:spcPts val="1700"/>
              </a:spcBef>
              <a:spcAft>
                <a:spcPts val="0"/>
              </a:spcAft>
              <a:buClr>
                <a:schemeClr val="dk1"/>
              </a:buClr>
              <a:buSzPts val="6900"/>
              <a:buChar char="•"/>
              <a:defRPr sz="6900"/>
            </a:lvl9pPr>
          </a:lstStyle>
          <a:p>
            <a:endParaRPr/>
          </a:p>
        </p:txBody>
      </p:sp>
      <p:sp>
        <p:nvSpPr>
          <p:cNvPr id="61" name="Google Shape;61;p14"/>
          <p:cNvSpPr txBox="1">
            <a:spLocks noGrp="1"/>
          </p:cNvSpPr>
          <p:nvPr>
            <p:ph type="body" idx="2"/>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2" name="Google Shape;62;p14"/>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63" name="Google Shape;63;p14"/>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64" name="Google Shape;64;p14"/>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7" name="Google Shape;67;p15"/>
          <p:cNvSpPr>
            <a:spLocks noGrp="1"/>
          </p:cNvSpPr>
          <p:nvPr>
            <p:ph type="pic" idx="2"/>
          </p:nvPr>
        </p:nvSpPr>
        <p:spPr>
          <a:xfrm>
            <a:off x="13994608" y="3159765"/>
            <a:ext cx="16665000" cy="15595500"/>
          </a:xfrm>
          <a:prstGeom prst="rect">
            <a:avLst/>
          </a:prstGeom>
          <a:noFill/>
          <a:ln>
            <a:noFill/>
          </a:ln>
        </p:spPr>
      </p:sp>
      <p:sp>
        <p:nvSpPr>
          <p:cNvPr id="68" name="Google Shape;68;p15"/>
          <p:cNvSpPr txBox="1">
            <a:spLocks noGrp="1"/>
          </p:cNvSpPr>
          <p:nvPr>
            <p:ph type="body" idx="1"/>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9" name="Google Shape;69;p15"/>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0" name="Google Shape;70;p15"/>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1" name="Google Shape;71;p15"/>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4" name="Google Shape;74;p16"/>
          <p:cNvSpPr txBox="1">
            <a:spLocks noGrp="1"/>
          </p:cNvSpPr>
          <p:nvPr>
            <p:ph type="body" idx="1"/>
          </p:nvPr>
        </p:nvSpPr>
        <p:spPr>
          <a:xfrm rot="5400000">
            <a:off x="9497160" y="-1391900"/>
            <a:ext cx="13924200" cy="283920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75" name="Google Shape;75;p16"/>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6" name="Google Shape;76;p16"/>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7" name="Google Shape;77;p16"/>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12" y="6918350"/>
            <a:ext cx="18597900" cy="70980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80" name="Google Shape;80;p17"/>
          <p:cNvSpPr txBox="1">
            <a:spLocks noGrp="1"/>
          </p:cNvSpPr>
          <p:nvPr>
            <p:ph type="body" idx="1"/>
          </p:nvPr>
        </p:nvSpPr>
        <p:spPr>
          <a:xfrm rot="5400000">
            <a:off x="3405452" y="26000"/>
            <a:ext cx="18597900" cy="208827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81" name="Google Shape;81;p17"/>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82" name="Google Shape;82;p17"/>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83" name="Google Shape;83;p17"/>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marR="0" lvl="0" algn="l" rtl="0">
              <a:lnSpc>
                <a:spcPct val="90000"/>
              </a:lnSpc>
              <a:spcBef>
                <a:spcPts val="0"/>
              </a:spcBef>
              <a:spcAft>
                <a:spcPts val="0"/>
              </a:spcAft>
              <a:buClr>
                <a:schemeClr val="dk1"/>
              </a:buClr>
              <a:buSzPts val="15300"/>
              <a:buFont typeface="Calibri"/>
              <a:buNone/>
              <a:defRPr sz="15300" b="0" i="0" u="none" strike="noStrike" cap="none">
                <a:solidFill>
                  <a:schemeClr val="dk1"/>
                </a:solidFill>
                <a:latin typeface="Calibri"/>
                <a:ea typeface="Calibri"/>
                <a:cs typeface="Calibri"/>
                <a:sym typeface="Calibri"/>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11" name="Google Shape;11;p6"/>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marR="0" lvl="0" indent="-844550" algn="l" rtl="0">
              <a:lnSpc>
                <a:spcPct val="90000"/>
              </a:lnSpc>
              <a:spcBef>
                <a:spcPts val="3500"/>
              </a:spcBef>
              <a:spcAft>
                <a:spcPts val="0"/>
              </a:spcAft>
              <a:buClr>
                <a:schemeClr val="dk1"/>
              </a:buClr>
              <a:buSzPts val="9700"/>
              <a:buFont typeface="Arial"/>
              <a:buChar char="•"/>
              <a:defRPr sz="9700" b="0" i="0" u="none" strike="noStrike" cap="none">
                <a:solidFill>
                  <a:schemeClr val="dk1"/>
                </a:solidFill>
                <a:latin typeface="Calibri"/>
                <a:ea typeface="Calibri"/>
                <a:cs typeface="Calibri"/>
                <a:sym typeface="Calibri"/>
              </a:defRPr>
            </a:lvl1pPr>
            <a:lvl2pPr marL="914400" marR="0" lvl="1" indent="-755650" algn="l" rtl="0">
              <a:lnSpc>
                <a:spcPct val="90000"/>
              </a:lnSpc>
              <a:spcBef>
                <a:spcPts val="1700"/>
              </a:spcBef>
              <a:spcAft>
                <a:spcPts val="0"/>
              </a:spcAft>
              <a:buClr>
                <a:schemeClr val="dk1"/>
              </a:buClr>
              <a:buSzPts val="8300"/>
              <a:buFont typeface="Arial"/>
              <a:buChar char="•"/>
              <a:defRPr sz="8300" b="0" i="0" u="none" strike="noStrike" cap="none">
                <a:solidFill>
                  <a:schemeClr val="dk1"/>
                </a:solidFill>
                <a:latin typeface="Calibri"/>
                <a:ea typeface="Calibri"/>
                <a:cs typeface="Calibri"/>
                <a:sym typeface="Calibri"/>
              </a:defRPr>
            </a:lvl2pPr>
            <a:lvl3pPr marL="1371600" marR="0" lvl="2" indent="-666750" algn="l" rtl="0">
              <a:lnSpc>
                <a:spcPct val="90000"/>
              </a:lnSpc>
              <a:spcBef>
                <a:spcPts val="170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3pPr>
            <a:lvl4pPr marL="1828800" marR="0" lvl="3"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4pPr>
            <a:lvl5pPr marL="2286000" marR="0" lvl="4"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5pPr>
            <a:lvl6pPr marL="2743200" marR="0" lvl="5"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6pPr>
            <a:lvl7pPr marL="3200400" marR="0" lvl="6"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7pPr>
            <a:lvl8pPr marL="3657600" marR="0" lvl="7"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8pPr>
            <a:lvl9pPr marL="4114800" marR="0" lvl="8"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400" cy="1168500"/>
          </a:xfrm>
          <a:prstGeom prst="rect">
            <a:avLst/>
          </a:prstGeom>
          <a:noFill/>
          <a:ln>
            <a:noFill/>
          </a:ln>
        </p:spPr>
        <p:txBody>
          <a:bodyPr spcFirstLastPara="1" wrap="square" lIns="66025" tIns="33000" rIns="66025" bIns="33000" anchor="ctr" anchorCtr="0">
            <a:noAutofit/>
          </a:bodyPr>
          <a:lstStyle>
            <a:lvl1pPr marR="0" lvl="0" algn="l" rtl="0">
              <a:spcBef>
                <a:spcPts val="0"/>
              </a:spcBef>
              <a:spcAft>
                <a:spcPts val="0"/>
              </a:spcAft>
              <a:buSzPts val="1000"/>
              <a:buNone/>
              <a:defRPr sz="4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10200" cy="1168500"/>
          </a:xfrm>
          <a:prstGeom prst="rect">
            <a:avLst/>
          </a:prstGeom>
          <a:noFill/>
          <a:ln>
            <a:noFill/>
          </a:ln>
        </p:spPr>
        <p:txBody>
          <a:bodyPr spcFirstLastPara="1" wrap="square" lIns="66025" tIns="33000" rIns="66025" bIns="33000" anchor="ctr" anchorCtr="0">
            <a:noAutofit/>
          </a:bodyPr>
          <a:lstStyle>
            <a:lvl1pPr marR="0" lvl="0" algn="ctr" rtl="0">
              <a:spcBef>
                <a:spcPts val="0"/>
              </a:spcBef>
              <a:spcAft>
                <a:spcPts val="0"/>
              </a:spcAft>
              <a:buSzPts val="1000"/>
              <a:buNone/>
              <a:defRPr sz="4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000"/>
              <a:buNone/>
              <a:defRPr sz="52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400" cy="1168500"/>
          </a:xfrm>
          <a:prstGeom prst="rect">
            <a:avLst/>
          </a:prstGeom>
          <a:noFill/>
          <a:ln>
            <a:noFill/>
          </a:ln>
        </p:spPr>
        <p:txBody>
          <a:bodyPr spcFirstLastPara="1" wrap="square" lIns="66025" tIns="33000" rIns="66025" bIns="33000" anchor="ctr" anchorCtr="0">
            <a:noAutofit/>
          </a:bodyPr>
          <a:lstStyle>
            <a:lvl1pPr marL="0" marR="0" lvl="0" indent="0" algn="r" rtl="0">
              <a:spcBef>
                <a:spcPts val="0"/>
              </a:spcBef>
              <a:buNone/>
              <a:defRPr sz="4200" b="0" i="0" u="none" strike="noStrike" cap="none">
                <a:solidFill>
                  <a:srgbClr val="888888"/>
                </a:solidFill>
                <a:latin typeface="Calibri"/>
                <a:ea typeface="Calibri"/>
                <a:cs typeface="Calibri"/>
                <a:sym typeface="Calibri"/>
              </a:defRPr>
            </a:lvl1pPr>
            <a:lvl2pPr marL="0" marR="0" lvl="1" indent="0" algn="r" rtl="0">
              <a:spcBef>
                <a:spcPts val="0"/>
              </a:spcBef>
              <a:buNone/>
              <a:defRPr sz="4200" b="0" i="0" u="none" strike="noStrike" cap="none">
                <a:solidFill>
                  <a:srgbClr val="888888"/>
                </a:solidFill>
                <a:latin typeface="Calibri"/>
                <a:ea typeface="Calibri"/>
                <a:cs typeface="Calibri"/>
                <a:sym typeface="Calibri"/>
              </a:defRPr>
            </a:lvl2pPr>
            <a:lvl3pPr marL="0" marR="0" lvl="2" indent="0" algn="r" rtl="0">
              <a:spcBef>
                <a:spcPts val="0"/>
              </a:spcBef>
              <a:buNone/>
              <a:defRPr sz="4200" b="0" i="0" u="none" strike="noStrike" cap="none">
                <a:solidFill>
                  <a:srgbClr val="888888"/>
                </a:solidFill>
                <a:latin typeface="Calibri"/>
                <a:ea typeface="Calibri"/>
                <a:cs typeface="Calibri"/>
                <a:sym typeface="Calibri"/>
              </a:defRPr>
            </a:lvl3pPr>
            <a:lvl4pPr marL="0" marR="0" lvl="3" indent="0" algn="r" rtl="0">
              <a:spcBef>
                <a:spcPts val="0"/>
              </a:spcBef>
              <a:buNone/>
              <a:defRPr sz="4200" b="0" i="0" u="none" strike="noStrike" cap="none">
                <a:solidFill>
                  <a:srgbClr val="888888"/>
                </a:solidFill>
                <a:latin typeface="Calibri"/>
                <a:ea typeface="Calibri"/>
                <a:cs typeface="Calibri"/>
                <a:sym typeface="Calibri"/>
              </a:defRPr>
            </a:lvl4pPr>
            <a:lvl5pPr marL="0" marR="0" lvl="4" indent="0" algn="r" rtl="0">
              <a:spcBef>
                <a:spcPts val="0"/>
              </a:spcBef>
              <a:buNone/>
              <a:defRPr sz="4200" b="0" i="0" u="none" strike="noStrike" cap="none">
                <a:solidFill>
                  <a:srgbClr val="888888"/>
                </a:solidFill>
                <a:latin typeface="Calibri"/>
                <a:ea typeface="Calibri"/>
                <a:cs typeface="Calibri"/>
                <a:sym typeface="Calibri"/>
              </a:defRPr>
            </a:lvl5pPr>
            <a:lvl6pPr marL="0" marR="0" lvl="5" indent="0" algn="r" rtl="0">
              <a:spcBef>
                <a:spcPts val="0"/>
              </a:spcBef>
              <a:buNone/>
              <a:defRPr sz="4200" b="0" i="0" u="none" strike="noStrike" cap="none">
                <a:solidFill>
                  <a:srgbClr val="888888"/>
                </a:solidFill>
                <a:latin typeface="Calibri"/>
                <a:ea typeface="Calibri"/>
                <a:cs typeface="Calibri"/>
                <a:sym typeface="Calibri"/>
              </a:defRPr>
            </a:lvl6pPr>
            <a:lvl7pPr marL="0" marR="0" lvl="6" indent="0" algn="r" rtl="0">
              <a:spcBef>
                <a:spcPts val="0"/>
              </a:spcBef>
              <a:buNone/>
              <a:defRPr sz="4200" b="0" i="0" u="none" strike="noStrike" cap="none">
                <a:solidFill>
                  <a:srgbClr val="888888"/>
                </a:solidFill>
                <a:latin typeface="Calibri"/>
                <a:ea typeface="Calibri"/>
                <a:cs typeface="Calibri"/>
                <a:sym typeface="Calibri"/>
              </a:defRPr>
            </a:lvl7pPr>
            <a:lvl8pPr marL="0" marR="0" lvl="7" indent="0" algn="r" rtl="0">
              <a:spcBef>
                <a:spcPts val="0"/>
              </a:spcBef>
              <a:buNone/>
              <a:defRPr sz="4200" b="0" i="0" u="none" strike="noStrike" cap="none">
                <a:solidFill>
                  <a:srgbClr val="888888"/>
                </a:solidFill>
                <a:latin typeface="Calibri"/>
                <a:ea typeface="Calibri"/>
                <a:cs typeface="Calibri"/>
                <a:sym typeface="Calibri"/>
              </a:defRPr>
            </a:lvl8pPr>
            <a:lvl9pPr marL="0" marR="0" lvl="8" indent="0" algn="r" rtl="0">
              <a:spcBef>
                <a:spcPts val="0"/>
              </a:spcBef>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p:cNvGrpSpPr/>
        <p:nvPr/>
      </p:nvGrpSpPr>
      <p:grpSpPr>
        <a:xfrm>
          <a:off x="0" y="0"/>
          <a:ext cx="0" cy="0"/>
          <a:chOff x="0" y="0"/>
          <a:chExt cx="0" cy="0"/>
        </a:xfrm>
      </p:grpSpPr>
      <p:sp>
        <p:nvSpPr>
          <p:cNvPr id="90" name="Google Shape;90;g34e5512c6aa_1_0"/>
          <p:cNvSpPr/>
          <p:nvPr/>
        </p:nvSpPr>
        <p:spPr>
          <a:xfrm>
            <a:off x="754380" y="8973741"/>
            <a:ext cx="9944100" cy="1080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r>
              <a:rPr lang="en-US" sz="5200" dirty="0">
                <a:solidFill>
                  <a:schemeClr val="lt1"/>
                </a:solidFill>
                <a:latin typeface="Calibri"/>
                <a:ea typeface="Calibri"/>
                <a:cs typeface="Calibri"/>
                <a:sym typeface="Calibri"/>
              </a:rPr>
              <a:t>Case Description</a:t>
            </a:r>
            <a:endParaRPr sz="1000" dirty="0"/>
          </a:p>
        </p:txBody>
      </p:sp>
      <p:sp>
        <p:nvSpPr>
          <p:cNvPr id="91" name="Google Shape;91;g34e5512c6aa_1_0"/>
          <p:cNvSpPr/>
          <p:nvPr/>
        </p:nvSpPr>
        <p:spPr>
          <a:xfrm>
            <a:off x="754371" y="10268100"/>
            <a:ext cx="9893151" cy="11231400"/>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66025" tIns="33000" rIns="66025" bIns="33000" anchor="t" anchorCtr="0">
            <a:noAutofit/>
          </a:bodyPr>
          <a:lstStyle/>
          <a:p>
            <a:pPr marR="0" lvl="0" indent="28575" rtl="0">
              <a:lnSpc>
                <a:spcPct val="100000"/>
              </a:lnSpc>
              <a:spcBef>
                <a:spcPts val="0"/>
              </a:spcBef>
              <a:spcAft>
                <a:spcPts val="0"/>
              </a:spcAft>
              <a:buNone/>
            </a:pPr>
            <a:r>
              <a:rPr lang="en-US" sz="3300" dirty="0">
                <a:solidFill>
                  <a:schemeClr val="tx1"/>
                </a:solidFill>
                <a:latin typeface="Calibri"/>
                <a:ea typeface="Calibri"/>
                <a:cs typeface="Calibri"/>
                <a:sym typeface="Calibri"/>
              </a:rPr>
              <a:t>A 58 year old male, with past medical history of depression and alcohol abuse, presented to the ED after a </a:t>
            </a:r>
            <a:r>
              <a:rPr lang="en-US" sz="3300" b="1" dirty="0">
                <a:solidFill>
                  <a:schemeClr val="tx1"/>
                </a:solidFill>
                <a:latin typeface="Calibri"/>
                <a:ea typeface="Calibri"/>
                <a:cs typeface="Calibri"/>
                <a:sym typeface="Calibri"/>
              </a:rPr>
              <a:t>ground level fall</a:t>
            </a:r>
            <a:r>
              <a:rPr lang="en-US" sz="3300" dirty="0">
                <a:solidFill>
                  <a:schemeClr val="tx1"/>
                </a:solidFill>
                <a:latin typeface="Calibri"/>
                <a:ea typeface="Calibri"/>
                <a:cs typeface="Calibri"/>
                <a:sym typeface="Calibri"/>
              </a:rPr>
              <a:t>. His trauma workup was negative other than mild facial abrasions. He was also noted to be in the early stages of </a:t>
            </a:r>
            <a:r>
              <a:rPr lang="en-US" sz="3300" b="1" dirty="0">
                <a:solidFill>
                  <a:schemeClr val="tx1"/>
                </a:solidFill>
                <a:latin typeface="Calibri"/>
                <a:ea typeface="Calibri"/>
                <a:cs typeface="Calibri"/>
                <a:sym typeface="Calibri"/>
              </a:rPr>
              <a:t>alcohol withdrawal</a:t>
            </a:r>
            <a:r>
              <a:rPr lang="en-US" sz="3300" dirty="0">
                <a:solidFill>
                  <a:schemeClr val="tx1"/>
                </a:solidFill>
                <a:latin typeface="Calibri"/>
                <a:ea typeface="Calibri"/>
                <a:cs typeface="Calibri"/>
                <a:sym typeface="Calibri"/>
              </a:rPr>
              <a:t>, with tremors, severe abdominal pain, nausea, and </a:t>
            </a:r>
            <a:r>
              <a:rPr lang="en-US" sz="3300" b="1" dirty="0">
                <a:solidFill>
                  <a:schemeClr val="tx1"/>
                </a:solidFill>
                <a:latin typeface="Calibri"/>
                <a:ea typeface="Calibri"/>
                <a:cs typeface="Calibri"/>
                <a:sym typeface="Calibri"/>
              </a:rPr>
              <a:t>progressive hallucinations</a:t>
            </a:r>
            <a:r>
              <a:rPr lang="en-US" sz="3300" dirty="0">
                <a:solidFill>
                  <a:schemeClr val="tx1"/>
                </a:solidFill>
                <a:latin typeface="Calibri"/>
                <a:ea typeface="Calibri"/>
                <a:cs typeface="Calibri"/>
                <a:sym typeface="Calibri"/>
              </a:rPr>
              <a:t>. He also had complaints of </a:t>
            </a:r>
            <a:r>
              <a:rPr lang="en-US" sz="3300" b="1" dirty="0">
                <a:solidFill>
                  <a:schemeClr val="tx1"/>
                </a:solidFill>
                <a:latin typeface="Calibri"/>
                <a:ea typeface="Calibri"/>
                <a:cs typeface="Calibri"/>
                <a:sym typeface="Calibri"/>
              </a:rPr>
              <a:t>weakness and numbness of his hands and legs</a:t>
            </a:r>
            <a:r>
              <a:rPr lang="en-US" sz="3300" dirty="0">
                <a:solidFill>
                  <a:schemeClr val="tx1"/>
                </a:solidFill>
                <a:latin typeface="Calibri"/>
                <a:ea typeface="Calibri"/>
                <a:cs typeface="Calibri"/>
                <a:sym typeface="Calibri"/>
              </a:rPr>
              <a:t>. Physical exam also had questionable </a:t>
            </a:r>
            <a:r>
              <a:rPr lang="en-US" sz="3300" b="1" dirty="0">
                <a:solidFill>
                  <a:schemeClr val="tx1"/>
                </a:solidFill>
                <a:latin typeface="Calibri"/>
                <a:ea typeface="Calibri"/>
                <a:cs typeface="Calibri"/>
                <a:sym typeface="Calibri"/>
              </a:rPr>
              <a:t>hyperreflexia</a:t>
            </a:r>
            <a:r>
              <a:rPr lang="en-US" sz="3300" dirty="0">
                <a:solidFill>
                  <a:schemeClr val="tx1"/>
                </a:solidFill>
                <a:latin typeface="Calibri"/>
                <a:ea typeface="Calibri"/>
                <a:cs typeface="Calibri"/>
                <a:sym typeface="Calibri"/>
              </a:rPr>
              <a:t>, however tremors obfuscated this finding. </a:t>
            </a:r>
            <a:endParaRPr sz="3300" dirty="0">
              <a:solidFill>
                <a:schemeClr val="tx1"/>
              </a:solidFill>
              <a:latin typeface="Calibri"/>
              <a:ea typeface="Calibri"/>
              <a:cs typeface="Calibri"/>
              <a:sym typeface="Calibri"/>
            </a:endParaRPr>
          </a:p>
          <a:p>
            <a:pPr marL="0" marR="0" lvl="0" indent="330200" rtl="0">
              <a:lnSpc>
                <a:spcPct val="100000"/>
              </a:lnSpc>
              <a:spcBef>
                <a:spcPts val="0"/>
              </a:spcBef>
              <a:spcAft>
                <a:spcPts val="0"/>
              </a:spcAft>
              <a:buNone/>
            </a:pPr>
            <a:endParaRPr sz="3300" dirty="0">
              <a:solidFill>
                <a:schemeClr val="tx1"/>
              </a:solidFill>
              <a:latin typeface="Calibri"/>
              <a:ea typeface="Calibri"/>
              <a:cs typeface="Calibri"/>
              <a:sym typeface="Calibri"/>
            </a:endParaRPr>
          </a:p>
          <a:p>
            <a:pPr marR="0" lvl="0" indent="28575" rtl="0">
              <a:lnSpc>
                <a:spcPct val="100000"/>
              </a:lnSpc>
              <a:spcBef>
                <a:spcPts val="0"/>
              </a:spcBef>
              <a:spcAft>
                <a:spcPts val="0"/>
              </a:spcAft>
              <a:buNone/>
            </a:pPr>
            <a:r>
              <a:rPr lang="en-US" sz="3300" dirty="0">
                <a:solidFill>
                  <a:schemeClr val="tx1"/>
                </a:solidFill>
                <a:latin typeface="Calibri"/>
                <a:ea typeface="Calibri"/>
                <a:cs typeface="Calibri"/>
                <a:sym typeface="Calibri"/>
              </a:rPr>
              <a:t>After 5 days of treatment for his DT’s, his </a:t>
            </a:r>
            <a:r>
              <a:rPr lang="en-US" sz="3300" b="1" dirty="0">
                <a:solidFill>
                  <a:schemeClr val="tx1"/>
                </a:solidFill>
                <a:latin typeface="Calibri"/>
                <a:ea typeface="Calibri"/>
                <a:cs typeface="Calibri"/>
                <a:sym typeface="Calibri"/>
              </a:rPr>
              <a:t>weakness and numbness persisted</a:t>
            </a:r>
            <a:r>
              <a:rPr lang="en-US" sz="3300" dirty="0">
                <a:solidFill>
                  <a:schemeClr val="tx1"/>
                </a:solidFill>
                <a:latin typeface="Calibri"/>
                <a:ea typeface="Calibri"/>
                <a:cs typeface="Calibri"/>
                <a:sym typeface="Calibri"/>
              </a:rPr>
              <a:t>. He was </a:t>
            </a:r>
            <a:r>
              <a:rPr lang="en-US" sz="3300" b="1" dirty="0">
                <a:solidFill>
                  <a:schemeClr val="tx1"/>
                </a:solidFill>
                <a:latin typeface="Calibri"/>
                <a:ea typeface="Calibri"/>
                <a:cs typeface="Calibri"/>
                <a:sym typeface="Calibri"/>
              </a:rPr>
              <a:t>clearly noted to be </a:t>
            </a:r>
            <a:r>
              <a:rPr lang="en-US" sz="3300" b="1" dirty="0" err="1">
                <a:solidFill>
                  <a:schemeClr val="tx1"/>
                </a:solidFill>
                <a:latin typeface="Calibri"/>
                <a:ea typeface="Calibri"/>
                <a:cs typeface="Calibri"/>
                <a:sym typeface="Calibri"/>
              </a:rPr>
              <a:t>hyperreflexive</a:t>
            </a:r>
            <a:r>
              <a:rPr lang="en-US" sz="3300" dirty="0">
                <a:solidFill>
                  <a:schemeClr val="tx1"/>
                </a:solidFill>
                <a:latin typeface="Calibri"/>
                <a:ea typeface="Calibri"/>
                <a:cs typeface="Calibri"/>
                <a:sym typeface="Calibri"/>
              </a:rPr>
              <a:t> at various levels, and there was growing concern for a spinal cord injury (SCI) in the cervical region. An MRI (figure 2) identified a spinal cord signal abnormality in the region of concern. </a:t>
            </a:r>
            <a:endParaRPr sz="3300" dirty="0">
              <a:solidFill>
                <a:schemeClr val="tx1"/>
              </a:solidFill>
              <a:latin typeface="Calibri"/>
              <a:ea typeface="Calibri"/>
              <a:cs typeface="Calibri"/>
              <a:sym typeface="Calibri"/>
            </a:endParaRPr>
          </a:p>
          <a:p>
            <a:pPr marL="0" marR="0" lvl="0" indent="330200" rtl="0">
              <a:lnSpc>
                <a:spcPct val="100000"/>
              </a:lnSpc>
              <a:spcBef>
                <a:spcPts val="0"/>
              </a:spcBef>
              <a:spcAft>
                <a:spcPts val="0"/>
              </a:spcAft>
              <a:buNone/>
            </a:pPr>
            <a:endParaRPr sz="3300" dirty="0">
              <a:solidFill>
                <a:schemeClr val="tx1"/>
              </a:solidFill>
              <a:latin typeface="Calibri"/>
              <a:ea typeface="Calibri"/>
              <a:cs typeface="Calibri"/>
              <a:sym typeface="Calibri"/>
            </a:endParaRPr>
          </a:p>
          <a:p>
            <a:pPr marR="0" lvl="0" indent="28575" rtl="0">
              <a:lnSpc>
                <a:spcPct val="100000"/>
              </a:lnSpc>
              <a:spcBef>
                <a:spcPts val="0"/>
              </a:spcBef>
              <a:spcAft>
                <a:spcPts val="0"/>
              </a:spcAft>
              <a:buNone/>
            </a:pPr>
            <a:r>
              <a:rPr lang="en-US" sz="3300" dirty="0">
                <a:solidFill>
                  <a:schemeClr val="tx1"/>
                </a:solidFill>
                <a:latin typeface="Calibri"/>
                <a:ea typeface="Calibri"/>
                <a:cs typeface="Calibri"/>
                <a:sym typeface="Calibri"/>
              </a:rPr>
              <a:t>He was subsequently transferred emergently for neurosurgical intervention, and</a:t>
            </a:r>
            <a:r>
              <a:rPr lang="en-US" sz="3300" b="1" dirty="0">
                <a:solidFill>
                  <a:schemeClr val="tx1"/>
                </a:solidFill>
                <a:latin typeface="Calibri"/>
                <a:ea typeface="Calibri"/>
                <a:cs typeface="Calibri"/>
                <a:sym typeface="Calibri"/>
              </a:rPr>
              <a:t> received a C4-C7 laminectomy with fusion</a:t>
            </a:r>
            <a:r>
              <a:rPr lang="en-US" sz="3300" dirty="0">
                <a:solidFill>
                  <a:schemeClr val="tx1"/>
                </a:solidFill>
                <a:latin typeface="Calibri"/>
                <a:ea typeface="Calibri"/>
                <a:cs typeface="Calibri"/>
                <a:sym typeface="Calibri"/>
              </a:rPr>
              <a:t> the following day, and was discharged a few weeks later.  </a:t>
            </a:r>
            <a:endParaRPr sz="3300" dirty="0">
              <a:solidFill>
                <a:schemeClr val="tx1"/>
              </a:solidFill>
              <a:latin typeface="Calibri"/>
              <a:ea typeface="Calibri"/>
              <a:cs typeface="Calibri"/>
              <a:sym typeface="Calibri"/>
            </a:endParaRPr>
          </a:p>
        </p:txBody>
      </p:sp>
      <p:sp>
        <p:nvSpPr>
          <p:cNvPr id="92" name="Google Shape;92;g34e5512c6aa_1_0"/>
          <p:cNvSpPr/>
          <p:nvPr/>
        </p:nvSpPr>
        <p:spPr>
          <a:xfrm>
            <a:off x="754380" y="4328160"/>
            <a:ext cx="9944100" cy="1080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r>
              <a:rPr lang="en-US" sz="5200">
                <a:solidFill>
                  <a:schemeClr val="lt1"/>
                </a:solidFill>
                <a:latin typeface="Calibri"/>
                <a:ea typeface="Calibri"/>
                <a:cs typeface="Calibri"/>
                <a:sym typeface="Calibri"/>
              </a:rPr>
              <a:t>Introduction</a:t>
            </a:r>
            <a:endParaRPr sz="1000"/>
          </a:p>
        </p:txBody>
      </p:sp>
      <p:sp>
        <p:nvSpPr>
          <p:cNvPr id="93" name="Google Shape;93;g34e5512c6aa_1_0"/>
          <p:cNvSpPr/>
          <p:nvPr/>
        </p:nvSpPr>
        <p:spPr>
          <a:xfrm>
            <a:off x="754375" y="5420025"/>
            <a:ext cx="9944100" cy="3465900"/>
          </a:xfrm>
          <a:prstGeom prst="rect">
            <a:avLst/>
          </a:prstGeom>
          <a:solidFill>
            <a:schemeClr val="lt1">
              <a:alpha val="49800"/>
            </a:schemeClr>
          </a:solidFill>
          <a:ln>
            <a:noFill/>
          </a:ln>
        </p:spPr>
        <p:txBody>
          <a:bodyPr spcFirstLastPara="1" wrap="square" lIns="66025" tIns="33000" rIns="66025" bIns="33000" anchor="t" anchorCtr="0">
            <a:noAutofit/>
          </a:bodyPr>
          <a:lstStyle/>
          <a:p>
            <a:pPr marL="0" marR="0" lvl="0" indent="0" rtl="0">
              <a:spcBef>
                <a:spcPts val="0"/>
              </a:spcBef>
              <a:spcAft>
                <a:spcPts val="0"/>
              </a:spcAft>
              <a:buNone/>
            </a:pPr>
            <a:r>
              <a:rPr lang="en-US" sz="3300" b="1" dirty="0">
                <a:solidFill>
                  <a:schemeClr val="dk1"/>
                </a:solidFill>
                <a:latin typeface="Calibri"/>
                <a:ea typeface="Calibri"/>
                <a:cs typeface="Calibri"/>
                <a:sym typeface="Calibri"/>
              </a:rPr>
              <a:t>Hickam's Dictum</a:t>
            </a:r>
            <a:r>
              <a:rPr lang="en-US" sz="3300" dirty="0">
                <a:solidFill>
                  <a:schemeClr val="dk1"/>
                </a:solidFill>
                <a:latin typeface="Calibri"/>
                <a:ea typeface="Calibri"/>
                <a:cs typeface="Calibri"/>
                <a:sym typeface="Calibri"/>
              </a:rPr>
              <a:t> states: “A patient can have as many diseases as he damn well pleases”.  </a:t>
            </a:r>
            <a:r>
              <a:rPr lang="en-US" sz="3300" b="1" dirty="0">
                <a:solidFill>
                  <a:schemeClr val="dk1"/>
                </a:solidFill>
                <a:latin typeface="Calibri"/>
                <a:ea typeface="Calibri"/>
                <a:cs typeface="Calibri"/>
                <a:sym typeface="Calibri"/>
              </a:rPr>
              <a:t>SCIWORA</a:t>
            </a:r>
            <a:r>
              <a:rPr lang="en-US" sz="3300" dirty="0">
                <a:solidFill>
                  <a:schemeClr val="dk1"/>
                </a:solidFill>
                <a:latin typeface="Calibri"/>
                <a:ea typeface="Calibri"/>
                <a:cs typeface="Calibri"/>
                <a:sym typeface="Calibri"/>
              </a:rPr>
              <a:t> is a spinal cord injury without radiographic abnormality (only CT/XR). </a:t>
            </a:r>
            <a:r>
              <a:rPr lang="en-US" sz="3300" b="1" dirty="0">
                <a:solidFill>
                  <a:schemeClr val="dk1"/>
                </a:solidFill>
                <a:latin typeface="Calibri"/>
                <a:ea typeface="Calibri"/>
                <a:cs typeface="Calibri"/>
                <a:sym typeface="Calibri"/>
              </a:rPr>
              <a:t>Delirium Tremens</a:t>
            </a:r>
            <a:r>
              <a:rPr lang="en-US" sz="3300" dirty="0">
                <a:solidFill>
                  <a:schemeClr val="dk1"/>
                </a:solidFill>
                <a:latin typeface="Calibri"/>
                <a:ea typeface="Calibri"/>
                <a:cs typeface="Calibri"/>
                <a:sym typeface="Calibri"/>
              </a:rPr>
              <a:t> is severe form of alcohol withdrawal that can have multiple presentations. Below is a case of a 58 year old male with </a:t>
            </a:r>
            <a:r>
              <a:rPr lang="en-US" sz="3300" b="1" dirty="0">
                <a:solidFill>
                  <a:schemeClr val="dk1"/>
                </a:solidFill>
                <a:latin typeface="Calibri"/>
                <a:ea typeface="Calibri"/>
                <a:cs typeface="Calibri"/>
                <a:sym typeface="Calibri"/>
              </a:rPr>
              <a:t>both pathologies</a:t>
            </a:r>
            <a:r>
              <a:rPr lang="en-US" sz="3300" dirty="0">
                <a:solidFill>
                  <a:schemeClr val="dk1"/>
                </a:solidFill>
                <a:latin typeface="Calibri"/>
                <a:ea typeface="Calibri"/>
                <a:cs typeface="Calibri"/>
                <a:sym typeface="Calibri"/>
              </a:rPr>
              <a:t>. </a:t>
            </a:r>
            <a:endParaRPr sz="3300" dirty="0">
              <a:solidFill>
                <a:schemeClr val="dk1"/>
              </a:solidFill>
              <a:latin typeface="Calibri"/>
              <a:ea typeface="Calibri"/>
              <a:cs typeface="Calibri"/>
              <a:sym typeface="Calibri"/>
            </a:endParaRPr>
          </a:p>
        </p:txBody>
      </p:sp>
      <p:sp>
        <p:nvSpPr>
          <p:cNvPr id="94" name="Google Shape;94;g34e5512c6aa_1_0"/>
          <p:cNvSpPr/>
          <p:nvPr/>
        </p:nvSpPr>
        <p:spPr>
          <a:xfrm>
            <a:off x="754371" y="543525"/>
            <a:ext cx="31409700" cy="3261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endParaRPr sz="5200">
              <a:solidFill>
                <a:schemeClr val="lt1"/>
              </a:solidFill>
              <a:latin typeface="Calibri"/>
              <a:ea typeface="Calibri"/>
              <a:cs typeface="Calibri"/>
              <a:sym typeface="Calibri"/>
            </a:endParaRPr>
          </a:p>
        </p:txBody>
      </p:sp>
      <p:sp>
        <p:nvSpPr>
          <p:cNvPr id="95" name="Google Shape;95;g34e5512c6aa_1_0"/>
          <p:cNvSpPr/>
          <p:nvPr/>
        </p:nvSpPr>
        <p:spPr>
          <a:xfrm>
            <a:off x="728859" y="762879"/>
            <a:ext cx="31409700" cy="933600"/>
          </a:xfrm>
          <a:prstGeom prst="rect">
            <a:avLst/>
          </a:prstGeom>
          <a:noFill/>
          <a:ln>
            <a:noFill/>
          </a:ln>
        </p:spPr>
        <p:txBody>
          <a:bodyPr spcFirstLastPara="1" wrap="square" lIns="66025" tIns="33000" rIns="66025" bIns="33000" anchor="t" anchorCtr="0">
            <a:noAutofit/>
          </a:bodyPr>
          <a:lstStyle/>
          <a:p>
            <a:pPr marL="0" marR="0" lvl="0" indent="0" algn="ctr" rtl="0">
              <a:spcBef>
                <a:spcPts val="0"/>
              </a:spcBef>
              <a:spcAft>
                <a:spcPts val="0"/>
              </a:spcAft>
              <a:buNone/>
            </a:pPr>
            <a:r>
              <a:rPr lang="en-US" sz="5400" b="1" dirty="0">
                <a:solidFill>
                  <a:schemeClr val="lt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Hickam’s Dictum: A Patient Can Injure His Spinal </a:t>
            </a:r>
            <a:endParaRPr sz="5400" b="1" dirty="0">
              <a:solidFill>
                <a:schemeClr val="lt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endParaRPr>
          </a:p>
          <a:p>
            <a:pPr marL="0" marR="0" lvl="0" indent="0" algn="ctr" rtl="0">
              <a:spcBef>
                <a:spcPts val="0"/>
              </a:spcBef>
              <a:spcAft>
                <a:spcPts val="0"/>
              </a:spcAft>
              <a:buNone/>
            </a:pPr>
            <a:r>
              <a:rPr lang="en-US" sz="5400" b="1" dirty="0">
                <a:solidFill>
                  <a:schemeClr val="lt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Cord However He Damn Well Pleases</a:t>
            </a:r>
            <a:endParaRPr sz="5400" b="1" dirty="0">
              <a:solidFill>
                <a:schemeClr val="lt1"/>
              </a:solidFill>
              <a:latin typeface="Helvetica Neue"/>
              <a:ea typeface="Helvetica Neue"/>
              <a:cs typeface="Helvetica Neue"/>
              <a:sym typeface="Helvetica Neue"/>
            </a:endParaRPr>
          </a:p>
          <a:p>
            <a:pPr marL="0" marR="0" lvl="0" indent="0" algn="l" rtl="0">
              <a:spcBef>
                <a:spcPts val="0"/>
              </a:spcBef>
              <a:spcAft>
                <a:spcPts val="0"/>
              </a:spcAft>
              <a:buNone/>
            </a:pPr>
            <a:endParaRPr sz="5700" b="1" dirty="0">
              <a:solidFill>
                <a:schemeClr val="lt1"/>
              </a:solidFill>
              <a:latin typeface="Helvetica Neue"/>
              <a:ea typeface="Helvetica Neue"/>
              <a:cs typeface="Helvetica Neue"/>
              <a:sym typeface="Helvetica Neue"/>
            </a:endParaRPr>
          </a:p>
        </p:txBody>
      </p:sp>
      <p:sp>
        <p:nvSpPr>
          <p:cNvPr id="96" name="Google Shape;96;g34e5512c6aa_1_0"/>
          <p:cNvSpPr/>
          <p:nvPr/>
        </p:nvSpPr>
        <p:spPr>
          <a:xfrm>
            <a:off x="754379" y="2370900"/>
            <a:ext cx="31409700" cy="1409400"/>
          </a:xfrm>
          <a:prstGeom prst="rect">
            <a:avLst/>
          </a:prstGeom>
          <a:noFill/>
          <a:ln>
            <a:noFill/>
          </a:ln>
        </p:spPr>
        <p:txBody>
          <a:bodyPr spcFirstLastPara="1" wrap="square" lIns="66025" tIns="33000" rIns="66025" bIns="33000" anchor="t" anchorCtr="0">
            <a:noAutofit/>
          </a:bodyPr>
          <a:lstStyle/>
          <a:p>
            <a:pPr marL="0" marR="0" lvl="0" indent="0" algn="ctr" rtl="0">
              <a:spcBef>
                <a:spcPts val="0"/>
              </a:spcBef>
              <a:spcAft>
                <a:spcPts val="0"/>
              </a:spcAft>
              <a:buNone/>
            </a:pPr>
            <a:r>
              <a:rPr lang="en-US" sz="4100" dirty="0">
                <a:solidFill>
                  <a:schemeClr val="lt1"/>
                </a:solidFill>
                <a:latin typeface="Helvetica Neue"/>
                <a:ea typeface="Helvetica Neue"/>
                <a:cs typeface="Helvetica Neue"/>
                <a:sym typeface="Helvetica Neue"/>
              </a:rPr>
              <a:t>Jon Schulze, DO, Song-Ah Baek, OMS-I</a:t>
            </a:r>
            <a:endParaRPr sz="800" dirty="0"/>
          </a:p>
          <a:p>
            <a:pPr marL="0" marR="0" lvl="0" indent="0" algn="ctr" rtl="0">
              <a:spcBef>
                <a:spcPts val="0"/>
              </a:spcBef>
              <a:spcAft>
                <a:spcPts val="0"/>
              </a:spcAft>
              <a:buNone/>
            </a:pPr>
            <a:endParaRPr sz="800" dirty="0"/>
          </a:p>
          <a:p>
            <a:pPr marL="0" marR="0" lvl="0" indent="0" algn="ctr" rtl="0">
              <a:spcBef>
                <a:spcPts val="0"/>
              </a:spcBef>
              <a:spcAft>
                <a:spcPts val="0"/>
              </a:spcAft>
              <a:buNone/>
            </a:pPr>
            <a:r>
              <a:rPr lang="en-US" sz="3400" i="1" dirty="0">
                <a:solidFill>
                  <a:schemeClr val="lt1"/>
                </a:solidFill>
                <a:latin typeface="Helvetica Neue"/>
                <a:ea typeface="Helvetica Neue"/>
                <a:cs typeface="Helvetica Neue"/>
                <a:sym typeface="Helvetica Neue"/>
              </a:rPr>
              <a:t>Saint Agnes Medical Center, Fresno, CA; CHSU-COM, Clovis, CA</a:t>
            </a:r>
            <a:endParaRPr sz="800" dirty="0"/>
          </a:p>
        </p:txBody>
      </p:sp>
      <p:sp>
        <p:nvSpPr>
          <p:cNvPr id="97" name="Google Shape;97;g34e5512c6aa_1_0"/>
          <p:cNvSpPr/>
          <p:nvPr/>
        </p:nvSpPr>
        <p:spPr>
          <a:xfrm>
            <a:off x="11461659" y="4328200"/>
            <a:ext cx="9944100" cy="1080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r>
              <a:rPr lang="en-US" sz="5200">
                <a:solidFill>
                  <a:schemeClr val="lt1"/>
                </a:solidFill>
                <a:latin typeface="Calibri"/>
                <a:ea typeface="Calibri"/>
                <a:cs typeface="Calibri"/>
                <a:sym typeface="Calibri"/>
              </a:rPr>
              <a:t>Imaging Findings</a:t>
            </a:r>
            <a:endParaRPr sz="1000"/>
          </a:p>
        </p:txBody>
      </p:sp>
      <p:sp>
        <p:nvSpPr>
          <p:cNvPr id="98" name="Google Shape;98;g34e5512c6aa_1_0"/>
          <p:cNvSpPr/>
          <p:nvPr/>
        </p:nvSpPr>
        <p:spPr>
          <a:xfrm>
            <a:off x="22219920" y="15164629"/>
            <a:ext cx="9944100" cy="1080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r>
              <a:rPr lang="en-US" sz="5200">
                <a:solidFill>
                  <a:schemeClr val="lt1"/>
                </a:solidFill>
                <a:latin typeface="Calibri"/>
                <a:ea typeface="Calibri"/>
                <a:cs typeface="Calibri"/>
                <a:sym typeface="Calibri"/>
              </a:rPr>
              <a:t>References</a:t>
            </a:r>
            <a:endParaRPr sz="1000"/>
          </a:p>
        </p:txBody>
      </p:sp>
      <p:sp>
        <p:nvSpPr>
          <p:cNvPr id="99" name="Google Shape;99;g34e5512c6aa_1_0"/>
          <p:cNvSpPr/>
          <p:nvPr/>
        </p:nvSpPr>
        <p:spPr>
          <a:xfrm>
            <a:off x="22219913" y="16370717"/>
            <a:ext cx="9944100" cy="5175300"/>
          </a:xfrm>
          <a:prstGeom prst="rect">
            <a:avLst/>
          </a:prstGeom>
          <a:solidFill>
            <a:schemeClr val="lt1">
              <a:alpha val="49800"/>
            </a:schemeClr>
          </a:solidFill>
          <a:ln>
            <a:noFill/>
          </a:ln>
        </p:spPr>
        <p:txBody>
          <a:bodyPr spcFirstLastPara="1" wrap="square" lIns="66025" tIns="33000" rIns="66025" bIns="33000" anchor="t" anchorCtr="0">
            <a:noAutofit/>
          </a:bodyPr>
          <a:lstStyle/>
          <a:p>
            <a:pPr marL="330200" marR="0" lvl="0" indent="-336550" algn="l" rtl="0">
              <a:spcBef>
                <a:spcPts val="0"/>
              </a:spcBef>
              <a:spcAft>
                <a:spcPts val="0"/>
              </a:spcAft>
              <a:buSzPts val="2700"/>
              <a:buFont typeface="Calibri"/>
              <a:buChar char="●"/>
            </a:pPr>
            <a:r>
              <a:rPr lang="en-US" sz="2700" dirty="0" err="1">
                <a:solidFill>
                  <a:schemeClr val="dk1"/>
                </a:solidFill>
                <a:latin typeface="Calibri"/>
                <a:ea typeface="Calibri"/>
                <a:cs typeface="Calibri"/>
                <a:sym typeface="Calibri"/>
              </a:rPr>
              <a:t>Szwedowski</a:t>
            </a:r>
            <a:r>
              <a:rPr lang="en-US" sz="2700" dirty="0">
                <a:solidFill>
                  <a:schemeClr val="dk1"/>
                </a:solidFill>
                <a:latin typeface="Calibri"/>
                <a:ea typeface="Calibri"/>
                <a:cs typeface="Calibri"/>
                <a:sym typeface="Calibri"/>
              </a:rPr>
              <a:t> D, </a:t>
            </a:r>
            <a:r>
              <a:rPr lang="en-US" sz="2700" dirty="0" err="1">
                <a:solidFill>
                  <a:schemeClr val="dk1"/>
                </a:solidFill>
                <a:latin typeface="Calibri"/>
                <a:ea typeface="Calibri"/>
                <a:cs typeface="Calibri"/>
                <a:sym typeface="Calibri"/>
              </a:rPr>
              <a:t>Walecki</a:t>
            </a:r>
            <a:r>
              <a:rPr lang="en-US" sz="2700" dirty="0">
                <a:solidFill>
                  <a:schemeClr val="dk1"/>
                </a:solidFill>
                <a:latin typeface="Calibri"/>
                <a:ea typeface="Calibri"/>
                <a:cs typeface="Calibri"/>
                <a:sym typeface="Calibri"/>
              </a:rPr>
              <a:t> J. Spinal Cord Injury without Radiographic Abnormality (SCIWORA) - Clinical and Radiological Aspects. Pol J </a:t>
            </a:r>
            <a:r>
              <a:rPr lang="en-US" sz="2700" dirty="0" err="1">
                <a:solidFill>
                  <a:schemeClr val="dk1"/>
                </a:solidFill>
                <a:latin typeface="Calibri"/>
                <a:ea typeface="Calibri"/>
                <a:cs typeface="Calibri"/>
                <a:sym typeface="Calibri"/>
              </a:rPr>
              <a:t>Radiol</a:t>
            </a:r>
            <a:r>
              <a:rPr lang="en-US" sz="2700" dirty="0">
                <a:solidFill>
                  <a:schemeClr val="dk1"/>
                </a:solidFill>
                <a:latin typeface="Calibri"/>
                <a:ea typeface="Calibri"/>
                <a:cs typeface="Calibri"/>
                <a:sym typeface="Calibri"/>
              </a:rPr>
              <a:t>. 2014 Dec 8;79:461-4. </a:t>
            </a:r>
            <a:r>
              <a:rPr lang="en-US" sz="2700" dirty="0" err="1">
                <a:solidFill>
                  <a:schemeClr val="dk1"/>
                </a:solidFill>
                <a:latin typeface="Calibri"/>
                <a:ea typeface="Calibri"/>
                <a:cs typeface="Calibri"/>
                <a:sym typeface="Calibri"/>
              </a:rPr>
              <a:t>doi</a:t>
            </a:r>
            <a:r>
              <a:rPr lang="en-US" sz="2700" dirty="0">
                <a:solidFill>
                  <a:schemeClr val="dk1"/>
                </a:solidFill>
                <a:latin typeface="Calibri"/>
                <a:ea typeface="Calibri"/>
                <a:cs typeface="Calibri"/>
                <a:sym typeface="Calibri"/>
              </a:rPr>
              <a:t>: 10.12659/PJR.890944. PMID: 25505497; PMCID: PMC4262055.</a:t>
            </a:r>
            <a:endParaRPr sz="2700" dirty="0">
              <a:solidFill>
                <a:schemeClr val="dk1"/>
              </a:solidFill>
              <a:latin typeface="Calibri"/>
              <a:ea typeface="Calibri"/>
              <a:cs typeface="Calibri"/>
              <a:sym typeface="Calibri"/>
            </a:endParaRPr>
          </a:p>
          <a:p>
            <a:pPr marL="330200" marR="0" lvl="0" indent="-336550" algn="l" rtl="0">
              <a:spcBef>
                <a:spcPts val="0"/>
              </a:spcBef>
              <a:spcAft>
                <a:spcPts val="0"/>
              </a:spcAft>
              <a:buClr>
                <a:schemeClr val="dk1"/>
              </a:buClr>
              <a:buSzPts val="2700"/>
              <a:buFont typeface="Calibri"/>
              <a:buChar char="●"/>
            </a:pPr>
            <a:r>
              <a:rPr lang="en-US" sz="2700" dirty="0">
                <a:solidFill>
                  <a:schemeClr val="dk1"/>
                </a:solidFill>
                <a:latin typeface="Calibri"/>
                <a:ea typeface="Calibri"/>
                <a:cs typeface="Calibri"/>
                <a:sym typeface="Calibri"/>
              </a:rPr>
              <a:t>Chuang CH, Chen PC, Bai CH, Wu YL, Tsai MC, Li CY. Association between Spinal Cord Injury and Alcohol Dependence: A Population-Based Retrospective Cohort Study. J Pers Med. 2022 Mar 16;12(3):473. </a:t>
            </a:r>
            <a:r>
              <a:rPr lang="en-US" sz="2700" dirty="0" err="1">
                <a:solidFill>
                  <a:schemeClr val="dk1"/>
                </a:solidFill>
                <a:latin typeface="Calibri"/>
                <a:ea typeface="Calibri"/>
                <a:cs typeface="Calibri"/>
                <a:sym typeface="Calibri"/>
              </a:rPr>
              <a:t>doi</a:t>
            </a:r>
            <a:r>
              <a:rPr lang="en-US" sz="2700" dirty="0">
                <a:solidFill>
                  <a:schemeClr val="dk1"/>
                </a:solidFill>
                <a:latin typeface="Calibri"/>
                <a:ea typeface="Calibri"/>
                <a:cs typeface="Calibri"/>
                <a:sym typeface="Calibri"/>
              </a:rPr>
              <a:t>: 10.3390/jpm12030473. PMID: 35330471; PMCID: PMC8950331.</a:t>
            </a:r>
            <a:endParaRPr sz="2700" dirty="0">
              <a:solidFill>
                <a:schemeClr val="dk1"/>
              </a:solidFill>
              <a:latin typeface="Calibri"/>
              <a:ea typeface="Calibri"/>
              <a:cs typeface="Calibri"/>
              <a:sym typeface="Calibri"/>
            </a:endParaRPr>
          </a:p>
          <a:p>
            <a:pPr marL="330200" marR="0" lvl="0" indent="-336550" algn="l" rtl="0">
              <a:spcBef>
                <a:spcPts val="0"/>
              </a:spcBef>
              <a:spcAft>
                <a:spcPts val="0"/>
              </a:spcAft>
              <a:buClr>
                <a:schemeClr val="dk1"/>
              </a:buClr>
              <a:buSzPts val="2700"/>
              <a:buFont typeface="Calibri"/>
              <a:buChar char="●"/>
            </a:pPr>
            <a:r>
              <a:rPr lang="en-US" sz="2700" dirty="0" err="1">
                <a:solidFill>
                  <a:schemeClr val="dk1"/>
                </a:solidFill>
                <a:latin typeface="Calibri"/>
                <a:ea typeface="Calibri"/>
                <a:cs typeface="Calibri"/>
                <a:sym typeface="Calibri"/>
              </a:rPr>
              <a:t>Karsy</a:t>
            </a:r>
            <a:r>
              <a:rPr lang="en-US" sz="2700" dirty="0">
                <a:solidFill>
                  <a:schemeClr val="dk1"/>
                </a:solidFill>
                <a:latin typeface="Calibri"/>
                <a:ea typeface="Calibri"/>
                <a:cs typeface="Calibri"/>
                <a:sym typeface="Calibri"/>
              </a:rPr>
              <a:t> M, Hawryluk G. Modern Medical Management of Spinal Cord Injury. Curr Neurol </a:t>
            </a:r>
            <a:r>
              <a:rPr lang="en-US" sz="2700" dirty="0" err="1">
                <a:solidFill>
                  <a:schemeClr val="dk1"/>
                </a:solidFill>
                <a:latin typeface="Calibri"/>
                <a:ea typeface="Calibri"/>
                <a:cs typeface="Calibri"/>
                <a:sym typeface="Calibri"/>
              </a:rPr>
              <a:t>Neurosci</a:t>
            </a:r>
            <a:r>
              <a:rPr lang="en-US" sz="2700" dirty="0">
                <a:solidFill>
                  <a:schemeClr val="dk1"/>
                </a:solidFill>
                <a:latin typeface="Calibri"/>
                <a:ea typeface="Calibri"/>
                <a:cs typeface="Calibri"/>
                <a:sym typeface="Calibri"/>
              </a:rPr>
              <a:t> Rep. 2019 Jul 30;19(9):65. </a:t>
            </a:r>
            <a:r>
              <a:rPr lang="en-US" sz="2700" dirty="0" err="1">
                <a:solidFill>
                  <a:schemeClr val="dk1"/>
                </a:solidFill>
                <a:latin typeface="Calibri"/>
                <a:ea typeface="Calibri"/>
                <a:cs typeface="Calibri"/>
                <a:sym typeface="Calibri"/>
              </a:rPr>
              <a:t>doi</a:t>
            </a:r>
            <a:r>
              <a:rPr lang="en-US" sz="2700" dirty="0">
                <a:solidFill>
                  <a:schemeClr val="dk1"/>
                </a:solidFill>
                <a:latin typeface="Calibri"/>
                <a:ea typeface="Calibri"/>
                <a:cs typeface="Calibri"/>
                <a:sym typeface="Calibri"/>
              </a:rPr>
              <a:t>: 10.1007/s11910-019-0984-1. PMID: 31363857.</a:t>
            </a:r>
            <a:endParaRPr sz="2700" dirty="0">
              <a:solidFill>
                <a:schemeClr val="dk1"/>
              </a:solidFill>
              <a:latin typeface="Calibri"/>
              <a:ea typeface="Calibri"/>
              <a:cs typeface="Calibri"/>
              <a:sym typeface="Calibri"/>
            </a:endParaRPr>
          </a:p>
        </p:txBody>
      </p:sp>
      <p:sp>
        <p:nvSpPr>
          <p:cNvPr id="100" name="Google Shape;100;g34e5512c6aa_1_0"/>
          <p:cNvSpPr/>
          <p:nvPr/>
        </p:nvSpPr>
        <p:spPr>
          <a:xfrm>
            <a:off x="22288545" y="4328207"/>
            <a:ext cx="9944100" cy="10803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spcBef>
                <a:spcPts val="0"/>
              </a:spcBef>
              <a:spcAft>
                <a:spcPts val="0"/>
              </a:spcAft>
              <a:buNone/>
            </a:pPr>
            <a:r>
              <a:rPr lang="en-US" sz="5200">
                <a:solidFill>
                  <a:schemeClr val="lt1"/>
                </a:solidFill>
                <a:latin typeface="Calibri"/>
                <a:ea typeface="Calibri"/>
                <a:cs typeface="Calibri"/>
                <a:sym typeface="Calibri"/>
              </a:rPr>
              <a:t>Discussion</a:t>
            </a:r>
            <a:endParaRPr sz="1000"/>
          </a:p>
        </p:txBody>
      </p:sp>
      <p:sp>
        <p:nvSpPr>
          <p:cNvPr id="101" name="Google Shape;101;g34e5512c6aa_1_0"/>
          <p:cNvSpPr/>
          <p:nvPr/>
        </p:nvSpPr>
        <p:spPr>
          <a:xfrm>
            <a:off x="22219913" y="5408600"/>
            <a:ext cx="9944100" cy="9224100"/>
          </a:xfrm>
          <a:prstGeom prst="rect">
            <a:avLst/>
          </a:prstGeom>
          <a:solidFill>
            <a:schemeClr val="lt1">
              <a:alpha val="49800"/>
            </a:schemeClr>
          </a:solidFill>
          <a:ln>
            <a:noFill/>
          </a:ln>
        </p:spPr>
        <p:txBody>
          <a:bodyPr spcFirstLastPara="1" wrap="square" lIns="66025" tIns="33000" rIns="66025" bIns="33000" anchor="t" anchorCtr="0">
            <a:noAutofit/>
          </a:bodyPr>
          <a:lstStyle/>
          <a:p>
            <a:pPr marR="0" lvl="0" indent="28575" rtl="0">
              <a:spcBef>
                <a:spcPts val="0"/>
              </a:spcBef>
              <a:spcAft>
                <a:spcPts val="0"/>
              </a:spcAft>
              <a:buNone/>
            </a:pPr>
            <a:r>
              <a:rPr lang="en-US" sz="3300" dirty="0">
                <a:solidFill>
                  <a:schemeClr val="dk1"/>
                </a:solidFill>
                <a:latin typeface="Calibri"/>
                <a:ea typeface="Calibri"/>
                <a:cs typeface="Calibri"/>
                <a:sym typeface="Calibri"/>
              </a:rPr>
              <a:t>It can be challenging to evaluate patients with multiple overlapping acute pathologies. This SCI went undiagnosed for multiple reasons:</a:t>
            </a:r>
            <a:endParaRPr sz="3300" dirty="0">
              <a:solidFill>
                <a:schemeClr val="dk1"/>
              </a:solidFill>
              <a:latin typeface="Calibri"/>
              <a:ea typeface="Calibri"/>
              <a:cs typeface="Calibri"/>
              <a:sym typeface="Calibri"/>
            </a:endParaRPr>
          </a:p>
          <a:p>
            <a:pPr marL="0" marR="0" lvl="0" indent="330200" algn="l" rtl="0">
              <a:spcBef>
                <a:spcPts val="0"/>
              </a:spcBef>
              <a:spcAft>
                <a:spcPts val="0"/>
              </a:spcAft>
              <a:buNone/>
            </a:pPr>
            <a:endParaRPr sz="3300" dirty="0">
              <a:solidFill>
                <a:schemeClr val="dk1"/>
              </a:solidFill>
              <a:latin typeface="Calibri"/>
              <a:ea typeface="Calibri"/>
              <a:cs typeface="Calibri"/>
              <a:sym typeface="Calibri"/>
            </a:endParaRPr>
          </a:p>
          <a:p>
            <a:pPr marL="990600" marR="0" lvl="0" indent="-374650" algn="l" rtl="0">
              <a:spcBef>
                <a:spcPts val="0"/>
              </a:spcBef>
              <a:spcAft>
                <a:spcPts val="0"/>
              </a:spcAft>
              <a:buClr>
                <a:schemeClr val="dk1"/>
              </a:buClr>
              <a:buSzPts val="3300"/>
              <a:buFont typeface="Calibri"/>
              <a:buChar char="-"/>
            </a:pPr>
            <a:r>
              <a:rPr lang="en-US" sz="3300" b="1" dirty="0">
                <a:solidFill>
                  <a:schemeClr val="dk1"/>
                </a:solidFill>
                <a:latin typeface="Calibri"/>
                <a:ea typeface="Calibri"/>
                <a:cs typeface="Calibri"/>
                <a:sym typeface="Calibri"/>
              </a:rPr>
              <a:t>Rarity</a:t>
            </a:r>
            <a:r>
              <a:rPr lang="en-US" sz="3300" dirty="0">
                <a:solidFill>
                  <a:schemeClr val="dk1"/>
                </a:solidFill>
                <a:latin typeface="Calibri"/>
                <a:ea typeface="Calibri"/>
                <a:cs typeface="Calibri"/>
                <a:sym typeface="Calibri"/>
              </a:rPr>
              <a:t> of this specific injury due to ground-level fall</a:t>
            </a:r>
            <a:endParaRPr sz="3300" dirty="0">
              <a:solidFill>
                <a:schemeClr val="dk1"/>
              </a:solidFill>
              <a:latin typeface="Calibri"/>
              <a:ea typeface="Calibri"/>
              <a:cs typeface="Calibri"/>
              <a:sym typeface="Calibri"/>
            </a:endParaRPr>
          </a:p>
          <a:p>
            <a:pPr marL="990600" marR="0" lvl="0" indent="-374650" algn="l" rtl="0">
              <a:spcBef>
                <a:spcPts val="0"/>
              </a:spcBef>
              <a:spcAft>
                <a:spcPts val="0"/>
              </a:spcAft>
              <a:buClr>
                <a:schemeClr val="dk1"/>
              </a:buClr>
              <a:buSzPts val="3300"/>
              <a:buFont typeface="Calibri"/>
              <a:buChar char="-"/>
            </a:pPr>
            <a:r>
              <a:rPr lang="en-US" sz="3300" b="1" dirty="0">
                <a:solidFill>
                  <a:schemeClr val="dk1"/>
                </a:solidFill>
                <a:latin typeface="Calibri"/>
                <a:ea typeface="Calibri"/>
                <a:cs typeface="Calibri"/>
                <a:sym typeface="Calibri"/>
              </a:rPr>
              <a:t>Obfuscation</a:t>
            </a:r>
            <a:r>
              <a:rPr lang="en-US" sz="3300" dirty="0">
                <a:solidFill>
                  <a:schemeClr val="dk1"/>
                </a:solidFill>
                <a:latin typeface="Calibri"/>
                <a:ea typeface="Calibri"/>
                <a:cs typeface="Calibri"/>
                <a:sym typeface="Calibri"/>
              </a:rPr>
              <a:t> of initial physical exam</a:t>
            </a:r>
            <a:endParaRPr sz="3300" dirty="0">
              <a:solidFill>
                <a:schemeClr val="dk1"/>
              </a:solidFill>
              <a:latin typeface="Calibri"/>
              <a:ea typeface="Calibri"/>
              <a:cs typeface="Calibri"/>
              <a:sym typeface="Calibri"/>
            </a:endParaRPr>
          </a:p>
          <a:p>
            <a:pPr marL="990600" marR="0" lvl="0" indent="-374650" algn="l" rtl="0">
              <a:spcBef>
                <a:spcPts val="0"/>
              </a:spcBef>
              <a:spcAft>
                <a:spcPts val="0"/>
              </a:spcAft>
              <a:buClr>
                <a:schemeClr val="dk1"/>
              </a:buClr>
              <a:buSzPts val="3300"/>
              <a:buFont typeface="Calibri"/>
              <a:buChar char="-"/>
            </a:pPr>
            <a:r>
              <a:rPr lang="en-US" sz="3300" b="1" dirty="0">
                <a:solidFill>
                  <a:schemeClr val="dk1"/>
                </a:solidFill>
                <a:latin typeface="Calibri"/>
                <a:ea typeface="Calibri"/>
                <a:cs typeface="Calibri"/>
                <a:sym typeface="Calibri"/>
              </a:rPr>
              <a:t>Distrust</a:t>
            </a:r>
            <a:r>
              <a:rPr lang="en-US" sz="3300" dirty="0">
                <a:solidFill>
                  <a:schemeClr val="dk1"/>
                </a:solidFill>
                <a:latin typeface="Calibri"/>
                <a:ea typeface="Calibri"/>
                <a:cs typeface="Calibri"/>
                <a:sym typeface="Calibri"/>
              </a:rPr>
              <a:t> of pt’s subjective information</a:t>
            </a:r>
            <a:endParaRPr sz="3300" dirty="0">
              <a:solidFill>
                <a:schemeClr val="dk1"/>
              </a:solidFill>
              <a:latin typeface="Calibri"/>
              <a:ea typeface="Calibri"/>
              <a:cs typeface="Calibri"/>
              <a:sym typeface="Calibri"/>
            </a:endParaRPr>
          </a:p>
          <a:p>
            <a:pPr marL="990600" marR="0" lvl="0" indent="-374650" algn="l" rtl="0">
              <a:spcBef>
                <a:spcPts val="0"/>
              </a:spcBef>
              <a:spcAft>
                <a:spcPts val="0"/>
              </a:spcAft>
              <a:buClr>
                <a:schemeClr val="dk1"/>
              </a:buClr>
              <a:buSzPts val="3300"/>
              <a:buFont typeface="Calibri"/>
              <a:buChar char="-"/>
            </a:pPr>
            <a:r>
              <a:rPr lang="en-US" sz="3300" dirty="0">
                <a:solidFill>
                  <a:schemeClr val="dk1"/>
                </a:solidFill>
                <a:latin typeface="Calibri"/>
                <a:ea typeface="Calibri"/>
                <a:cs typeface="Calibri"/>
                <a:sym typeface="Calibri"/>
              </a:rPr>
              <a:t>Patient </a:t>
            </a:r>
            <a:r>
              <a:rPr lang="en-US" sz="3300" b="1" dirty="0">
                <a:solidFill>
                  <a:schemeClr val="dk1"/>
                </a:solidFill>
                <a:latin typeface="Calibri"/>
                <a:ea typeface="Calibri"/>
                <a:cs typeface="Calibri"/>
                <a:sym typeface="Calibri"/>
              </a:rPr>
              <a:t>compliance</a:t>
            </a:r>
            <a:endParaRPr sz="3300" b="1" dirty="0">
              <a:solidFill>
                <a:schemeClr val="dk1"/>
              </a:solidFill>
              <a:latin typeface="Calibri"/>
              <a:ea typeface="Calibri"/>
              <a:cs typeface="Calibri"/>
              <a:sym typeface="Calibri"/>
            </a:endParaRPr>
          </a:p>
          <a:p>
            <a:pPr marL="990600" marR="0" lvl="0" indent="-374650" algn="l" rtl="0">
              <a:spcBef>
                <a:spcPts val="0"/>
              </a:spcBef>
              <a:spcAft>
                <a:spcPts val="0"/>
              </a:spcAft>
              <a:buClr>
                <a:schemeClr val="dk1"/>
              </a:buClr>
              <a:buSzPts val="3300"/>
              <a:buFont typeface="Calibri"/>
              <a:buChar char="-"/>
            </a:pPr>
            <a:r>
              <a:rPr lang="en-US" sz="3300" b="1" dirty="0">
                <a:solidFill>
                  <a:schemeClr val="dk1"/>
                </a:solidFill>
                <a:latin typeface="Calibri"/>
                <a:ea typeface="Calibri"/>
                <a:cs typeface="Calibri"/>
                <a:sym typeface="Calibri"/>
              </a:rPr>
              <a:t>Search satisfaction</a:t>
            </a:r>
            <a:endParaRPr sz="3300" b="1" dirty="0">
              <a:solidFill>
                <a:schemeClr val="dk1"/>
              </a:solidFill>
              <a:latin typeface="Calibri"/>
              <a:ea typeface="Calibri"/>
              <a:cs typeface="Calibri"/>
              <a:sym typeface="Calibri"/>
            </a:endParaRPr>
          </a:p>
          <a:p>
            <a:pPr marL="0" marR="0" lvl="0" indent="330200" algn="just" rtl="0">
              <a:spcBef>
                <a:spcPts val="0"/>
              </a:spcBef>
              <a:spcAft>
                <a:spcPts val="0"/>
              </a:spcAft>
              <a:buNone/>
            </a:pPr>
            <a:endParaRPr lang="en-US" sz="3300" b="1" dirty="0">
              <a:solidFill>
                <a:schemeClr val="dk1"/>
              </a:solidFill>
              <a:latin typeface="Calibri"/>
              <a:ea typeface="Calibri"/>
              <a:cs typeface="Calibri"/>
              <a:sym typeface="Calibri"/>
            </a:endParaRPr>
          </a:p>
          <a:p>
            <a:pPr marL="28575" marR="0" lvl="0" rtl="0">
              <a:spcBef>
                <a:spcPts val="0"/>
              </a:spcBef>
              <a:spcAft>
                <a:spcPts val="0"/>
              </a:spcAft>
              <a:buNone/>
            </a:pPr>
            <a:r>
              <a:rPr lang="en-US" sz="3300" dirty="0">
                <a:solidFill>
                  <a:schemeClr val="dk1"/>
                </a:solidFill>
                <a:latin typeface="Calibri"/>
                <a:ea typeface="Calibri"/>
                <a:cs typeface="Calibri"/>
                <a:sym typeface="Calibri"/>
              </a:rPr>
              <a:t>The rarity of this case was the most significant factor contributing to the delayed diagnosis. 58 year old men do not simply fall from ground level and injure their spinal cord, especially without a vertebral fracture. The suspected mechanism is a combination of a cord strain in a whiplash like injury, with the cord being pinched due to severe central canal stenosis, resulting in a  straining force. </a:t>
            </a:r>
            <a:endParaRPr sz="3300" dirty="0">
              <a:solidFill>
                <a:schemeClr val="dk1"/>
              </a:solidFill>
              <a:latin typeface="Calibri"/>
              <a:ea typeface="Calibri"/>
              <a:cs typeface="Calibri"/>
              <a:sym typeface="Calibri"/>
            </a:endParaRPr>
          </a:p>
        </p:txBody>
      </p:sp>
      <p:pic>
        <p:nvPicPr>
          <p:cNvPr id="102" name="Google Shape;102;g34e5512c6aa_1_0"/>
          <p:cNvPicPr preferRelativeResize="0"/>
          <p:nvPr/>
        </p:nvPicPr>
        <p:blipFill rotWithShape="1">
          <a:blip r:embed="rId3">
            <a:alphaModFix/>
          </a:blip>
          <a:srcRect l="3985" r="5426"/>
          <a:stretch/>
        </p:blipFill>
        <p:spPr>
          <a:xfrm>
            <a:off x="13084210" y="13529767"/>
            <a:ext cx="6699026" cy="6602367"/>
          </a:xfrm>
          <a:prstGeom prst="rect">
            <a:avLst/>
          </a:prstGeom>
          <a:noFill/>
          <a:ln>
            <a:noFill/>
          </a:ln>
        </p:spPr>
      </p:pic>
      <p:pic>
        <p:nvPicPr>
          <p:cNvPr id="103" name="Google Shape;103;g34e5512c6aa_1_0"/>
          <p:cNvPicPr preferRelativeResize="0"/>
          <p:nvPr/>
        </p:nvPicPr>
        <p:blipFill rotWithShape="1">
          <a:blip r:embed="rId4">
            <a:alphaModFix/>
          </a:blip>
          <a:srcRect t="12223" b="4283"/>
          <a:stretch/>
        </p:blipFill>
        <p:spPr>
          <a:xfrm>
            <a:off x="13563134" y="5506254"/>
            <a:ext cx="5954683" cy="6602370"/>
          </a:xfrm>
          <a:prstGeom prst="rect">
            <a:avLst/>
          </a:prstGeom>
          <a:noFill/>
          <a:ln>
            <a:noFill/>
          </a:ln>
        </p:spPr>
      </p:pic>
      <p:sp>
        <p:nvSpPr>
          <p:cNvPr id="104" name="Google Shape;104;g34e5512c6aa_1_0"/>
          <p:cNvSpPr/>
          <p:nvPr/>
        </p:nvSpPr>
        <p:spPr>
          <a:xfrm>
            <a:off x="11487150" y="12162400"/>
            <a:ext cx="9944100" cy="1205400"/>
          </a:xfrm>
          <a:prstGeom prst="rect">
            <a:avLst/>
          </a:prstGeom>
          <a:solidFill>
            <a:schemeClr val="lt1"/>
          </a:solidFill>
          <a:ln>
            <a:noFill/>
          </a:ln>
        </p:spPr>
        <p:txBody>
          <a:bodyPr spcFirstLastPara="1" wrap="square" lIns="66025" tIns="33000" rIns="66025" bIns="33000" anchor="t" anchorCtr="0">
            <a:noAutofit/>
          </a:bodyPr>
          <a:lstStyle/>
          <a:p>
            <a:pPr marL="0" marR="0" lvl="0" indent="0" algn="l" rtl="0">
              <a:spcBef>
                <a:spcPts val="0"/>
              </a:spcBef>
              <a:spcAft>
                <a:spcPts val="0"/>
              </a:spcAft>
              <a:buNone/>
            </a:pPr>
            <a:r>
              <a:rPr lang="en-US" sz="2600" dirty="0">
                <a:solidFill>
                  <a:schemeClr val="dk1"/>
                </a:solidFill>
                <a:latin typeface="Calibri"/>
                <a:ea typeface="Calibri"/>
                <a:cs typeface="Calibri"/>
                <a:sym typeface="Calibri"/>
              </a:rPr>
              <a:t>Figure 1: Sagittal CT - Vertebral column shows significant degenerative changes and central canal narrowing, but no fractures, dislocations, or malalignments </a:t>
            </a:r>
            <a:endParaRPr sz="2600" dirty="0">
              <a:solidFill>
                <a:schemeClr val="dk1"/>
              </a:solidFill>
              <a:latin typeface="Calibri"/>
              <a:ea typeface="Calibri"/>
              <a:cs typeface="Calibri"/>
              <a:sym typeface="Calibri"/>
            </a:endParaRPr>
          </a:p>
        </p:txBody>
      </p:sp>
      <p:sp>
        <p:nvSpPr>
          <p:cNvPr id="105" name="Google Shape;105;g34e5512c6aa_1_0"/>
          <p:cNvSpPr/>
          <p:nvPr/>
        </p:nvSpPr>
        <p:spPr>
          <a:xfrm>
            <a:off x="11568422" y="20294100"/>
            <a:ext cx="9944100" cy="1205400"/>
          </a:xfrm>
          <a:prstGeom prst="rect">
            <a:avLst/>
          </a:prstGeom>
          <a:solidFill>
            <a:schemeClr val="lt1"/>
          </a:solidFill>
          <a:ln>
            <a:noFill/>
          </a:ln>
        </p:spPr>
        <p:txBody>
          <a:bodyPr spcFirstLastPara="1" wrap="square" lIns="66025" tIns="33000" rIns="66025" bIns="33000" anchor="t" anchorCtr="0">
            <a:noAutofit/>
          </a:bodyPr>
          <a:lstStyle/>
          <a:p>
            <a:pPr marL="0" marR="0" lvl="0" indent="0" algn="l" rtl="0">
              <a:spcBef>
                <a:spcPts val="0"/>
              </a:spcBef>
              <a:spcAft>
                <a:spcPts val="0"/>
              </a:spcAft>
              <a:buNone/>
            </a:pPr>
            <a:r>
              <a:rPr lang="en-US" sz="2600">
                <a:solidFill>
                  <a:schemeClr val="dk1"/>
                </a:solidFill>
                <a:latin typeface="Calibri"/>
                <a:ea typeface="Calibri"/>
                <a:cs typeface="Calibri"/>
                <a:sym typeface="Calibri"/>
              </a:rPr>
              <a:t>Figure 2: Sagittal MRI/STIR - Hyperintense signal abnormality in the region of C5-C7. Increased signal in posterior neck signifying possible soft tissue injury</a:t>
            </a:r>
            <a:endParaRPr sz="2600">
              <a:solidFill>
                <a:schemeClr val="dk1"/>
              </a:solidFill>
              <a:latin typeface="Calibri"/>
              <a:ea typeface="Calibri"/>
              <a:cs typeface="Calibri"/>
              <a:sym typeface="Calibri"/>
            </a:endParaRPr>
          </a:p>
        </p:txBody>
      </p:sp>
      <p:cxnSp>
        <p:nvCxnSpPr>
          <p:cNvPr id="106" name="Google Shape;106;g34e5512c6aa_1_0"/>
          <p:cNvCxnSpPr/>
          <p:nvPr/>
        </p:nvCxnSpPr>
        <p:spPr>
          <a:xfrm>
            <a:off x="14343188" y="16164117"/>
            <a:ext cx="2094900" cy="1059900"/>
          </a:xfrm>
          <a:prstGeom prst="straightConnector1">
            <a:avLst/>
          </a:prstGeom>
          <a:noFill/>
          <a:ln w="38100" cap="flat" cmpd="sng">
            <a:solidFill>
              <a:srgbClr val="FF0000"/>
            </a:solidFill>
            <a:prstDash val="solid"/>
            <a:round/>
            <a:headEnd type="none" w="med" len="med"/>
            <a:tailEnd type="triangle" w="med" len="med"/>
          </a:ln>
        </p:spPr>
      </p:cxnSp>
      <p:cxnSp>
        <p:nvCxnSpPr>
          <p:cNvPr id="107" name="Google Shape;107;g34e5512c6aa_1_0"/>
          <p:cNvCxnSpPr/>
          <p:nvPr/>
        </p:nvCxnSpPr>
        <p:spPr>
          <a:xfrm flipH="1">
            <a:off x="17444850" y="15988533"/>
            <a:ext cx="934500" cy="1174500"/>
          </a:xfrm>
          <a:prstGeom prst="straightConnector1">
            <a:avLst/>
          </a:prstGeom>
          <a:noFill/>
          <a:ln w="38100" cap="flat" cmpd="sng">
            <a:solidFill>
              <a:srgbClr val="FF0000"/>
            </a:solidFill>
            <a:prstDash val="solid"/>
            <a:round/>
            <a:headEnd type="none" w="med" len="med"/>
            <a:tailEnd type="triangle" w="med" len="med"/>
          </a:ln>
        </p:spPr>
      </p:cxnSp>
      <p:pic>
        <p:nvPicPr>
          <p:cNvPr id="108" name="Picture 107" descr="47C.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942</Words>
  <Application>Microsoft Macintosh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2025-04-25T03:03:28Z</dcterms:modified>
</cp:coreProperties>
</file>