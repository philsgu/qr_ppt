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hjLX8skny68Q0OF/dHNMy0eX63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24"/>
    <p:restoredTop sz="94608"/>
  </p:normalViewPr>
  <p:slideViewPr>
    <p:cSldViewPr snapToGrid="0">
      <p:cViewPr varScale="1">
        <p:scale>
          <a:sx n="40" d="100"/>
          <a:sy n="40" d="100"/>
        </p:scale>
        <p:origin x="2408" y="30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3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67CE511E-A5F4-366D-EC13-405154F69342}"/>
              </a:ext>
            </a:extLst>
          </p:cNvPr>
          <p:cNvGrpSpPr/>
          <p:nvPr/>
        </p:nvGrpSpPr>
        <p:grpSpPr>
          <a:xfrm>
            <a:off x="314326" y="299468"/>
            <a:ext cx="32146874" cy="21160357"/>
            <a:chOff x="2499360" y="298966"/>
            <a:chExt cx="28021273" cy="21298584"/>
          </a:xfrm>
        </p:grpSpPr>
        <p:sp>
          <p:nvSpPr>
            <p:cNvPr id="89" name="Google Shape;89;g33f5d42d367_0_31"/>
            <p:cNvSpPr/>
            <p:nvPr/>
          </p:nvSpPr>
          <p:spPr>
            <a:xfrm>
              <a:off x="2499360" y="844034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31"/>
            <p:cNvSpPr/>
            <p:nvPr/>
          </p:nvSpPr>
          <p:spPr>
            <a:xfrm>
              <a:off x="2569080" y="9768976"/>
              <a:ext cx="8839200" cy="10622322"/>
            </a:xfrm>
            <a:prstGeom prst="rect">
              <a:avLst/>
            </a:prstGeom>
            <a:solidFill>
              <a:schemeClr val="lt1"/>
            </a:solidFill>
            <a:ln>
              <a:noFill/>
            </a:ln>
          </p:spPr>
          <p:txBody>
            <a:bodyPr spcFirstLastPara="1" wrap="square" lIns="60950" tIns="30467" rIns="60950" bIns="30467" anchor="t" anchorCtr="0">
              <a:noAutofit/>
            </a:bodyPr>
            <a:lstStyle/>
            <a:p>
              <a:pPr>
                <a:buSzPts val="1100"/>
              </a:pPr>
              <a:r>
                <a:rPr lang="en-US" sz="2200" dirty="0">
                  <a:solidFill>
                    <a:srgbClr val="222222"/>
                  </a:solidFill>
                  <a:highlight>
                    <a:srgbClr val="FFFFFF"/>
                  </a:highlight>
                </a:rPr>
                <a:t>Table1 displays a table with patient demographics, presenting complaints, associated labs. Figure 1 &amp; 2 show echocardiogram findings.</a:t>
              </a:r>
              <a:br>
                <a:rPr lang="en-US" sz="2200" dirty="0">
                  <a:solidFill>
                    <a:srgbClr val="222222"/>
                  </a:solidFill>
                  <a:highlight>
                    <a:srgbClr val="FFFFFF"/>
                  </a:highlight>
                </a:rPr>
              </a:br>
              <a:endParaRPr sz="2200" dirty="0">
                <a:solidFill>
                  <a:srgbClr val="222222"/>
                </a:solidFill>
                <a:highlight>
                  <a:srgbClr val="FFFFFF"/>
                </a:highlight>
              </a:endParaRPr>
            </a:p>
            <a:p>
              <a:pPr>
                <a:buSzPts val="1100"/>
              </a:pPr>
              <a:r>
                <a:rPr lang="en-US" sz="2200" dirty="0">
                  <a:solidFill>
                    <a:srgbClr val="222222"/>
                  </a:solidFill>
                  <a:highlight>
                    <a:srgbClr val="FFFFFF"/>
                  </a:highlight>
                </a:rPr>
                <a:t>Case 1:</a:t>
              </a:r>
              <a:endParaRPr sz="2200" dirty="0">
                <a:solidFill>
                  <a:srgbClr val="222222"/>
                </a:solidFill>
                <a:highlight>
                  <a:srgbClr val="FFFFFF"/>
                </a:highlight>
              </a:endParaRPr>
            </a:p>
            <a:p>
              <a:pPr>
                <a:buSzPts val="1100"/>
              </a:pPr>
              <a:r>
                <a:rPr lang="en-US" sz="2200" dirty="0">
                  <a:solidFill>
                    <a:srgbClr val="222222"/>
                  </a:solidFill>
                  <a:highlight>
                    <a:srgbClr val="FFFFFF"/>
                  </a:highlight>
                </a:rPr>
                <a:t>A 52-year-old male with a past medical history of congestive systolic and diastolic heart failure, hypertension, coronary artery disease, type 2 diabetes mellitus, alcoholic cirrhosis, paroxysmal atrial fibrillation was evaluated for dyspnea in the emergency department (ED). He had an intracardiac thrombus, was started on a heparin drip, and underwent aspiration of the clot. A thrombophilia workup was negative.</a:t>
              </a:r>
              <a:br>
                <a:rPr lang="en-US" sz="2200" dirty="0">
                  <a:solidFill>
                    <a:srgbClr val="222222"/>
                  </a:solidFill>
                  <a:highlight>
                    <a:srgbClr val="FFFFFF"/>
                  </a:highlight>
                </a:rPr>
              </a:br>
              <a:endParaRPr sz="2200" dirty="0">
                <a:solidFill>
                  <a:srgbClr val="222222"/>
                </a:solidFill>
                <a:highlight>
                  <a:srgbClr val="FFFFFF"/>
                </a:highlight>
              </a:endParaRPr>
            </a:p>
            <a:p>
              <a:pPr>
                <a:buSzPts val="1100"/>
              </a:pPr>
              <a:r>
                <a:rPr lang="en-US" sz="2200" dirty="0">
                  <a:solidFill>
                    <a:srgbClr val="222222"/>
                  </a:solidFill>
                  <a:highlight>
                    <a:srgbClr val="FFFFFF"/>
                  </a:highlight>
                </a:rPr>
                <a:t>Case 2:</a:t>
              </a:r>
              <a:endParaRPr sz="2200" dirty="0">
                <a:solidFill>
                  <a:srgbClr val="222222"/>
                </a:solidFill>
                <a:highlight>
                  <a:srgbClr val="FFFFFF"/>
                </a:highlight>
              </a:endParaRPr>
            </a:p>
            <a:p>
              <a:pPr>
                <a:buSzPts val="1100"/>
              </a:pPr>
              <a:r>
                <a:rPr lang="en-US" sz="2200" dirty="0">
                  <a:solidFill>
                    <a:srgbClr val="222222"/>
                  </a:solidFill>
                  <a:highlight>
                    <a:srgbClr val="FFFFFF"/>
                  </a:highlight>
                </a:rPr>
                <a:t>A 59-year-old male with a past medical history of right lower extremity DVT, type 2 diabetes mellitus, right above-the-knee amputation, hypertension, hyperlipidemia, and nicotine dependence presented to the ED </a:t>
              </a:r>
              <a:r>
                <a:rPr lang="en-US" sz="2200" dirty="0" err="1">
                  <a:solidFill>
                    <a:srgbClr val="222222"/>
                  </a:solidFill>
                  <a:highlight>
                    <a:srgbClr val="FFFFFF"/>
                  </a:highlight>
                </a:rPr>
                <a:t>withdyspnea</a:t>
              </a:r>
              <a:r>
                <a:rPr lang="en-US" sz="2200" dirty="0">
                  <a:solidFill>
                    <a:srgbClr val="222222"/>
                  </a:solidFill>
                  <a:highlight>
                    <a:srgbClr val="FFFFFF"/>
                  </a:highlight>
                </a:rPr>
                <a:t>. He was found to have an intracardiac thrombus which was aspirated. He remained stable and was discharged on apixaban.</a:t>
              </a:r>
              <a:br>
                <a:rPr lang="en-US" sz="2200" dirty="0">
                  <a:solidFill>
                    <a:srgbClr val="222222"/>
                  </a:solidFill>
                  <a:highlight>
                    <a:srgbClr val="FFFFFF"/>
                  </a:highlight>
                </a:rPr>
              </a:br>
              <a:endParaRPr sz="2200" dirty="0">
                <a:solidFill>
                  <a:srgbClr val="222222"/>
                </a:solidFill>
                <a:highlight>
                  <a:srgbClr val="FFFFFF"/>
                </a:highlight>
              </a:endParaRPr>
            </a:p>
            <a:p>
              <a:pPr>
                <a:buSzPts val="1100"/>
              </a:pPr>
              <a:r>
                <a:rPr lang="en-US" sz="2200" dirty="0">
                  <a:solidFill>
                    <a:srgbClr val="222222"/>
                  </a:solidFill>
                  <a:highlight>
                    <a:srgbClr val="FFFFFF"/>
                  </a:highlight>
                </a:rPr>
                <a:t>Case 3:</a:t>
              </a:r>
              <a:endParaRPr sz="2200" dirty="0">
                <a:solidFill>
                  <a:srgbClr val="222222"/>
                </a:solidFill>
                <a:highlight>
                  <a:srgbClr val="FFFFFF"/>
                </a:highlight>
              </a:endParaRPr>
            </a:p>
            <a:p>
              <a:pPr>
                <a:buSzPts val="1100"/>
              </a:pPr>
              <a:r>
                <a:rPr lang="en-US" sz="2200" dirty="0">
                  <a:solidFill>
                    <a:srgbClr val="222222"/>
                  </a:solidFill>
                  <a:highlight>
                    <a:srgbClr val="FFFFFF"/>
                  </a:highlight>
                </a:rPr>
                <a:t>A 71-year-old male with a past medical history of alcohol use disorder and hypertension presented to the ED with complaints of hematuria, dyspnea, and palpitations. The workup revealed an intracardiac thrombus and bilateral pulmonary emboli. He was started on </a:t>
              </a:r>
              <a:r>
                <a:rPr lang="en-US" sz="2200" dirty="0" err="1">
                  <a:solidFill>
                    <a:srgbClr val="222222"/>
                  </a:solidFill>
                  <a:highlight>
                    <a:srgbClr val="FFFFFF"/>
                  </a:highlight>
                </a:rPr>
                <a:t>Lovenox</a:t>
              </a:r>
              <a:r>
                <a:rPr lang="en-US" sz="2200" dirty="0">
                  <a:solidFill>
                    <a:srgbClr val="222222"/>
                  </a:solidFill>
                  <a:highlight>
                    <a:srgbClr val="FFFFFF"/>
                  </a:highlight>
                </a:rPr>
                <a:t> therapeutically, underwent aspiration of intracardiac thrombus, thrombectomy of bilateral pulmonary emboli, and switched to a heparin drip. He remained stable and was discharged on apixaban.</a:t>
              </a:r>
              <a:br>
                <a:rPr lang="en-US" sz="2200" dirty="0">
                  <a:solidFill>
                    <a:srgbClr val="222222"/>
                  </a:solidFill>
                  <a:highlight>
                    <a:srgbClr val="FFFFFF"/>
                  </a:highlight>
                </a:rPr>
              </a:br>
              <a:endParaRPr sz="2200" dirty="0">
                <a:solidFill>
                  <a:srgbClr val="222222"/>
                </a:solidFill>
                <a:highlight>
                  <a:srgbClr val="FFFFFF"/>
                </a:highlight>
              </a:endParaRPr>
            </a:p>
            <a:p>
              <a:pPr>
                <a:buClr>
                  <a:schemeClr val="dk1"/>
                </a:buClr>
                <a:buSzPts val="4000"/>
              </a:pPr>
              <a:r>
                <a:rPr lang="en-US" sz="2200" dirty="0">
                  <a:solidFill>
                    <a:srgbClr val="222222"/>
                  </a:solidFill>
                  <a:highlight>
                    <a:schemeClr val="lt1"/>
                  </a:highlight>
                </a:rPr>
                <a:t>Case 4:</a:t>
              </a:r>
              <a:endParaRPr sz="2200" dirty="0">
                <a:solidFill>
                  <a:srgbClr val="222222"/>
                </a:solidFill>
                <a:highlight>
                  <a:schemeClr val="lt1"/>
                </a:highlight>
              </a:endParaRPr>
            </a:p>
            <a:p>
              <a:pPr>
                <a:buClr>
                  <a:schemeClr val="dk1"/>
                </a:buClr>
                <a:buSzPts val="4000"/>
              </a:pPr>
              <a:r>
                <a:rPr lang="en-US" sz="2200" dirty="0">
                  <a:solidFill>
                    <a:srgbClr val="222222"/>
                  </a:solidFill>
                  <a:highlight>
                    <a:schemeClr val="lt1"/>
                  </a:highlight>
                </a:rPr>
                <a:t>A 48-year-old male with a past medical history of alcohol use disorder presented to the ED with dyspnea. He was diagnosed with a low ejection fraction on a bedside ultrasound. His condition worsened and he underwent cardiopulmonary arrest. He was successfully resuscitated and diagnosed with an intracardiac thrombus. He had right pulmonary emboli and right lower extremity DVTs. He underwent aspiration of the intracardiac thrombus and thrombectomy of the right pulmonary emboli. He remained stable and was discharged with apixaban.</a:t>
              </a:r>
              <a:endParaRPr sz="2200" dirty="0">
                <a:solidFill>
                  <a:srgbClr val="222222"/>
                </a:solidFill>
                <a:highlight>
                  <a:srgbClr val="FFFFFF"/>
                </a:highlight>
              </a:endParaRPr>
            </a:p>
          </p:txBody>
        </p:sp>
        <p:sp>
          <p:nvSpPr>
            <p:cNvPr id="91" name="Google Shape;91;g33f5d42d367_0_31"/>
            <p:cNvSpPr/>
            <p:nvPr/>
          </p:nvSpPr>
          <p:spPr>
            <a:xfrm>
              <a:off x="2499360" y="4328160"/>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31"/>
            <p:cNvSpPr/>
            <p:nvPr/>
          </p:nvSpPr>
          <p:spPr>
            <a:xfrm>
              <a:off x="2499367" y="5424367"/>
              <a:ext cx="8839200" cy="2799800"/>
            </a:xfrm>
            <a:prstGeom prst="rect">
              <a:avLst/>
            </a:prstGeom>
            <a:solidFill>
              <a:schemeClr val="lt1"/>
            </a:solidFill>
            <a:ln>
              <a:noFill/>
            </a:ln>
          </p:spPr>
          <p:txBody>
            <a:bodyPr spcFirstLastPara="1" wrap="square" lIns="60950" tIns="30467" rIns="60950" bIns="30467" anchor="ctr" anchorCtr="0">
              <a:noAutofit/>
            </a:bodyPr>
            <a:lstStyle/>
            <a:p>
              <a:pPr>
                <a:buSzPts val="4500"/>
              </a:pPr>
              <a:r>
                <a:rPr lang="en-US" sz="2533">
                  <a:solidFill>
                    <a:srgbClr val="222222"/>
                  </a:solidFill>
                  <a:highlight>
                    <a:srgbClr val="FFFFFF"/>
                  </a:highlight>
                </a:rPr>
                <a:t>A clot-in-transit (CIT) is a rare but serious complication associated with venous thromboembolism. Increasingly recognized due to the availability of point-of-care ultrasound (POCUS). CIT has a five times greater mortality rate ascompared to high-risk pulmonary embolism. We present 4 cases of diagnosed clots in transit at a community hospital with a (Pulmonary Embolism Response Team) PERT team.</a:t>
              </a:r>
              <a:endParaRPr sz="2533">
                <a:solidFill>
                  <a:schemeClr val="lt1"/>
                </a:solidFill>
                <a:latin typeface="Calibri"/>
                <a:ea typeface="Calibri"/>
                <a:cs typeface="Calibri"/>
                <a:sym typeface="Calibri"/>
              </a:endParaRPr>
            </a:p>
          </p:txBody>
        </p:sp>
        <p:sp>
          <p:nvSpPr>
            <p:cNvPr id="93" name="Google Shape;93;g33f5d42d367_0_31"/>
            <p:cNvSpPr/>
            <p:nvPr/>
          </p:nvSpPr>
          <p:spPr>
            <a:xfrm>
              <a:off x="2499360" y="2989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31"/>
            <p:cNvSpPr/>
            <p:nvPr/>
          </p:nvSpPr>
          <p:spPr>
            <a:xfrm>
              <a:off x="6190949" y="1275922"/>
              <a:ext cx="21950000" cy="933600"/>
            </a:xfrm>
            <a:prstGeom prst="rect">
              <a:avLst/>
            </a:prstGeom>
            <a:noFill/>
            <a:ln>
              <a:noFill/>
            </a:ln>
          </p:spPr>
          <p:txBody>
            <a:bodyPr spcFirstLastPara="1" wrap="square" lIns="60950" tIns="30467" rIns="60950" bIns="30467" anchor="t" anchorCtr="0">
              <a:noAutofit/>
            </a:bodyPr>
            <a:lstStyle/>
            <a:p>
              <a:pPr algn="ctr">
                <a:buSzPts val="7700"/>
              </a:pPr>
              <a:r>
                <a:rPr lang="en-US" sz="5134" b="1" dirty="0">
                  <a:solidFill>
                    <a:schemeClr val="lt1"/>
                  </a:solidFill>
                  <a:highlight>
                    <a:srgbClr val="004671"/>
                  </a:highlight>
                  <a:latin typeface="Montserrat"/>
                  <a:ea typeface="Montserrat"/>
                  <a:cs typeface="Montserrat"/>
                  <a:sym typeface="Montserrat"/>
                </a:rPr>
                <a:t>Clot Chronicles: Documenting Cases Of Thrombi In Transit</a:t>
              </a:r>
              <a:endParaRPr sz="5134" b="1" dirty="0">
                <a:solidFill>
                  <a:schemeClr val="lt1"/>
                </a:solidFill>
                <a:highlight>
                  <a:srgbClr val="004671"/>
                </a:highlight>
                <a:latin typeface="Montserrat"/>
                <a:ea typeface="Montserrat"/>
                <a:cs typeface="Montserrat"/>
                <a:sym typeface="Montserrat"/>
              </a:endParaRPr>
            </a:p>
          </p:txBody>
        </p:sp>
        <p:sp>
          <p:nvSpPr>
            <p:cNvPr id="95" name="Google Shape;95;g33f5d42d367_0_31"/>
            <p:cNvSpPr/>
            <p:nvPr/>
          </p:nvSpPr>
          <p:spPr>
            <a:xfrm>
              <a:off x="7727348" y="2390887"/>
              <a:ext cx="18877200" cy="933601"/>
            </a:xfrm>
            <a:prstGeom prst="rect">
              <a:avLst/>
            </a:prstGeom>
            <a:noFill/>
            <a:ln>
              <a:noFill/>
            </a:ln>
          </p:spPr>
          <p:txBody>
            <a:bodyPr spcFirstLastPara="1" wrap="square" lIns="60950" tIns="30467" rIns="60950" bIns="30467" anchor="t" anchorCtr="0">
              <a:noAutofit/>
            </a:bodyPr>
            <a:lstStyle/>
            <a:p>
              <a:pPr algn="ctr">
                <a:buSzPts val="4800"/>
              </a:pPr>
              <a:r>
                <a:rPr lang="en-US" sz="3200" dirty="0">
                  <a:solidFill>
                    <a:schemeClr val="lt1"/>
                  </a:solidFill>
                  <a:highlight>
                    <a:srgbClr val="004671"/>
                  </a:highlight>
                  <a:latin typeface="Montserrat"/>
                  <a:ea typeface="Montserrat"/>
                  <a:cs typeface="Montserrat"/>
                  <a:sym typeface="Montserrat"/>
                </a:rPr>
                <a:t>Aftab Arif, MD; Hamna Javed, MD; Andrew Clark, MD; Pankaj Bharati, MD; Sean Tower, MD</a:t>
              </a:r>
              <a:endParaRPr sz="3200" dirty="0">
                <a:solidFill>
                  <a:schemeClr val="lt1"/>
                </a:solidFill>
                <a:highlight>
                  <a:srgbClr val="004671"/>
                </a:highlight>
                <a:latin typeface="Montserrat"/>
                <a:ea typeface="Montserrat"/>
                <a:cs typeface="Montserrat"/>
                <a:sym typeface="Montserrat"/>
              </a:endParaRPr>
            </a:p>
            <a:p>
              <a:pPr marL="4233" algn="ctr">
                <a:buClr>
                  <a:schemeClr val="lt1"/>
                </a:buClr>
                <a:buSzPts val="3500"/>
              </a:pP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31"/>
            <p:cNvSpPr/>
            <p:nvPr/>
          </p:nvSpPr>
          <p:spPr>
            <a:xfrm>
              <a:off x="11548601" y="15330550"/>
              <a:ext cx="98354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7" name="Google Shape;97;g33f5d42d367_0_31"/>
            <p:cNvSpPr/>
            <p:nvPr/>
          </p:nvSpPr>
          <p:spPr>
            <a:xfrm>
              <a:off x="11548600" y="16490149"/>
              <a:ext cx="9835400" cy="5079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5000"/>
              </a:pPr>
              <a:r>
                <a:rPr lang="en-US" sz="2600" dirty="0">
                  <a:solidFill>
                    <a:srgbClr val="222222"/>
                  </a:solidFill>
                  <a:highlight>
                    <a:schemeClr val="lt1"/>
                  </a:highlight>
                </a:rPr>
                <a:t>Clot-in-transit (CIT) is a rare but life-threatening complication of venous thromboembolism, associated with mortality rates up to 100% without treatment[1][2]. Prompt diagnosis with bedside imaging and intervention is critical. Our cases highlight the success of aspiration thrombectomy combined with anticoagulation, guided by a multidisciplinary PERT approach[3][4]. Percutaneous aspiration offers a minimally invasive alternative to surgery or thrombolysis, particularly in unstable patients[5]. Post-procedural anticoagulation with direct oral anticoagulants (DOACs) is supported by current guidelines[6]. Early recognition, rapid multidisciplinary coordination, and individualized therapy remain key to improving outcomes in patients with CIT.</a:t>
              </a:r>
              <a:endParaRPr sz="2600" dirty="0">
                <a:solidFill>
                  <a:srgbClr val="222222"/>
                </a:solidFill>
                <a:highlight>
                  <a:srgbClr val="FFFFFF"/>
                </a:highlight>
              </a:endParaRPr>
            </a:p>
          </p:txBody>
        </p:sp>
        <p:sp>
          <p:nvSpPr>
            <p:cNvPr id="98" name="Google Shape;98;g33f5d42d367_0_31"/>
            <p:cNvSpPr/>
            <p:nvPr/>
          </p:nvSpPr>
          <p:spPr>
            <a:xfrm>
              <a:off x="21664640" y="15320796"/>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99" name="Google Shape;99;g33f5d42d367_0_31"/>
            <p:cNvSpPr/>
            <p:nvPr/>
          </p:nvSpPr>
          <p:spPr>
            <a:xfrm>
              <a:off x="21681433" y="16337750"/>
              <a:ext cx="8839200" cy="5259800"/>
            </a:xfrm>
            <a:prstGeom prst="rect">
              <a:avLst/>
            </a:prstGeom>
            <a:solidFill>
              <a:schemeClr val="lt1"/>
            </a:solidFill>
            <a:ln>
              <a:noFill/>
            </a:ln>
          </p:spPr>
          <p:txBody>
            <a:bodyPr spcFirstLastPara="1" wrap="square" lIns="60950" tIns="30467" rIns="60950" bIns="30467" anchor="ctr" anchorCtr="0">
              <a:noAutofit/>
            </a:bodyPr>
            <a:lstStyle/>
            <a:p>
              <a:pPr marL="304815" indent="-258246">
                <a:lnSpc>
                  <a:spcPct val="115000"/>
                </a:lnSpc>
                <a:buClr>
                  <a:srgbClr val="222222"/>
                </a:buClr>
                <a:buSzPts val="2500"/>
                <a:buAutoNum type="arabicPeriod"/>
              </a:pPr>
              <a:r>
                <a:rPr lang="en-US" sz="1667" dirty="0">
                  <a:solidFill>
                    <a:srgbClr val="222222"/>
                  </a:solidFill>
                  <a:highlight>
                    <a:srgbClr val="FFFFFF"/>
                  </a:highlight>
                </a:rPr>
                <a:t>Rose PS, Punjabi NM, Pearse DB. Treatment of right heart </a:t>
              </a:r>
              <a:r>
                <a:rPr lang="en-US" sz="1667" dirty="0" err="1">
                  <a:solidFill>
                    <a:srgbClr val="222222"/>
                  </a:solidFill>
                  <a:highlight>
                    <a:srgbClr val="FFFFFF"/>
                  </a:highlight>
                </a:rPr>
                <a:t>thromboemboli</a:t>
              </a:r>
              <a:r>
                <a:rPr lang="en-US" sz="1667" dirty="0">
                  <a:solidFill>
                    <a:srgbClr val="222222"/>
                  </a:solidFill>
                  <a:highlight>
                    <a:srgbClr val="FFFFFF"/>
                  </a:highlight>
                </a:rPr>
                <a:t>. Chest. 2002;121(3):806-814. doi:10.1378/chest.121.3.806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err="1">
                  <a:solidFill>
                    <a:srgbClr val="222222"/>
                  </a:solidFill>
                  <a:highlight>
                    <a:srgbClr val="FFFFFF"/>
                  </a:highlight>
                </a:rPr>
                <a:t>Torbicki</a:t>
              </a:r>
              <a:r>
                <a:rPr lang="en-US" sz="1667" dirty="0">
                  <a:solidFill>
                    <a:srgbClr val="222222"/>
                  </a:solidFill>
                  <a:highlight>
                    <a:srgbClr val="FFFFFF"/>
                  </a:highlight>
                </a:rPr>
                <a:t> A, Galie N, </a:t>
              </a:r>
              <a:r>
                <a:rPr lang="en-US" sz="1667" dirty="0" err="1">
                  <a:solidFill>
                    <a:srgbClr val="222222"/>
                  </a:solidFill>
                  <a:highlight>
                    <a:srgbClr val="FFFFFF"/>
                  </a:highlight>
                </a:rPr>
                <a:t>Covezzoli</a:t>
              </a:r>
              <a:r>
                <a:rPr lang="en-US" sz="1667" dirty="0">
                  <a:solidFill>
                    <a:srgbClr val="222222"/>
                  </a:solidFill>
                  <a:highlight>
                    <a:srgbClr val="FFFFFF"/>
                  </a:highlight>
                </a:rPr>
                <a:t> A, et al. Right heart thrombi in pulmonary embolism: results from the International Cooperative Pulmonary Embolism Registry. J Am Coll </a:t>
              </a:r>
              <a:r>
                <a:rPr lang="en-US" sz="1667" dirty="0" err="1">
                  <a:solidFill>
                    <a:srgbClr val="222222"/>
                  </a:solidFill>
                  <a:highlight>
                    <a:srgbClr val="FFFFFF"/>
                  </a:highlight>
                </a:rPr>
                <a:t>Cardiol</a:t>
              </a:r>
              <a:r>
                <a:rPr lang="en-US" sz="1667" dirty="0">
                  <a:solidFill>
                    <a:srgbClr val="222222"/>
                  </a:solidFill>
                  <a:highlight>
                    <a:srgbClr val="FFFFFF"/>
                  </a:highlight>
                </a:rPr>
                <a:t>. 2003;41(12):2245-2251. doi:10.1016/S0735-1097(03)00476-4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Chartier L, </a:t>
              </a:r>
              <a:r>
                <a:rPr lang="en-US" sz="1667" dirty="0" err="1">
                  <a:solidFill>
                    <a:srgbClr val="222222"/>
                  </a:solidFill>
                  <a:highlight>
                    <a:srgbClr val="FFFFFF"/>
                  </a:highlight>
                </a:rPr>
                <a:t>Béra</a:t>
              </a:r>
              <a:r>
                <a:rPr lang="en-US" sz="1667" dirty="0">
                  <a:solidFill>
                    <a:srgbClr val="222222"/>
                  </a:solidFill>
                  <a:highlight>
                    <a:srgbClr val="FFFFFF"/>
                  </a:highlight>
                </a:rPr>
                <a:t> J, </a:t>
              </a:r>
              <a:r>
                <a:rPr lang="en-US" sz="1667" dirty="0" err="1">
                  <a:solidFill>
                    <a:srgbClr val="222222"/>
                  </a:solidFill>
                  <a:highlight>
                    <a:srgbClr val="FFFFFF"/>
                  </a:highlight>
                </a:rPr>
                <a:t>Delomez</a:t>
              </a:r>
              <a:r>
                <a:rPr lang="en-US" sz="1667" dirty="0">
                  <a:solidFill>
                    <a:srgbClr val="222222"/>
                  </a:solidFill>
                  <a:highlight>
                    <a:srgbClr val="FFFFFF"/>
                  </a:highlight>
                </a:rPr>
                <a:t> M, et al. Free-floating thrombi in the right heart: diagnosis, management, and prognostic indexes in 38 consecutive patients. Circulation. 1999;99(21):2779-2783. doi:10.1161/01.CIR.99.21.2779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Barrios D, Rosa-Salazar V, Morillo R, et al. Prognostic significance of right heart thrombi in acute symptomatic pulmonary embolism: systematic review and meta-analysis. Chest. 2017;151(2):409-416. doi:10.1016/j.chest.2016.09.037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Kearon C, Akl EA, Ornelas J, et al. Antithrombotic therapy for VTE disease: CHEST Guideline and Expert Panel Report. Chest. 2016;149(2):315-352. doi:10.1016/j.chest.2015.11.026 </a:t>
              </a:r>
              <a:endParaRPr sz="1667" dirty="0">
                <a:solidFill>
                  <a:srgbClr val="222222"/>
                </a:solidFill>
                <a:highlight>
                  <a:srgbClr val="FFFFFF"/>
                </a:highlight>
              </a:endParaRPr>
            </a:p>
            <a:p>
              <a:pPr marL="304815" indent="-258246">
                <a:lnSpc>
                  <a:spcPct val="115000"/>
                </a:lnSpc>
                <a:buClr>
                  <a:srgbClr val="222222"/>
                </a:buClr>
                <a:buSzPts val="2500"/>
                <a:buAutoNum type="arabicPeriod"/>
              </a:pPr>
              <a:r>
                <a:rPr lang="en-US" sz="1667" dirty="0">
                  <a:solidFill>
                    <a:srgbClr val="222222"/>
                  </a:solidFill>
                  <a:highlight>
                    <a:srgbClr val="FFFFFF"/>
                  </a:highlight>
                </a:rPr>
                <a:t>Greco F, Spina R, Capodanno D, et al. Catheter-directed treatment of right heart thrombi and massive pulmonary embolism: a review. </a:t>
              </a:r>
              <a:r>
                <a:rPr lang="en-US" sz="1667" dirty="0" err="1">
                  <a:solidFill>
                    <a:srgbClr val="222222"/>
                  </a:solidFill>
                  <a:highlight>
                    <a:srgbClr val="FFFFFF"/>
                  </a:highlight>
                </a:rPr>
                <a:t>Eur</a:t>
              </a:r>
              <a:r>
                <a:rPr lang="en-US" sz="1667" dirty="0">
                  <a:solidFill>
                    <a:srgbClr val="222222"/>
                  </a:solidFill>
                  <a:highlight>
                    <a:srgbClr val="FFFFFF"/>
                  </a:highlight>
                </a:rPr>
                <a:t> Heart J Acute Cardiovasc Care. 2020;9(4):329-337. doi:10.1177/2048872618787974</a:t>
              </a:r>
              <a:endParaRPr sz="1667" dirty="0">
                <a:solidFill>
                  <a:srgbClr val="222222"/>
                </a:solidFill>
                <a:highlight>
                  <a:srgbClr val="FFFFFF"/>
                </a:highlight>
              </a:endParaRPr>
            </a:p>
            <a:p>
              <a:pPr>
                <a:buSzPts val="5000"/>
              </a:pPr>
              <a:endParaRPr sz="1667" dirty="0">
                <a:solidFill>
                  <a:srgbClr val="222222"/>
                </a:solidFill>
                <a:highlight>
                  <a:srgbClr val="FFFFFF"/>
                </a:highlight>
              </a:endParaRPr>
            </a:p>
          </p:txBody>
        </p:sp>
        <p:pic>
          <p:nvPicPr>
            <p:cNvPr id="100" name="Google Shape;100;g33f5d42d367_0_31" descr="Text&#10;&#10;Description automatically generated with medium confidence"/>
            <p:cNvPicPr preferRelativeResize="0"/>
            <p:nvPr/>
          </p:nvPicPr>
          <p:blipFill rotWithShape="1">
            <a:blip r:embed="rId3">
              <a:alphaModFix/>
            </a:blip>
            <a:srcRect/>
            <a:stretch/>
          </p:blipFill>
          <p:spPr>
            <a:xfrm>
              <a:off x="2888102" y="1267884"/>
              <a:ext cx="3873170" cy="1965580"/>
            </a:xfrm>
            <a:prstGeom prst="rect">
              <a:avLst/>
            </a:prstGeom>
            <a:noFill/>
            <a:ln>
              <a:noFill/>
            </a:ln>
          </p:spPr>
        </p:pic>
        <p:pic>
          <p:nvPicPr>
            <p:cNvPr id="101" name="Google Shape;101;g33f5d42d367_0_31"/>
            <p:cNvPicPr preferRelativeResize="0"/>
            <p:nvPr/>
          </p:nvPicPr>
          <p:blipFill rotWithShape="1">
            <a:blip r:embed="rId4">
              <a:alphaModFix/>
            </a:blip>
            <a:srcRect/>
            <a:stretch/>
          </p:blipFill>
          <p:spPr>
            <a:xfrm>
              <a:off x="11541771" y="4388768"/>
              <a:ext cx="18877201" cy="10760418"/>
            </a:xfrm>
            <a:prstGeom prst="rect">
              <a:avLst/>
            </a:prstGeom>
            <a:noFill/>
            <a:ln>
              <a:noFill/>
            </a:ln>
          </p:spPr>
        </p:pic>
        <p:sp>
          <p:nvSpPr>
            <p:cNvPr id="102" name="Google Shape;102;g33f5d42d367_0_31"/>
            <p:cNvSpPr txBox="1"/>
            <p:nvPr/>
          </p:nvSpPr>
          <p:spPr>
            <a:xfrm>
              <a:off x="24460631" y="12398954"/>
              <a:ext cx="5768400" cy="1292635"/>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1 illustrates key patient demographics and related clinical data.</a:t>
              </a:r>
              <a:endParaRPr sz="2000" b="1">
                <a:solidFill>
                  <a:schemeClr val="dk1"/>
                </a:solidFill>
                <a:latin typeface="Calibri"/>
                <a:ea typeface="Calibri"/>
                <a:cs typeface="Calibri"/>
                <a:sym typeface="Calibri"/>
              </a:endParaRPr>
            </a:p>
            <a:p>
              <a:pPr>
                <a:buSzPts val="3000"/>
              </a:pPr>
              <a:r>
                <a:rPr lang="en-US" sz="2000" b="1">
                  <a:solidFill>
                    <a:schemeClr val="dk1"/>
                  </a:solidFill>
                  <a:latin typeface="Calibri"/>
                  <a:ea typeface="Calibri"/>
                  <a:cs typeface="Calibri"/>
                  <a:sym typeface="Calibri"/>
                </a:rPr>
                <a:t>Figure 1 and 2 show clot in the left ventricle on a transthoracic echocardiogram</a:t>
              </a:r>
              <a:endParaRPr sz="2000" b="1">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820</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Montserrat</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2025-05-01T05:36:36Z</dcterms:modified>
</cp:coreProperties>
</file>