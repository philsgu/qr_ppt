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jv5UqpCcF08D/sr25RB/TK/viL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11"/>
    <p:restoredTop sz="94692"/>
  </p:normalViewPr>
  <p:slideViewPr>
    <p:cSldViewPr snapToGrid="0">
      <p:cViewPr>
        <p:scale>
          <a:sx n="42" d="100"/>
          <a:sy n="42" d="100"/>
        </p:scale>
        <p:origin x="144" y="-312"/>
      </p:cViewPr>
      <p:guideLst>
        <p:guide orient="horz" pos="6912"/>
        <p:guide pos="10368"/>
      </p:guideLst>
    </p:cSldViewPr>
  </p:slid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font" Target="fonts/font3.fntdata"/><Relationship Id="rId5" Type="http://schemas.openxmlformats.org/officeDocument/2006/relationships/font" Target="fonts/font2.fntdata"/><Relationship Id="rId15" Type="http://customschemas.google.com/relationships/presentationmetadata" Target="metadata"/><Relationship Id="rId19" Type="http://schemas.openxmlformats.org/officeDocument/2006/relationships/tableStyles" Target="tableStyles.xml"/><Relationship Id="rId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8549652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1932844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84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84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3840" b="0" i="0" u="none" strike="noStrike" cap="none">
                <a:solidFill>
                  <a:srgbClr val="888888"/>
                </a:solidFill>
                <a:latin typeface="Calibri"/>
                <a:ea typeface="Calibri"/>
                <a:cs typeface="Calibri"/>
                <a:sym typeface="Calibri"/>
              </a:defRPr>
            </a:lvl1pPr>
            <a:lvl2pPr marL="0" marR="0" lvl="1" indent="0" algn="r" rtl="0">
              <a:spcBef>
                <a:spcPts val="0"/>
              </a:spcBef>
              <a:buNone/>
              <a:defRPr sz="3840" b="0" i="0" u="none" strike="noStrike" cap="none">
                <a:solidFill>
                  <a:srgbClr val="888888"/>
                </a:solidFill>
                <a:latin typeface="Calibri"/>
                <a:ea typeface="Calibri"/>
                <a:cs typeface="Calibri"/>
                <a:sym typeface="Calibri"/>
              </a:defRPr>
            </a:lvl2pPr>
            <a:lvl3pPr marL="0" marR="0" lvl="2" indent="0" algn="r" rtl="0">
              <a:spcBef>
                <a:spcPts val="0"/>
              </a:spcBef>
              <a:buNone/>
              <a:defRPr sz="3840" b="0" i="0" u="none" strike="noStrike" cap="none">
                <a:solidFill>
                  <a:srgbClr val="888888"/>
                </a:solidFill>
                <a:latin typeface="Calibri"/>
                <a:ea typeface="Calibri"/>
                <a:cs typeface="Calibri"/>
                <a:sym typeface="Calibri"/>
              </a:defRPr>
            </a:lvl3pPr>
            <a:lvl4pPr marL="0" marR="0" lvl="3" indent="0" algn="r" rtl="0">
              <a:spcBef>
                <a:spcPts val="0"/>
              </a:spcBef>
              <a:buNone/>
              <a:defRPr sz="3840" b="0" i="0" u="none" strike="noStrike" cap="none">
                <a:solidFill>
                  <a:srgbClr val="888888"/>
                </a:solidFill>
                <a:latin typeface="Calibri"/>
                <a:ea typeface="Calibri"/>
                <a:cs typeface="Calibri"/>
                <a:sym typeface="Calibri"/>
              </a:defRPr>
            </a:lvl4pPr>
            <a:lvl5pPr marL="0" marR="0" lvl="4" indent="0" algn="r" rtl="0">
              <a:spcBef>
                <a:spcPts val="0"/>
              </a:spcBef>
              <a:buNone/>
              <a:defRPr sz="3840" b="0" i="0" u="none" strike="noStrike" cap="none">
                <a:solidFill>
                  <a:srgbClr val="888888"/>
                </a:solidFill>
                <a:latin typeface="Calibri"/>
                <a:ea typeface="Calibri"/>
                <a:cs typeface="Calibri"/>
                <a:sym typeface="Calibri"/>
              </a:defRPr>
            </a:lvl5pPr>
            <a:lvl6pPr marL="0" marR="0" lvl="5" indent="0" algn="r" rtl="0">
              <a:spcBef>
                <a:spcPts val="0"/>
              </a:spcBef>
              <a:buNone/>
              <a:defRPr sz="3840" b="0" i="0" u="none" strike="noStrike" cap="none">
                <a:solidFill>
                  <a:srgbClr val="888888"/>
                </a:solidFill>
                <a:latin typeface="Calibri"/>
                <a:ea typeface="Calibri"/>
                <a:cs typeface="Calibri"/>
                <a:sym typeface="Calibri"/>
              </a:defRPr>
            </a:lvl6pPr>
            <a:lvl7pPr marL="0" marR="0" lvl="6" indent="0" algn="r" rtl="0">
              <a:spcBef>
                <a:spcPts val="0"/>
              </a:spcBef>
              <a:buNone/>
              <a:defRPr sz="3840" b="0" i="0" u="none" strike="noStrike" cap="none">
                <a:solidFill>
                  <a:srgbClr val="888888"/>
                </a:solidFill>
                <a:latin typeface="Calibri"/>
                <a:ea typeface="Calibri"/>
                <a:cs typeface="Calibri"/>
                <a:sym typeface="Calibri"/>
              </a:defRPr>
            </a:lvl7pPr>
            <a:lvl8pPr marL="0" marR="0" lvl="7" indent="0" algn="r" rtl="0">
              <a:spcBef>
                <a:spcPts val="0"/>
              </a:spcBef>
              <a:buNone/>
              <a:defRPr sz="3840" b="0" i="0" u="none" strike="noStrike" cap="none">
                <a:solidFill>
                  <a:srgbClr val="888888"/>
                </a:solidFill>
                <a:latin typeface="Calibri"/>
                <a:ea typeface="Calibri"/>
                <a:cs typeface="Calibri"/>
                <a:sym typeface="Calibri"/>
              </a:defRPr>
            </a:lvl8pPr>
            <a:lvl9pPr marL="0" marR="0" lvl="8" indent="0" algn="r" rtl="0">
              <a:spcBef>
                <a:spcPts val="0"/>
              </a:spcBef>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p:cNvGrpSpPr/>
        <p:nvPr/>
      </p:nvGrpSpPr>
      <p:grpSpPr>
        <a:xfrm>
          <a:off x="0" y="0"/>
          <a:ext cx="0" cy="0"/>
          <a:chOff x="0" y="0"/>
          <a:chExt cx="0" cy="0"/>
        </a:xfrm>
      </p:grpSpPr>
      <p:sp>
        <p:nvSpPr>
          <p:cNvPr id="89" name="Google Shape;89;p1"/>
          <p:cNvSpPr/>
          <p:nvPr/>
        </p:nvSpPr>
        <p:spPr>
          <a:xfrm>
            <a:off x="21885010" y="19301657"/>
            <a:ext cx="10701665" cy="2218368"/>
          </a:xfrm>
          <a:prstGeom prst="rect">
            <a:avLst/>
          </a:prstGeom>
          <a:solidFill>
            <a:schemeClr val="lt1"/>
          </a:solidFill>
          <a:ln>
            <a:noFill/>
          </a:ln>
        </p:spPr>
        <p:txBody>
          <a:bodyPr spcFirstLastPara="1" wrap="square" lIns="60950" tIns="30467" rIns="60950" bIns="30467" anchor="ctr" anchorCtr="0">
            <a:noAutofit/>
          </a:bodyPr>
          <a:lstStyle/>
          <a:p>
            <a:pPr algn="ctr"/>
            <a:endParaRPr sz="4839">
              <a:solidFill>
                <a:schemeClr val="dk1"/>
              </a:solidFill>
              <a:latin typeface="Calibri"/>
              <a:ea typeface="Calibri"/>
              <a:cs typeface="Calibri"/>
              <a:sym typeface="Calibri"/>
            </a:endParaRPr>
          </a:p>
        </p:txBody>
      </p:sp>
      <p:sp>
        <p:nvSpPr>
          <p:cNvPr id="90" name="Google Shape;90;p1"/>
          <p:cNvSpPr/>
          <p:nvPr/>
        </p:nvSpPr>
        <p:spPr>
          <a:xfrm>
            <a:off x="329184" y="9263539"/>
            <a:ext cx="10582656"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a:solidFill>
                  <a:schemeClr val="lt1"/>
                </a:solidFill>
                <a:latin typeface="Calibri"/>
                <a:ea typeface="Calibri"/>
                <a:cs typeface="Calibri"/>
                <a:sym typeface="Calibri"/>
              </a:rPr>
              <a:t>Methods</a:t>
            </a:r>
            <a:endParaRPr sz="667"/>
          </a:p>
        </p:txBody>
      </p:sp>
      <p:sp>
        <p:nvSpPr>
          <p:cNvPr id="91" name="Google Shape;91;p1"/>
          <p:cNvSpPr/>
          <p:nvPr/>
        </p:nvSpPr>
        <p:spPr>
          <a:xfrm>
            <a:off x="353568" y="10342875"/>
            <a:ext cx="10582656" cy="11072448"/>
          </a:xfrm>
          <a:prstGeom prst="rect">
            <a:avLst/>
          </a:prstGeom>
          <a:solidFill>
            <a:schemeClr val="lt1"/>
          </a:solidFill>
          <a:ln>
            <a:noFill/>
          </a:ln>
        </p:spPr>
        <p:txBody>
          <a:bodyPr spcFirstLastPara="1" wrap="square" lIns="60950" tIns="30467" rIns="60950" bIns="30467" anchor="ctr" anchorCtr="0">
            <a:noAutofit/>
          </a:bodyPr>
          <a:lstStyle/>
          <a:p>
            <a:endParaRPr lang="en-US" sz="2667" b="1" dirty="0"/>
          </a:p>
          <a:p>
            <a:pPr marL="274320"/>
            <a:endParaRPr lang="en-US" sz="2667" b="1" dirty="0"/>
          </a:p>
          <a:p>
            <a:pPr marL="274320"/>
            <a:r>
              <a:rPr lang="en-US" sz="2667" b="1" dirty="0"/>
              <a:t>Intervention Components</a:t>
            </a:r>
          </a:p>
          <a:p>
            <a:pPr marL="274320"/>
            <a:endParaRPr lang="en-US" sz="2667" b="1" dirty="0"/>
          </a:p>
          <a:p>
            <a:pPr marL="274320"/>
            <a:r>
              <a:rPr lang="en-US" sz="2667" b="1" dirty="0"/>
              <a:t>Staff Education</a:t>
            </a:r>
          </a:p>
          <a:p>
            <a:pPr marL="731520" indent="-457200">
              <a:buFont typeface="Arial" panose="020B0604020202020204" pitchFamily="34" charset="0"/>
              <a:buChar char="•"/>
            </a:pPr>
            <a:r>
              <a:rPr lang="en-US" sz="2667" dirty="0"/>
              <a:t>Guideline-based training sessions for clinical staff.</a:t>
            </a:r>
          </a:p>
          <a:p>
            <a:pPr marL="274320"/>
            <a:r>
              <a:rPr lang="en-US" sz="2667" b="1" dirty="0"/>
              <a:t>Electronic Medical Record (EMR) Optimization</a:t>
            </a:r>
          </a:p>
          <a:p>
            <a:pPr marL="731520" indent="-457200">
              <a:buFont typeface="Arial" panose="020B0604020202020204" pitchFamily="34" charset="0"/>
              <a:buChar char="•"/>
            </a:pPr>
            <a:r>
              <a:rPr lang="en-US" sz="2667" dirty="0"/>
              <a:t>Implementation of standardized asthma order sets.</a:t>
            </a:r>
          </a:p>
          <a:p>
            <a:pPr marL="274320"/>
            <a:r>
              <a:rPr lang="en-US" sz="2667" b="1" dirty="0"/>
              <a:t>Peak Expiratory Flow (PEF) Monitoring</a:t>
            </a:r>
          </a:p>
          <a:p>
            <a:pPr marL="731520" indent="-457200">
              <a:buFont typeface="Arial" panose="020B0604020202020204" pitchFamily="34" charset="0"/>
              <a:buChar char="•"/>
            </a:pPr>
            <a:r>
              <a:rPr lang="en-US" sz="2667" dirty="0"/>
              <a:t>Daily nurse-led PEF assessments and documentation.</a:t>
            </a:r>
          </a:p>
          <a:p>
            <a:pPr marL="274320"/>
            <a:r>
              <a:rPr lang="en-US" sz="2667" b="1" dirty="0"/>
              <a:t>Discharge Action Plans</a:t>
            </a:r>
          </a:p>
          <a:p>
            <a:pPr marL="731520" indent="-457200">
              <a:buFont typeface="Arial" panose="020B0604020202020204" pitchFamily="34" charset="0"/>
              <a:buChar char="•"/>
            </a:pPr>
            <a:r>
              <a:rPr lang="en-US" sz="2667" dirty="0"/>
              <a:t>Standardized Asthma Action Plan (AAP) forms with structured teach-back education.</a:t>
            </a:r>
          </a:p>
          <a:p>
            <a:pPr marL="274320"/>
            <a:r>
              <a:rPr lang="en-US" sz="2667" b="1" dirty="0"/>
              <a:t>Process Measures</a:t>
            </a:r>
          </a:p>
          <a:p>
            <a:pPr marL="731520" indent="-457200">
              <a:buFont typeface="Arial" panose="020B0604020202020204" pitchFamily="34" charset="0"/>
              <a:buChar char="•"/>
            </a:pPr>
            <a:r>
              <a:rPr lang="en-US" sz="2667" dirty="0"/>
              <a:t>Percentage of patients receiving guideline-recommended medications.</a:t>
            </a:r>
          </a:p>
          <a:p>
            <a:pPr marL="731520" indent="-457200">
              <a:buFont typeface="Arial" panose="020B0604020202020204" pitchFamily="34" charset="0"/>
              <a:buChar char="•"/>
            </a:pPr>
            <a:r>
              <a:rPr lang="en-US" sz="2667" dirty="0"/>
              <a:t>Percentage of patients with daily PEF documentation.</a:t>
            </a:r>
          </a:p>
          <a:p>
            <a:pPr marL="731520" indent="-457200">
              <a:buFont typeface="Arial" panose="020B0604020202020204" pitchFamily="34" charset="0"/>
              <a:buChar char="•"/>
            </a:pPr>
            <a:r>
              <a:rPr lang="en-US" sz="2667" dirty="0"/>
              <a:t>Identification of inconsistent application of evidence-based treatments.</a:t>
            </a:r>
          </a:p>
          <a:p>
            <a:pPr marL="731520" indent="-457200">
              <a:buFont typeface="Arial" panose="020B0604020202020204" pitchFamily="34" charset="0"/>
              <a:buChar char="•"/>
            </a:pPr>
            <a:r>
              <a:rPr lang="en-US" sz="2667" dirty="0"/>
              <a:t>Assessment of underutilized PEF monitoring.</a:t>
            </a:r>
          </a:p>
          <a:p>
            <a:pPr marL="731520" indent="-457200">
              <a:buFont typeface="Arial" panose="020B0604020202020204" pitchFamily="34" charset="0"/>
              <a:buChar char="•"/>
            </a:pPr>
            <a:r>
              <a:rPr lang="en-US" sz="2667" dirty="0"/>
              <a:t>Evaluation of AAP provision rates at discharge.</a:t>
            </a:r>
          </a:p>
          <a:p>
            <a:pPr marL="274320"/>
            <a:r>
              <a:rPr lang="en-US" sz="2667" b="1" dirty="0"/>
              <a:t>Outcome Measures</a:t>
            </a:r>
          </a:p>
          <a:p>
            <a:pPr marL="731520" indent="-457200">
              <a:buFont typeface="Arial" panose="020B0604020202020204" pitchFamily="34" charset="0"/>
              <a:buChar char="•"/>
            </a:pPr>
            <a:r>
              <a:rPr lang="en-US" sz="2667" dirty="0"/>
              <a:t>Average hospital length of stay.</a:t>
            </a:r>
          </a:p>
          <a:p>
            <a:pPr marL="731520" indent="-457200">
              <a:buFont typeface="Arial" panose="020B0604020202020204" pitchFamily="34" charset="0"/>
              <a:buChar char="•"/>
            </a:pPr>
            <a:r>
              <a:rPr lang="en-US" sz="2667" dirty="0"/>
              <a:t>30-day hospital readmission rates.</a:t>
            </a:r>
          </a:p>
          <a:p>
            <a:pPr marL="731520" indent="-457200">
              <a:buFont typeface="Arial" panose="020B0604020202020204" pitchFamily="34" charset="0"/>
              <a:buChar char="•"/>
            </a:pPr>
            <a:r>
              <a:rPr lang="en-US" sz="2667" dirty="0"/>
              <a:t>Percentage of patients discharged with an AAP.</a:t>
            </a:r>
          </a:p>
          <a:p>
            <a:pPr marL="274320"/>
            <a:r>
              <a:rPr lang="en-US" sz="2667" b="1" dirty="0"/>
              <a:t>Balancing Measures</a:t>
            </a:r>
          </a:p>
          <a:p>
            <a:pPr marL="731520" indent="-457200">
              <a:buFont typeface="Arial" panose="020B0604020202020204" pitchFamily="34" charset="0"/>
              <a:buChar char="•"/>
            </a:pPr>
            <a:r>
              <a:rPr lang="en-US" sz="2667" dirty="0"/>
              <a:t>Impact on staff workload and workflow.</a:t>
            </a:r>
          </a:p>
          <a:p>
            <a:pPr marL="731520" indent="-457200">
              <a:buFont typeface="Arial" panose="020B0604020202020204" pitchFamily="34" charset="0"/>
              <a:buChar char="•"/>
            </a:pPr>
            <a:r>
              <a:rPr lang="en-US" sz="2667" dirty="0"/>
              <a:t>Patient satisfaction scores and feedback.</a:t>
            </a:r>
          </a:p>
          <a:p>
            <a:endParaRPr lang="en-US" sz="2667" dirty="0"/>
          </a:p>
          <a:p>
            <a:endParaRPr lang="en-US" sz="2667" dirty="0"/>
          </a:p>
          <a:p>
            <a:endParaRPr lang="en-US" sz="2667" dirty="0"/>
          </a:p>
        </p:txBody>
      </p:sp>
      <p:sp>
        <p:nvSpPr>
          <p:cNvPr id="92" name="Google Shape;92;p1"/>
          <p:cNvSpPr/>
          <p:nvPr/>
        </p:nvSpPr>
        <p:spPr>
          <a:xfrm>
            <a:off x="329184" y="4280325"/>
            <a:ext cx="10582656"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Introduction</a:t>
            </a:r>
            <a:endParaRPr sz="667" dirty="0"/>
          </a:p>
        </p:txBody>
      </p:sp>
      <p:sp>
        <p:nvSpPr>
          <p:cNvPr id="93" name="Google Shape;93;p1"/>
          <p:cNvSpPr/>
          <p:nvPr/>
        </p:nvSpPr>
        <p:spPr>
          <a:xfrm>
            <a:off x="353568" y="5513783"/>
            <a:ext cx="10582656" cy="3500728"/>
          </a:xfrm>
          <a:prstGeom prst="rect">
            <a:avLst/>
          </a:prstGeom>
          <a:ln>
            <a:noFill/>
          </a:ln>
        </p:spPr>
        <p:style>
          <a:lnRef idx="2">
            <a:schemeClr val="dk1"/>
          </a:lnRef>
          <a:fillRef idx="1">
            <a:schemeClr val="lt1"/>
          </a:fillRef>
          <a:effectRef idx="0">
            <a:schemeClr val="dk1"/>
          </a:effectRef>
          <a:fontRef idx="minor">
            <a:schemeClr val="dk1"/>
          </a:fontRef>
        </p:style>
        <p:txBody>
          <a:bodyPr spcFirstLastPara="1" wrap="square" lIns="60950" tIns="30467" rIns="60950" bIns="30467" anchor="ctr" anchorCtr="0">
            <a:noAutofit/>
          </a:bodyPr>
          <a:lstStyle/>
          <a:p>
            <a:pPr marL="274320" lvl="3"/>
            <a:r>
              <a:rPr lang="en-US" sz="2933" dirty="0"/>
              <a:t>Asthma exacerbations frequently result in hospital admissions. Early guideline-directed intervention improves outcomes. Care gaps persist in PEF monitoring and discharge planning. This initiative aimed to improve adherence to asthma management guidelines, enhance monitoring, and ensure effective discharge planning with Asthma Action Plans (AAPs).</a:t>
            </a:r>
          </a:p>
        </p:txBody>
      </p:sp>
      <p:sp>
        <p:nvSpPr>
          <p:cNvPr id="94" name="Google Shape;94;p1"/>
          <p:cNvSpPr/>
          <p:nvPr/>
        </p:nvSpPr>
        <p:spPr>
          <a:xfrm>
            <a:off x="329184" y="254446"/>
            <a:ext cx="32296608" cy="3809162"/>
          </a:xfrm>
          <a:prstGeom prst="rect">
            <a:avLst/>
          </a:prstGeom>
          <a:solidFill>
            <a:srgbClr val="004671"/>
          </a:solidFill>
          <a:ln>
            <a:noFill/>
          </a:ln>
        </p:spPr>
        <p:txBody>
          <a:bodyPr spcFirstLastPara="1" wrap="square" lIns="60950" tIns="30467" rIns="60950" bIns="30467" anchor="ctr" anchorCtr="0">
            <a:noAutofit/>
          </a:bodyPr>
          <a:lstStyle/>
          <a:p>
            <a:pPr algn="ctr"/>
            <a:endParaRPr sz="4839">
              <a:solidFill>
                <a:schemeClr val="lt1"/>
              </a:solidFill>
              <a:latin typeface="Calibri"/>
              <a:ea typeface="Calibri"/>
              <a:cs typeface="Calibri"/>
              <a:sym typeface="Calibri"/>
            </a:endParaRPr>
          </a:p>
        </p:txBody>
      </p:sp>
      <p:sp>
        <p:nvSpPr>
          <p:cNvPr id="95" name="Google Shape;95;p1"/>
          <p:cNvSpPr/>
          <p:nvPr/>
        </p:nvSpPr>
        <p:spPr>
          <a:xfrm>
            <a:off x="3302654" y="365060"/>
            <a:ext cx="26878172" cy="1867280"/>
          </a:xfrm>
          <a:prstGeom prst="rect">
            <a:avLst/>
          </a:prstGeom>
          <a:noFill/>
          <a:ln>
            <a:noFill/>
          </a:ln>
        </p:spPr>
        <p:txBody>
          <a:bodyPr spcFirstLastPara="1" wrap="square" lIns="60950" tIns="30467" rIns="60950" bIns="30467" anchor="t" anchorCtr="0">
            <a:spAutoFit/>
          </a:bodyPr>
          <a:lstStyle/>
          <a:p>
            <a:pPr algn="ctr"/>
            <a:r>
              <a:rPr lang="en-US" sz="5867" dirty="0">
                <a:solidFill>
                  <a:schemeClr val="bg1"/>
                </a:solidFill>
              </a:rPr>
              <a:t>A Quality Improvement Initiative on Guideline-Directed Care, </a:t>
            </a:r>
          </a:p>
          <a:p>
            <a:pPr algn="ctr"/>
            <a:r>
              <a:rPr lang="en-US" sz="5867" dirty="0">
                <a:solidFill>
                  <a:schemeClr val="bg1"/>
                </a:solidFill>
              </a:rPr>
              <a:t>PEF Monitoring, and Discharge Planning</a:t>
            </a:r>
          </a:p>
        </p:txBody>
      </p:sp>
      <p:sp>
        <p:nvSpPr>
          <p:cNvPr id="96" name="Google Shape;96;p1"/>
          <p:cNvSpPr/>
          <p:nvPr/>
        </p:nvSpPr>
        <p:spPr>
          <a:xfrm>
            <a:off x="2499360" y="2124317"/>
            <a:ext cx="27919680" cy="1805724"/>
          </a:xfrm>
          <a:prstGeom prst="rect">
            <a:avLst/>
          </a:prstGeom>
          <a:noFill/>
          <a:ln>
            <a:noFill/>
          </a:ln>
        </p:spPr>
        <p:txBody>
          <a:bodyPr spcFirstLastPara="1" wrap="square" lIns="60950" tIns="30467" rIns="60950" bIns="30467" anchor="t" anchorCtr="0">
            <a:spAutoFit/>
          </a:bodyPr>
          <a:lstStyle/>
          <a:p>
            <a:pPr algn="ctr"/>
            <a:r>
              <a:rPr lang="en-US" sz="4000" dirty="0">
                <a:solidFill>
                  <a:schemeClr val="lt1"/>
                </a:solidFill>
                <a:latin typeface="Helvetica Neue"/>
                <a:ea typeface="Helvetica Neue"/>
                <a:cs typeface="Helvetica Neue"/>
                <a:sym typeface="Helvetica Neue"/>
              </a:rPr>
              <a:t>Moeez Sadiq M.D.</a:t>
            </a:r>
          </a:p>
          <a:p>
            <a:pPr algn="ctr"/>
            <a:r>
              <a:rPr lang="en-US" sz="4000" dirty="0" err="1">
                <a:solidFill>
                  <a:schemeClr val="lt1"/>
                </a:solidFill>
                <a:latin typeface="Helvetica Neue"/>
                <a:sym typeface="Helvetica Neue"/>
              </a:rPr>
              <a:t>Yussif</a:t>
            </a:r>
            <a:r>
              <a:rPr lang="en-US" sz="4000" dirty="0">
                <a:solidFill>
                  <a:schemeClr val="lt1"/>
                </a:solidFill>
                <a:latin typeface="Helvetica Neue"/>
                <a:sym typeface="Helvetica Neue"/>
              </a:rPr>
              <a:t> </a:t>
            </a:r>
            <a:r>
              <a:rPr lang="en-US" sz="4000" dirty="0" err="1">
                <a:solidFill>
                  <a:schemeClr val="lt1"/>
                </a:solidFill>
                <a:latin typeface="Helvetica Neue"/>
                <a:sym typeface="Helvetica Neue"/>
              </a:rPr>
              <a:t>Muhammed</a:t>
            </a:r>
            <a:r>
              <a:rPr lang="en-US" sz="4000" dirty="0">
                <a:solidFill>
                  <a:schemeClr val="lt1"/>
                </a:solidFill>
                <a:latin typeface="Helvetica Neue"/>
                <a:sym typeface="Helvetica Neue"/>
              </a:rPr>
              <a:t> M.D.</a:t>
            </a:r>
            <a:endParaRPr sz="667" dirty="0"/>
          </a:p>
          <a:p>
            <a:pPr algn="ctr"/>
            <a:r>
              <a:rPr lang="en-US" sz="3334" i="1" dirty="0">
                <a:solidFill>
                  <a:schemeClr val="lt1"/>
                </a:solidFill>
                <a:latin typeface="Helvetica Neue"/>
                <a:ea typeface="Helvetica Neue"/>
                <a:cs typeface="Helvetica Neue"/>
                <a:sym typeface="Helvetica Neue"/>
              </a:rPr>
              <a:t>Saint Agnes Medical Center, Fresno, CA</a:t>
            </a:r>
            <a:endParaRPr sz="667" dirty="0"/>
          </a:p>
        </p:txBody>
      </p:sp>
      <p:sp>
        <p:nvSpPr>
          <p:cNvPr id="97" name="Google Shape;97;p1"/>
          <p:cNvSpPr txBox="1"/>
          <p:nvPr/>
        </p:nvSpPr>
        <p:spPr>
          <a:xfrm>
            <a:off x="11302728" y="9703390"/>
            <a:ext cx="8730647" cy="369306"/>
          </a:xfrm>
          <a:prstGeom prst="rect">
            <a:avLst/>
          </a:prstGeom>
          <a:noFill/>
          <a:ln>
            <a:noFill/>
          </a:ln>
        </p:spPr>
        <p:txBody>
          <a:bodyPr spcFirstLastPara="1" wrap="square" lIns="60950" tIns="30467" rIns="60950" bIns="30467" anchor="t" anchorCtr="0">
            <a:spAutoFit/>
          </a:bodyPr>
          <a:lstStyle/>
          <a:p>
            <a:r>
              <a:rPr lang="en-US" sz="2000" b="1">
                <a:solidFill>
                  <a:schemeClr val="dk1"/>
                </a:solidFill>
                <a:latin typeface="Calibri"/>
                <a:ea typeface="Calibri"/>
                <a:cs typeface="Calibri"/>
                <a:sym typeface="Calibri"/>
              </a:rPr>
              <a:t>Figure 1: </a:t>
            </a:r>
            <a:endParaRPr sz="667"/>
          </a:p>
        </p:txBody>
      </p:sp>
      <p:sp>
        <p:nvSpPr>
          <p:cNvPr id="98" name="Google Shape;98;p1"/>
          <p:cNvSpPr txBox="1"/>
          <p:nvPr/>
        </p:nvSpPr>
        <p:spPr>
          <a:xfrm>
            <a:off x="11545237" y="15764206"/>
            <a:ext cx="8730647" cy="369306"/>
          </a:xfrm>
          <a:prstGeom prst="rect">
            <a:avLst/>
          </a:prstGeom>
          <a:noFill/>
          <a:ln>
            <a:noFill/>
          </a:ln>
        </p:spPr>
        <p:txBody>
          <a:bodyPr spcFirstLastPara="1" wrap="square" lIns="60950" tIns="30467" rIns="60950" bIns="30467" anchor="t" anchorCtr="0">
            <a:spAutoFit/>
          </a:bodyPr>
          <a:lstStyle/>
          <a:p>
            <a:r>
              <a:rPr lang="en-US" sz="2000" b="1" dirty="0">
                <a:solidFill>
                  <a:schemeClr val="dk1"/>
                </a:solidFill>
                <a:latin typeface="Calibri"/>
                <a:ea typeface="Calibri"/>
                <a:cs typeface="Calibri"/>
                <a:sym typeface="Calibri"/>
              </a:rPr>
              <a:t>Figure 2: </a:t>
            </a:r>
            <a:endParaRPr sz="667" dirty="0"/>
          </a:p>
        </p:txBody>
      </p:sp>
      <p:sp>
        <p:nvSpPr>
          <p:cNvPr id="99" name="Google Shape;99;p1"/>
          <p:cNvSpPr/>
          <p:nvPr/>
        </p:nvSpPr>
        <p:spPr>
          <a:xfrm>
            <a:off x="21907570" y="4280325"/>
            <a:ext cx="10718222"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a:solidFill>
                  <a:schemeClr val="lt1"/>
                </a:solidFill>
                <a:latin typeface="Calibri"/>
                <a:ea typeface="Calibri"/>
                <a:cs typeface="Calibri"/>
                <a:sym typeface="Calibri"/>
              </a:rPr>
              <a:t>Results</a:t>
            </a:r>
            <a:endParaRPr sz="667"/>
          </a:p>
        </p:txBody>
      </p:sp>
      <p:sp>
        <p:nvSpPr>
          <p:cNvPr id="100" name="Google Shape;100;p1"/>
          <p:cNvSpPr/>
          <p:nvPr/>
        </p:nvSpPr>
        <p:spPr>
          <a:xfrm>
            <a:off x="21872448" y="5420025"/>
            <a:ext cx="10703121" cy="3500728"/>
          </a:xfrm>
          <a:prstGeom prst="rect">
            <a:avLst/>
          </a:prstGeom>
          <a:solidFill>
            <a:schemeClr val="lt1"/>
          </a:solidFill>
          <a:ln>
            <a:noFill/>
          </a:ln>
        </p:spPr>
        <p:txBody>
          <a:bodyPr spcFirstLastPara="1" wrap="square" lIns="60950" tIns="30467" rIns="60950" bIns="30467" anchor="ctr" anchorCtr="0">
            <a:noAutofit/>
          </a:bodyPr>
          <a:lstStyle/>
          <a:p>
            <a:pPr marL="274320"/>
            <a:r>
              <a:rPr lang="en-US" sz="2133" dirty="0"/>
              <a:t>Our quality improvement initiatives aim to enhance the overall management of hospitalized asthma patients by improving adherence to guideline-based medication therapies, increasing the frequency and accuracy of Peak Expiratory Flow (PEF) documentation throughout the patient’s hospital stay, and ensuring a higher rate of comprehensive Asthma Action Plan (AAP) provision at the time of discharge. Additionally, we will actively monitor key clinical outcomes, including hospital length of stay and 30-day readmission rates, to assess the effectiveness of these interventions and identify opportunities for ongoing refinement in patient care practices</a:t>
            </a:r>
          </a:p>
        </p:txBody>
      </p:sp>
      <p:sp>
        <p:nvSpPr>
          <p:cNvPr id="101" name="Google Shape;101;p1"/>
          <p:cNvSpPr/>
          <p:nvPr/>
        </p:nvSpPr>
        <p:spPr>
          <a:xfrm>
            <a:off x="11324614" y="16442899"/>
            <a:ext cx="10172006" cy="1159527"/>
          </a:xfrm>
          <a:prstGeom prst="rect">
            <a:avLst/>
          </a:prstGeom>
          <a:solidFill>
            <a:srgbClr val="004671"/>
          </a:solidFill>
          <a:ln>
            <a:noFill/>
          </a:ln>
        </p:spPr>
        <p:txBody>
          <a:bodyPr spcFirstLastPara="1" wrap="square" lIns="60950" tIns="30467" rIns="60950" bIns="30467" anchor="ctr" anchorCtr="0">
            <a:noAutofit/>
          </a:bodyPr>
          <a:lstStyle/>
          <a:p>
            <a:pPr lvl="0" algn="ctr"/>
            <a:r>
              <a:rPr lang="en-US" sz="5334" dirty="0">
                <a:solidFill>
                  <a:schemeClr val="bg1"/>
                </a:solidFill>
              </a:rPr>
              <a:t>Aim Statement</a:t>
            </a:r>
            <a:endParaRPr sz="667" dirty="0">
              <a:solidFill>
                <a:schemeClr val="bg1"/>
              </a:solidFill>
            </a:endParaRPr>
          </a:p>
        </p:txBody>
      </p:sp>
      <p:sp>
        <p:nvSpPr>
          <p:cNvPr id="102" name="Google Shape;102;p1"/>
          <p:cNvSpPr/>
          <p:nvPr/>
        </p:nvSpPr>
        <p:spPr>
          <a:xfrm>
            <a:off x="11324614" y="17719534"/>
            <a:ext cx="10133076" cy="3800490"/>
          </a:xfrm>
          <a:prstGeom prst="rect">
            <a:avLst/>
          </a:prstGeom>
          <a:solidFill>
            <a:schemeClr val="lt1"/>
          </a:solidFill>
          <a:ln>
            <a:noFill/>
          </a:ln>
        </p:spPr>
        <p:txBody>
          <a:bodyPr spcFirstLastPara="1" wrap="square" lIns="60950" tIns="30467" rIns="60950" bIns="30467" anchor="ctr" anchorCtr="0">
            <a:noAutofit/>
          </a:bodyPr>
          <a:lstStyle/>
          <a:p>
            <a:pPr marL="274320"/>
            <a:r>
              <a:rPr lang="en-US" sz="2667" dirty="0"/>
              <a:t>Our goals include achieving a 95% adherence rate to guideline-directed medical treatment protocols for asthma management, ensuring that 90% of patients have their Peak Expiratory Flow (PEF) measurements documented on a daily basis during their hospital stay, and providing 85% of patients with a comprehensive, individualized Asthma Action Plan at the time of discharge to support optimal outpatient care and reduce the risk of future exacerbation</a:t>
            </a:r>
          </a:p>
        </p:txBody>
      </p:sp>
      <p:sp>
        <p:nvSpPr>
          <p:cNvPr id="103" name="Google Shape;103;p1"/>
          <p:cNvSpPr/>
          <p:nvPr/>
        </p:nvSpPr>
        <p:spPr>
          <a:xfrm>
            <a:off x="21887549" y="14453430"/>
            <a:ext cx="10688020"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References</a:t>
            </a:r>
            <a:endParaRPr sz="667" dirty="0"/>
          </a:p>
        </p:txBody>
      </p:sp>
      <p:sp>
        <p:nvSpPr>
          <p:cNvPr id="104" name="Google Shape;104;p1"/>
          <p:cNvSpPr/>
          <p:nvPr/>
        </p:nvSpPr>
        <p:spPr>
          <a:xfrm>
            <a:off x="21885010" y="15533911"/>
            <a:ext cx="10690559" cy="3500728"/>
          </a:xfrm>
          <a:prstGeom prst="rect">
            <a:avLst/>
          </a:prstGeom>
          <a:solidFill>
            <a:schemeClr val="lt1"/>
          </a:solidFill>
          <a:ln>
            <a:noFill/>
          </a:ln>
        </p:spPr>
        <p:txBody>
          <a:bodyPr spcFirstLastPara="1" wrap="square" lIns="60950" tIns="30467" rIns="60950" bIns="30467" anchor="ctr" anchorCtr="0">
            <a:noAutofit/>
          </a:bodyPr>
          <a:lstStyle/>
          <a:p>
            <a:pPr marL="342900" lvl="1" indent="-342900" fontAlgn="base">
              <a:buFont typeface="Arial" panose="020B0604020202020204" pitchFamily="34" charset="0"/>
              <a:buChar char="•"/>
            </a:pPr>
            <a:r>
              <a:rPr lang="en-US" sz="2133" dirty="0"/>
              <a:t>https://www.uptodate.com/contents/image?csi=736dd886-1b64-4626-997c-4db03269ab18&amp;source=contentShare&amp;imageKey=PULM%2F111835</a:t>
            </a:r>
          </a:p>
          <a:p>
            <a:pPr marL="342900" lvl="1" indent="-342900" fontAlgn="base">
              <a:buFont typeface="Arial" panose="020B0604020202020204" pitchFamily="34" charset="0"/>
              <a:buChar char="•"/>
            </a:pPr>
            <a:r>
              <a:rPr lang="en-US" sz="2133" dirty="0"/>
              <a:t>https://www.uptodate.com/contents/acute-exacerbations-of-asthma-in-adults-emergency-department-and-inpatient-management?csi=ba15e796-6b28-4e16-9f14-c2ff8ff5a0c6&amp;source=contentShare</a:t>
            </a:r>
          </a:p>
          <a:p>
            <a:pPr marL="342900" lvl="1" indent="-342900" fontAlgn="base">
              <a:buFont typeface="Arial" panose="020B0604020202020204" pitchFamily="34" charset="0"/>
              <a:buChar char="•"/>
            </a:pPr>
            <a:r>
              <a:rPr lang="en-US" sz="2133" dirty="0"/>
              <a:t>https://www.uptodate.com/contents/peak-expiratory-flow-monitoring-in-asthma?csi=13cf802a-5cfc-44ff-958b-69253b53ad09&amp;source=contentShare</a:t>
            </a:r>
          </a:p>
          <a:p>
            <a:pPr marL="342900" lvl="1" indent="-342900" fontAlgn="base">
              <a:buFont typeface="Arial" panose="020B0604020202020204" pitchFamily="34" charset="0"/>
              <a:buChar char="•"/>
            </a:pPr>
            <a:r>
              <a:rPr lang="en-US" sz="2133" dirty="0"/>
              <a:t>http://pmc.ncbi.nlm.nih.gov/articles/PMC11055252/</a:t>
            </a:r>
          </a:p>
        </p:txBody>
      </p:sp>
      <p:sp>
        <p:nvSpPr>
          <p:cNvPr id="105" name="Google Shape;105;p1"/>
          <p:cNvSpPr/>
          <p:nvPr/>
        </p:nvSpPr>
        <p:spPr>
          <a:xfrm>
            <a:off x="21887550" y="9251624"/>
            <a:ext cx="10701666"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Discussion</a:t>
            </a:r>
            <a:endParaRPr sz="667" dirty="0"/>
          </a:p>
        </p:txBody>
      </p:sp>
      <p:sp>
        <p:nvSpPr>
          <p:cNvPr id="106" name="Google Shape;106;p1"/>
          <p:cNvSpPr/>
          <p:nvPr/>
        </p:nvSpPr>
        <p:spPr>
          <a:xfrm>
            <a:off x="21887549" y="10332104"/>
            <a:ext cx="10701666" cy="3804513"/>
          </a:xfrm>
          <a:prstGeom prst="rect">
            <a:avLst/>
          </a:prstGeom>
          <a:solidFill>
            <a:schemeClr val="lt1"/>
          </a:solidFill>
          <a:ln>
            <a:noFill/>
          </a:ln>
        </p:spPr>
        <p:txBody>
          <a:bodyPr spcFirstLastPara="1" wrap="square" lIns="60950" tIns="30467" rIns="60950" bIns="30467" anchor="ctr" anchorCtr="0">
            <a:noAutofit/>
          </a:bodyPr>
          <a:lstStyle/>
          <a:p>
            <a:pPr marL="274320"/>
            <a:r>
              <a:rPr lang="en-US" sz="2133" dirty="0"/>
              <a:t>Anticipated improvements include enhanced process adherence and better patient outcomes through the implementation of targeted interventions. Key challenges will be proactively addressed by incorporating simplified, actionable alerts within the clinical workflow, establishing nurse-led monitoring systems to ensure real-time oversight, and fostering ongoing leadership engagement to maintain team motivation and accountability. To support long-term sustainability, these initiatives will be reinforced by integrating processes into the electronic medical record (EMR) system, conducting monthly performance tracking, and performing quarterly protocol reviews and updates to ensure continued alignment with best practice standards</a:t>
            </a:r>
          </a:p>
        </p:txBody>
      </p:sp>
      <p:pic>
        <p:nvPicPr>
          <p:cNvPr id="109" name="Google Shape;109;p1" descr="Logo, company name&#10;&#10;Description automatically generated"/>
          <p:cNvPicPr preferRelativeResize="0"/>
          <p:nvPr/>
        </p:nvPicPr>
        <p:blipFill rotWithShape="1">
          <a:blip r:embed="rId3">
            <a:alphaModFix/>
          </a:blip>
          <a:srcRect b="54543"/>
          <a:stretch/>
        </p:blipFill>
        <p:spPr>
          <a:xfrm>
            <a:off x="24489084" y="19625233"/>
            <a:ext cx="3748117" cy="1692222"/>
          </a:xfrm>
          <a:prstGeom prst="rect">
            <a:avLst/>
          </a:prstGeom>
          <a:noFill/>
          <a:ln>
            <a:noFill/>
          </a:ln>
        </p:spPr>
      </p:pic>
      <p:pic>
        <p:nvPicPr>
          <p:cNvPr id="110" name="Google Shape;110;p1" descr="Logo, company name&#10;&#10;Description automatically generated"/>
          <p:cNvPicPr preferRelativeResize="0"/>
          <p:nvPr/>
        </p:nvPicPr>
        <p:blipFill rotWithShape="1">
          <a:blip r:embed="rId3">
            <a:alphaModFix/>
          </a:blip>
          <a:srcRect t="47565" b="13424"/>
          <a:stretch/>
        </p:blipFill>
        <p:spPr>
          <a:xfrm>
            <a:off x="26419961" y="19585287"/>
            <a:ext cx="3955647" cy="1532673"/>
          </a:xfrm>
          <a:prstGeom prst="rect">
            <a:avLst/>
          </a:prstGeom>
          <a:noFill/>
          <a:ln>
            <a:noFill/>
          </a:ln>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rcRect l="1322" t="1267" r="1051" b="-1"/>
          <a:stretch/>
        </p:blipFill>
        <p:spPr>
          <a:xfrm>
            <a:off x="11394049" y="4461164"/>
            <a:ext cx="10063641" cy="4999551"/>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92734" y="10382940"/>
            <a:ext cx="3609756" cy="5072738"/>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859000" y="9736710"/>
            <a:ext cx="6598690" cy="60274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294</TotalTime>
  <Words>577</Words>
  <Application>Microsoft Macintosh PowerPoint</Application>
  <PresentationFormat>Custom</PresentationFormat>
  <Paragraphs>48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Helvetica Neue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Phil Kim</cp:lastModifiedBy>
  <cp:revision>10</cp:revision>
  <dcterms:created xsi:type="dcterms:W3CDTF">2016-02-18T22:13:49Z</dcterms:created>
  <dcterms:modified xsi:type="dcterms:W3CDTF">2025-04-23T03:47:21Z</dcterms:modified>
</cp:coreProperties>
</file>