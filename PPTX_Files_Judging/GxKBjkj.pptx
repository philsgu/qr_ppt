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 roundtripDataSignature="AMtx7mh+EhzXhjhKk0XL5xVrZZXfqgP5t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76461CA-5B1C-41FE-9FB1-931B909032CE}">
  <a:tblStyle styleId="{776461CA-5B1C-41FE-9FB1-931B909032C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67"/>
    <p:restoredTop sz="94722"/>
  </p:normalViewPr>
  <p:slideViewPr>
    <p:cSldViewPr snapToGrid="0">
      <p:cViewPr>
        <p:scale>
          <a:sx n="133" d="100"/>
          <a:sy n="133" d="100"/>
        </p:scale>
        <p:origin x="-7288" y="-5304"/>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4.fntdata"/><Relationship Id="rId12" Type="http://customschemas.google.com/relationships/presentationmetadata" Target="meta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3.fntdata"/><Relationship Id="rId5" Type="http://schemas.openxmlformats.org/officeDocument/2006/relationships/font" Target="fonts/font2.fntdata"/><Relationship Id="rId15" Type="http://schemas.openxmlformats.org/officeDocument/2006/relationships/theme" Target="theme/theme1.xml"/><Relationship Id="rId4" Type="http://schemas.openxmlformats.org/officeDocument/2006/relationships/font" Target="fonts/font1.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6CF933BC-0B66-B64F-DA26-B9D6ABDE272D}"/>
              </a:ext>
            </a:extLst>
          </p:cNvPr>
          <p:cNvGrpSpPr/>
          <p:nvPr/>
        </p:nvGrpSpPr>
        <p:grpSpPr>
          <a:xfrm>
            <a:off x="306013" y="144786"/>
            <a:ext cx="32306373" cy="21656035"/>
            <a:chOff x="2427093" y="369174"/>
            <a:chExt cx="27991907" cy="21236343"/>
          </a:xfrm>
        </p:grpSpPr>
        <p:sp>
          <p:nvSpPr>
            <p:cNvPr id="89" name="Google Shape;89;p1"/>
            <p:cNvSpPr/>
            <p:nvPr/>
          </p:nvSpPr>
          <p:spPr>
            <a:xfrm>
              <a:off x="21507567" y="19294467"/>
              <a:ext cx="8839200" cy="2308200"/>
            </a:xfrm>
            <a:prstGeom prst="rect">
              <a:avLst/>
            </a:prstGeom>
            <a:solidFill>
              <a:schemeClr val="lt1"/>
            </a:solidFill>
            <a:ln>
              <a:noFill/>
            </a:ln>
          </p:spPr>
          <p:txBody>
            <a:bodyPr spcFirstLastPara="1" wrap="square" lIns="60950" tIns="30467" rIns="60950" bIns="30467" anchor="ctr" anchorCtr="0">
              <a:noAutofit/>
            </a:bodyPr>
            <a:lstStyle/>
            <a:p>
              <a:pPr algn="ctr">
                <a:buSzPts val="7258"/>
              </a:pPr>
              <a:endParaRPr sz="4839">
                <a:solidFill>
                  <a:schemeClr val="dk1"/>
                </a:solidFill>
                <a:latin typeface="Calibri"/>
                <a:ea typeface="Calibri"/>
                <a:cs typeface="Calibri"/>
                <a:sym typeface="Calibri"/>
              </a:endParaRPr>
            </a:p>
          </p:txBody>
        </p:sp>
        <p:sp>
          <p:nvSpPr>
            <p:cNvPr id="90" name="Google Shape;90;p1"/>
            <p:cNvSpPr/>
            <p:nvPr/>
          </p:nvSpPr>
          <p:spPr>
            <a:xfrm>
              <a:off x="2427100" y="9436100"/>
              <a:ext cx="8736200" cy="1106000"/>
            </a:xfrm>
            <a:prstGeom prst="rect">
              <a:avLst/>
            </a:prstGeom>
            <a:solidFill>
              <a:srgbClr val="004671"/>
            </a:solidFill>
            <a:ln>
              <a:noFill/>
            </a:ln>
          </p:spPr>
          <p:txBody>
            <a:bodyPr spcFirstLastPara="1" wrap="square" lIns="60950" tIns="30467" rIns="60950" bIns="30467" anchor="ctr" anchorCtr="0">
              <a:noAutofit/>
            </a:bodyPr>
            <a:lstStyle/>
            <a:p>
              <a:pPr algn="ctr">
                <a:lnSpc>
                  <a:spcPct val="115000"/>
                </a:lnSpc>
                <a:buClr>
                  <a:schemeClr val="dk1"/>
                </a:buClr>
                <a:buSzPts val="1100"/>
              </a:pPr>
              <a:r>
                <a:rPr lang="en-US" sz="4834" b="1">
                  <a:solidFill>
                    <a:schemeClr val="lt1"/>
                  </a:solidFill>
                  <a:latin typeface="Calibri"/>
                  <a:ea typeface="Calibri"/>
                  <a:cs typeface="Calibri"/>
                  <a:sym typeface="Calibri"/>
                </a:rPr>
                <a:t>CASE PRESENTATION</a:t>
              </a:r>
              <a:endParaRPr sz="4834" b="1">
                <a:solidFill>
                  <a:schemeClr val="lt1"/>
                </a:solidFill>
                <a:latin typeface="Calibri"/>
                <a:ea typeface="Calibri"/>
                <a:cs typeface="Calibri"/>
                <a:sym typeface="Calibri"/>
              </a:endParaRPr>
            </a:p>
          </p:txBody>
        </p:sp>
        <p:sp>
          <p:nvSpPr>
            <p:cNvPr id="91" name="Google Shape;91;p1"/>
            <p:cNvSpPr/>
            <p:nvPr/>
          </p:nvSpPr>
          <p:spPr>
            <a:xfrm>
              <a:off x="2427100" y="10449317"/>
              <a:ext cx="8736200" cy="111562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spcBef>
                  <a:spcPts val="667"/>
                </a:spcBef>
                <a:buClr>
                  <a:schemeClr val="dk1"/>
                </a:buClr>
                <a:buSzPts val="1100"/>
              </a:pPr>
              <a:endParaRPr sz="2000" dirty="0">
                <a:solidFill>
                  <a:schemeClr val="dk1"/>
                </a:solidFill>
              </a:endParaRPr>
            </a:p>
            <a:p>
              <a:pPr>
                <a:lnSpc>
                  <a:spcPct val="115000"/>
                </a:lnSpc>
                <a:spcBef>
                  <a:spcPts val="800"/>
                </a:spcBef>
                <a:buClr>
                  <a:schemeClr val="dk1"/>
                </a:buClr>
                <a:buSzPts val="1100"/>
              </a:pPr>
              <a:r>
                <a:rPr lang="en-US" sz="2000" dirty="0">
                  <a:solidFill>
                    <a:schemeClr val="dk1"/>
                  </a:solidFill>
                </a:rPr>
                <a:t>A 40-year-old male with a medical history significant for alcohol use disorder, hypertension, type 2 diabetes mellitus, depression, anxiety, and obesity presented with a 3-week history of productive cough and progressive dyspnea. His illness began with flu-like symptoms, including fever, rhinorrhea, sore throat, and ear pain. Notably, his nephew experienced similar symptoms that resolved without intervention. Despite treatment with dextromethorphan-guaifenesin and supportive care by his primary care provider, his symptoms persisted.</a:t>
              </a:r>
              <a:endParaRPr sz="2000" dirty="0">
                <a:solidFill>
                  <a:schemeClr val="dk1"/>
                </a:solidFill>
              </a:endParaRPr>
            </a:p>
            <a:p>
              <a:pPr>
                <a:lnSpc>
                  <a:spcPct val="115000"/>
                </a:lnSpc>
                <a:spcBef>
                  <a:spcPts val="800"/>
                </a:spcBef>
                <a:buClr>
                  <a:schemeClr val="dk1"/>
                </a:buClr>
                <a:buSzPts val="1100"/>
              </a:pPr>
              <a:r>
                <a:rPr lang="en-US" sz="2000" dirty="0">
                  <a:solidFill>
                    <a:schemeClr val="dk1"/>
                  </a:solidFill>
                </a:rPr>
                <a:t>Initial testing for COVID-19, influenza, and group A Streptococcus was </a:t>
              </a:r>
              <a:r>
                <a:rPr lang="en-US" sz="2000" dirty="0" err="1">
                  <a:solidFill>
                    <a:schemeClr val="dk1"/>
                  </a:solidFill>
                </a:rPr>
                <a:t>negative.In</a:t>
              </a:r>
              <a:r>
                <a:rPr lang="en-US" sz="2000" dirty="0">
                  <a:solidFill>
                    <a:schemeClr val="dk1"/>
                  </a:solidFill>
                </a:rPr>
                <a:t> the emergency department, he was found to be tachycardic with a heart rate in the 160s, diaphoretic, and wheezing on auscultation. He also reported fatigue, unintentional weight loss, chest tightness, pallor, and a productive cough with green-to-white sputum. He endorsed occasional tobacco use, chronic marijuana use for over a decade, and a brief history of vaping. He denied intravenous drug use or recent travel. He was unvaccinated against influenza and COVID-19 and worked in aluminum product assembly. Initial labs are shown in Table 1. Electrocardiogram revealed sinus tachycardia, and chest X-ray (Figure 1) showed no acute abnormalities. However, a CT angiogram of the chest (Figure 2), while ruling out pulmonary embolism, revealed diffuse centrilobular nodules with a tree-in-bud pattern bilaterally. Physical examination was notable for bilateral wheezing, persistent tachycardia, and left axillary </a:t>
              </a:r>
              <a:r>
                <a:rPr lang="en-US" sz="2000" dirty="0" err="1">
                  <a:solidFill>
                    <a:schemeClr val="dk1"/>
                  </a:solidFill>
                </a:rPr>
                <a:t>lymphadenopathy.The</a:t>
              </a:r>
              <a:r>
                <a:rPr lang="en-US" sz="2000" dirty="0">
                  <a:solidFill>
                    <a:schemeClr val="dk1"/>
                  </a:solidFill>
                </a:rPr>
                <a:t> patient was admitted for further evaluation and management.</a:t>
              </a:r>
              <a:endParaRPr sz="2000" dirty="0">
                <a:solidFill>
                  <a:schemeClr val="dk1"/>
                </a:solidFill>
              </a:endParaRPr>
            </a:p>
            <a:p>
              <a:pPr>
                <a:lnSpc>
                  <a:spcPct val="115000"/>
                </a:lnSpc>
                <a:spcBef>
                  <a:spcPts val="800"/>
                </a:spcBef>
                <a:buClr>
                  <a:schemeClr val="dk1"/>
                </a:buClr>
                <a:buSzPts val="1100"/>
              </a:pPr>
              <a:r>
                <a:rPr lang="en-US" sz="2000" dirty="0">
                  <a:solidFill>
                    <a:schemeClr val="dk1"/>
                  </a:solidFill>
                </a:rPr>
                <a:t>Empiric therapy was initiated with ceftriaxone, levofloxacin, and fluconazole, along with intravenous methylprednisolone for presumed severe community-acquired pneumonia and consideration of hypersensitivity pneumonitis. Further laboratory evaluation (Table 2) revealed a significant hemoglobin drop from 16 g/dL to 9.6 g/dL, prompting an anemia workup, which confirmed autoimmune hemolytic anemia. </a:t>
              </a:r>
              <a:r>
                <a:rPr lang="en-US" sz="2000" i="1" dirty="0">
                  <a:solidFill>
                    <a:schemeClr val="dk1"/>
                  </a:solidFill>
                </a:rPr>
                <a:t>Mycoplasma pneumoniae</a:t>
              </a:r>
              <a:r>
                <a:rPr lang="en-US" sz="2000" dirty="0">
                  <a:solidFill>
                    <a:schemeClr val="dk1"/>
                  </a:solidFill>
                </a:rPr>
                <a:t> testing returned positive, leading to a change in antibiotics to doxycycline and discontinuation of fluconazole. Left axillary ultrasound was unremarkable.</a:t>
              </a:r>
              <a:endParaRPr sz="2000" dirty="0">
                <a:solidFill>
                  <a:schemeClr val="dk1"/>
                </a:solidFill>
              </a:endParaRPr>
            </a:p>
            <a:p>
              <a:pPr>
                <a:lnSpc>
                  <a:spcPct val="115000"/>
                </a:lnSpc>
                <a:spcBef>
                  <a:spcPts val="800"/>
                </a:spcBef>
                <a:buClr>
                  <a:schemeClr val="dk1"/>
                </a:buClr>
                <a:buSzPts val="1100"/>
              </a:pPr>
              <a:r>
                <a:rPr lang="en-US" sz="2000" dirty="0">
                  <a:solidFill>
                    <a:schemeClr val="dk1"/>
                  </a:solidFill>
                </a:rPr>
                <a:t>The patient’s condition improved with treatment, and supplemental oxygen was weaned off. He was discharged with doxycycline 100 mg twice daily for 14 days and prednisone 60 mg daily for 30 days. Outpatient follow-up was arranged with hematology, infectious disease, and his primary care physician within one week.</a:t>
              </a:r>
              <a:endParaRPr sz="2000" dirty="0">
                <a:solidFill>
                  <a:schemeClr val="dk1"/>
                </a:solidFill>
              </a:endParaRPr>
            </a:p>
            <a:p>
              <a:pPr>
                <a:lnSpc>
                  <a:spcPct val="115000"/>
                </a:lnSpc>
                <a:spcBef>
                  <a:spcPts val="800"/>
                </a:spcBef>
                <a:spcAft>
                  <a:spcPts val="800"/>
                </a:spcAft>
                <a:buClr>
                  <a:schemeClr val="dk1"/>
                </a:buClr>
                <a:buSzPts val="1100"/>
              </a:pPr>
              <a:endParaRPr sz="1800" dirty="0">
                <a:solidFill>
                  <a:schemeClr val="dk1"/>
                </a:solidFill>
              </a:endParaRPr>
            </a:p>
          </p:txBody>
        </p:sp>
        <p:sp>
          <p:nvSpPr>
            <p:cNvPr id="92" name="Google Shape;92;p1"/>
            <p:cNvSpPr/>
            <p:nvPr/>
          </p:nvSpPr>
          <p:spPr>
            <a:xfrm>
              <a:off x="2427100" y="4320967"/>
              <a:ext cx="8736200" cy="10610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3" name="Google Shape;93;p1"/>
            <p:cNvSpPr/>
            <p:nvPr/>
          </p:nvSpPr>
          <p:spPr>
            <a:xfrm>
              <a:off x="2427100" y="5393200"/>
              <a:ext cx="8736200" cy="38658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spcBef>
                  <a:spcPts val="800"/>
                </a:spcBef>
                <a:spcAft>
                  <a:spcPts val="800"/>
                </a:spcAft>
                <a:buClr>
                  <a:schemeClr val="dk1"/>
                </a:buClr>
                <a:buSzPts val="1100"/>
              </a:pPr>
              <a:r>
                <a:rPr lang="en-US" sz="1600" i="1" dirty="0">
                  <a:solidFill>
                    <a:schemeClr val="dk1"/>
                  </a:solidFill>
                </a:rPr>
                <a:t>Mycoplasma pneumoniae</a:t>
              </a:r>
              <a:r>
                <a:rPr lang="en-US" sz="1600" dirty="0">
                  <a:solidFill>
                    <a:schemeClr val="dk1"/>
                  </a:solidFill>
                </a:rPr>
                <a:t> is a leading cause of atypical pneumonia, especially among children and young adults. The prevalence rate is estimated to be 1.8% among hospitalized adults with pneumonia [1], though the actual prevalence rate may be underreported due to mild or no symptoms, and underdiagnosis [5,7]. It spreads through airborne droplets, with the highest incidence typically occurring in late summer and fall. Clinical presentations vary widely, ranging from mild respiratory symptoms to severe pneumonia, and may include extrapulmonary complications affecting the hematologic, neurologic, and cardiac systems. Diagnosis primarily relies on nucleic acid amplification tests (NAATs) and serological assays. Macrolides remain the first-line treatment; however, increasing resistance—particularly in the Western Pacific region, where rates have reached 53.4%—has prompted greater use of tetracyclines and fluoroquinolones. In severe cases, adjunctive therapies such as corticosteroids or intravenous immunoglobulin (IVIG) may be necessary. Due to the often mild or asymptomatic nature of the infection, many cases go undetected, complicating surveillance and diagnosis.</a:t>
              </a:r>
              <a:endParaRPr sz="1600" dirty="0">
                <a:solidFill>
                  <a:schemeClr val="lt1"/>
                </a:solidFill>
              </a:endParaRPr>
            </a:p>
          </p:txBody>
        </p:sp>
        <p:sp>
          <p:nvSpPr>
            <p:cNvPr id="94" name="Google Shape;94;p1"/>
            <p:cNvSpPr/>
            <p:nvPr/>
          </p:nvSpPr>
          <p:spPr>
            <a:xfrm>
              <a:off x="2427093" y="369174"/>
              <a:ext cx="27919600" cy="38092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5" name="Google Shape;95;p1"/>
            <p:cNvSpPr/>
            <p:nvPr/>
          </p:nvSpPr>
          <p:spPr>
            <a:xfrm>
              <a:off x="6299200" y="871838"/>
              <a:ext cx="20675600" cy="1335724"/>
            </a:xfrm>
            <a:prstGeom prst="rect">
              <a:avLst/>
            </a:prstGeom>
            <a:noFill/>
            <a:ln>
              <a:noFill/>
            </a:ln>
          </p:spPr>
          <p:txBody>
            <a:bodyPr spcFirstLastPara="1" wrap="square" lIns="60950" tIns="30467" rIns="60950" bIns="30467" anchor="ctr" anchorCtr="0">
              <a:spAutoFit/>
            </a:bodyPr>
            <a:lstStyle/>
            <a:p>
              <a:pPr algn="ctr">
                <a:lnSpc>
                  <a:spcPct val="115000"/>
                </a:lnSpc>
                <a:buClr>
                  <a:schemeClr val="dk1"/>
                </a:buClr>
                <a:buSzPts val="1100"/>
              </a:pPr>
              <a:r>
                <a:rPr lang="en-US" sz="3600" b="1" dirty="0">
                  <a:solidFill>
                    <a:schemeClr val="lt1"/>
                  </a:solidFill>
                </a:rPr>
                <a:t>When </a:t>
              </a:r>
              <a:r>
                <a:rPr lang="en-US" sz="3600" b="1" i="1" dirty="0">
                  <a:solidFill>
                    <a:schemeClr val="lt1"/>
                  </a:solidFill>
                </a:rPr>
                <a:t>Mycoplasma Pneumoniae</a:t>
              </a:r>
              <a:r>
                <a:rPr lang="en-US" sz="3600" b="1" dirty="0">
                  <a:solidFill>
                    <a:schemeClr val="lt1"/>
                  </a:solidFill>
                </a:rPr>
                <a:t> Defies Expectations: An Uncommon Case of Severe Pneumonia</a:t>
              </a:r>
              <a:endParaRPr sz="7867" b="1" dirty="0">
                <a:solidFill>
                  <a:schemeClr val="lt1"/>
                </a:solidFill>
                <a:latin typeface="Helvetica Neue"/>
                <a:ea typeface="Helvetica Neue"/>
                <a:cs typeface="Helvetica Neue"/>
                <a:sym typeface="Helvetica Neue"/>
              </a:endParaRPr>
            </a:p>
          </p:txBody>
        </p:sp>
        <p:sp>
          <p:nvSpPr>
            <p:cNvPr id="96" name="Google Shape;96;p1"/>
            <p:cNvSpPr/>
            <p:nvPr/>
          </p:nvSpPr>
          <p:spPr>
            <a:xfrm>
              <a:off x="2499400" y="2502000"/>
              <a:ext cx="27919600" cy="1512504"/>
            </a:xfrm>
            <a:prstGeom prst="rect">
              <a:avLst/>
            </a:prstGeom>
            <a:noFill/>
            <a:ln>
              <a:noFill/>
            </a:ln>
          </p:spPr>
          <p:txBody>
            <a:bodyPr spcFirstLastPara="1" wrap="square" lIns="60950" tIns="30467" rIns="60950" bIns="30467" anchor="t" anchorCtr="0">
              <a:spAutoFit/>
            </a:bodyPr>
            <a:lstStyle/>
            <a:p>
              <a:pPr algn="ctr">
                <a:lnSpc>
                  <a:spcPct val="115000"/>
                </a:lnSpc>
                <a:buClr>
                  <a:schemeClr val="dk1"/>
                </a:buClr>
                <a:buSzPts val="1100"/>
              </a:pPr>
              <a:r>
                <a:rPr lang="en-US" sz="2733" b="1">
                  <a:solidFill>
                    <a:schemeClr val="lt1"/>
                  </a:solidFill>
                </a:rPr>
                <a:t>Ji-Il Jeon MD, Andrew Clark MD, Ayesha Shahzad MD,  Hamna Javed MD, Mehar Kahlon MD, Pushpalatha Arakere MD, Bakht Roshan MD</a:t>
              </a:r>
              <a:endParaRPr sz="2733" b="1">
                <a:solidFill>
                  <a:schemeClr val="lt1"/>
                </a:solidFill>
              </a:endParaRPr>
            </a:p>
            <a:p>
              <a:pPr algn="ctr">
                <a:lnSpc>
                  <a:spcPct val="115000"/>
                </a:lnSpc>
                <a:buClr>
                  <a:schemeClr val="dk1"/>
                </a:buClr>
                <a:buSzPts val="1100"/>
              </a:pPr>
              <a:r>
                <a:rPr lang="en-US" sz="2733" b="1">
                  <a:solidFill>
                    <a:schemeClr val="lt1"/>
                  </a:solidFill>
                </a:rPr>
                <a:t>Infectious Disease Consultant, Saint Agnes Medical Center, Fresno, California</a:t>
              </a:r>
              <a:endParaRPr sz="2733" b="1">
                <a:solidFill>
                  <a:schemeClr val="lt1"/>
                </a:solidFill>
              </a:endParaRPr>
            </a:p>
            <a:p>
              <a:pPr algn="ctr">
                <a:lnSpc>
                  <a:spcPct val="115000"/>
                </a:lnSpc>
                <a:buClr>
                  <a:schemeClr val="dk1"/>
                </a:buClr>
                <a:buSzPts val="1100"/>
              </a:pPr>
              <a:r>
                <a:rPr lang="en-US" sz="2733" b="1">
                  <a:solidFill>
                    <a:schemeClr val="lt1"/>
                  </a:solidFill>
                </a:rPr>
                <a:t>Saint Agnes Medical Center, Fresno, CA</a:t>
              </a:r>
              <a:endParaRPr sz="2733" b="1">
                <a:solidFill>
                  <a:schemeClr val="lt1"/>
                </a:solidFill>
              </a:endParaRPr>
            </a:p>
          </p:txBody>
        </p:sp>
        <p:sp>
          <p:nvSpPr>
            <p:cNvPr id="97" name="Google Shape;97;p1"/>
            <p:cNvSpPr txBox="1"/>
            <p:nvPr/>
          </p:nvSpPr>
          <p:spPr>
            <a:xfrm>
              <a:off x="11426928" y="8972690"/>
              <a:ext cx="3771400" cy="256519"/>
            </a:xfrm>
            <a:prstGeom prst="rect">
              <a:avLst/>
            </a:prstGeom>
            <a:noFill/>
            <a:ln>
              <a:noFill/>
            </a:ln>
          </p:spPr>
          <p:txBody>
            <a:bodyPr spcFirstLastPara="1" wrap="square" lIns="60950" tIns="30467" rIns="60950" bIns="30467" anchor="t" anchorCtr="0">
              <a:spAutoFit/>
            </a:bodyPr>
            <a:lstStyle/>
            <a:p>
              <a:pPr>
                <a:buSzPts val="3000"/>
              </a:pPr>
              <a:r>
                <a:rPr lang="en-US" sz="1267" b="1">
                  <a:solidFill>
                    <a:schemeClr val="dk1"/>
                  </a:solidFill>
                  <a:latin typeface="Calibri"/>
                  <a:ea typeface="Calibri"/>
                  <a:cs typeface="Calibri"/>
                  <a:sym typeface="Calibri"/>
                </a:rPr>
                <a:t>Table 1: Labs on presentation</a:t>
              </a:r>
              <a:endParaRPr sz="1267"/>
            </a:p>
          </p:txBody>
        </p:sp>
        <p:sp>
          <p:nvSpPr>
            <p:cNvPr id="98" name="Google Shape;98;p1"/>
            <p:cNvSpPr txBox="1"/>
            <p:nvPr/>
          </p:nvSpPr>
          <p:spPr>
            <a:xfrm>
              <a:off x="11395867" y="11888517"/>
              <a:ext cx="4216200" cy="451508"/>
            </a:xfrm>
            <a:prstGeom prst="rect">
              <a:avLst/>
            </a:prstGeom>
            <a:noFill/>
            <a:ln>
              <a:noFill/>
            </a:ln>
          </p:spPr>
          <p:txBody>
            <a:bodyPr spcFirstLastPara="1" wrap="square" lIns="60950" tIns="30467" rIns="60950" bIns="30467" anchor="t" anchorCtr="0">
              <a:spAutoFit/>
            </a:bodyPr>
            <a:lstStyle/>
            <a:p>
              <a:pPr>
                <a:buSzPts val="3000"/>
              </a:pPr>
              <a:r>
                <a:rPr lang="en-US" sz="1267" b="1">
                  <a:solidFill>
                    <a:schemeClr val="dk1"/>
                  </a:solidFill>
                  <a:latin typeface="Calibri"/>
                  <a:ea typeface="Calibri"/>
                  <a:cs typeface="Calibri"/>
                  <a:sym typeface="Calibri"/>
                </a:rPr>
                <a:t>Figure 1: Chest XR on admission; No acute cardiopulmonary process</a:t>
              </a:r>
              <a:endParaRPr sz="200"/>
            </a:p>
          </p:txBody>
        </p:sp>
        <p:sp>
          <p:nvSpPr>
            <p:cNvPr id="99" name="Google Shape;99;p1"/>
            <p:cNvSpPr/>
            <p:nvPr/>
          </p:nvSpPr>
          <p:spPr>
            <a:xfrm>
              <a:off x="11457983" y="12325767"/>
              <a:ext cx="9776400" cy="11600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DISCUSSION</a:t>
              </a:r>
              <a:endParaRPr sz="933"/>
            </a:p>
          </p:txBody>
        </p:sp>
        <p:sp>
          <p:nvSpPr>
            <p:cNvPr id="100" name="Google Shape;100;p1"/>
            <p:cNvSpPr/>
            <p:nvPr/>
          </p:nvSpPr>
          <p:spPr>
            <a:xfrm>
              <a:off x="11457983" y="13485767"/>
              <a:ext cx="9776400" cy="81168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buClr>
                  <a:schemeClr val="dk1"/>
                </a:buClr>
                <a:buSzPts val="1100"/>
              </a:pPr>
              <a:r>
                <a:rPr lang="en-US" sz="1800" i="1" dirty="0">
                  <a:solidFill>
                    <a:schemeClr val="dk1"/>
                  </a:solidFill>
                </a:rPr>
                <a:t>Mycoplasma pneumoniae</a:t>
              </a:r>
              <a:r>
                <a:rPr lang="en-US" sz="1800" dirty="0">
                  <a:solidFill>
                    <a:schemeClr val="dk1"/>
                  </a:solidFill>
                </a:rPr>
                <a:t> is a well-recognized cause of atypical respiratory infections, often presenting with nonspecific or mild symptoms. While leukocytosis occurs in roughly 25% of cases, marked leukemoid reactions are rare. In this case, a middle-aged patient presented with profound leukocytosis (&gt;50,000/µL), axillary lymphadenopathy, weight loss, and severe </a:t>
              </a:r>
              <a:r>
                <a:rPr lang="en-US" sz="2000" dirty="0">
                  <a:solidFill>
                    <a:schemeClr val="dk1"/>
                  </a:solidFill>
                </a:rPr>
                <a:t>anemia</a:t>
              </a:r>
              <a:r>
                <a:rPr lang="en-US" sz="1800" dirty="0">
                  <a:solidFill>
                    <a:schemeClr val="dk1"/>
                  </a:solidFill>
                </a:rPr>
                <a:t>—findings that raised concern for hematologic malignancy. However, serologic testing confirmed </a:t>
              </a:r>
              <a:r>
                <a:rPr lang="en-US" sz="1800" i="1" dirty="0">
                  <a:solidFill>
                    <a:schemeClr val="dk1"/>
                  </a:solidFill>
                </a:rPr>
                <a:t>M. pneumoniae</a:t>
              </a:r>
              <a:r>
                <a:rPr lang="en-US" sz="1800" dirty="0">
                  <a:solidFill>
                    <a:schemeClr val="dk1"/>
                  </a:solidFill>
                </a:rPr>
                <a:t> infection, and further workup revealed autoimmune hemolytic anemia (AIHA). The extreme leukocytosis was attributed to a severe leukemoid reaction, which improved following initiation of doxycycline.</a:t>
              </a:r>
              <a:endParaRPr sz="1800" dirty="0">
                <a:solidFill>
                  <a:schemeClr val="dk1"/>
                </a:solidFill>
              </a:endParaRPr>
            </a:p>
            <a:p>
              <a:pPr>
                <a:lnSpc>
                  <a:spcPct val="115000"/>
                </a:lnSpc>
                <a:spcBef>
                  <a:spcPts val="800"/>
                </a:spcBef>
                <a:buClr>
                  <a:schemeClr val="dk1"/>
                </a:buClr>
                <a:buSzPts val="1100"/>
              </a:pPr>
              <a:r>
                <a:rPr lang="en-US" sz="1800" dirty="0">
                  <a:solidFill>
                    <a:schemeClr val="dk1"/>
                  </a:solidFill>
                </a:rPr>
                <a:t>A study in the U.S. reported a prevalence of 1.8% in hospitalized adults, while rates in children range from 2% to 35% during epidemics [1,3]. Around 30% of symptomatic individuals develop pneumonia, and 25% may experience extrapulmonary complications affecting the skin, gastrointestinal tract, musculoskeletal, cardiac, renal, hematopoietic, ocular, and nervous systems [6,9,12]. Hematologic manifestations include mild autoimmune hemolysis due to cold agglutinin disease, which may cause intravascular or intrahepatic </a:t>
              </a:r>
              <a:r>
                <a:rPr lang="en-US" sz="1800" dirty="0" err="1">
                  <a:solidFill>
                    <a:schemeClr val="dk1"/>
                  </a:solidFill>
                </a:rPr>
                <a:t>hemolysis.The</a:t>
              </a:r>
              <a:r>
                <a:rPr lang="en-US" sz="1800" dirty="0">
                  <a:solidFill>
                    <a:schemeClr val="dk1"/>
                  </a:solidFill>
                </a:rPr>
                <a:t> exact mechanism by which </a:t>
              </a:r>
              <a:r>
                <a:rPr lang="en-US" sz="1800" i="1" dirty="0">
                  <a:solidFill>
                    <a:schemeClr val="dk1"/>
                  </a:solidFill>
                </a:rPr>
                <a:t>M. pneumoniae</a:t>
              </a:r>
              <a:r>
                <a:rPr lang="en-US" sz="1800" dirty="0">
                  <a:solidFill>
                    <a:schemeClr val="dk1"/>
                  </a:solidFill>
                </a:rPr>
                <a:t> induces anti-I autoantibodies remains unknown [11]. The suspected mechanisms of other extrapulmonary complications involve direct bacterial invasion and immune cross-reactivity [22-25]. </a:t>
              </a:r>
              <a:endParaRPr sz="1800" dirty="0">
                <a:solidFill>
                  <a:schemeClr val="dk1"/>
                </a:solidFill>
              </a:endParaRPr>
            </a:p>
            <a:p>
              <a:pPr>
                <a:lnSpc>
                  <a:spcPct val="115000"/>
                </a:lnSpc>
                <a:spcBef>
                  <a:spcPts val="800"/>
                </a:spcBef>
                <a:buClr>
                  <a:schemeClr val="dk1"/>
                </a:buClr>
                <a:buSzPts val="1100"/>
              </a:pPr>
              <a:r>
                <a:rPr lang="en-US" sz="1800" dirty="0">
                  <a:solidFill>
                    <a:schemeClr val="dk1"/>
                  </a:solidFill>
                </a:rPr>
                <a:t>Diagnostic testing is generally reserved for severe or atypical cases. Nucleic acid amplification tests (NAATs) are the preferred method, while serology can be useful but requires paired acute and convalescent samples to confirm diagnosis [5]. Cold agglutinin titers and Coombs tests can support </a:t>
              </a:r>
              <a:r>
                <a:rPr lang="en-US" sz="1800" dirty="0" err="1">
                  <a:solidFill>
                    <a:schemeClr val="dk1"/>
                  </a:solidFill>
                </a:rPr>
                <a:t>diagnosis.Imaging</a:t>
              </a:r>
              <a:r>
                <a:rPr lang="en-US" sz="1800" dirty="0">
                  <a:solidFill>
                    <a:schemeClr val="dk1"/>
                  </a:solidFill>
                </a:rPr>
                <a:t> findings are nonspecific; chest X-rays may show patchy opacities, and CT scans can reveal tree-in-bud opacities [5]. </a:t>
              </a:r>
              <a:endParaRPr sz="1800" dirty="0">
                <a:solidFill>
                  <a:schemeClr val="dk1"/>
                </a:solidFill>
              </a:endParaRPr>
            </a:p>
            <a:p>
              <a:pPr>
                <a:lnSpc>
                  <a:spcPct val="115000"/>
                </a:lnSpc>
                <a:spcBef>
                  <a:spcPts val="800"/>
                </a:spcBef>
                <a:spcAft>
                  <a:spcPts val="800"/>
                </a:spcAft>
                <a:buClr>
                  <a:schemeClr val="dk1"/>
                </a:buClr>
                <a:buSzPts val="1100"/>
              </a:pPr>
              <a:r>
                <a:rPr lang="en-US" sz="1800" dirty="0">
                  <a:solidFill>
                    <a:schemeClr val="dk1"/>
                  </a:solidFill>
                </a:rPr>
                <a:t>Treatment depends on disease severity. Mild cases require only supportive care, and moderate to severe cases may require antibiotic treatments. </a:t>
              </a:r>
              <a:r>
                <a:rPr lang="en-US" sz="1800" i="1" dirty="0">
                  <a:solidFill>
                    <a:schemeClr val="dk1"/>
                  </a:solidFill>
                </a:rPr>
                <a:t>M. pneumoniae</a:t>
              </a:r>
              <a:r>
                <a:rPr lang="en-US" sz="1800" dirty="0">
                  <a:solidFill>
                    <a:schemeClr val="dk1"/>
                  </a:solidFill>
                </a:rPr>
                <a:t> lacks a cell wall, antibiotics target protein synthesis (macrolides, tetracyclines) or DNA replication (fluoroquinolones) [4,5]. Macrolides are first-line agents, but rising resistance is a concern. In the U.S., resistance ranged from 18.3% in the South and East to 2.1% in the West [13].</a:t>
              </a:r>
              <a:endParaRPr sz="1800" dirty="0">
                <a:solidFill>
                  <a:schemeClr val="dk1"/>
                </a:solidFill>
              </a:endParaRPr>
            </a:p>
          </p:txBody>
        </p:sp>
        <p:sp>
          <p:nvSpPr>
            <p:cNvPr id="101" name="Google Shape;101;p1"/>
            <p:cNvSpPr/>
            <p:nvPr/>
          </p:nvSpPr>
          <p:spPr>
            <a:xfrm>
              <a:off x="21507573" y="14446238"/>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dirty="0">
                  <a:solidFill>
                    <a:schemeClr val="lt1"/>
                  </a:solidFill>
                  <a:latin typeface="Calibri"/>
                  <a:ea typeface="Calibri"/>
                  <a:cs typeface="Calibri"/>
                  <a:sym typeface="Calibri"/>
                </a:rPr>
                <a:t>References</a:t>
              </a:r>
              <a:endParaRPr sz="933" dirty="0"/>
            </a:p>
          </p:txBody>
        </p:sp>
        <p:sp>
          <p:nvSpPr>
            <p:cNvPr id="102" name="Google Shape;102;p1"/>
            <p:cNvSpPr/>
            <p:nvPr/>
          </p:nvSpPr>
          <p:spPr>
            <a:xfrm>
              <a:off x="21507567" y="15526717"/>
              <a:ext cx="4338200" cy="3679800"/>
            </a:xfrm>
            <a:prstGeom prst="rect">
              <a:avLst/>
            </a:prstGeom>
            <a:solidFill>
              <a:schemeClr val="lt1"/>
            </a:solidFill>
            <a:ln>
              <a:noFill/>
            </a:ln>
          </p:spPr>
          <p:txBody>
            <a:bodyPr spcFirstLastPara="1" wrap="square" lIns="114300" tIns="30467" rIns="60950" bIns="30467" anchor="ctr" anchorCtr="0">
              <a:noAutofit/>
            </a:bodyPr>
            <a:lstStyle/>
            <a:p>
              <a:pPr marL="190510" indent="-194743">
                <a:lnSpc>
                  <a:spcPct val="115000"/>
                </a:lnSpc>
                <a:buClr>
                  <a:srgbClr val="212121"/>
                </a:buClr>
                <a:buSzPts val="1000"/>
                <a:buAutoNum type="arabicPeriod"/>
              </a:pPr>
              <a:r>
                <a:rPr lang="en-US" sz="667">
                  <a:solidFill>
                    <a:srgbClr val="212121"/>
                  </a:solidFill>
                  <a:highlight>
                    <a:srgbClr val="FFFFFF"/>
                  </a:highlight>
                </a:rPr>
                <a:t>Jain S, Self WH, Wunderink RG, et al. Community-Acquired Pneumonia Requiring Hospitalization among U.S. Adults. </a:t>
              </a:r>
              <a:r>
                <a:rPr lang="en-US" sz="667" i="1">
                  <a:solidFill>
                    <a:srgbClr val="212121"/>
                  </a:solidFill>
                  <a:highlight>
                    <a:srgbClr val="FFFFFF"/>
                  </a:highlight>
                </a:rPr>
                <a:t>N Engl J Med</a:t>
              </a:r>
              <a:r>
                <a:rPr lang="en-US" sz="667">
                  <a:solidFill>
                    <a:srgbClr val="212121"/>
                  </a:solidFill>
                  <a:highlight>
                    <a:srgbClr val="FFFFFF"/>
                  </a:highlight>
                </a:rPr>
                <a:t>. 2015;373(5):415-427. doi:10.1056/NEJMoa1500245</a:t>
              </a:r>
              <a:endParaRPr sz="667">
                <a:solidFill>
                  <a:srgbClr val="212121"/>
                </a:solidFill>
                <a:highlight>
                  <a:srgbClr val="FFFFFF"/>
                </a:highlight>
              </a:endParaRPr>
            </a:p>
            <a:p>
              <a:pPr marL="190510" indent="-194743">
                <a:lnSpc>
                  <a:spcPct val="115000"/>
                </a:lnSpc>
                <a:buClr>
                  <a:srgbClr val="212121"/>
                </a:buClr>
                <a:buSzPts val="1000"/>
                <a:buAutoNum type="arabicPeriod"/>
              </a:pPr>
              <a:r>
                <a:rPr lang="en-US" sz="667">
                  <a:solidFill>
                    <a:srgbClr val="212121"/>
                  </a:solidFill>
                  <a:highlight>
                    <a:srgbClr val="FFFFFF"/>
                  </a:highlight>
                </a:rPr>
                <a:t>Shimizu T. </a:t>
              </a:r>
              <a:r>
                <a:rPr lang="en-US" sz="667" i="1">
                  <a:solidFill>
                    <a:srgbClr val="212121"/>
                  </a:solidFill>
                  <a:highlight>
                    <a:srgbClr val="FFFFFF"/>
                  </a:highlight>
                </a:rPr>
                <a:t>Nihon Saikingaku Zasshi</a:t>
              </a:r>
              <a:r>
                <a:rPr lang="en-US" sz="667">
                  <a:solidFill>
                    <a:srgbClr val="212121"/>
                  </a:solidFill>
                  <a:highlight>
                    <a:srgbClr val="FFFFFF"/>
                  </a:highlight>
                </a:rPr>
                <a:t>. 2015;70(4):369-374. doi:10.3412/jsb.70.369</a:t>
              </a:r>
              <a:endParaRPr sz="667">
                <a:solidFill>
                  <a:srgbClr val="212121"/>
                </a:solidFill>
                <a:highlight>
                  <a:srgbClr val="FFFFFF"/>
                </a:highlight>
              </a:endParaRPr>
            </a:p>
            <a:p>
              <a:pPr marL="190510" indent="-194743">
                <a:lnSpc>
                  <a:spcPct val="115000"/>
                </a:lnSpc>
                <a:buClr>
                  <a:srgbClr val="212121"/>
                </a:buClr>
                <a:buSzPts val="1000"/>
                <a:buAutoNum type="arabicPeriod"/>
              </a:pPr>
              <a:r>
                <a:rPr lang="en-US" sz="667">
                  <a:solidFill>
                    <a:srgbClr val="333333"/>
                  </a:solidFill>
                  <a:highlight>
                    <a:srgbClr val="FFFFFF"/>
                  </a:highlight>
                </a:rPr>
                <a:t>Kim K, Jung S, Kim M, Park S, Yang H, Lee E. Global Trends in the Proportion of Macrolide-Resistant </a:t>
              </a:r>
              <a:r>
                <a:rPr lang="en-US" sz="667" i="1">
                  <a:solidFill>
                    <a:srgbClr val="333333"/>
                  </a:solidFill>
                  <a:highlight>
                    <a:srgbClr val="FFFFFF"/>
                  </a:highlight>
                </a:rPr>
                <a:t>Mycoplasma pneumoniae</a:t>
              </a:r>
              <a:r>
                <a:rPr lang="en-US" sz="667">
                  <a:solidFill>
                    <a:srgbClr val="333333"/>
                  </a:solidFill>
                  <a:highlight>
                    <a:srgbClr val="FFFFFF"/>
                  </a:highlight>
                </a:rPr>
                <a:t> Infections: A Systematic Review and Meta-analysis. </a:t>
              </a:r>
              <a:r>
                <a:rPr lang="en-US" sz="667" i="1">
                  <a:solidFill>
                    <a:srgbClr val="333333"/>
                  </a:solidFill>
                  <a:highlight>
                    <a:srgbClr val="FFFFFF"/>
                  </a:highlight>
                </a:rPr>
                <a:t>JAMA Netw Open.</a:t>
              </a:r>
              <a:r>
                <a:rPr lang="en-US" sz="667">
                  <a:solidFill>
                    <a:srgbClr val="333333"/>
                  </a:solidFill>
                  <a:highlight>
                    <a:srgbClr val="FFFFFF"/>
                  </a:highlight>
                </a:rPr>
                <a:t> 2022;5(7):e2220949. doi:10.1001/jamanetworkopen.2022.20949</a:t>
              </a:r>
              <a:endParaRPr sz="667">
                <a:solidFill>
                  <a:srgbClr val="333333"/>
                </a:solidFill>
                <a:highlight>
                  <a:srgbClr val="FFFFFF"/>
                </a:highlight>
              </a:endParaRPr>
            </a:p>
            <a:p>
              <a:pPr marL="190510" indent="-194743">
                <a:lnSpc>
                  <a:spcPct val="115000"/>
                </a:lnSpc>
                <a:buClr>
                  <a:srgbClr val="333333"/>
                </a:buClr>
                <a:buSzPts val="1000"/>
                <a:buAutoNum type="arabicPeriod"/>
              </a:pPr>
              <a:r>
                <a:rPr lang="en-US" sz="667">
                  <a:solidFill>
                    <a:srgbClr val="333333"/>
                  </a:solidFill>
                  <a:highlight>
                    <a:srgbClr val="FFFFFF"/>
                  </a:highlight>
                </a:rPr>
                <a:t>Atkinson T, Balish M, &amp; Waites Ken. Epidemiology, clinical manifestations, pathogenesis and laboratory detection of Mycoplasma pneumoniae infections. Federation of European Microbiological Societies 2008; 32: 956-973. DOI:10.1111/j.1574-6976.2008.00129.</a:t>
              </a:r>
              <a:endParaRPr sz="667">
                <a:solidFill>
                  <a:srgbClr val="333333"/>
                </a:solidFill>
                <a:highlight>
                  <a:srgbClr val="FFFFFF"/>
                </a:highlight>
              </a:endParaRPr>
            </a:p>
            <a:p>
              <a:pPr marL="190510" indent="-194743">
                <a:lnSpc>
                  <a:spcPct val="115000"/>
                </a:lnSpc>
                <a:buClr>
                  <a:srgbClr val="333333"/>
                </a:buClr>
                <a:buSzPts val="1000"/>
                <a:buAutoNum type="arabicPeriod"/>
              </a:pPr>
              <a:r>
                <a:rPr lang="en-US" sz="667">
                  <a:solidFill>
                    <a:srgbClr val="333333"/>
                  </a:solidFill>
                  <a:highlight>
                    <a:srgbClr val="FFFFFF"/>
                  </a:highlight>
                </a:rPr>
                <a:t>Liu EM, Janigian RH. </a:t>
              </a:r>
              <a:r>
                <a:rPr lang="en-US" sz="667" i="1">
                  <a:solidFill>
                    <a:srgbClr val="333333"/>
                  </a:solidFill>
                  <a:highlight>
                    <a:srgbClr val="FFFFFF"/>
                  </a:highlight>
                </a:rPr>
                <a:t>Mycoplasma pneumoniae</a:t>
              </a:r>
              <a:r>
                <a:rPr lang="en-US" sz="667">
                  <a:solidFill>
                    <a:srgbClr val="333333"/>
                  </a:solidFill>
                  <a:highlight>
                    <a:srgbClr val="FFFFFF"/>
                  </a:highlight>
                </a:rPr>
                <a:t>: The Other Masquerader. </a:t>
              </a:r>
              <a:r>
                <a:rPr lang="en-US" sz="667" i="1">
                  <a:solidFill>
                    <a:srgbClr val="333333"/>
                  </a:solidFill>
                  <a:highlight>
                    <a:srgbClr val="FFFFFF"/>
                  </a:highlight>
                </a:rPr>
                <a:t>JAMA Ophthalmol.</a:t>
              </a:r>
              <a:r>
                <a:rPr lang="en-US" sz="667">
                  <a:solidFill>
                    <a:srgbClr val="333333"/>
                  </a:solidFill>
                  <a:highlight>
                    <a:srgbClr val="FFFFFF"/>
                  </a:highlight>
                </a:rPr>
                <a:t> 2013;131(2):251–253. doi:10.1001/jamaophthalmol.2013.586</a:t>
              </a:r>
              <a:endParaRPr sz="667">
                <a:solidFill>
                  <a:srgbClr val="333333"/>
                </a:solidFill>
                <a:highlight>
                  <a:srgbClr val="FFFFFF"/>
                </a:highlight>
              </a:endParaRPr>
            </a:p>
            <a:p>
              <a:pPr marL="190510" indent="-194743">
                <a:lnSpc>
                  <a:spcPct val="115000"/>
                </a:lnSpc>
                <a:buClr>
                  <a:srgbClr val="333333"/>
                </a:buClr>
                <a:buSzPts val="1000"/>
                <a:buAutoNum type="arabicPeriod"/>
              </a:pPr>
              <a:r>
                <a:rPr lang="en-US" sz="667">
                  <a:solidFill>
                    <a:srgbClr val="212121"/>
                  </a:solidFill>
                  <a:highlight>
                    <a:srgbClr val="FFFFFF"/>
                  </a:highlight>
                </a:rPr>
                <a:t>Spuesens EB, Fraaij PL, Visser EG, et al. Carriage of Mycoplasma pneumoniae in the upper respiratory tract of symptomatic and asymptomatic children: an observational study. </a:t>
              </a:r>
              <a:r>
                <a:rPr lang="en-US" sz="667" i="1">
                  <a:solidFill>
                    <a:srgbClr val="212121"/>
                  </a:solidFill>
                  <a:highlight>
                    <a:srgbClr val="FFFFFF"/>
                  </a:highlight>
                </a:rPr>
                <a:t>PLoS Med</a:t>
              </a:r>
              <a:r>
                <a:rPr lang="en-US" sz="667">
                  <a:solidFill>
                    <a:srgbClr val="212121"/>
                  </a:solidFill>
                  <a:highlight>
                    <a:srgbClr val="FFFFFF"/>
                  </a:highlight>
                </a:rPr>
                <a:t>. 2013;10(5):e1001444. doi:10.1371/journal.pmed.1001444</a:t>
              </a:r>
              <a:endParaRPr sz="667">
                <a:solidFill>
                  <a:srgbClr val="212121"/>
                </a:solidFill>
                <a:highlight>
                  <a:srgbClr val="FFFFFF"/>
                </a:highlight>
              </a:endParaRPr>
            </a:p>
            <a:p>
              <a:pPr marL="190510" indent="-194743">
                <a:lnSpc>
                  <a:spcPct val="115000"/>
                </a:lnSpc>
                <a:buClr>
                  <a:srgbClr val="212121"/>
                </a:buClr>
                <a:buSzPts val="1000"/>
                <a:buAutoNum type="arabicPeriod"/>
              </a:pPr>
              <a:r>
                <a:rPr lang="en-US" sz="667">
                  <a:solidFill>
                    <a:srgbClr val="212121"/>
                  </a:solidFill>
                  <a:highlight>
                    <a:srgbClr val="FFFFFF"/>
                  </a:highlight>
                </a:rPr>
                <a:t>Pereyre S, Goret J, Bébéar C. Mycoplasma pneumoniae: Current Knowledge on Macrolide Resistance and Treatment. </a:t>
              </a:r>
              <a:r>
                <a:rPr lang="en-US" sz="667" i="1">
                  <a:solidFill>
                    <a:srgbClr val="212121"/>
                  </a:solidFill>
                  <a:highlight>
                    <a:srgbClr val="FFFFFF"/>
                  </a:highlight>
                </a:rPr>
                <a:t>Front Microbiol</a:t>
              </a:r>
              <a:r>
                <a:rPr lang="en-US" sz="667">
                  <a:solidFill>
                    <a:srgbClr val="212121"/>
                  </a:solidFill>
                  <a:highlight>
                    <a:srgbClr val="FFFFFF"/>
                  </a:highlight>
                </a:rPr>
                <a:t>. 2016;7:974. Published 2016 Jun 22. doi:10.3389/fmicb.2016.00974</a:t>
              </a:r>
              <a:endParaRPr sz="667">
                <a:solidFill>
                  <a:srgbClr val="212121"/>
                </a:solidFill>
                <a:highlight>
                  <a:srgbClr val="FFFFFF"/>
                </a:highlight>
              </a:endParaRPr>
            </a:p>
            <a:p>
              <a:pPr marL="190510" indent="-194743">
                <a:lnSpc>
                  <a:spcPct val="115000"/>
                </a:lnSpc>
                <a:buClr>
                  <a:srgbClr val="212121"/>
                </a:buClr>
                <a:buSzPts val="1000"/>
                <a:buAutoNum type="arabicPeriod"/>
              </a:pPr>
              <a:r>
                <a:rPr lang="en-US" sz="667">
                  <a:solidFill>
                    <a:srgbClr val="1B1B1B"/>
                  </a:solidFill>
                  <a:highlight>
                    <a:srgbClr val="FFFFFF"/>
                  </a:highlight>
                </a:rPr>
                <a:t>Waites KB, Talkington DF. Mycoplasma pneumoniae and its role as a human pathogen. </a:t>
              </a:r>
              <a:r>
                <a:rPr lang="en-US" sz="667" i="1">
                  <a:solidFill>
                    <a:srgbClr val="1B1B1B"/>
                  </a:solidFill>
                  <a:highlight>
                    <a:srgbClr val="FFFFFF"/>
                  </a:highlight>
                </a:rPr>
                <a:t>Clin Microbiol Rev</a:t>
              </a:r>
              <a:r>
                <a:rPr lang="en-US" sz="667">
                  <a:solidFill>
                    <a:srgbClr val="1B1B1B"/>
                  </a:solidFill>
                  <a:highlight>
                    <a:srgbClr val="FFFFFF"/>
                  </a:highlight>
                </a:rPr>
                <a:t>. 2004;17(4):697-728. doi:10.1128/CMR.17.4.697-728.2004</a:t>
              </a:r>
              <a:endParaRPr sz="667">
                <a:solidFill>
                  <a:srgbClr val="1B1B1B"/>
                </a:solidFill>
                <a:highlight>
                  <a:srgbClr val="FFFFFF"/>
                </a:highlight>
              </a:endParaRPr>
            </a:p>
            <a:p>
              <a:pPr marL="190510" indent="-194743">
                <a:lnSpc>
                  <a:spcPct val="115000"/>
                </a:lnSpc>
                <a:buClr>
                  <a:srgbClr val="1B1B1B"/>
                </a:buClr>
                <a:buSzPts val="1000"/>
                <a:buAutoNum type="arabicPeriod"/>
              </a:pPr>
              <a:r>
                <a:rPr lang="en-US" sz="667">
                  <a:solidFill>
                    <a:srgbClr val="212121"/>
                  </a:solidFill>
                  <a:highlight>
                    <a:srgbClr val="FFFFFF"/>
                  </a:highlight>
                </a:rPr>
                <a:t>Geissler RG, Köbberling J. Kälteagglutininkrankheit [Cold agglutinin disease]. </a:t>
              </a:r>
              <a:r>
                <a:rPr lang="en-US" sz="667" i="1">
                  <a:solidFill>
                    <a:srgbClr val="212121"/>
                  </a:solidFill>
                  <a:highlight>
                    <a:srgbClr val="FFFFFF"/>
                  </a:highlight>
                </a:rPr>
                <a:t>Klin Wochenschr</a:t>
              </a:r>
              <a:r>
                <a:rPr lang="en-US" sz="667">
                  <a:solidFill>
                    <a:srgbClr val="212121"/>
                  </a:solidFill>
                  <a:highlight>
                    <a:srgbClr val="FFFFFF"/>
                  </a:highlight>
                </a:rPr>
                <a:t>. 1988;66(7):277-283. doi:10.1007/BF01727512</a:t>
              </a:r>
              <a:endParaRPr sz="667">
                <a:solidFill>
                  <a:srgbClr val="212121"/>
                </a:solidFill>
                <a:highlight>
                  <a:srgbClr val="FFFFFF"/>
                </a:highlight>
              </a:endParaRPr>
            </a:p>
            <a:p>
              <a:pPr marL="190510" indent="-194743">
                <a:lnSpc>
                  <a:spcPct val="115000"/>
                </a:lnSpc>
                <a:buClr>
                  <a:srgbClr val="212121"/>
                </a:buClr>
                <a:buSzPts val="1000"/>
                <a:buAutoNum type="arabicPeriod"/>
              </a:pPr>
              <a:r>
                <a:rPr lang="en-US" sz="667">
                  <a:solidFill>
                    <a:srgbClr val="212121"/>
                  </a:solidFill>
                  <a:highlight>
                    <a:srgbClr val="FFFFFF"/>
                  </a:highlight>
                </a:rPr>
                <a:t>Loomes LM, Uemura K, Childs RA, et al. Erythrocyte receptors for Mycoplasma pneumoniae are sialylated oligosaccharides of Ii antigen type. </a:t>
              </a:r>
              <a:r>
                <a:rPr lang="en-US" sz="667" i="1">
                  <a:solidFill>
                    <a:srgbClr val="212121"/>
                  </a:solidFill>
                  <a:highlight>
                    <a:srgbClr val="FFFFFF"/>
                  </a:highlight>
                </a:rPr>
                <a:t>Nature</a:t>
              </a:r>
              <a:r>
                <a:rPr lang="en-US" sz="667">
                  <a:solidFill>
                    <a:srgbClr val="212121"/>
                  </a:solidFill>
                  <a:highlight>
                    <a:srgbClr val="FFFFFF"/>
                  </a:highlight>
                </a:rPr>
                <a:t>. 1984;307(5951):560-563. doi:10.1038/307560a0</a:t>
              </a:r>
              <a:endParaRPr sz="667">
                <a:solidFill>
                  <a:srgbClr val="212121"/>
                </a:solidFill>
                <a:highlight>
                  <a:srgbClr val="FFFFFF"/>
                </a:highlight>
              </a:endParaRPr>
            </a:p>
            <a:p>
              <a:pPr marL="190510" indent="-194743">
                <a:lnSpc>
                  <a:spcPct val="115000"/>
                </a:lnSpc>
                <a:buClr>
                  <a:srgbClr val="212121"/>
                </a:buClr>
                <a:buSzPts val="1000"/>
                <a:buAutoNum type="arabicPeriod"/>
              </a:pPr>
              <a:r>
                <a:rPr lang="en-US" sz="667">
                  <a:solidFill>
                    <a:srgbClr val="212121"/>
                  </a:solidFill>
                  <a:highlight>
                    <a:srgbClr val="FFFFFF"/>
                  </a:highlight>
                </a:rPr>
                <a:t>Mansel, J. Keith et al. Mycoplasma pneumoniae Pneumonia. CHEST, Volume 95, Issue 3, 639 - 646</a:t>
              </a:r>
              <a:endParaRPr sz="667">
                <a:solidFill>
                  <a:srgbClr val="212121"/>
                </a:solidFill>
                <a:highlight>
                  <a:srgbClr val="FFFFFF"/>
                </a:highlight>
              </a:endParaRPr>
            </a:p>
            <a:p>
              <a:pPr marL="190510" indent="-194743">
                <a:lnSpc>
                  <a:spcPct val="115000"/>
                </a:lnSpc>
                <a:buClr>
                  <a:srgbClr val="212121"/>
                </a:buClr>
                <a:buSzPts val="1000"/>
                <a:buAutoNum type="arabicPeriod"/>
              </a:pPr>
              <a:r>
                <a:rPr lang="en-US" sz="667">
                  <a:solidFill>
                    <a:srgbClr val="212121"/>
                  </a:solidFill>
                  <a:highlight>
                    <a:srgbClr val="FFFFFF"/>
                  </a:highlight>
                </a:rPr>
                <a:t>Waites KB, Ratliff A, Crabb DM, et al. Macrolide-Resistant Mycoplasma pneumoniae in the United States as Determined from a National Surveillance Program. </a:t>
              </a:r>
              <a:r>
                <a:rPr lang="en-US" sz="667" i="1">
                  <a:solidFill>
                    <a:srgbClr val="212121"/>
                  </a:solidFill>
                  <a:highlight>
                    <a:srgbClr val="FFFFFF"/>
                  </a:highlight>
                </a:rPr>
                <a:t>J Clin Microbiol</a:t>
              </a:r>
              <a:r>
                <a:rPr lang="en-US" sz="667">
                  <a:solidFill>
                    <a:srgbClr val="212121"/>
                  </a:solidFill>
                  <a:highlight>
                    <a:srgbClr val="FFFFFF"/>
                  </a:highlight>
                </a:rPr>
                <a:t>. 2019;57(11):e00968-19. Published 2019 Oct 23. doi:10.1128/JCM.00968-19</a:t>
              </a:r>
              <a:endParaRPr sz="667">
                <a:solidFill>
                  <a:srgbClr val="212121"/>
                </a:solidFill>
                <a:highlight>
                  <a:srgbClr val="FFFFFF"/>
                </a:highlight>
              </a:endParaRPr>
            </a:p>
            <a:p>
              <a:pPr marL="190510" indent="-194743">
                <a:lnSpc>
                  <a:spcPct val="115000"/>
                </a:lnSpc>
                <a:buClr>
                  <a:srgbClr val="212121"/>
                </a:buClr>
                <a:buSzPts val="1000"/>
                <a:buAutoNum type="arabicPeriod"/>
              </a:pPr>
              <a:r>
                <a:rPr lang="en-US" sz="667">
                  <a:solidFill>
                    <a:srgbClr val="1B1B1B"/>
                  </a:solidFill>
                  <a:highlight>
                    <a:srgbClr val="FFFFFF"/>
                  </a:highlight>
                </a:rPr>
                <a:t>Bajantri B, Venkatram S, Diaz-Fuentes G. </a:t>
              </a:r>
              <a:r>
                <a:rPr lang="en-US" sz="667" i="1">
                  <a:solidFill>
                    <a:srgbClr val="1B1B1B"/>
                  </a:solidFill>
                  <a:highlight>
                    <a:srgbClr val="FFFFFF"/>
                  </a:highlight>
                </a:rPr>
                <a:t>Mycoplasma pneumoniae</a:t>
              </a:r>
              <a:r>
                <a:rPr lang="en-US" sz="667">
                  <a:solidFill>
                    <a:srgbClr val="1B1B1B"/>
                  </a:solidFill>
                  <a:highlight>
                    <a:srgbClr val="FFFFFF"/>
                  </a:highlight>
                </a:rPr>
                <a:t>: A Potentially Severe Infection. </a:t>
              </a:r>
              <a:r>
                <a:rPr lang="en-US" sz="667" i="1">
                  <a:solidFill>
                    <a:srgbClr val="1B1B1B"/>
                  </a:solidFill>
                  <a:highlight>
                    <a:srgbClr val="FFFFFF"/>
                  </a:highlight>
                </a:rPr>
                <a:t>J Clin Med Res</a:t>
              </a:r>
              <a:r>
                <a:rPr lang="en-US" sz="667">
                  <a:solidFill>
                    <a:srgbClr val="1B1B1B"/>
                  </a:solidFill>
                  <a:highlight>
                    <a:srgbClr val="FFFFFF"/>
                  </a:highlight>
                </a:rPr>
                <a:t>. 2018;10(7):535-544. doi:10.14740/jocmr3421w</a:t>
              </a:r>
              <a:endParaRPr sz="667">
                <a:solidFill>
                  <a:schemeClr val="dk1"/>
                </a:solidFill>
              </a:endParaRPr>
            </a:p>
          </p:txBody>
        </p:sp>
        <p:sp>
          <p:nvSpPr>
            <p:cNvPr id="103" name="Google Shape;103;p1"/>
            <p:cNvSpPr/>
            <p:nvPr/>
          </p:nvSpPr>
          <p:spPr>
            <a:xfrm>
              <a:off x="21507573" y="4421249"/>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CONCLUSION</a:t>
              </a:r>
              <a:endParaRPr sz="933"/>
            </a:p>
          </p:txBody>
        </p:sp>
        <p:sp>
          <p:nvSpPr>
            <p:cNvPr id="104" name="Google Shape;104;p1"/>
            <p:cNvSpPr/>
            <p:nvPr/>
          </p:nvSpPr>
          <p:spPr>
            <a:xfrm>
              <a:off x="21507567" y="5501739"/>
              <a:ext cx="8839200" cy="86612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buClr>
                  <a:schemeClr val="dk1"/>
                </a:buClr>
                <a:buSzPts val="1100"/>
              </a:pPr>
              <a:r>
                <a:rPr lang="en-US" sz="2800" dirty="0">
                  <a:solidFill>
                    <a:schemeClr val="dk1"/>
                  </a:solidFill>
                </a:rPr>
                <a:t>M. pneumoniae can present with pulmonary and extra-pulmonary symptoms. Pathogenesis behind some clinical manifestations is not well understood. This case highlights the potential for </a:t>
              </a:r>
              <a:r>
                <a:rPr lang="en-US" sz="2800" i="1" dirty="0">
                  <a:solidFill>
                    <a:schemeClr val="dk1"/>
                  </a:solidFill>
                </a:rPr>
                <a:t>M. pneumoniae</a:t>
              </a:r>
              <a:r>
                <a:rPr lang="en-US" sz="2800" dirty="0">
                  <a:solidFill>
                    <a:schemeClr val="dk1"/>
                  </a:solidFill>
                </a:rPr>
                <a:t> to present with significant hematologic complications and underscores the importance of maintaining a broad differential.</a:t>
              </a:r>
              <a:endParaRPr sz="2800" dirty="0">
                <a:solidFill>
                  <a:schemeClr val="dk1"/>
                </a:solidFill>
              </a:endParaRPr>
            </a:p>
            <a:p>
              <a:pPr>
                <a:lnSpc>
                  <a:spcPct val="115000"/>
                </a:lnSpc>
                <a:buClr>
                  <a:schemeClr val="dk1"/>
                </a:buClr>
                <a:buSzPts val="1100"/>
              </a:pPr>
              <a:endParaRPr sz="2800" dirty="0">
                <a:solidFill>
                  <a:schemeClr val="dk1"/>
                </a:solidFill>
              </a:endParaRPr>
            </a:p>
            <a:p>
              <a:pPr>
                <a:lnSpc>
                  <a:spcPct val="115000"/>
                </a:lnSpc>
                <a:spcBef>
                  <a:spcPts val="800"/>
                </a:spcBef>
                <a:buClr>
                  <a:schemeClr val="dk1"/>
                </a:buClr>
                <a:buSzPts val="1100"/>
              </a:pPr>
              <a:r>
                <a:rPr lang="en-US" sz="2800" dirty="0">
                  <a:solidFill>
                    <a:schemeClr val="dk1"/>
                  </a:solidFill>
                </a:rPr>
                <a:t>Diagnostic testing is generally reserved for severe or atypical cases. Nucleic acid amplification tests (NAATs), the preferred method, is not readily available as the serology testing. Treatment depends on disease severity. Mild cases require only supportive care, but more severe cases require antibiotic treatments.  Macrolide is the first-line treatment. There is a global rise in macrolide resistance, varies from 53.4% in the Western Pacific and 2.1% on the U.S. West Coast [4,13]. Further research is warranted to optimize treatment strategies and expand access to accurate diagnostic testing. </a:t>
              </a:r>
              <a:endParaRPr sz="2800" i="1" dirty="0">
                <a:solidFill>
                  <a:schemeClr val="dk1"/>
                </a:solidFill>
              </a:endParaRPr>
            </a:p>
          </p:txBody>
        </p:sp>
        <p:pic>
          <p:nvPicPr>
            <p:cNvPr id="105" name="Google Shape;105;p1" descr="Logo, company name&#10;&#10;Description automatically generated"/>
            <p:cNvPicPr preferRelativeResize="0"/>
            <p:nvPr/>
          </p:nvPicPr>
          <p:blipFill rotWithShape="1">
            <a:blip r:embed="rId3">
              <a:alphaModFix/>
            </a:blip>
            <a:srcRect b="54543"/>
            <a:stretch/>
          </p:blipFill>
          <p:spPr>
            <a:xfrm>
              <a:off x="23063498" y="19738113"/>
              <a:ext cx="3748117" cy="1638727"/>
            </a:xfrm>
            <a:prstGeom prst="rect">
              <a:avLst/>
            </a:prstGeom>
            <a:noFill/>
            <a:ln>
              <a:noFill/>
            </a:ln>
          </p:spPr>
        </p:pic>
        <p:pic>
          <p:nvPicPr>
            <p:cNvPr id="106" name="Google Shape;106;p1" descr="Logo, company name&#10;&#10;Description automatically generated"/>
            <p:cNvPicPr preferRelativeResize="0"/>
            <p:nvPr/>
          </p:nvPicPr>
          <p:blipFill rotWithShape="1">
            <a:blip r:embed="rId3">
              <a:alphaModFix/>
            </a:blip>
            <a:srcRect t="47565" b="13424"/>
            <a:stretch/>
          </p:blipFill>
          <p:spPr>
            <a:xfrm>
              <a:off x="24994382" y="19879197"/>
              <a:ext cx="3955647" cy="1532673"/>
            </a:xfrm>
            <a:prstGeom prst="rect">
              <a:avLst/>
            </a:prstGeom>
            <a:noFill/>
            <a:ln>
              <a:noFill/>
            </a:ln>
          </p:spPr>
        </p:pic>
        <p:pic>
          <p:nvPicPr>
            <p:cNvPr id="107" name="Google Shape;107;p1"/>
            <p:cNvPicPr preferRelativeResize="0"/>
            <p:nvPr/>
          </p:nvPicPr>
          <p:blipFill>
            <a:blip r:embed="rId4">
              <a:alphaModFix/>
            </a:blip>
            <a:stretch>
              <a:fillRect/>
            </a:stretch>
          </p:blipFill>
          <p:spPr>
            <a:xfrm>
              <a:off x="11457984" y="9259000"/>
              <a:ext cx="3287642" cy="2629517"/>
            </a:xfrm>
            <a:prstGeom prst="rect">
              <a:avLst/>
            </a:prstGeom>
            <a:noFill/>
            <a:ln>
              <a:noFill/>
            </a:ln>
          </p:spPr>
        </p:pic>
        <p:pic>
          <p:nvPicPr>
            <p:cNvPr id="108" name="Google Shape;108;p1"/>
            <p:cNvPicPr preferRelativeResize="0"/>
            <p:nvPr/>
          </p:nvPicPr>
          <p:blipFill>
            <a:blip r:embed="rId5">
              <a:alphaModFix/>
            </a:blip>
            <a:stretch>
              <a:fillRect/>
            </a:stretch>
          </p:blipFill>
          <p:spPr>
            <a:xfrm>
              <a:off x="16034400" y="7579593"/>
              <a:ext cx="5200001" cy="4338407"/>
            </a:xfrm>
            <a:prstGeom prst="rect">
              <a:avLst/>
            </a:prstGeom>
            <a:noFill/>
            <a:ln>
              <a:noFill/>
            </a:ln>
          </p:spPr>
        </p:pic>
        <p:sp>
          <p:nvSpPr>
            <p:cNvPr id="109" name="Google Shape;109;p1"/>
            <p:cNvSpPr txBox="1"/>
            <p:nvPr/>
          </p:nvSpPr>
          <p:spPr>
            <a:xfrm>
              <a:off x="16087059" y="11888509"/>
              <a:ext cx="4152400" cy="451508"/>
            </a:xfrm>
            <a:prstGeom prst="rect">
              <a:avLst/>
            </a:prstGeom>
            <a:noFill/>
            <a:ln>
              <a:noFill/>
            </a:ln>
          </p:spPr>
          <p:txBody>
            <a:bodyPr spcFirstLastPara="1" wrap="square" lIns="60950" tIns="30467" rIns="60950" bIns="30467" anchor="t" anchorCtr="0">
              <a:spAutoFit/>
            </a:bodyPr>
            <a:lstStyle/>
            <a:p>
              <a:pPr>
                <a:buSzPts val="3000"/>
              </a:pPr>
              <a:r>
                <a:rPr lang="en-US" sz="1267" b="1">
                  <a:solidFill>
                    <a:schemeClr val="dk1"/>
                  </a:solidFill>
                  <a:latin typeface="Calibri"/>
                  <a:ea typeface="Calibri"/>
                  <a:cs typeface="Calibri"/>
                  <a:sym typeface="Calibri"/>
                </a:rPr>
                <a:t>Figure 2: CTA Chest on Admission; Diffuse centrilobular nodules with tree-in-bud configuration</a:t>
              </a:r>
              <a:endParaRPr sz="1267" b="1">
                <a:latin typeface="Calibri"/>
                <a:ea typeface="Calibri"/>
                <a:cs typeface="Calibri"/>
                <a:sym typeface="Calibri"/>
              </a:endParaRPr>
            </a:p>
          </p:txBody>
        </p:sp>
        <p:sp>
          <p:nvSpPr>
            <p:cNvPr id="110" name="Google Shape;110;p1"/>
            <p:cNvSpPr txBox="1"/>
            <p:nvPr/>
          </p:nvSpPr>
          <p:spPr>
            <a:xfrm>
              <a:off x="15997044" y="7329042"/>
              <a:ext cx="4691200" cy="256519"/>
            </a:xfrm>
            <a:prstGeom prst="rect">
              <a:avLst/>
            </a:prstGeom>
            <a:noFill/>
            <a:ln>
              <a:noFill/>
            </a:ln>
          </p:spPr>
          <p:txBody>
            <a:bodyPr spcFirstLastPara="1" wrap="square" lIns="60950" tIns="30467" rIns="60950" bIns="30467" anchor="t" anchorCtr="0">
              <a:spAutoFit/>
            </a:bodyPr>
            <a:lstStyle/>
            <a:p>
              <a:pPr>
                <a:buSzPts val="3000"/>
              </a:pPr>
              <a:r>
                <a:rPr lang="en-US" sz="1267" b="1">
                  <a:solidFill>
                    <a:schemeClr val="dk1"/>
                  </a:solidFill>
                  <a:latin typeface="Calibri"/>
                  <a:ea typeface="Calibri"/>
                  <a:cs typeface="Calibri"/>
                  <a:sym typeface="Calibri"/>
                </a:rPr>
                <a:t>Table 2: Further laboratory evaluations</a:t>
              </a:r>
              <a:endParaRPr sz="1267" b="1">
                <a:solidFill>
                  <a:schemeClr val="dk1"/>
                </a:solidFill>
                <a:latin typeface="Calibri"/>
                <a:ea typeface="Calibri"/>
                <a:cs typeface="Calibri"/>
                <a:sym typeface="Calibri"/>
              </a:endParaRPr>
            </a:p>
          </p:txBody>
        </p:sp>
        <p:pic>
          <p:nvPicPr>
            <p:cNvPr id="111" name="Google Shape;111;p1"/>
            <p:cNvPicPr preferRelativeResize="0"/>
            <p:nvPr/>
          </p:nvPicPr>
          <p:blipFill>
            <a:blip r:embed="rId6">
              <a:alphaModFix/>
            </a:blip>
            <a:stretch>
              <a:fillRect/>
            </a:stretch>
          </p:blipFill>
          <p:spPr>
            <a:xfrm>
              <a:off x="2927307" y="903454"/>
              <a:ext cx="2298474" cy="2383600"/>
            </a:xfrm>
            <a:prstGeom prst="rect">
              <a:avLst/>
            </a:prstGeom>
            <a:noFill/>
            <a:ln>
              <a:noFill/>
            </a:ln>
          </p:spPr>
        </p:pic>
        <p:sp>
          <p:nvSpPr>
            <p:cNvPr id="112" name="Google Shape;112;p1"/>
            <p:cNvSpPr/>
            <p:nvPr/>
          </p:nvSpPr>
          <p:spPr>
            <a:xfrm>
              <a:off x="26008500" y="15513667"/>
              <a:ext cx="4338200" cy="36798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pPr>
              <a:r>
                <a:rPr lang="en-US" sz="667">
                  <a:solidFill>
                    <a:srgbClr val="212121"/>
                  </a:solidFill>
                  <a:highlight>
                    <a:schemeClr val="lt1"/>
                  </a:highlight>
                </a:rPr>
                <a:t>14.      Koskiniemi M. CNS manifestations associated with Mycoplasma pneumoniae infections: summary of cases at the University of Helsinki and review. </a:t>
              </a:r>
              <a:r>
                <a:rPr lang="en-US" sz="667" i="1">
                  <a:solidFill>
                    <a:srgbClr val="212121"/>
                  </a:solidFill>
                  <a:highlight>
                    <a:schemeClr val="lt1"/>
                  </a:highlight>
                </a:rPr>
                <a:t>Clin Infect Dis</a:t>
              </a:r>
              <a:r>
                <a:rPr lang="en-US" sz="667">
                  <a:solidFill>
                    <a:srgbClr val="212121"/>
                  </a:solidFill>
                  <a:highlight>
                    <a:schemeClr val="lt1"/>
                  </a:highlight>
                </a:rPr>
                <a:t>. 1993;17 Suppl 1(Suppl 1):S52-S57. doi:10.1093/clinids/17.supplement_1.s52</a:t>
              </a:r>
              <a:endParaRPr sz="667">
                <a:solidFill>
                  <a:srgbClr val="212121"/>
                </a:solidFill>
                <a:highlight>
                  <a:srgbClr val="FFFFFF"/>
                </a:highlight>
              </a:endParaRPr>
            </a:p>
            <a:p>
              <a:pPr>
                <a:lnSpc>
                  <a:spcPct val="115000"/>
                </a:lnSpc>
              </a:pPr>
              <a:r>
                <a:rPr lang="en-US" sz="667">
                  <a:solidFill>
                    <a:srgbClr val="212121"/>
                  </a:solidFill>
                  <a:highlight>
                    <a:srgbClr val="FFFFFF"/>
                  </a:highlight>
                </a:rPr>
                <a:t>15.     Tsiodras S, Kelesidis I, Kelesidis T, Stamboulis E, Giamarellou H. Central nervous system manifestations of Mycoplasma pneumoniae infections. </a:t>
              </a:r>
              <a:r>
                <a:rPr lang="en-US" sz="667" i="1">
                  <a:solidFill>
                    <a:srgbClr val="212121"/>
                  </a:solidFill>
                  <a:highlight>
                    <a:srgbClr val="FFFFFF"/>
                  </a:highlight>
                </a:rPr>
                <a:t>J Infect</a:t>
              </a:r>
              <a:r>
                <a:rPr lang="en-US" sz="667">
                  <a:solidFill>
                    <a:srgbClr val="212121"/>
                  </a:solidFill>
                  <a:highlight>
                    <a:srgbClr val="FFFFFF"/>
                  </a:highlight>
                </a:rPr>
                <a:t>. 2005;51(5):343-354. doi:10.1016/j.jinf.2005.07.005</a:t>
              </a:r>
              <a:endParaRPr sz="667">
                <a:solidFill>
                  <a:srgbClr val="212121"/>
                </a:solidFill>
                <a:highlight>
                  <a:srgbClr val="FFFFFF"/>
                </a:highlight>
              </a:endParaRPr>
            </a:p>
            <a:p>
              <a:pPr>
                <a:lnSpc>
                  <a:spcPct val="115000"/>
                </a:lnSpc>
              </a:pPr>
              <a:r>
                <a:rPr lang="en-US" sz="667">
                  <a:solidFill>
                    <a:srgbClr val="212121"/>
                  </a:solidFill>
                  <a:highlight>
                    <a:srgbClr val="FFFFFF"/>
                  </a:highlight>
                </a:rPr>
                <a:t>16.      Smith R, Eviatar L. Neurologic manifestations of Mycoplasma pneumoniae infections: diverse spectrum of diseases. A report of six cases and review of the literature. </a:t>
              </a:r>
              <a:r>
                <a:rPr lang="en-US" sz="667" i="1">
                  <a:solidFill>
                    <a:srgbClr val="212121"/>
                  </a:solidFill>
                  <a:highlight>
                    <a:srgbClr val="FFFFFF"/>
                  </a:highlight>
                </a:rPr>
                <a:t>Clin Pediatr (Phila)</a:t>
              </a:r>
              <a:r>
                <a:rPr lang="en-US" sz="667">
                  <a:solidFill>
                    <a:srgbClr val="212121"/>
                  </a:solidFill>
                  <a:highlight>
                    <a:srgbClr val="FFFFFF"/>
                  </a:highlight>
                </a:rPr>
                <a:t>. 2000;39(4):195-201. doi:10.1177/000992280003900401</a:t>
              </a:r>
              <a:endParaRPr sz="667">
                <a:solidFill>
                  <a:srgbClr val="212121"/>
                </a:solidFill>
                <a:highlight>
                  <a:srgbClr val="FFFFFF"/>
                </a:highlight>
              </a:endParaRPr>
            </a:p>
            <a:p>
              <a:pPr>
                <a:lnSpc>
                  <a:spcPct val="115000"/>
                </a:lnSpc>
              </a:pPr>
              <a:r>
                <a:rPr lang="en-US" sz="667">
                  <a:solidFill>
                    <a:srgbClr val="212121"/>
                  </a:solidFill>
                  <a:highlight>
                    <a:schemeClr val="lt1"/>
                  </a:highlight>
                </a:rPr>
                <a:t>17.      </a:t>
              </a:r>
              <a:r>
                <a:rPr lang="en-US" sz="667">
                  <a:solidFill>
                    <a:srgbClr val="212121"/>
                  </a:solidFill>
                  <a:highlight>
                    <a:srgbClr val="FFFFFF"/>
                  </a:highlight>
                </a:rPr>
                <a:t>Santos RP, Silva M, Vieira AP, Brito C. </a:t>
              </a:r>
              <a:r>
                <a:rPr lang="en-US" sz="667" i="1">
                  <a:solidFill>
                    <a:srgbClr val="212121"/>
                  </a:solidFill>
                  <a:highlight>
                    <a:srgbClr val="FFFFFF"/>
                  </a:highlight>
                </a:rPr>
                <a:t>Mycoplasma pneumoniae-</a:t>
              </a:r>
              <a:r>
                <a:rPr lang="en-US" sz="667">
                  <a:solidFill>
                    <a:srgbClr val="212121"/>
                  </a:solidFill>
                  <a:highlight>
                    <a:srgbClr val="FFFFFF"/>
                  </a:highlight>
                </a:rPr>
                <a:t>induced rash and mucositis: a recently described entity. </a:t>
              </a:r>
              <a:r>
                <a:rPr lang="en-US" sz="667" i="1">
                  <a:solidFill>
                    <a:srgbClr val="212121"/>
                  </a:solidFill>
                  <a:highlight>
                    <a:srgbClr val="FFFFFF"/>
                  </a:highlight>
                </a:rPr>
                <a:t>BMJ Case Rep</a:t>
              </a:r>
              <a:r>
                <a:rPr lang="en-US" sz="667">
                  <a:solidFill>
                    <a:srgbClr val="212121"/>
                  </a:solidFill>
                  <a:highlight>
                    <a:srgbClr val="FFFFFF"/>
                  </a:highlight>
                </a:rPr>
                <a:t>. 2017;2017:bcr2017220768. Published 2017 Aug 22. doi:10.1136/bcr-2017-220768</a:t>
              </a:r>
              <a:endParaRPr sz="667">
                <a:solidFill>
                  <a:srgbClr val="212121"/>
                </a:solidFill>
                <a:highlight>
                  <a:srgbClr val="FFFFFF"/>
                </a:highlight>
              </a:endParaRPr>
            </a:p>
            <a:p>
              <a:pPr>
                <a:lnSpc>
                  <a:spcPct val="115000"/>
                </a:lnSpc>
              </a:pPr>
              <a:r>
                <a:rPr lang="en-US" sz="667">
                  <a:solidFill>
                    <a:srgbClr val="212121"/>
                  </a:solidFill>
                  <a:highlight>
                    <a:schemeClr val="lt1"/>
                  </a:highlight>
                </a:rPr>
                <a:t>18.      </a:t>
              </a:r>
              <a:r>
                <a:rPr lang="en-US" sz="667">
                  <a:solidFill>
                    <a:srgbClr val="212121"/>
                  </a:solidFill>
                  <a:highlight>
                    <a:srgbClr val="FFFFFF"/>
                  </a:highlight>
                </a:rPr>
                <a:t>Bhoopalan SV, Chawla V, Hogan MB, Wilson NW, Das SU. Bullous Skin Manifestations of </a:t>
              </a:r>
              <a:r>
                <a:rPr lang="en-US" sz="667" i="1">
                  <a:solidFill>
                    <a:srgbClr val="212121"/>
                  </a:solidFill>
                  <a:highlight>
                    <a:srgbClr val="FFFFFF"/>
                  </a:highlight>
                </a:rPr>
                <a:t>Mycoplasma pneumoniae</a:t>
              </a:r>
              <a:r>
                <a:rPr lang="en-US" sz="667">
                  <a:solidFill>
                    <a:srgbClr val="212121"/>
                  </a:solidFill>
                  <a:highlight>
                    <a:srgbClr val="FFFFFF"/>
                  </a:highlight>
                </a:rPr>
                <a:t> Infection: A Case Series. </a:t>
              </a:r>
              <a:r>
                <a:rPr lang="en-US" sz="667" i="1">
                  <a:solidFill>
                    <a:srgbClr val="212121"/>
                  </a:solidFill>
                  <a:highlight>
                    <a:srgbClr val="FFFFFF"/>
                  </a:highlight>
                </a:rPr>
                <a:t>J Investig Med High Impact Case Rep</a:t>
              </a:r>
              <a:r>
                <a:rPr lang="en-US" sz="667">
                  <a:solidFill>
                    <a:srgbClr val="212121"/>
                  </a:solidFill>
                  <a:highlight>
                    <a:srgbClr val="FFFFFF"/>
                  </a:highlight>
                </a:rPr>
                <a:t>. 2017;5(3):2324709617727759. Published 2017 Sep 8. doi:10.1177/2324709617727759</a:t>
              </a:r>
              <a:endParaRPr sz="667">
                <a:solidFill>
                  <a:srgbClr val="212121"/>
                </a:solidFill>
                <a:highlight>
                  <a:srgbClr val="FFFFFF"/>
                </a:highlight>
              </a:endParaRPr>
            </a:p>
            <a:p>
              <a:pPr>
                <a:lnSpc>
                  <a:spcPct val="115000"/>
                </a:lnSpc>
              </a:pPr>
              <a:r>
                <a:rPr lang="en-US" sz="667">
                  <a:solidFill>
                    <a:srgbClr val="212121"/>
                  </a:solidFill>
                  <a:highlight>
                    <a:schemeClr val="lt1"/>
                  </a:highlight>
                </a:rPr>
                <a:t>19.      </a:t>
              </a:r>
              <a:r>
                <a:rPr lang="en-US" sz="667">
                  <a:solidFill>
                    <a:srgbClr val="212121"/>
                  </a:solidFill>
                  <a:highlight>
                    <a:srgbClr val="FFFFFF"/>
                  </a:highlight>
                </a:rPr>
                <a:t>Vujic I, Shroff A, Grzelka M, et al. Mycoplasma pneumoniae-associated mucositis--case report and systematic review of literature. </a:t>
              </a:r>
              <a:r>
                <a:rPr lang="en-US" sz="667" i="1">
                  <a:solidFill>
                    <a:srgbClr val="212121"/>
                  </a:solidFill>
                  <a:highlight>
                    <a:srgbClr val="FFFFFF"/>
                  </a:highlight>
                </a:rPr>
                <a:t>J Eur Acad Dermatol Venereol</a:t>
              </a:r>
              <a:r>
                <a:rPr lang="en-US" sz="667">
                  <a:solidFill>
                    <a:srgbClr val="212121"/>
                  </a:solidFill>
                  <a:highlight>
                    <a:srgbClr val="FFFFFF"/>
                  </a:highlight>
                </a:rPr>
                <a:t>. 2015;29(3):595-598. doi:10.1111/jdv.12392</a:t>
              </a:r>
              <a:endParaRPr sz="667">
                <a:solidFill>
                  <a:srgbClr val="212121"/>
                </a:solidFill>
                <a:highlight>
                  <a:srgbClr val="FFFFFF"/>
                </a:highlight>
              </a:endParaRPr>
            </a:p>
            <a:p>
              <a:pPr>
                <a:lnSpc>
                  <a:spcPct val="115000"/>
                </a:lnSpc>
              </a:pPr>
              <a:r>
                <a:rPr lang="en-US" sz="667">
                  <a:solidFill>
                    <a:srgbClr val="212121"/>
                  </a:solidFill>
                  <a:highlight>
                    <a:schemeClr val="lt1"/>
                  </a:highlight>
                </a:rPr>
                <a:t>20.      </a:t>
              </a:r>
              <a:r>
                <a:rPr lang="en-US" sz="667">
                  <a:solidFill>
                    <a:srgbClr val="212121"/>
                  </a:solidFill>
                  <a:highlight>
                    <a:srgbClr val="FFFFFF"/>
                  </a:highlight>
                </a:rPr>
                <a:t>Amode R, Ingen-Housz-Oro S, Ortonne N, et al. Clinical and histologic features of Mycoplasma pneumoniae-related erythema multiforme: A single-center series of 33 cases compared with 100 cases induced by other causes. </a:t>
              </a:r>
              <a:r>
                <a:rPr lang="en-US" sz="667" i="1">
                  <a:solidFill>
                    <a:srgbClr val="212121"/>
                  </a:solidFill>
                  <a:highlight>
                    <a:srgbClr val="FFFFFF"/>
                  </a:highlight>
                </a:rPr>
                <a:t>J Am Acad Dermatol</a:t>
              </a:r>
              <a:r>
                <a:rPr lang="en-US" sz="667">
                  <a:solidFill>
                    <a:srgbClr val="212121"/>
                  </a:solidFill>
                  <a:highlight>
                    <a:srgbClr val="FFFFFF"/>
                  </a:highlight>
                </a:rPr>
                <a:t>. 2018;79(1):110-117. doi:10.1016/j.jaad.2018.03.013</a:t>
              </a:r>
              <a:endParaRPr sz="667">
                <a:solidFill>
                  <a:srgbClr val="212121"/>
                </a:solidFill>
                <a:highlight>
                  <a:srgbClr val="FFFFFF"/>
                </a:highlight>
              </a:endParaRPr>
            </a:p>
            <a:p>
              <a:pPr>
                <a:lnSpc>
                  <a:spcPct val="115000"/>
                </a:lnSpc>
              </a:pPr>
              <a:r>
                <a:rPr lang="en-US" sz="667">
                  <a:solidFill>
                    <a:srgbClr val="212121"/>
                  </a:solidFill>
                  <a:highlight>
                    <a:schemeClr val="lt1"/>
                  </a:highlight>
                </a:rPr>
                <a:t>21.      </a:t>
              </a:r>
              <a:r>
                <a:rPr lang="en-US" sz="667">
                  <a:solidFill>
                    <a:srgbClr val="212121"/>
                  </a:solidFill>
                  <a:highlight>
                    <a:srgbClr val="FFFFFF"/>
                  </a:highlight>
                </a:rPr>
                <a:t>Szymanski M, Petric M, Saunders FE, Tellier R. Mycoplasma pneumoniae pericarditis demonstrated by polymerase chain reaction and electron microscopy. </a:t>
              </a:r>
              <a:r>
                <a:rPr lang="en-US" sz="667" i="1">
                  <a:solidFill>
                    <a:srgbClr val="212121"/>
                  </a:solidFill>
                  <a:highlight>
                    <a:srgbClr val="FFFFFF"/>
                  </a:highlight>
                </a:rPr>
                <a:t>Clin Infect Dis</a:t>
              </a:r>
              <a:r>
                <a:rPr lang="en-US" sz="667">
                  <a:solidFill>
                    <a:srgbClr val="212121"/>
                  </a:solidFill>
                  <a:highlight>
                    <a:srgbClr val="FFFFFF"/>
                  </a:highlight>
                </a:rPr>
                <a:t>. 2002;34(1):E16-E17. doi:10.1086/338158</a:t>
              </a:r>
              <a:endParaRPr sz="667">
                <a:solidFill>
                  <a:srgbClr val="212121"/>
                </a:solidFill>
                <a:highlight>
                  <a:srgbClr val="FFFFFF"/>
                </a:highlight>
              </a:endParaRPr>
            </a:p>
            <a:p>
              <a:pPr>
                <a:lnSpc>
                  <a:spcPct val="115000"/>
                </a:lnSpc>
              </a:pPr>
              <a:r>
                <a:rPr lang="en-US" sz="667">
                  <a:solidFill>
                    <a:srgbClr val="212121"/>
                  </a:solidFill>
                  <a:highlight>
                    <a:schemeClr val="lt1"/>
                  </a:highlight>
                </a:rPr>
                <a:t>22.      </a:t>
              </a:r>
              <a:r>
                <a:rPr lang="en-US" sz="667">
                  <a:solidFill>
                    <a:srgbClr val="212121"/>
                  </a:solidFill>
                  <a:highlight>
                    <a:srgbClr val="FFFFFF"/>
                  </a:highlight>
                </a:rPr>
                <a:t>Paz A, Potasman I. Mycoplasma-associated carditis. Case reports and review. </a:t>
              </a:r>
              <a:r>
                <a:rPr lang="en-US" sz="667" i="1">
                  <a:solidFill>
                    <a:srgbClr val="212121"/>
                  </a:solidFill>
                  <a:highlight>
                    <a:srgbClr val="FFFFFF"/>
                  </a:highlight>
                </a:rPr>
                <a:t>Cardiology</a:t>
              </a:r>
              <a:r>
                <a:rPr lang="en-US" sz="667">
                  <a:solidFill>
                    <a:srgbClr val="212121"/>
                  </a:solidFill>
                  <a:highlight>
                    <a:srgbClr val="FFFFFF"/>
                  </a:highlight>
                </a:rPr>
                <a:t>. 2002;97(2):83-88. doi:10.1159/000057677</a:t>
              </a:r>
              <a:endParaRPr sz="667">
                <a:solidFill>
                  <a:srgbClr val="212121"/>
                </a:solidFill>
                <a:highlight>
                  <a:srgbClr val="FFFFFF"/>
                </a:highlight>
              </a:endParaRPr>
            </a:p>
            <a:p>
              <a:pPr>
                <a:lnSpc>
                  <a:spcPct val="115000"/>
                </a:lnSpc>
              </a:pPr>
              <a:r>
                <a:rPr lang="en-US" sz="667">
                  <a:solidFill>
                    <a:srgbClr val="212121"/>
                  </a:solidFill>
                  <a:highlight>
                    <a:schemeClr val="lt1"/>
                  </a:highlight>
                </a:rPr>
                <a:t>23.      </a:t>
              </a:r>
              <a:r>
                <a:rPr lang="en-US" sz="667">
                  <a:solidFill>
                    <a:srgbClr val="1B1B1B"/>
                  </a:solidFill>
                  <a:highlight>
                    <a:srgbClr val="FFFFFF"/>
                  </a:highlight>
                </a:rPr>
                <a:t>Scapini JP, Flynn LP, Sciacaluga S, Morales L, Cadario ME. Confirmed Mycoplasma pneumoniae endocarditis. </a:t>
              </a:r>
              <a:r>
                <a:rPr lang="en-US" sz="667" i="1">
                  <a:solidFill>
                    <a:srgbClr val="1B1B1B"/>
                  </a:solidFill>
                  <a:highlight>
                    <a:srgbClr val="FFFFFF"/>
                  </a:highlight>
                </a:rPr>
                <a:t>Emerg Infect Dis</a:t>
              </a:r>
              <a:r>
                <a:rPr lang="en-US" sz="667">
                  <a:solidFill>
                    <a:srgbClr val="1B1B1B"/>
                  </a:solidFill>
                  <a:highlight>
                    <a:srgbClr val="FFFFFF"/>
                  </a:highlight>
                </a:rPr>
                <a:t>. 2008;14(10):1664-1665. doi:10.3201/eid1410.080157</a:t>
              </a:r>
              <a:endParaRPr sz="667">
                <a:solidFill>
                  <a:srgbClr val="1B1B1B"/>
                </a:solidFill>
                <a:highlight>
                  <a:srgbClr val="FFFFFF"/>
                </a:highlight>
              </a:endParaRPr>
            </a:p>
            <a:p>
              <a:pPr>
                <a:lnSpc>
                  <a:spcPct val="115000"/>
                </a:lnSpc>
              </a:pPr>
              <a:r>
                <a:rPr lang="en-US" sz="667">
                  <a:solidFill>
                    <a:srgbClr val="212121"/>
                  </a:solidFill>
                  <a:highlight>
                    <a:schemeClr val="lt1"/>
                  </a:highlight>
                </a:rPr>
                <a:t>24.      </a:t>
              </a:r>
              <a:r>
                <a:rPr lang="en-US" sz="667">
                  <a:solidFill>
                    <a:srgbClr val="212121"/>
                  </a:solidFill>
                  <a:highlight>
                    <a:srgbClr val="FFFFFF"/>
                  </a:highlight>
                </a:rPr>
                <a:t>Nagashima M, Higaki T, Satoh H, Nakano T. Cardiac thrombus associated with Mycoplasma pneumoniae infection. </a:t>
              </a:r>
              <a:r>
                <a:rPr lang="en-US" sz="667" i="1">
                  <a:solidFill>
                    <a:srgbClr val="212121"/>
                  </a:solidFill>
                  <a:highlight>
                    <a:srgbClr val="FFFFFF"/>
                  </a:highlight>
                </a:rPr>
                <a:t>Interact Cardiovasc Thorac Surg</a:t>
              </a:r>
              <a:r>
                <a:rPr lang="en-US" sz="667">
                  <a:solidFill>
                    <a:srgbClr val="212121"/>
                  </a:solidFill>
                  <a:highlight>
                    <a:srgbClr val="FFFFFF"/>
                  </a:highlight>
                </a:rPr>
                <a:t>. 2010;11(6):849-851. doi:10.1510/icvts.2010.242115</a:t>
              </a:r>
              <a:endParaRPr sz="667">
                <a:solidFill>
                  <a:srgbClr val="212121"/>
                </a:solidFill>
                <a:highlight>
                  <a:srgbClr val="FFFFFF"/>
                </a:highlight>
              </a:endParaRPr>
            </a:p>
            <a:p>
              <a:pPr>
                <a:lnSpc>
                  <a:spcPct val="115000"/>
                </a:lnSpc>
              </a:pPr>
              <a:r>
                <a:rPr lang="en-US" sz="667">
                  <a:solidFill>
                    <a:srgbClr val="212121"/>
                  </a:solidFill>
                  <a:highlight>
                    <a:schemeClr val="lt1"/>
                  </a:highlight>
                </a:rPr>
                <a:t>25.      </a:t>
              </a:r>
              <a:r>
                <a:rPr lang="en-US" sz="667">
                  <a:solidFill>
                    <a:srgbClr val="212121"/>
                  </a:solidFill>
                  <a:highlight>
                    <a:srgbClr val="FFFFFF"/>
                  </a:highlight>
                </a:rPr>
                <a:t>Foy HM, Kenny GE, Cooney MK, Allan ID. Long-term epidemiology of infections with Mycoplasma pneumoniae. </a:t>
              </a:r>
              <a:r>
                <a:rPr lang="en-US" sz="667" i="1">
                  <a:solidFill>
                    <a:srgbClr val="212121"/>
                  </a:solidFill>
                  <a:highlight>
                    <a:srgbClr val="FFFFFF"/>
                  </a:highlight>
                </a:rPr>
                <a:t>J Infect Dis</a:t>
              </a:r>
              <a:r>
                <a:rPr lang="en-US" sz="667">
                  <a:solidFill>
                    <a:srgbClr val="212121"/>
                  </a:solidFill>
                  <a:highlight>
                    <a:srgbClr val="FFFFFF"/>
                  </a:highlight>
                </a:rPr>
                <a:t>. 1979;139(6):681-687. doi:10.1093/infdis/139.6.681</a:t>
              </a:r>
              <a:endParaRPr sz="667">
                <a:solidFill>
                  <a:schemeClr val="dk1"/>
                </a:solidFill>
              </a:endParaRPr>
            </a:p>
          </p:txBody>
        </p:sp>
        <p:graphicFrame>
          <p:nvGraphicFramePr>
            <p:cNvPr id="113" name="Google Shape;113;p1"/>
            <p:cNvGraphicFramePr/>
            <p:nvPr>
              <p:extLst>
                <p:ext uri="{D42A27DB-BD31-4B8C-83A1-F6EECF244321}">
                  <p14:modId xmlns:p14="http://schemas.microsoft.com/office/powerpoint/2010/main" val="3433982650"/>
                </p:ext>
              </p:extLst>
            </p:nvPr>
          </p:nvGraphicFramePr>
          <p:xfrm>
            <a:off x="11457983" y="8333309"/>
            <a:ext cx="3758840" cy="648044"/>
          </p:xfrm>
          <a:graphic>
            <a:graphicData uri="http://schemas.openxmlformats.org/drawingml/2006/table">
              <a:tbl>
                <a:tblPr>
                  <a:noFill/>
                  <a:tableStyleId>{776461CA-5B1C-41FE-9FB1-931B909032CE}</a:tableStyleId>
                </a:tblPr>
                <a:tblGrid>
                  <a:gridCol w="2392800">
                    <a:extLst>
                      <a:ext uri="{9D8B030D-6E8A-4147-A177-3AD203B41FA5}">
                        <a16:colId xmlns:a16="http://schemas.microsoft.com/office/drawing/2014/main" val="20000"/>
                      </a:ext>
                    </a:extLst>
                  </a:gridCol>
                  <a:gridCol w="1945400">
                    <a:extLst>
                      <a:ext uri="{9D8B030D-6E8A-4147-A177-3AD203B41FA5}">
                        <a16:colId xmlns:a16="http://schemas.microsoft.com/office/drawing/2014/main" val="20001"/>
                      </a:ext>
                    </a:extLst>
                  </a:gridCol>
                </a:tblGrid>
                <a:tr h="332600">
                  <a:tc rowSpan="4" gridSpan="2">
                    <a:txBody>
                      <a:bodyPr/>
                      <a:lstStyle/>
                      <a:p>
                        <a:pPr marL="0" lvl="0" indent="0" algn="ctr" rtl="0">
                          <a:lnSpc>
                            <a:spcPct val="115000"/>
                          </a:lnSpc>
                          <a:spcBef>
                            <a:spcPts val="0"/>
                          </a:spcBef>
                          <a:spcAft>
                            <a:spcPts val="0"/>
                          </a:spcAft>
                          <a:buNone/>
                        </a:pPr>
                        <a:r>
                          <a:rPr lang="en-US" sz="900" dirty="0"/>
                          <a:t>Peripheral Blood Smear: Macrocytic </a:t>
                        </a:r>
                        <a:r>
                          <a:rPr lang="en-US" sz="900" dirty="0" err="1"/>
                          <a:t>hypochromatic</a:t>
                        </a:r>
                        <a:r>
                          <a:rPr lang="en-US" sz="900" dirty="0"/>
                          <a:t> anemia, nucleated red blood cells, leukocytosis with left shifted, atypical lymphocytes, thrombocytopenia</a:t>
                        </a:r>
                        <a:endParaRPr sz="900" dirty="0"/>
                      </a:p>
                    </a:txBody>
                    <a:tcPr marL="6350" marR="6350" marT="6350" marB="609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rowSpan="4" hMerge="1">
                    <a:txBody>
                      <a:bodyPr/>
                      <a:lstStyle/>
                      <a:p>
                        <a:endParaRPr lang="en-US"/>
                      </a:p>
                    </a:txBody>
                    <a:tcPr/>
                  </a:tc>
                  <a:extLst>
                    <a:ext uri="{0D108BD9-81ED-4DB2-BD59-A6C34878D82A}">
                      <a16:rowId xmlns:a16="http://schemas.microsoft.com/office/drawing/2014/main" val="10000"/>
                    </a:ext>
                  </a:extLst>
                </a:tr>
                <a:tr h="109417">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1"/>
                    </a:ext>
                  </a:extLst>
                </a:tr>
                <a:tr h="109417">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2"/>
                    </a:ext>
                  </a:extLst>
                </a:tr>
                <a:tr h="109417">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3"/>
                    </a:ext>
                  </a:extLst>
                </a:tr>
              </a:tbl>
            </a:graphicData>
          </a:graphic>
        </p:graphicFrame>
        <p:graphicFrame>
          <p:nvGraphicFramePr>
            <p:cNvPr id="114" name="Google Shape;114;p1"/>
            <p:cNvGraphicFramePr/>
            <p:nvPr>
              <p:extLst>
                <p:ext uri="{D42A27DB-BD31-4B8C-83A1-F6EECF244321}">
                  <p14:modId xmlns:p14="http://schemas.microsoft.com/office/powerpoint/2010/main" val="3120178327"/>
                </p:ext>
              </p:extLst>
            </p:nvPr>
          </p:nvGraphicFramePr>
          <p:xfrm>
            <a:off x="11457975" y="4369242"/>
            <a:ext cx="3758840" cy="1719291"/>
          </p:xfrm>
          <a:graphic>
            <a:graphicData uri="http://schemas.openxmlformats.org/drawingml/2006/table">
              <a:tbl>
                <a:tblPr>
                  <a:noFill/>
                  <a:tableStyleId>{776461CA-5B1C-41FE-9FB1-931B909032CE}</a:tableStyleId>
                </a:tblPr>
                <a:tblGrid>
                  <a:gridCol w="1107450">
                    <a:extLst>
                      <a:ext uri="{9D8B030D-6E8A-4147-A177-3AD203B41FA5}">
                        <a16:colId xmlns:a16="http://schemas.microsoft.com/office/drawing/2014/main" val="20000"/>
                      </a:ext>
                    </a:extLst>
                  </a:gridCol>
                  <a:gridCol w="949233">
                    <a:extLst>
                      <a:ext uri="{9D8B030D-6E8A-4147-A177-3AD203B41FA5}">
                        <a16:colId xmlns:a16="http://schemas.microsoft.com/office/drawing/2014/main" val="20001"/>
                      </a:ext>
                    </a:extLst>
                  </a:gridCol>
                  <a:gridCol w="1407217">
                    <a:extLst>
                      <a:ext uri="{9D8B030D-6E8A-4147-A177-3AD203B41FA5}">
                        <a16:colId xmlns:a16="http://schemas.microsoft.com/office/drawing/2014/main" val="20002"/>
                      </a:ext>
                    </a:extLst>
                  </a:gridCol>
                  <a:gridCol w="874300">
                    <a:extLst>
                      <a:ext uri="{9D8B030D-6E8A-4147-A177-3AD203B41FA5}">
                        <a16:colId xmlns:a16="http://schemas.microsoft.com/office/drawing/2014/main" val="20003"/>
                      </a:ext>
                    </a:extLst>
                  </a:gridCol>
                </a:tblGrid>
                <a:tr h="250467">
                  <a:tc>
                    <a:txBody>
                      <a:bodyPr/>
                      <a:lstStyle/>
                      <a:p>
                        <a:pPr marL="0" lvl="0" indent="0" algn="l" rtl="0">
                          <a:lnSpc>
                            <a:spcPct val="115000"/>
                          </a:lnSpc>
                          <a:spcBef>
                            <a:spcPts val="0"/>
                          </a:spcBef>
                          <a:spcAft>
                            <a:spcPts val="0"/>
                          </a:spcAft>
                          <a:buNone/>
                        </a:pPr>
                        <a:r>
                          <a:rPr lang="en-US" sz="800"/>
                          <a:t>WBC</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50.4</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Iron</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143</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0467">
                  <a:tc>
                    <a:txBody>
                      <a:bodyPr/>
                      <a:lstStyle/>
                      <a:p>
                        <a:pPr marL="0" lvl="0" indent="0" algn="l" rtl="0">
                          <a:lnSpc>
                            <a:spcPct val="115000"/>
                          </a:lnSpc>
                          <a:spcBef>
                            <a:spcPts val="0"/>
                          </a:spcBef>
                          <a:spcAft>
                            <a:spcPts val="0"/>
                          </a:spcAft>
                          <a:buNone/>
                        </a:pPr>
                        <a:r>
                          <a:rPr lang="en-US" sz="800"/>
                          <a:t>RBC</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3.17</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Ferritin</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1635</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50467">
                  <a:tc>
                    <a:txBody>
                      <a:bodyPr/>
                      <a:lstStyle/>
                      <a:p>
                        <a:pPr marL="0" lvl="0" indent="0" algn="l" rtl="0">
                          <a:lnSpc>
                            <a:spcPct val="115000"/>
                          </a:lnSpc>
                          <a:spcBef>
                            <a:spcPts val="0"/>
                          </a:spcBef>
                          <a:spcAft>
                            <a:spcPts val="0"/>
                          </a:spcAft>
                          <a:buNone/>
                        </a:pPr>
                        <a:r>
                          <a:rPr lang="en-US" sz="800"/>
                          <a:t>Hemoglobin</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9.6</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Iron Sat</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72</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50467">
                  <a:tc>
                    <a:txBody>
                      <a:bodyPr/>
                      <a:lstStyle/>
                      <a:p>
                        <a:pPr marL="0" lvl="0" indent="0" algn="l" rtl="0">
                          <a:lnSpc>
                            <a:spcPct val="115000"/>
                          </a:lnSpc>
                          <a:spcBef>
                            <a:spcPts val="0"/>
                          </a:spcBef>
                          <a:spcAft>
                            <a:spcPts val="0"/>
                          </a:spcAft>
                          <a:buNone/>
                        </a:pPr>
                        <a:r>
                          <a:rPr lang="en-US" sz="800"/>
                          <a:t>Hematocrit</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28.3</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Transferrin</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143</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50467">
                  <a:tc>
                    <a:txBody>
                      <a:bodyPr/>
                      <a:lstStyle/>
                      <a:p>
                        <a:pPr marL="0" lvl="0" indent="0" algn="l" rtl="0">
                          <a:lnSpc>
                            <a:spcPct val="115000"/>
                          </a:lnSpc>
                          <a:spcBef>
                            <a:spcPts val="0"/>
                          </a:spcBef>
                          <a:spcAft>
                            <a:spcPts val="0"/>
                          </a:spcAft>
                          <a:buNone/>
                        </a:pPr>
                        <a:r>
                          <a:rPr lang="en-US" sz="800"/>
                          <a:t>MCV</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89.3</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TIBC</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200</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50467">
                  <a:tc>
                    <a:txBody>
                      <a:bodyPr/>
                      <a:lstStyle/>
                      <a:p>
                        <a:pPr marL="0" lvl="0" indent="0" algn="l" rtl="0">
                          <a:lnSpc>
                            <a:spcPct val="115000"/>
                          </a:lnSpc>
                          <a:spcBef>
                            <a:spcPts val="0"/>
                          </a:spcBef>
                          <a:spcAft>
                            <a:spcPts val="0"/>
                          </a:spcAft>
                          <a:buNone/>
                        </a:pPr>
                        <a:r>
                          <a:rPr lang="en-US" sz="800"/>
                          <a:t>NRBC</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5.3</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Haptoglobin</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&lt;30</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50467">
                  <a:tc>
                    <a:txBody>
                      <a:bodyPr/>
                      <a:lstStyle/>
                      <a:p>
                        <a:pPr marL="0" lvl="0" indent="0" algn="l" rtl="0">
                          <a:lnSpc>
                            <a:spcPct val="115000"/>
                          </a:lnSpc>
                          <a:spcBef>
                            <a:spcPts val="0"/>
                          </a:spcBef>
                          <a:spcAft>
                            <a:spcPts val="0"/>
                          </a:spcAft>
                          <a:buNone/>
                        </a:pPr>
                        <a:r>
                          <a:rPr lang="en-US" sz="800"/>
                          <a:t>NRBC Abs</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2.68</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Retic Ct Abs</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0.12</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graphicFrame>
          <p:nvGraphicFramePr>
            <p:cNvPr id="115" name="Google Shape;115;p1"/>
            <p:cNvGraphicFramePr/>
            <p:nvPr>
              <p:extLst>
                <p:ext uri="{D42A27DB-BD31-4B8C-83A1-F6EECF244321}">
                  <p14:modId xmlns:p14="http://schemas.microsoft.com/office/powerpoint/2010/main" val="3494278647"/>
                </p:ext>
              </p:extLst>
            </p:nvPr>
          </p:nvGraphicFramePr>
          <p:xfrm>
            <a:off x="11457975" y="6160250"/>
            <a:ext cx="3758840" cy="2093947"/>
          </p:xfrm>
          <a:graphic>
            <a:graphicData uri="http://schemas.openxmlformats.org/drawingml/2006/table">
              <a:tbl>
                <a:tblPr>
                  <a:noFill/>
                  <a:tableStyleId>{776461CA-5B1C-41FE-9FB1-931B909032CE}</a:tableStyleId>
                </a:tblPr>
                <a:tblGrid>
                  <a:gridCol w="1463683">
                    <a:extLst>
                      <a:ext uri="{9D8B030D-6E8A-4147-A177-3AD203B41FA5}">
                        <a16:colId xmlns:a16="http://schemas.microsoft.com/office/drawing/2014/main" val="20000"/>
                      </a:ext>
                    </a:extLst>
                  </a:gridCol>
                  <a:gridCol w="479483">
                    <a:extLst>
                      <a:ext uri="{9D8B030D-6E8A-4147-A177-3AD203B41FA5}">
                        <a16:colId xmlns:a16="http://schemas.microsoft.com/office/drawing/2014/main" val="20001"/>
                      </a:ext>
                    </a:extLst>
                  </a:gridCol>
                  <a:gridCol w="1539367">
                    <a:extLst>
                      <a:ext uri="{9D8B030D-6E8A-4147-A177-3AD203B41FA5}">
                        <a16:colId xmlns:a16="http://schemas.microsoft.com/office/drawing/2014/main" val="20002"/>
                      </a:ext>
                    </a:extLst>
                  </a:gridCol>
                  <a:gridCol w="855667">
                    <a:extLst>
                      <a:ext uri="{9D8B030D-6E8A-4147-A177-3AD203B41FA5}">
                        <a16:colId xmlns:a16="http://schemas.microsoft.com/office/drawing/2014/main" val="20003"/>
                      </a:ext>
                    </a:extLst>
                  </a:gridCol>
                </a:tblGrid>
                <a:tr h="213533">
                  <a:tc>
                    <a:txBody>
                      <a:bodyPr/>
                      <a:lstStyle/>
                      <a:p>
                        <a:pPr marL="0" lvl="0" indent="0" algn="l" rtl="0">
                          <a:lnSpc>
                            <a:spcPct val="115000"/>
                          </a:lnSpc>
                          <a:spcBef>
                            <a:spcPts val="0"/>
                          </a:spcBef>
                          <a:spcAft>
                            <a:spcPts val="0"/>
                          </a:spcAft>
                          <a:buNone/>
                        </a:pPr>
                        <a:r>
                          <a:rPr lang="en-US" sz="800"/>
                          <a:t>Sodium</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130</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Calcium </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8.7</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13533">
                  <a:tc>
                    <a:txBody>
                      <a:bodyPr/>
                      <a:lstStyle/>
                      <a:p>
                        <a:pPr marL="0" lvl="0" indent="0" algn="l" rtl="0">
                          <a:lnSpc>
                            <a:spcPct val="115000"/>
                          </a:lnSpc>
                          <a:spcBef>
                            <a:spcPts val="0"/>
                          </a:spcBef>
                          <a:spcAft>
                            <a:spcPts val="0"/>
                          </a:spcAft>
                          <a:buNone/>
                        </a:pPr>
                        <a:r>
                          <a:rPr lang="en-US" sz="800"/>
                          <a:t>Potassium</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3.8</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Phosphorus</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2.3</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13533">
                  <a:tc>
                    <a:txBody>
                      <a:bodyPr/>
                      <a:lstStyle/>
                      <a:p>
                        <a:pPr marL="0" lvl="0" indent="0" algn="l" rtl="0">
                          <a:lnSpc>
                            <a:spcPct val="115000"/>
                          </a:lnSpc>
                          <a:spcBef>
                            <a:spcPts val="0"/>
                          </a:spcBef>
                          <a:spcAft>
                            <a:spcPts val="0"/>
                          </a:spcAft>
                          <a:buNone/>
                        </a:pPr>
                        <a:r>
                          <a:rPr lang="en-US" sz="800"/>
                          <a:t>Chloride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92</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AST</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26</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13533">
                  <a:tc>
                    <a:txBody>
                      <a:bodyPr/>
                      <a:lstStyle/>
                      <a:p>
                        <a:pPr marL="0" lvl="0" indent="0" algn="l" rtl="0">
                          <a:lnSpc>
                            <a:spcPct val="115000"/>
                          </a:lnSpc>
                          <a:spcBef>
                            <a:spcPts val="0"/>
                          </a:spcBef>
                          <a:spcAft>
                            <a:spcPts val="0"/>
                          </a:spcAft>
                          <a:buNone/>
                        </a:pPr>
                        <a:r>
                          <a:rPr lang="en-US" sz="800"/>
                          <a:t>CO2</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28</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ALT</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18</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13533">
                  <a:tc>
                    <a:txBody>
                      <a:bodyPr/>
                      <a:lstStyle/>
                      <a:p>
                        <a:pPr marL="0" lvl="0" indent="0" algn="l" rtl="0">
                          <a:lnSpc>
                            <a:spcPct val="115000"/>
                          </a:lnSpc>
                          <a:spcBef>
                            <a:spcPts val="0"/>
                          </a:spcBef>
                          <a:spcAft>
                            <a:spcPts val="0"/>
                          </a:spcAft>
                          <a:buNone/>
                        </a:pPr>
                        <a:r>
                          <a:rPr lang="en-US" sz="800"/>
                          <a:t>Anion Gap</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10</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Alk Phos</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115</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13533">
                  <a:tc>
                    <a:txBody>
                      <a:bodyPr/>
                      <a:lstStyle/>
                      <a:p>
                        <a:pPr marL="0" lvl="0" indent="0" algn="l" rtl="0">
                          <a:lnSpc>
                            <a:spcPct val="115000"/>
                          </a:lnSpc>
                          <a:spcBef>
                            <a:spcPts val="0"/>
                          </a:spcBef>
                          <a:spcAft>
                            <a:spcPts val="0"/>
                          </a:spcAft>
                          <a:buNone/>
                        </a:pPr>
                        <a:r>
                          <a:rPr lang="en-US" sz="800"/>
                          <a:t>Glucose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393</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Total Protein</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7.5</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13533">
                  <a:tc>
                    <a:txBody>
                      <a:bodyPr/>
                      <a:lstStyle/>
                      <a:p>
                        <a:pPr marL="0" lvl="0" indent="0" algn="l" rtl="0">
                          <a:lnSpc>
                            <a:spcPct val="115000"/>
                          </a:lnSpc>
                          <a:spcBef>
                            <a:spcPts val="0"/>
                          </a:spcBef>
                          <a:spcAft>
                            <a:spcPts val="0"/>
                          </a:spcAft>
                          <a:buNone/>
                        </a:pPr>
                        <a:r>
                          <a:rPr lang="en-US" sz="800"/>
                          <a:t>BUN</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27</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Albumin</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3.5</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13533">
                  <a:tc>
                    <a:txBody>
                      <a:bodyPr/>
                      <a:lstStyle/>
                      <a:p>
                        <a:pPr marL="0" lvl="0" indent="0" algn="l" rtl="0">
                          <a:lnSpc>
                            <a:spcPct val="115000"/>
                          </a:lnSpc>
                          <a:spcBef>
                            <a:spcPts val="0"/>
                          </a:spcBef>
                          <a:spcAft>
                            <a:spcPts val="0"/>
                          </a:spcAft>
                          <a:buNone/>
                        </a:pPr>
                        <a:r>
                          <a:rPr lang="en-US" sz="800"/>
                          <a:t>Creatinine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1.17</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Total Bilirubin</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4.6</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13533">
                  <a:tc>
                    <a:txBody>
                      <a:bodyPr/>
                      <a:lstStyle/>
                      <a:p>
                        <a:pPr marL="0" lvl="0" indent="0" algn="l" rtl="0">
                          <a:lnSpc>
                            <a:spcPct val="115000"/>
                          </a:lnSpc>
                          <a:spcBef>
                            <a:spcPts val="0"/>
                          </a:spcBef>
                          <a:spcAft>
                            <a:spcPts val="0"/>
                          </a:spcAft>
                          <a:buNone/>
                        </a:pPr>
                        <a:r>
                          <a:rPr lang="en-US" sz="800"/>
                          <a:t>Calculated GFR</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81</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Bilirubin, Direct</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1.2</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13533">
                  <a:tc>
                    <a:txBody>
                      <a:bodyPr/>
                      <a:lstStyle/>
                      <a:p>
                        <a:pPr marL="0" lvl="0" indent="0" algn="l" rtl="0">
                          <a:lnSpc>
                            <a:spcPct val="115000"/>
                          </a:lnSpc>
                          <a:spcBef>
                            <a:spcPts val="0"/>
                          </a:spcBef>
                          <a:spcAft>
                            <a:spcPts val="0"/>
                          </a:spcAft>
                          <a:buNone/>
                        </a:pPr>
                        <a:r>
                          <a:rPr lang="en-US" sz="800"/>
                          <a:t>BUN/Cr ratio</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23.1</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Bilirubin, Indirect</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3.4</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bl>
            </a:graphicData>
          </a:graphic>
        </p:graphicFrame>
        <p:graphicFrame>
          <p:nvGraphicFramePr>
            <p:cNvPr id="116" name="Google Shape;116;p1"/>
            <p:cNvGraphicFramePr/>
            <p:nvPr>
              <p:extLst>
                <p:ext uri="{D42A27DB-BD31-4B8C-83A1-F6EECF244321}">
                  <p14:modId xmlns:p14="http://schemas.microsoft.com/office/powerpoint/2010/main" val="4035334058"/>
                </p:ext>
              </p:extLst>
            </p:nvPr>
          </p:nvGraphicFramePr>
          <p:xfrm>
            <a:off x="16034400" y="4367209"/>
            <a:ext cx="4505563" cy="2964941"/>
          </p:xfrm>
          <a:graphic>
            <a:graphicData uri="http://schemas.openxmlformats.org/drawingml/2006/table">
              <a:tbl>
                <a:tblPr>
                  <a:noFill/>
                  <a:tableStyleId>{776461CA-5B1C-41FE-9FB1-931B909032CE}</a:tableStyleId>
                </a:tblPr>
                <a:tblGrid>
                  <a:gridCol w="1542150">
                    <a:extLst>
                      <a:ext uri="{9D8B030D-6E8A-4147-A177-3AD203B41FA5}">
                        <a16:colId xmlns:a16="http://schemas.microsoft.com/office/drawing/2014/main" val="20000"/>
                      </a:ext>
                    </a:extLst>
                  </a:gridCol>
                  <a:gridCol w="902717">
                    <a:extLst>
                      <a:ext uri="{9D8B030D-6E8A-4147-A177-3AD203B41FA5}">
                        <a16:colId xmlns:a16="http://schemas.microsoft.com/office/drawing/2014/main" val="20001"/>
                      </a:ext>
                    </a:extLst>
                  </a:gridCol>
                  <a:gridCol w="1852433">
                    <a:extLst>
                      <a:ext uri="{9D8B030D-6E8A-4147-A177-3AD203B41FA5}">
                        <a16:colId xmlns:a16="http://schemas.microsoft.com/office/drawing/2014/main" val="20002"/>
                      </a:ext>
                    </a:extLst>
                  </a:gridCol>
                  <a:gridCol w="902717">
                    <a:extLst>
                      <a:ext uri="{9D8B030D-6E8A-4147-A177-3AD203B41FA5}">
                        <a16:colId xmlns:a16="http://schemas.microsoft.com/office/drawing/2014/main" val="20003"/>
                      </a:ext>
                    </a:extLst>
                  </a:gridCol>
                </a:tblGrid>
                <a:tr h="274867">
                  <a:tc>
                    <a:txBody>
                      <a:bodyPr/>
                      <a:lstStyle/>
                      <a:p>
                        <a:pPr marL="0" lvl="0" indent="0" algn="l" rtl="0">
                          <a:lnSpc>
                            <a:spcPct val="115000"/>
                          </a:lnSpc>
                          <a:spcBef>
                            <a:spcPts val="0"/>
                          </a:spcBef>
                          <a:spcAft>
                            <a:spcPts val="0"/>
                          </a:spcAft>
                          <a:buNone/>
                        </a:pPr>
                        <a:r>
                          <a:rPr lang="en-US" sz="800"/>
                          <a:t>Cocci IgG</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Neg</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Proteinase 3 Ab</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&lt;1.0</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74867">
                  <a:tc>
                    <a:txBody>
                      <a:bodyPr/>
                      <a:lstStyle/>
                      <a:p>
                        <a:pPr marL="0" lvl="0" indent="0" algn="l" rtl="0">
                          <a:lnSpc>
                            <a:spcPct val="115000"/>
                          </a:lnSpc>
                          <a:spcBef>
                            <a:spcPts val="0"/>
                          </a:spcBef>
                          <a:spcAft>
                            <a:spcPts val="0"/>
                          </a:spcAft>
                          <a:buNone/>
                        </a:pPr>
                        <a:r>
                          <a:rPr lang="en-US" sz="800"/>
                          <a:t>Cocci IgM</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Neg</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DAT IgG</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Positive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74867">
                  <a:tc>
                    <a:txBody>
                      <a:bodyPr/>
                      <a:lstStyle/>
                      <a:p>
                        <a:pPr marL="0" lvl="0" indent="0" algn="l" rtl="0">
                          <a:lnSpc>
                            <a:spcPct val="115000"/>
                          </a:lnSpc>
                          <a:spcBef>
                            <a:spcPts val="0"/>
                          </a:spcBef>
                          <a:spcAft>
                            <a:spcPts val="0"/>
                          </a:spcAft>
                          <a:buNone/>
                        </a:pPr>
                        <a:r>
                          <a:rPr lang="en-US" sz="800"/>
                          <a:t>MPO Ab</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&lt;1.0</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DAT C3</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Positive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74867">
                  <a:tc>
                    <a:txBody>
                      <a:bodyPr/>
                      <a:lstStyle/>
                      <a:p>
                        <a:pPr marL="0" lvl="0" indent="0" algn="l" rtl="0">
                          <a:lnSpc>
                            <a:spcPct val="115000"/>
                          </a:lnSpc>
                          <a:spcBef>
                            <a:spcPts val="0"/>
                          </a:spcBef>
                          <a:spcAft>
                            <a:spcPts val="0"/>
                          </a:spcAft>
                          <a:buNone/>
                        </a:pPr>
                        <a:r>
                          <a:rPr lang="en-US" sz="800"/>
                          <a:t>Chlamydia PNA</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Not Detected</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Cold Hemaglutinins</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Nonreactive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74867">
                  <a:tc>
                    <a:txBody>
                      <a:bodyPr/>
                      <a:lstStyle/>
                      <a:p>
                        <a:pPr marL="0" lvl="0" indent="0" algn="l" rtl="0">
                          <a:lnSpc>
                            <a:spcPct val="115000"/>
                          </a:lnSpc>
                          <a:spcBef>
                            <a:spcPts val="0"/>
                          </a:spcBef>
                          <a:spcAft>
                            <a:spcPts val="0"/>
                          </a:spcAft>
                          <a:buNone/>
                        </a:pPr>
                        <a:r>
                          <a:rPr lang="en-US" sz="800"/>
                          <a:t>Hepatitis A Ab IgM</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Nonreactive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Respiratory Viral Panel</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Negative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74867">
                  <a:tc>
                    <a:txBody>
                      <a:bodyPr/>
                      <a:lstStyle/>
                      <a:p>
                        <a:pPr marL="0" lvl="0" indent="0" algn="l" rtl="0">
                          <a:lnSpc>
                            <a:spcPct val="115000"/>
                          </a:lnSpc>
                          <a:spcBef>
                            <a:spcPts val="0"/>
                          </a:spcBef>
                          <a:spcAft>
                            <a:spcPts val="0"/>
                          </a:spcAft>
                          <a:buNone/>
                        </a:pPr>
                        <a:r>
                          <a:rPr lang="en-US" sz="800"/>
                          <a:t>Hepatitis B Surface Ag</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Nonreactive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SARS-COV2 Qual RT PCR</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Not Detected</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74867">
                  <a:tc>
                    <a:txBody>
                      <a:bodyPr/>
                      <a:lstStyle/>
                      <a:p>
                        <a:pPr marL="0" lvl="0" indent="0" algn="l" rtl="0">
                          <a:lnSpc>
                            <a:spcPct val="115000"/>
                          </a:lnSpc>
                          <a:spcBef>
                            <a:spcPts val="0"/>
                          </a:spcBef>
                          <a:spcAft>
                            <a:spcPts val="0"/>
                          </a:spcAft>
                          <a:buNone/>
                        </a:pPr>
                        <a:r>
                          <a:rPr lang="en-US" sz="800"/>
                          <a:t>Hepatitis B Core IgM</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Nonreactive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Human Rhinovirus</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Not Detected</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74867">
                  <a:tc>
                    <a:txBody>
                      <a:bodyPr/>
                      <a:lstStyle/>
                      <a:p>
                        <a:pPr marL="0" lvl="0" indent="0" algn="l" rtl="0">
                          <a:lnSpc>
                            <a:spcPct val="115000"/>
                          </a:lnSpc>
                          <a:spcBef>
                            <a:spcPts val="0"/>
                          </a:spcBef>
                          <a:spcAft>
                            <a:spcPts val="0"/>
                          </a:spcAft>
                          <a:buNone/>
                        </a:pPr>
                        <a:r>
                          <a:rPr lang="en-US" sz="800"/>
                          <a:t>Hepatits C Ab</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Nonreactive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Rapid Influenza A</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Negative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74867">
                  <a:tc>
                    <a:txBody>
                      <a:bodyPr/>
                      <a:lstStyle/>
                      <a:p>
                        <a:pPr marL="0" lvl="0" indent="0" algn="l" rtl="0">
                          <a:lnSpc>
                            <a:spcPct val="115000"/>
                          </a:lnSpc>
                          <a:spcBef>
                            <a:spcPts val="0"/>
                          </a:spcBef>
                          <a:spcAft>
                            <a:spcPts val="0"/>
                          </a:spcAft>
                          <a:buNone/>
                        </a:pPr>
                        <a:r>
                          <a:rPr lang="en-US" sz="800"/>
                          <a:t>CCP Ab</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&lt;16</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Rapid Influenza B</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Negative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74867">
                  <a:tc>
                    <a:txBody>
                      <a:bodyPr/>
                      <a:lstStyle/>
                      <a:p>
                        <a:pPr marL="0" lvl="0" indent="0" algn="l" rtl="0">
                          <a:lnSpc>
                            <a:spcPct val="115000"/>
                          </a:lnSpc>
                          <a:spcBef>
                            <a:spcPts val="0"/>
                          </a:spcBef>
                          <a:spcAft>
                            <a:spcPts val="0"/>
                          </a:spcAft>
                          <a:buNone/>
                        </a:pPr>
                        <a:r>
                          <a:rPr lang="en-US" sz="800"/>
                          <a:t>Rheumatoid Factor</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&lt;10</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Mycoplasma Pneumo IgG</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3.84</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274867">
                  <a:tc>
                    <a:txBody>
                      <a:bodyPr/>
                      <a:lstStyle/>
                      <a:p>
                        <a:pPr marL="0" lvl="0" indent="0" algn="l" rtl="0">
                          <a:lnSpc>
                            <a:spcPct val="115000"/>
                          </a:lnSpc>
                          <a:spcBef>
                            <a:spcPts val="0"/>
                          </a:spcBef>
                          <a:spcAft>
                            <a:spcPts val="0"/>
                          </a:spcAft>
                          <a:buNone/>
                        </a:pPr>
                        <a:r>
                          <a:rPr lang="en-US" sz="800"/>
                          <a:t>Myeloperoxidase Ab</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&lt;1.0</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Mycoplasma Pneumo IgM</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4678</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bl>
            </a:graphicData>
          </a:graphic>
        </p:graphicFrame>
      </p:gr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2392</Words>
  <Application>Microsoft Macintosh PowerPoint</Application>
  <PresentationFormat>Custom</PresentationFormat>
  <Paragraphs>165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Arial</vt:lpstr>
      <vt:lpstr>Helvetica Neue</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1</cp:revision>
  <dcterms:created xsi:type="dcterms:W3CDTF">2016-02-18T22:13:49Z</dcterms:created>
  <dcterms:modified xsi:type="dcterms:W3CDTF">2025-04-26T16:13:36Z</dcterms:modified>
</cp:coreProperties>
</file>