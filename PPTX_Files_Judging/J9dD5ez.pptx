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32918400" cy="21945600"/>
  <p:notesSz cx="31954788" cy="50149125"/>
  <p:embeddedFontLst>
    <p:embeddedFont>
      <p:font typeface="Libre Baskerville" panose="02000000000000000000" pitchFamily="2" charset="0"/>
      <p:regular r:id="rId5"/>
      <p:bold r:id="rId6"/>
      <p:italic r:id="rId7"/>
    </p:embeddedFont>
    <p:embeddedFont>
      <p:font typeface="Montserrat Light" pitchFamily="2" charset="77"/>
      <p:regular r:id="rId8"/>
      <p:italic r:id="rId9"/>
    </p:embeddedFont>
  </p:embeddedFontLst>
  <p:custDataLst>
    <p:tags r:id="rId10"/>
  </p:custDataLst>
  <p:defaultTextStyle>
    <a:defPPr>
      <a:defRPr lang="en-US"/>
    </a:defPPr>
    <a:lvl1pPr algn="l" rtl="0" eaLnBrk="0" fontAlgn="base" hangingPunct="0">
      <a:spcBef>
        <a:spcPct val="0"/>
      </a:spcBef>
      <a:spcAft>
        <a:spcPct val="0"/>
      </a:spcAft>
      <a:defRPr sz="1714" kern="1200">
        <a:solidFill>
          <a:schemeClr val="tx1"/>
        </a:solidFill>
        <a:latin typeface="Times New Roman" pitchFamily="18" charset="0"/>
        <a:ea typeface="+mn-ea"/>
        <a:cs typeface="+mn-cs"/>
      </a:defRPr>
    </a:lvl1pPr>
    <a:lvl2pPr marL="326532" algn="l" rtl="0" eaLnBrk="0" fontAlgn="base" hangingPunct="0">
      <a:spcBef>
        <a:spcPct val="0"/>
      </a:spcBef>
      <a:spcAft>
        <a:spcPct val="0"/>
      </a:spcAft>
      <a:defRPr sz="1714" kern="1200">
        <a:solidFill>
          <a:schemeClr val="tx1"/>
        </a:solidFill>
        <a:latin typeface="Times New Roman" pitchFamily="18" charset="0"/>
        <a:ea typeface="+mn-ea"/>
        <a:cs typeface="+mn-cs"/>
      </a:defRPr>
    </a:lvl2pPr>
    <a:lvl3pPr marL="653064" algn="l" rtl="0" eaLnBrk="0" fontAlgn="base" hangingPunct="0">
      <a:spcBef>
        <a:spcPct val="0"/>
      </a:spcBef>
      <a:spcAft>
        <a:spcPct val="0"/>
      </a:spcAft>
      <a:defRPr sz="1714" kern="1200">
        <a:solidFill>
          <a:schemeClr val="tx1"/>
        </a:solidFill>
        <a:latin typeface="Times New Roman" pitchFamily="18" charset="0"/>
        <a:ea typeface="+mn-ea"/>
        <a:cs typeface="+mn-cs"/>
      </a:defRPr>
    </a:lvl3pPr>
    <a:lvl4pPr marL="979597" algn="l" rtl="0" eaLnBrk="0" fontAlgn="base" hangingPunct="0">
      <a:spcBef>
        <a:spcPct val="0"/>
      </a:spcBef>
      <a:spcAft>
        <a:spcPct val="0"/>
      </a:spcAft>
      <a:defRPr sz="1714" kern="1200">
        <a:solidFill>
          <a:schemeClr val="tx1"/>
        </a:solidFill>
        <a:latin typeface="Times New Roman" pitchFamily="18" charset="0"/>
        <a:ea typeface="+mn-ea"/>
        <a:cs typeface="+mn-cs"/>
      </a:defRPr>
    </a:lvl4pPr>
    <a:lvl5pPr marL="1306129" algn="l" rtl="0" eaLnBrk="0" fontAlgn="base" hangingPunct="0">
      <a:spcBef>
        <a:spcPct val="0"/>
      </a:spcBef>
      <a:spcAft>
        <a:spcPct val="0"/>
      </a:spcAft>
      <a:defRPr sz="1714" kern="1200">
        <a:solidFill>
          <a:schemeClr val="tx1"/>
        </a:solidFill>
        <a:latin typeface="Times New Roman" pitchFamily="18" charset="0"/>
        <a:ea typeface="+mn-ea"/>
        <a:cs typeface="+mn-cs"/>
      </a:defRPr>
    </a:lvl5pPr>
    <a:lvl6pPr marL="1632661" algn="l" defTabSz="653064" rtl="0" eaLnBrk="1" latinLnBrk="0" hangingPunct="1">
      <a:defRPr sz="1714" kern="1200">
        <a:solidFill>
          <a:schemeClr val="tx1"/>
        </a:solidFill>
        <a:latin typeface="Times New Roman" pitchFamily="18" charset="0"/>
        <a:ea typeface="+mn-ea"/>
        <a:cs typeface="+mn-cs"/>
      </a:defRPr>
    </a:lvl6pPr>
    <a:lvl7pPr marL="1959193" algn="l" defTabSz="653064" rtl="0" eaLnBrk="1" latinLnBrk="0" hangingPunct="1">
      <a:defRPr sz="1714" kern="1200">
        <a:solidFill>
          <a:schemeClr val="tx1"/>
        </a:solidFill>
        <a:latin typeface="Times New Roman" pitchFamily="18" charset="0"/>
        <a:ea typeface="+mn-ea"/>
        <a:cs typeface="+mn-cs"/>
      </a:defRPr>
    </a:lvl7pPr>
    <a:lvl8pPr marL="2285726" algn="l" defTabSz="653064" rtl="0" eaLnBrk="1" latinLnBrk="0" hangingPunct="1">
      <a:defRPr sz="1714" kern="1200">
        <a:solidFill>
          <a:schemeClr val="tx1"/>
        </a:solidFill>
        <a:latin typeface="Times New Roman" pitchFamily="18" charset="0"/>
        <a:ea typeface="+mn-ea"/>
        <a:cs typeface="+mn-cs"/>
      </a:defRPr>
    </a:lvl8pPr>
    <a:lvl9pPr marL="2612258" algn="l" defTabSz="653064" rtl="0" eaLnBrk="1" latinLnBrk="0" hangingPunct="1">
      <a:defRPr sz="1714"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3312" userDrawn="1">
          <p15:clr>
            <a:srgbClr val="A4A3A4"/>
          </p15:clr>
        </p15:guide>
        <p15:guide id="2" orient="horz" pos="3755" userDrawn="1">
          <p15:clr>
            <a:srgbClr val="A4A3A4"/>
          </p15:clr>
        </p15:guide>
        <p15:guide id="3" orient="horz" pos="2355" userDrawn="1">
          <p15:clr>
            <a:srgbClr val="A4A3A4"/>
          </p15:clr>
        </p15:guide>
        <p15:guide id="4" orient="horz" pos="4164" userDrawn="1">
          <p15:clr>
            <a:srgbClr val="A4A3A4"/>
          </p15:clr>
        </p15:guide>
        <p15:guide id="5" pos="540" userDrawn="1">
          <p15:clr>
            <a:srgbClr val="A4A3A4"/>
          </p15:clr>
        </p15:guide>
        <p15:guide id="6" pos="5184" userDrawn="1">
          <p15:clr>
            <a:srgbClr val="A4A3A4"/>
          </p15:clr>
        </p15:guide>
        <p15:guide id="7" pos="5544" userDrawn="1">
          <p15:clr>
            <a:srgbClr val="A4A3A4"/>
          </p15:clr>
        </p15:guide>
        <p15:guide id="8" pos="10188" userDrawn="1">
          <p15:clr>
            <a:srgbClr val="A4A3A4"/>
          </p15:clr>
        </p15:guide>
        <p15:guide id="9" pos="10548" userDrawn="1">
          <p15:clr>
            <a:srgbClr val="A4A3A4"/>
          </p15:clr>
        </p15:guide>
        <p15:guide id="10" pos="15192" userDrawn="1">
          <p15:clr>
            <a:srgbClr val="A4A3A4"/>
          </p15:clr>
        </p15:guide>
        <p15:guide id="11" pos="15552" userDrawn="1">
          <p15:clr>
            <a:srgbClr val="A4A3A4"/>
          </p15:clr>
        </p15:guide>
        <p15:guide id="12" pos="20196" userDrawn="1">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8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94660" autoAdjust="0"/>
  </p:normalViewPr>
  <p:slideViewPr>
    <p:cSldViewPr>
      <p:cViewPr varScale="1">
        <p:scale>
          <a:sx n="38" d="100"/>
          <a:sy n="38" d="100"/>
        </p:scale>
        <p:origin x="1160" y="248"/>
      </p:cViewPr>
      <p:guideLst>
        <p:guide orient="horz" pos="13312"/>
        <p:guide orient="horz" pos="3755"/>
        <p:guide orient="horz" pos="2355"/>
        <p:guide orient="horz" pos="4164"/>
        <p:guide pos="540"/>
        <p:guide pos="5184"/>
        <p:guide pos="5544"/>
        <p:guide pos="10188"/>
        <p:guide pos="10548"/>
        <p:guide pos="15192"/>
        <p:guide pos="15552"/>
        <p:guide pos="201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17" d="100"/>
          <a:sy n="17" d="100"/>
        </p:scale>
        <p:origin x="4416" y="178"/>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tags" Target="tags/tag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40C443C-8022-4F5D-8F2E-5133654FC91D}" type="slidenum">
              <a:rPr lang="en-AU"/>
              <a:pPr>
                <a:defRPr/>
              </a:pPr>
              <a:t>‹#›</a:t>
            </a:fld>
            <a:endParaRPr lang="en-AU"/>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3076" name="Rectangle 4"/>
          <p:cNvSpPr>
            <a:spLocks noGrp="1" noRot="1" noChangeAspect="1" noChangeArrowheads="1" noTextEdit="1"/>
          </p:cNvSpPr>
          <p:nvPr>
            <p:ph type="sldImg" idx="2"/>
          </p:nvPr>
        </p:nvSpPr>
        <p:spPr bwMode="auto">
          <a:xfrm>
            <a:off x="1816100" y="3757613"/>
            <a:ext cx="281209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2207482-9F38-4AF6-9B91-768DCEDA59AC}" type="slidenum">
              <a:rPr lang="en-AU"/>
              <a:pPr>
                <a:defRPr/>
              </a:pPr>
              <a:t>‹#›</a:t>
            </a:fld>
            <a:endParaRPr lang="en-AU"/>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57" kern="1200">
        <a:solidFill>
          <a:schemeClr val="tx1"/>
        </a:solidFill>
        <a:latin typeface="Times New Roman" pitchFamily="18" charset="0"/>
        <a:ea typeface="+mn-ea"/>
        <a:cs typeface="+mn-cs"/>
      </a:defRPr>
    </a:lvl1pPr>
    <a:lvl2pPr marL="326532" algn="l" rtl="0" eaLnBrk="0" fontAlgn="base" hangingPunct="0">
      <a:spcBef>
        <a:spcPct val="30000"/>
      </a:spcBef>
      <a:spcAft>
        <a:spcPct val="0"/>
      </a:spcAft>
      <a:defRPr sz="857" kern="1200">
        <a:solidFill>
          <a:schemeClr val="tx1"/>
        </a:solidFill>
        <a:latin typeface="Times New Roman" pitchFamily="18" charset="0"/>
        <a:ea typeface="+mn-ea"/>
        <a:cs typeface="+mn-cs"/>
      </a:defRPr>
    </a:lvl2pPr>
    <a:lvl3pPr marL="653064" algn="l" rtl="0" eaLnBrk="0" fontAlgn="base" hangingPunct="0">
      <a:spcBef>
        <a:spcPct val="30000"/>
      </a:spcBef>
      <a:spcAft>
        <a:spcPct val="0"/>
      </a:spcAft>
      <a:defRPr sz="857" kern="1200">
        <a:solidFill>
          <a:schemeClr val="tx1"/>
        </a:solidFill>
        <a:latin typeface="Times New Roman" pitchFamily="18" charset="0"/>
        <a:ea typeface="+mn-ea"/>
        <a:cs typeface="+mn-cs"/>
      </a:defRPr>
    </a:lvl3pPr>
    <a:lvl4pPr marL="979597" algn="l" rtl="0" eaLnBrk="0" fontAlgn="base" hangingPunct="0">
      <a:spcBef>
        <a:spcPct val="30000"/>
      </a:spcBef>
      <a:spcAft>
        <a:spcPct val="0"/>
      </a:spcAft>
      <a:defRPr sz="857" kern="1200">
        <a:solidFill>
          <a:schemeClr val="tx1"/>
        </a:solidFill>
        <a:latin typeface="Times New Roman" pitchFamily="18" charset="0"/>
        <a:ea typeface="+mn-ea"/>
        <a:cs typeface="+mn-cs"/>
      </a:defRPr>
    </a:lvl4pPr>
    <a:lvl5pPr marL="1306129" algn="l" rtl="0" eaLnBrk="0" fontAlgn="base" hangingPunct="0">
      <a:spcBef>
        <a:spcPct val="30000"/>
      </a:spcBef>
      <a:spcAft>
        <a:spcPct val="0"/>
      </a:spcAft>
      <a:defRPr sz="857" kern="1200">
        <a:solidFill>
          <a:schemeClr val="tx1"/>
        </a:solidFill>
        <a:latin typeface="Times New Roman" pitchFamily="18" charset="0"/>
        <a:ea typeface="+mn-ea"/>
        <a:cs typeface="+mn-cs"/>
      </a:defRPr>
    </a:lvl5pPr>
    <a:lvl6pPr marL="1632661" algn="l" defTabSz="653064" rtl="0" eaLnBrk="1" latinLnBrk="0" hangingPunct="1">
      <a:defRPr sz="857" kern="1200">
        <a:solidFill>
          <a:schemeClr val="tx1"/>
        </a:solidFill>
        <a:latin typeface="+mn-lt"/>
        <a:ea typeface="+mn-ea"/>
        <a:cs typeface="+mn-cs"/>
      </a:defRPr>
    </a:lvl6pPr>
    <a:lvl7pPr marL="1959193" algn="l" defTabSz="653064" rtl="0" eaLnBrk="1" latinLnBrk="0" hangingPunct="1">
      <a:defRPr sz="857" kern="1200">
        <a:solidFill>
          <a:schemeClr val="tx1"/>
        </a:solidFill>
        <a:latin typeface="+mn-lt"/>
        <a:ea typeface="+mn-ea"/>
        <a:cs typeface="+mn-cs"/>
      </a:defRPr>
    </a:lvl7pPr>
    <a:lvl8pPr marL="2285726" algn="l" defTabSz="653064" rtl="0" eaLnBrk="1" latinLnBrk="0" hangingPunct="1">
      <a:defRPr sz="857" kern="1200">
        <a:solidFill>
          <a:schemeClr val="tx1"/>
        </a:solidFill>
        <a:latin typeface="+mn-lt"/>
        <a:ea typeface="+mn-ea"/>
        <a:cs typeface="+mn-cs"/>
      </a:defRPr>
    </a:lvl8pPr>
    <a:lvl9pPr marL="2612258" algn="l" defTabSz="653064"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a:p>
        </p:txBody>
      </p:sp>
      <p:sp>
        <p:nvSpPr>
          <p:cNvPr id="4099" name="Rectangle 2"/>
          <p:cNvSpPr>
            <a:spLocks noGrp="1" noRot="1" noChangeAspect="1" noChangeArrowheads="1" noTextEdit="1"/>
          </p:cNvSpPr>
          <p:nvPr>
            <p:ph type="sldImg"/>
          </p:nvPr>
        </p:nvSpPr>
        <p:spPr>
          <a:xfrm>
            <a:off x="1816100" y="3757613"/>
            <a:ext cx="28120975" cy="18748375"/>
          </a:xfrm>
        </p:spPr>
      </p:sp>
      <p:sp>
        <p:nvSpPr>
          <p:cNvPr id="4100" name="Rectangle 3"/>
          <p:cNvSpPr>
            <a:spLocks noGrp="1" noChangeArrowheads="1"/>
          </p:cNvSpPr>
          <p:nvPr>
            <p:ph type="body" idx="1"/>
          </p:nvPr>
        </p:nvSpPr>
        <p:spPr>
          <a:noFill/>
        </p:spPr>
        <p:txBody>
          <a:bodyPr/>
          <a:lstStyle>
            <a:defPPr>
              <a:defRPr kern="1200"/>
            </a:defP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093" y="6817784"/>
            <a:ext cx="2798021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8184" y="12435417"/>
            <a:ext cx="23042032"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DA66E67-F948-4693-96A5-27BC239C04A3}" type="slidenum">
              <a:rPr lang="en-US"/>
              <a:pPr>
                <a:defRPr/>
              </a:pPr>
              <a:t>‹#›</a:t>
            </a:fld>
            <a:endParaRPr lang="en-US"/>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EC1B4D6-BEE2-4AF6-A92E-38CD68913D5A}" type="slidenum">
              <a:rPr lang="en-US"/>
              <a:pPr>
                <a:defRPr/>
              </a:pPr>
              <a:t>‹#›</a:t>
            </a:fld>
            <a:endParaRPr lang="en-US"/>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14102293"/>
            <a:ext cx="2798021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6" y="9301692"/>
            <a:ext cx="2798021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8650354-6837-43DB-843B-C6021BD2EF37}" type="slidenum">
              <a:rPr lang="en-US"/>
              <a:pPr>
                <a:defRPr/>
              </a:pPr>
              <a:t>‹#›</a:t>
            </a:fld>
            <a:endParaRPr lang="en-US"/>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470151" y="6339418"/>
            <a:ext cx="13938248" cy="13167782"/>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0002" y="6339418"/>
            <a:ext cx="13938248" cy="13167782"/>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296FF25-ADB1-4315-9622-9852994CD1E5}" type="slidenum">
              <a:rPr lang="en-US"/>
              <a:pPr>
                <a:defRPr/>
              </a:pPr>
              <a:t>‹#›</a:t>
            </a:fld>
            <a:endParaRPr lang="en-US"/>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710" y="878417"/>
            <a:ext cx="29626982" cy="36576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709"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709"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1666" y="4912784"/>
            <a:ext cx="14551027"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1666" y="6959600"/>
            <a:ext cx="14551027"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72EF82B1-171C-4CAC-B9C4-22062286C8C4}" type="slidenum">
              <a:rPr lang="en-US"/>
              <a:pPr>
                <a:defRPr/>
              </a:pPr>
              <a:t>‹#›</a:t>
            </a:fld>
            <a:endParaRPr lang="en-US"/>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78F620B-8934-45A0-BE2C-EF6C76032C45}" type="slidenum">
              <a:rPr lang="en-US"/>
              <a:pPr>
                <a:defRPr/>
              </a:pPr>
              <a:t>‹#›</a:t>
            </a:fld>
            <a:endParaRPr lang="en-US"/>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3ECE3F5-A3DD-46D3-8112-19EE7FD1DDFA}" type="slidenum">
              <a:rPr lang="en-US"/>
              <a:pPr>
                <a:defRPr/>
              </a:pPr>
              <a:t>‹#›</a:t>
            </a:fld>
            <a:endParaRPr lang="en-US"/>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709"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392"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709"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96691E56-DA67-4BF5-BA67-706F30B37046}" type="slidenum">
              <a:rPr lang="en-US"/>
              <a:pPr>
                <a:defRPr/>
              </a:pPr>
              <a:t>‹#›</a:t>
            </a:fld>
            <a:endParaRPr lang="en-US"/>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659" y="15361710"/>
            <a:ext cx="19750618"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2659" y="1961092"/>
            <a:ext cx="19750618"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2659" y="17175693"/>
            <a:ext cx="19750618"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F51DAE-E528-43E1-8BE0-91521416EFB0}" type="slidenum">
              <a:rPr lang="en-US"/>
              <a:pPr>
                <a:defRPr/>
              </a:pPr>
              <a:t>‹#›</a:t>
            </a:fld>
            <a:endParaRPr lang="en-US"/>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2DA27A25-0059-41B6-A6E5-54D93C10805F}" type="slidenum">
              <a:rPr lang="en-US"/>
              <a:pPr>
                <a:defRPr/>
              </a:pPr>
              <a:t>‹#›</a:t>
            </a:fld>
            <a:endParaRPr lang="en-US"/>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453727" y="1950509"/>
            <a:ext cx="6994525" cy="17556693"/>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470151" y="1950509"/>
            <a:ext cx="20881977" cy="17556693"/>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43B26BC-A2E6-4CDA-9F76-12293F26600A}" type="slidenum">
              <a:rPr lang="en-US"/>
              <a:pPr>
                <a:defRPr/>
              </a:pPr>
              <a:t>‹#›</a:t>
            </a:fld>
            <a:endParaRPr lang="en-US"/>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70548" y="1950509"/>
            <a:ext cx="27977306"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2470548" y="6339417"/>
            <a:ext cx="27977306" cy="13167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470547" y="19995093"/>
            <a:ext cx="6858000"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defTabSz="2844942">
              <a:defRPr sz="4334"/>
            </a:lvl1pPr>
          </a:lstStyle>
          <a:p>
            <a:pPr>
              <a:defRPr/>
            </a:pPr>
            <a:endParaRPr lang="en-US"/>
          </a:p>
        </p:txBody>
      </p:sp>
      <p:sp>
        <p:nvSpPr>
          <p:cNvPr id="1029" name="Rectangle 5"/>
          <p:cNvSpPr>
            <a:spLocks noGrp="1" noChangeArrowheads="1"/>
          </p:cNvSpPr>
          <p:nvPr>
            <p:ph type="ftr" sz="quarter" idx="3"/>
          </p:nvPr>
        </p:nvSpPr>
        <p:spPr bwMode="auto">
          <a:xfrm>
            <a:off x="11245454" y="19995093"/>
            <a:ext cx="10427494"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ctr" defTabSz="2844942">
              <a:defRPr sz="4334"/>
            </a:lvl1pPr>
          </a:lstStyle>
          <a:p>
            <a:pPr>
              <a:defRPr/>
            </a:pPr>
            <a:endParaRPr lang="en-US"/>
          </a:p>
        </p:txBody>
      </p:sp>
      <p:sp>
        <p:nvSpPr>
          <p:cNvPr id="1030" name="Rectangle 6"/>
          <p:cNvSpPr>
            <a:spLocks noGrp="1" noChangeArrowheads="1"/>
          </p:cNvSpPr>
          <p:nvPr>
            <p:ph type="sldNum" sz="quarter" idx="4"/>
          </p:nvPr>
        </p:nvSpPr>
        <p:spPr bwMode="auto">
          <a:xfrm>
            <a:off x="23589855" y="19995093"/>
            <a:ext cx="6858000"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r" defTabSz="2844942">
              <a:defRPr sz="4334"/>
            </a:lvl1pPr>
          </a:lstStyle>
          <a:p>
            <a:pPr>
              <a:defRPr/>
            </a:pPr>
            <a:fld id="{469A0CB4-D18D-4AEF-B324-9EDF067D136D}" type="slidenum">
              <a:rPr lang="en-US"/>
              <a:pPr>
                <a:defRPr/>
              </a:pPr>
              <a:t>‹#›</a:t>
            </a:fld>
            <a:endParaRPr lang="en-US"/>
          </a:p>
        </p:txBody>
      </p:sp>
      <p:pic>
        <p:nvPicPr>
          <p:cNvPr id="1031" name="New picture"/>
          <p:cNvPicPr/>
          <p:nvPr/>
        </p:nvPicPr>
        <p:blipFill>
          <a:blip r:embed="rId13"/>
          <a:stretch>
            <a:fillRect/>
          </a:stretch>
        </p:blipFill>
        <p:spPr>
          <a:xfrm rot="16200000">
            <a:off x="-11074400" y="10972800"/>
            <a:ext cx="14274800" cy="3937000"/>
          </a:xfrm>
          <a:prstGeom prst="rect">
            <a:avLst/>
          </a:prstGeom>
        </p:spPr>
      </p:pic>
      <p:pic>
        <p:nvPicPr>
          <p:cNvPr id="1032" name="New picture"/>
          <p:cNvPicPr/>
          <p:nvPr/>
        </p:nvPicPr>
        <p:blipFill>
          <a:blip r:embed="rId13"/>
          <a:stretch>
            <a:fillRect/>
          </a:stretch>
        </p:blipFill>
        <p:spPr>
          <a:xfrm rot="5400000">
            <a:off x="29718000" y="10972800"/>
            <a:ext cx="14274800" cy="3937000"/>
          </a:xfrm>
          <a:prstGeom prst="rect">
            <a:avLst/>
          </a:prstGeom>
        </p:spPr>
      </p:pic>
      <p:pic>
        <p:nvPicPr>
          <p:cNvPr id="1033" name="New picture"/>
          <p:cNvPicPr/>
          <p:nvPr/>
        </p:nvPicPr>
        <p:blipFill>
          <a:blip r:embed="rId14"/>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persuadingsapphire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2844942" rtl="0" eaLnBrk="0" fontAlgn="base" hangingPunct="0">
        <a:spcBef>
          <a:spcPct val="0"/>
        </a:spcBef>
        <a:spcAft>
          <a:spcPct val="0"/>
        </a:spcAft>
        <a:defRPr sz="13667">
          <a:solidFill>
            <a:schemeClr val="tx2"/>
          </a:solidFill>
          <a:latin typeface="+mj-lt"/>
          <a:ea typeface="+mj-ea"/>
          <a:cs typeface="+mj-cs"/>
        </a:defRPr>
      </a:lvl1pPr>
      <a:lvl2pPr algn="ctr" defTabSz="2844942" rtl="0" eaLnBrk="0" fontAlgn="base" hangingPunct="0">
        <a:spcBef>
          <a:spcPct val="0"/>
        </a:spcBef>
        <a:spcAft>
          <a:spcPct val="0"/>
        </a:spcAft>
        <a:defRPr sz="13667">
          <a:solidFill>
            <a:schemeClr val="tx2"/>
          </a:solidFill>
          <a:latin typeface="Times New Roman" pitchFamily="18" charset="0"/>
        </a:defRPr>
      </a:lvl2pPr>
      <a:lvl3pPr algn="ctr" defTabSz="2844942" rtl="0" eaLnBrk="0" fontAlgn="base" hangingPunct="0">
        <a:spcBef>
          <a:spcPct val="0"/>
        </a:spcBef>
        <a:spcAft>
          <a:spcPct val="0"/>
        </a:spcAft>
        <a:defRPr sz="13667">
          <a:solidFill>
            <a:schemeClr val="tx2"/>
          </a:solidFill>
          <a:latin typeface="Times New Roman" pitchFamily="18" charset="0"/>
        </a:defRPr>
      </a:lvl3pPr>
      <a:lvl4pPr algn="ctr" defTabSz="2844942" rtl="0" eaLnBrk="0" fontAlgn="base" hangingPunct="0">
        <a:spcBef>
          <a:spcPct val="0"/>
        </a:spcBef>
        <a:spcAft>
          <a:spcPct val="0"/>
        </a:spcAft>
        <a:defRPr sz="13667">
          <a:solidFill>
            <a:schemeClr val="tx2"/>
          </a:solidFill>
          <a:latin typeface="Times New Roman" pitchFamily="18" charset="0"/>
        </a:defRPr>
      </a:lvl4pPr>
      <a:lvl5pPr algn="ctr" defTabSz="2844942" rtl="0" eaLnBrk="0" fontAlgn="base" hangingPunct="0">
        <a:spcBef>
          <a:spcPct val="0"/>
        </a:spcBef>
        <a:spcAft>
          <a:spcPct val="0"/>
        </a:spcAft>
        <a:defRPr sz="13667">
          <a:solidFill>
            <a:schemeClr val="tx2"/>
          </a:solidFill>
          <a:latin typeface="Times New Roman" pitchFamily="18" charset="0"/>
        </a:defRPr>
      </a:lvl5pPr>
      <a:lvl6pPr marL="304815" algn="ctr" defTabSz="2844942" rtl="0" eaLnBrk="0" fontAlgn="base" hangingPunct="0">
        <a:spcBef>
          <a:spcPct val="0"/>
        </a:spcBef>
        <a:spcAft>
          <a:spcPct val="0"/>
        </a:spcAft>
        <a:defRPr sz="13667">
          <a:solidFill>
            <a:schemeClr val="tx2"/>
          </a:solidFill>
          <a:latin typeface="Times New Roman" pitchFamily="18" charset="0"/>
        </a:defRPr>
      </a:lvl6pPr>
      <a:lvl7pPr marL="609630" algn="ctr" defTabSz="2844942" rtl="0" eaLnBrk="0" fontAlgn="base" hangingPunct="0">
        <a:spcBef>
          <a:spcPct val="0"/>
        </a:spcBef>
        <a:spcAft>
          <a:spcPct val="0"/>
        </a:spcAft>
        <a:defRPr sz="13667">
          <a:solidFill>
            <a:schemeClr val="tx2"/>
          </a:solidFill>
          <a:latin typeface="Times New Roman" pitchFamily="18" charset="0"/>
        </a:defRPr>
      </a:lvl7pPr>
      <a:lvl8pPr marL="914446" algn="ctr" defTabSz="2844942" rtl="0" eaLnBrk="0" fontAlgn="base" hangingPunct="0">
        <a:spcBef>
          <a:spcPct val="0"/>
        </a:spcBef>
        <a:spcAft>
          <a:spcPct val="0"/>
        </a:spcAft>
        <a:defRPr sz="13667">
          <a:solidFill>
            <a:schemeClr val="tx2"/>
          </a:solidFill>
          <a:latin typeface="Times New Roman" pitchFamily="18" charset="0"/>
        </a:defRPr>
      </a:lvl8pPr>
      <a:lvl9pPr marL="1219261" algn="ctr" defTabSz="2844942" rtl="0" eaLnBrk="0" fontAlgn="base" hangingPunct="0">
        <a:spcBef>
          <a:spcPct val="0"/>
        </a:spcBef>
        <a:spcAft>
          <a:spcPct val="0"/>
        </a:spcAft>
        <a:defRPr sz="13667">
          <a:solidFill>
            <a:schemeClr val="tx2"/>
          </a:solidFill>
          <a:latin typeface="Times New Roman" pitchFamily="18" charset="0"/>
        </a:defRPr>
      </a:lvl9pPr>
    </p:titleStyle>
    <p:bodyStyle>
      <a:defPPr>
        <a:defRPr kern="1200"/>
      </a:defPPr>
      <a:lvl1pPr marL="1066853" indent="-1066853" algn="l" defTabSz="2844942" rtl="0" eaLnBrk="0" fontAlgn="base" hangingPunct="0">
        <a:spcBef>
          <a:spcPct val="20000"/>
        </a:spcBef>
        <a:spcAft>
          <a:spcPct val="0"/>
        </a:spcAft>
        <a:buChar char="•"/>
        <a:defRPr sz="9934">
          <a:solidFill>
            <a:schemeClr val="tx1"/>
          </a:solidFill>
          <a:latin typeface="+mn-lt"/>
          <a:ea typeface="+mn-ea"/>
          <a:cs typeface="+mn-cs"/>
        </a:defRPr>
      </a:lvl1pPr>
      <a:lvl2pPr marL="2311516" indent="-889044" algn="l" defTabSz="2844942" rtl="0" eaLnBrk="0" fontAlgn="base" hangingPunct="0">
        <a:spcBef>
          <a:spcPct val="20000"/>
        </a:spcBef>
        <a:spcAft>
          <a:spcPct val="0"/>
        </a:spcAft>
        <a:buChar char="–"/>
        <a:defRPr sz="8734">
          <a:solidFill>
            <a:schemeClr val="tx1"/>
          </a:solidFill>
          <a:latin typeface="+mn-lt"/>
        </a:defRPr>
      </a:lvl2pPr>
      <a:lvl3pPr marL="3556178" indent="-711236" algn="l" defTabSz="2844942" rtl="0" eaLnBrk="0" fontAlgn="base" hangingPunct="0">
        <a:spcBef>
          <a:spcPct val="20000"/>
        </a:spcBef>
        <a:spcAft>
          <a:spcPct val="0"/>
        </a:spcAft>
        <a:buChar char="•"/>
        <a:defRPr sz="7467">
          <a:solidFill>
            <a:schemeClr val="tx1"/>
          </a:solidFill>
          <a:latin typeface="+mn-lt"/>
        </a:defRPr>
      </a:lvl3pPr>
      <a:lvl4pPr marL="4978649" indent="-711236" algn="l" defTabSz="2844942" rtl="0" eaLnBrk="0" fontAlgn="base" hangingPunct="0">
        <a:spcBef>
          <a:spcPct val="20000"/>
        </a:spcBef>
        <a:spcAft>
          <a:spcPct val="0"/>
        </a:spcAft>
        <a:buChar char="–"/>
        <a:defRPr sz="6200">
          <a:solidFill>
            <a:schemeClr val="tx1"/>
          </a:solidFill>
          <a:latin typeface="+mn-lt"/>
        </a:defRPr>
      </a:lvl4pPr>
      <a:lvl5pPr marL="6401120" indent="-711236" algn="l" defTabSz="2844942" rtl="0" eaLnBrk="0" fontAlgn="base" hangingPunct="0">
        <a:spcBef>
          <a:spcPct val="20000"/>
        </a:spcBef>
        <a:spcAft>
          <a:spcPct val="0"/>
        </a:spcAft>
        <a:buChar char="»"/>
        <a:defRPr sz="6200">
          <a:solidFill>
            <a:schemeClr val="tx1"/>
          </a:solidFill>
          <a:latin typeface="+mn-lt"/>
        </a:defRPr>
      </a:lvl5pPr>
      <a:lvl6pPr marL="6705935" indent="-711236" algn="l" defTabSz="2844942" rtl="0" eaLnBrk="0" fontAlgn="base" hangingPunct="0">
        <a:spcBef>
          <a:spcPct val="20000"/>
        </a:spcBef>
        <a:spcAft>
          <a:spcPct val="0"/>
        </a:spcAft>
        <a:buChar char="»"/>
        <a:defRPr sz="6200">
          <a:solidFill>
            <a:schemeClr val="tx1"/>
          </a:solidFill>
          <a:latin typeface="+mn-lt"/>
        </a:defRPr>
      </a:lvl6pPr>
      <a:lvl7pPr marL="7010751" indent="-711236" algn="l" defTabSz="2844942" rtl="0" eaLnBrk="0" fontAlgn="base" hangingPunct="0">
        <a:spcBef>
          <a:spcPct val="20000"/>
        </a:spcBef>
        <a:spcAft>
          <a:spcPct val="0"/>
        </a:spcAft>
        <a:buChar char="»"/>
        <a:defRPr sz="6200">
          <a:solidFill>
            <a:schemeClr val="tx1"/>
          </a:solidFill>
          <a:latin typeface="+mn-lt"/>
        </a:defRPr>
      </a:lvl7pPr>
      <a:lvl8pPr marL="7315566" indent="-711236" algn="l" defTabSz="2844942" rtl="0" eaLnBrk="0" fontAlgn="base" hangingPunct="0">
        <a:spcBef>
          <a:spcPct val="20000"/>
        </a:spcBef>
        <a:spcAft>
          <a:spcPct val="0"/>
        </a:spcAft>
        <a:buChar char="»"/>
        <a:defRPr sz="6200">
          <a:solidFill>
            <a:schemeClr val="tx1"/>
          </a:solidFill>
          <a:latin typeface="+mn-lt"/>
        </a:defRPr>
      </a:lvl8pPr>
      <a:lvl9pPr marL="7620381" indent="-711236" algn="l" defTabSz="2844942" rtl="0" eaLnBrk="0" fontAlgn="base" hangingPunct="0">
        <a:spcBef>
          <a:spcPct val="20000"/>
        </a:spcBef>
        <a:spcAft>
          <a:spcPct val="0"/>
        </a:spcAft>
        <a:buChar char="»"/>
        <a:defRPr sz="6200">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4375514" y="634618"/>
            <a:ext cx="23254063" cy="1831290"/>
          </a:xfrm>
          <a:prstGeom prst="rect">
            <a:avLst/>
          </a:prstGeom>
        </p:spPr>
        <p:txBody>
          <a:bodyPr lIns="85344" tIns="42672" rIns="85344" bIns="42672"/>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5200" dirty="0">
                <a:solidFill>
                  <a:srgbClr val="235078"/>
                </a:solidFill>
                <a:latin typeface="Libre Baskerville" panose="02000000000000000000" pitchFamily="2" charset="0"/>
              </a:rPr>
              <a:t>Quality Improvement Project: Bedside Echocardiography Utilization In Clinical Practice Among Internal Medicine Residents</a:t>
            </a: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4243302" y="2783431"/>
            <a:ext cx="24384000" cy="1350370"/>
          </a:xfrm>
          <a:prstGeom prst="rect">
            <a:avLst/>
          </a:prstGeom>
        </p:spPr>
        <p:txBody>
          <a:bodyPr lIns="85344" tIns="42672" rIns="85344" bIns="42672">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3700" dirty="0">
                <a:solidFill>
                  <a:srgbClr val="1482A5"/>
                </a:solidFill>
                <a:latin typeface="Montserrat Light" panose="00000400000000000000" pitchFamily="50" charset="0"/>
              </a:rPr>
              <a:t>Saif Srouji, MD ; Yazan Haroun, MD ; Nathanael Reyes, MD ; Advisor: Anupama </a:t>
            </a:r>
            <a:r>
              <a:rPr lang="en-US" sz="3700" dirty="0" err="1">
                <a:solidFill>
                  <a:srgbClr val="1482A5"/>
                </a:solidFill>
                <a:latin typeface="Montserrat Light" panose="00000400000000000000" pitchFamily="50" charset="0"/>
              </a:rPr>
              <a:t>Poliyedath</a:t>
            </a:r>
            <a:r>
              <a:rPr lang="en-US" sz="3700" dirty="0">
                <a:solidFill>
                  <a:srgbClr val="1482A5"/>
                </a:solidFill>
                <a:latin typeface="Montserrat Light" panose="00000400000000000000" pitchFamily="50" charset="0"/>
              </a:rPr>
              <a:t>, MD</a:t>
            </a:r>
          </a:p>
          <a:p>
            <a:pPr algn="ctr"/>
            <a:r>
              <a:rPr lang="en-US" sz="3700" dirty="0">
                <a:solidFill>
                  <a:srgbClr val="1482A5"/>
                </a:solidFill>
                <a:latin typeface="Montserrat Light" panose="00000400000000000000" pitchFamily="50" charset="0"/>
              </a:rPr>
              <a:t>Graduate Medical Education Internal Medicine – Saint Agnes Medical Center, Fresno, CA</a:t>
            </a:r>
          </a:p>
        </p:txBody>
      </p:sp>
      <p:sp>
        <p:nvSpPr>
          <p:cNvPr id="46" name="Rectangle 45">
            <a:extLst>
              <a:ext uri="{FF2B5EF4-FFF2-40B4-BE49-F238E27FC236}">
                <a16:creationId xmlns:a16="http://schemas.microsoft.com/office/drawing/2014/main" id="{2C718E78-BDD8-4BAD-851F-D423AE935B0D}"/>
              </a:ext>
            </a:extLst>
          </p:cNvPr>
          <p:cNvSpPr/>
          <p:nvPr/>
        </p:nvSpPr>
        <p:spPr>
          <a:xfrm>
            <a:off x="533400" y="4951101"/>
            <a:ext cx="7194344" cy="56508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dirty="0">
              <a:solidFill>
                <a:srgbClr val="FF0000"/>
              </a:solidFill>
              <a:latin typeface="+mj-lt"/>
            </a:endParaRPr>
          </a:p>
        </p:txBody>
      </p:sp>
      <p:sp>
        <p:nvSpPr>
          <p:cNvPr id="48" name="Rectangle 47">
            <a:extLst>
              <a:ext uri="{FF2B5EF4-FFF2-40B4-BE49-F238E27FC236}">
                <a16:creationId xmlns:a16="http://schemas.microsoft.com/office/drawing/2014/main" id="{3E6D1C9C-2516-4738-BC80-673A19ECE5BD}"/>
              </a:ext>
            </a:extLst>
          </p:cNvPr>
          <p:cNvSpPr/>
          <p:nvPr/>
        </p:nvSpPr>
        <p:spPr>
          <a:xfrm>
            <a:off x="23090735" y="4951100"/>
            <a:ext cx="9272496" cy="9127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49" name="Rectangle 48">
            <a:extLst>
              <a:ext uri="{FF2B5EF4-FFF2-40B4-BE49-F238E27FC236}">
                <a16:creationId xmlns:a16="http://schemas.microsoft.com/office/drawing/2014/main" id="{8F25EFAD-7AAF-4CAF-BA69-869B3D423F7F}"/>
              </a:ext>
            </a:extLst>
          </p:cNvPr>
          <p:cNvSpPr/>
          <p:nvPr/>
        </p:nvSpPr>
        <p:spPr>
          <a:xfrm>
            <a:off x="518161" y="10849356"/>
            <a:ext cx="7209584" cy="10597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1" name="Rectangle 50">
            <a:extLst>
              <a:ext uri="{FF2B5EF4-FFF2-40B4-BE49-F238E27FC236}">
                <a16:creationId xmlns:a16="http://schemas.microsoft.com/office/drawing/2014/main" id="{BF801B80-E24E-4773-AC4E-37DC17B0424E}"/>
              </a:ext>
            </a:extLst>
          </p:cNvPr>
          <p:cNvSpPr/>
          <p:nvPr/>
        </p:nvSpPr>
        <p:spPr>
          <a:xfrm>
            <a:off x="8047821" y="4951103"/>
            <a:ext cx="14699835" cy="164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2" name="Rectangle 51">
            <a:extLst>
              <a:ext uri="{FF2B5EF4-FFF2-40B4-BE49-F238E27FC236}">
                <a16:creationId xmlns:a16="http://schemas.microsoft.com/office/drawing/2014/main" id="{F6D8A1CF-B987-4F36-8586-4BEDACCCAB04}"/>
              </a:ext>
            </a:extLst>
          </p:cNvPr>
          <p:cNvSpPr/>
          <p:nvPr/>
        </p:nvSpPr>
        <p:spPr>
          <a:xfrm>
            <a:off x="23090735" y="14467736"/>
            <a:ext cx="9309505" cy="389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3" name="TextBox 52">
            <a:extLst>
              <a:ext uri="{FF2B5EF4-FFF2-40B4-BE49-F238E27FC236}">
                <a16:creationId xmlns:a16="http://schemas.microsoft.com/office/drawing/2014/main" id="{B9BDD4D7-12C6-4DBA-AD93-2C88BC17BC8B}"/>
              </a:ext>
            </a:extLst>
          </p:cNvPr>
          <p:cNvSpPr txBox="1"/>
          <p:nvPr/>
        </p:nvSpPr>
        <p:spPr>
          <a:xfrm>
            <a:off x="533400" y="5615673"/>
            <a:ext cx="7125913" cy="4708981"/>
          </a:xfrm>
          <a:prstGeom prst="rect">
            <a:avLst/>
          </a:prstGeom>
          <a:noFill/>
        </p:spPr>
        <p:txBody>
          <a:bodyPr wrap="square" rtlCol="0">
            <a:spAutoFit/>
          </a:bodyPr>
          <a:lstStyle>
            <a:defPPr>
              <a:defRPr kern="1200"/>
            </a:defPPr>
          </a:lstStyle>
          <a:p>
            <a:r>
              <a:rPr lang="en-US" sz="2000" dirty="0">
                <a:solidFill>
                  <a:srgbClr val="1482A5"/>
                </a:solidFill>
                <a:latin typeface="+mn-ea"/>
                <a:cs typeface="Arial" panose="020B0604020202020204" pitchFamily="34" charset="0"/>
              </a:rPr>
              <a:t>The importance of bedside echocardiography in modern physician practice can not be overstated. Practice guidelines have well established recommendations for the use of POCUS as it is reliable and easy to perform with the right expertise.</a:t>
            </a:r>
          </a:p>
          <a:p>
            <a:endParaRPr lang="en-US" sz="2000" dirty="0">
              <a:solidFill>
                <a:srgbClr val="1482A5"/>
              </a:solidFill>
              <a:latin typeface="+mn-ea"/>
              <a:cs typeface="Arial" panose="020B0604020202020204" pitchFamily="34" charset="0"/>
            </a:endParaRPr>
          </a:p>
          <a:p>
            <a:r>
              <a:rPr lang="en-US" sz="2000" dirty="0">
                <a:solidFill>
                  <a:srgbClr val="1482A5"/>
                </a:solidFill>
                <a:latin typeface="+mn-ea"/>
                <a:cs typeface="Arial" panose="020B0604020202020204" pitchFamily="34" charset="0"/>
              </a:rPr>
              <a:t>Stemming from our strong belief in the importance of acquiring this important skill during residency, and our desire to build a framework for initiation of such a rotation at our residency program, we present this quality improvement (QI) project. Our goal was to survey our residents to gauge their interest in improving their POCUS skills, and to demonstrate that theoretical and hands-on POCUS training will be beneficial for their practice, in the aim to improve the overall quality of patient care.</a:t>
            </a:r>
          </a:p>
        </p:txBody>
      </p:sp>
      <p:sp>
        <p:nvSpPr>
          <p:cNvPr id="54" name="TextBox 53">
            <a:extLst>
              <a:ext uri="{FF2B5EF4-FFF2-40B4-BE49-F238E27FC236}">
                <a16:creationId xmlns:a16="http://schemas.microsoft.com/office/drawing/2014/main" id="{E4864E4E-50A2-403F-84B8-E4F7E820612B}"/>
              </a:ext>
            </a:extLst>
          </p:cNvPr>
          <p:cNvSpPr txBox="1"/>
          <p:nvPr/>
        </p:nvSpPr>
        <p:spPr>
          <a:xfrm>
            <a:off x="630375" y="5072081"/>
            <a:ext cx="7192297" cy="523220"/>
          </a:xfrm>
          <a:prstGeom prst="rect">
            <a:avLst/>
          </a:prstGeom>
          <a:noFill/>
        </p:spPr>
        <p:txBody>
          <a:bodyPr wrap="square" rtlCol="0">
            <a:spAutoFit/>
          </a:bodyPr>
          <a:lstStyle>
            <a:defPPr>
              <a:defRPr kern="1200"/>
            </a:defPPr>
          </a:lstStyle>
          <a:p>
            <a:r>
              <a:rPr lang="en-US" sz="2800" dirty="0">
                <a:solidFill>
                  <a:srgbClr val="235078"/>
                </a:solidFill>
                <a:latin typeface="+mj-ea"/>
                <a:ea typeface="+mj-ea"/>
                <a:cs typeface="+mj-cs"/>
              </a:rPr>
              <a:t>Introduction</a:t>
            </a:r>
          </a:p>
        </p:txBody>
      </p:sp>
      <p:sp>
        <p:nvSpPr>
          <p:cNvPr id="55" name="Rectangle 54">
            <a:extLst>
              <a:ext uri="{FF2B5EF4-FFF2-40B4-BE49-F238E27FC236}">
                <a16:creationId xmlns:a16="http://schemas.microsoft.com/office/drawing/2014/main" id="{32418A42-DDE0-497E-98DF-5F9BFF98DA6B}"/>
              </a:ext>
            </a:extLst>
          </p:cNvPr>
          <p:cNvSpPr/>
          <p:nvPr/>
        </p:nvSpPr>
        <p:spPr>
          <a:xfrm>
            <a:off x="23090735" y="18755556"/>
            <a:ext cx="9294266" cy="2691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6" name="TextBox 55">
            <a:extLst>
              <a:ext uri="{FF2B5EF4-FFF2-40B4-BE49-F238E27FC236}">
                <a16:creationId xmlns:a16="http://schemas.microsoft.com/office/drawing/2014/main" id="{1D434DB1-CA03-4AE7-BD42-F2F4837CE20D}"/>
              </a:ext>
            </a:extLst>
          </p:cNvPr>
          <p:cNvSpPr txBox="1"/>
          <p:nvPr/>
        </p:nvSpPr>
        <p:spPr>
          <a:xfrm>
            <a:off x="23250383" y="19354375"/>
            <a:ext cx="9477697" cy="2246769"/>
          </a:xfrm>
          <a:prstGeom prst="rect">
            <a:avLst/>
          </a:prstGeom>
          <a:noFill/>
        </p:spPr>
        <p:txBody>
          <a:bodyPr wrap="square" rtlCol="0">
            <a:spAutoFit/>
          </a:bodyPr>
          <a:lstStyle>
            <a:defPPr>
              <a:defRPr kern="1200"/>
            </a:defPPr>
          </a:lstStyle>
          <a:p>
            <a:pPr algn="l" rtl="0" fontAlgn="base">
              <a:buFont typeface="+mj-lt"/>
              <a:buAutoNum type="arabicPeriod"/>
            </a:pPr>
            <a:r>
              <a:rPr lang="en-US" sz="1400" b="0" i="0" u="none" strike="noStrike" dirty="0">
                <a:solidFill>
                  <a:srgbClr val="00688F"/>
                </a:solidFill>
                <a:effectLst/>
                <a:latin typeface="+mn-ea"/>
                <a:cs typeface="Arial" panose="020B0604020202020204" pitchFamily="34" charset="0"/>
              </a:rPr>
              <a:t> Town JA, </a:t>
            </a:r>
            <a:r>
              <a:rPr lang="en-US" sz="1400" b="0" i="0" u="none" strike="noStrike" dirty="0" err="1">
                <a:solidFill>
                  <a:srgbClr val="00688F"/>
                </a:solidFill>
                <a:effectLst/>
                <a:latin typeface="+mn-ea"/>
                <a:cs typeface="Arial" panose="020B0604020202020204" pitchFamily="34" charset="0"/>
              </a:rPr>
              <a:t>Bergl</a:t>
            </a:r>
            <a:r>
              <a:rPr lang="en-US" sz="1400" b="0" i="0" u="none" strike="noStrike" dirty="0">
                <a:solidFill>
                  <a:srgbClr val="00688F"/>
                </a:solidFill>
                <a:effectLst/>
                <a:latin typeface="+mn-ea"/>
                <a:cs typeface="Arial" panose="020B0604020202020204" pitchFamily="34" charset="0"/>
              </a:rPr>
              <a:t> PA, Narang A, McConville JF. Internal Medicine Residents' Retention of Knowledge and Skills in Bedside Ultrasound. </a:t>
            </a:r>
            <a:r>
              <a:rPr lang="en-US" sz="1400" b="0" i="1" u="none" strike="noStrike" dirty="0">
                <a:solidFill>
                  <a:srgbClr val="00688F"/>
                </a:solidFill>
                <a:effectLst/>
                <a:latin typeface="+mn-ea"/>
                <a:cs typeface="Arial" panose="020B0604020202020204" pitchFamily="34" charset="0"/>
              </a:rPr>
              <a:t>J Grad Med Educ</a:t>
            </a:r>
            <a:r>
              <a:rPr lang="en-US" sz="1400" b="0" i="0" u="none" strike="noStrike" dirty="0">
                <a:solidFill>
                  <a:srgbClr val="00688F"/>
                </a:solidFill>
                <a:effectLst/>
                <a:latin typeface="+mn-ea"/>
                <a:cs typeface="Arial" panose="020B0604020202020204" pitchFamily="34" charset="0"/>
              </a:rPr>
              <a:t>. 2016;8(4):553-557. doi:10.4300/JGME-D-15-00383.1​</a:t>
            </a:r>
          </a:p>
          <a:p>
            <a:pPr algn="l" rtl="0" fontAlgn="base"/>
            <a:endParaRPr lang="en-US" sz="1400" b="0" i="0" u="none" strike="noStrike" dirty="0">
              <a:solidFill>
                <a:srgbClr val="00688F"/>
              </a:solidFill>
              <a:effectLst/>
              <a:latin typeface="+mn-ea"/>
              <a:cs typeface="Arial" panose="020B0604020202020204" pitchFamily="34" charset="0"/>
            </a:endParaRPr>
          </a:p>
          <a:p>
            <a:pPr algn="l" rtl="0" fontAlgn="base">
              <a:buFont typeface="+mj-lt"/>
              <a:buAutoNum type="arabicPeriod" startAt="2"/>
            </a:pPr>
            <a:r>
              <a:rPr lang="en-US" sz="1400" b="0" i="0" u="none" strike="noStrike" dirty="0">
                <a:solidFill>
                  <a:srgbClr val="00688F"/>
                </a:solidFill>
                <a:effectLst/>
                <a:latin typeface="+mn-ea"/>
                <a:cs typeface="Arial" panose="020B0604020202020204" pitchFamily="34" charset="0"/>
              </a:rPr>
              <a:t> Gopal D, Baston C, </a:t>
            </a:r>
            <a:r>
              <a:rPr lang="en-US" sz="1400" b="0" i="0" u="none" strike="noStrike" dirty="0" err="1">
                <a:solidFill>
                  <a:srgbClr val="00688F"/>
                </a:solidFill>
                <a:effectLst/>
                <a:latin typeface="+mn-ea"/>
                <a:cs typeface="Arial" panose="020B0604020202020204" pitchFamily="34" charset="0"/>
              </a:rPr>
              <a:t>Adusumalli</a:t>
            </a:r>
            <a:r>
              <a:rPr lang="en-US" sz="1400" b="0" i="0" u="none" strike="noStrike" dirty="0">
                <a:solidFill>
                  <a:srgbClr val="00688F"/>
                </a:solidFill>
                <a:effectLst/>
                <a:latin typeface="+mn-ea"/>
                <a:cs typeface="Arial" panose="020B0604020202020204" pitchFamily="34" charset="0"/>
              </a:rPr>
              <a:t> S, </a:t>
            </a:r>
            <a:r>
              <a:rPr lang="en-US" sz="1400" b="0" i="0" u="none" strike="noStrike" dirty="0" err="1">
                <a:solidFill>
                  <a:srgbClr val="00688F"/>
                </a:solidFill>
                <a:effectLst/>
                <a:latin typeface="+mn-ea"/>
                <a:cs typeface="Arial" panose="020B0604020202020204" pitchFamily="34" charset="0"/>
              </a:rPr>
              <a:t>Jagasia</a:t>
            </a:r>
            <a:r>
              <a:rPr lang="en-US" sz="1400" b="0" i="0" u="none" strike="noStrike" dirty="0">
                <a:solidFill>
                  <a:srgbClr val="00688F"/>
                </a:solidFill>
                <a:effectLst/>
                <a:latin typeface="+mn-ea"/>
                <a:cs typeface="Arial" panose="020B0604020202020204" pitchFamily="34" charset="0"/>
              </a:rPr>
              <a:t> D, </a:t>
            </a:r>
            <a:r>
              <a:rPr lang="en-US" sz="1400" b="0" i="0" u="none" strike="noStrike" dirty="0" err="1">
                <a:solidFill>
                  <a:srgbClr val="00688F"/>
                </a:solidFill>
                <a:effectLst/>
                <a:latin typeface="+mn-ea"/>
                <a:cs typeface="Arial" panose="020B0604020202020204" pitchFamily="34" charset="0"/>
              </a:rPr>
              <a:t>Prenner</a:t>
            </a:r>
            <a:r>
              <a:rPr lang="en-US" sz="1400" b="0" i="0" u="none" strike="noStrike" dirty="0">
                <a:solidFill>
                  <a:srgbClr val="00688F"/>
                </a:solidFill>
                <a:effectLst/>
                <a:latin typeface="+mn-ea"/>
                <a:cs typeface="Arial" panose="020B0604020202020204" pitchFamily="34" charset="0"/>
              </a:rPr>
              <a:t> S. Focused Cardiac Ultrasound Curriculum for Internal Medicine Residents. </a:t>
            </a:r>
            <a:r>
              <a:rPr lang="en-US" sz="1400" b="0" i="1" u="none" strike="noStrike" dirty="0">
                <a:solidFill>
                  <a:srgbClr val="00688F"/>
                </a:solidFill>
                <a:effectLst/>
                <a:latin typeface="+mn-ea"/>
                <a:cs typeface="Arial" panose="020B0604020202020204" pitchFamily="34" charset="0"/>
              </a:rPr>
              <a:t>POCUS J</a:t>
            </a:r>
            <a:r>
              <a:rPr lang="en-US" sz="1400" b="0" i="0" u="none" strike="noStrike" dirty="0">
                <a:solidFill>
                  <a:srgbClr val="00688F"/>
                </a:solidFill>
                <a:effectLst/>
                <a:latin typeface="+mn-ea"/>
                <a:cs typeface="Arial" panose="020B0604020202020204" pitchFamily="34" charset="0"/>
              </a:rPr>
              <a:t>. 2021;6(1):29-32. Published 2021 Apr 22. doi:10.24908/pocus.v6i1.14759​</a:t>
            </a:r>
          </a:p>
          <a:p>
            <a:pPr algn="l" rtl="0" fontAlgn="base"/>
            <a:endParaRPr lang="en-US" sz="1400" b="0" i="0" u="none" strike="noStrike" dirty="0">
              <a:solidFill>
                <a:srgbClr val="00688F"/>
              </a:solidFill>
              <a:effectLst/>
              <a:latin typeface="+mn-ea"/>
              <a:cs typeface="Arial" panose="020B0604020202020204" pitchFamily="34" charset="0"/>
            </a:endParaRPr>
          </a:p>
          <a:p>
            <a:pPr algn="l" rtl="0" fontAlgn="base"/>
            <a:r>
              <a:rPr lang="en-US" sz="1400" dirty="0">
                <a:solidFill>
                  <a:srgbClr val="00688F"/>
                </a:solidFill>
                <a:latin typeface="+mn-ea"/>
                <a:cs typeface="Arial" panose="020B0604020202020204" pitchFamily="34" charset="0"/>
              </a:rPr>
              <a:t>3. </a:t>
            </a:r>
            <a:r>
              <a:rPr lang="en-US" sz="1400" b="0" i="0" u="none" strike="noStrike" dirty="0">
                <a:solidFill>
                  <a:srgbClr val="00688F"/>
                </a:solidFill>
                <a:effectLst/>
                <a:latin typeface="+mn-ea"/>
                <a:cs typeface="Arial" panose="020B0604020202020204" pitchFamily="34" charset="0"/>
              </a:rPr>
              <a:t>Yang LT, Tsai MH, Sheng WH, Yu JY, Ho YL. Echocardiography interpretation training and internal medicine milestones: A pilot study. </a:t>
            </a:r>
            <a:r>
              <a:rPr lang="en-US" sz="1400" b="0" i="1" u="none" strike="noStrike" dirty="0">
                <a:solidFill>
                  <a:srgbClr val="00688F"/>
                </a:solidFill>
                <a:effectLst/>
                <a:latin typeface="+mn-ea"/>
                <a:cs typeface="Arial" panose="020B0604020202020204" pitchFamily="34" charset="0"/>
              </a:rPr>
              <a:t>Journal of the Formosan Medical Association</a:t>
            </a:r>
            <a:r>
              <a:rPr lang="en-US" sz="1400" b="0" i="0" u="none" strike="noStrike" dirty="0">
                <a:solidFill>
                  <a:srgbClr val="00688F"/>
                </a:solidFill>
                <a:effectLst/>
                <a:latin typeface="+mn-ea"/>
                <a:cs typeface="Arial" panose="020B0604020202020204" pitchFamily="34" charset="0"/>
              </a:rPr>
              <a:t>. Published online January 7, 2025. </a:t>
            </a:r>
            <a:r>
              <a:rPr lang="en-US" sz="1400" b="0" i="0" u="none" strike="noStrike" dirty="0" err="1">
                <a:solidFill>
                  <a:srgbClr val="00688F"/>
                </a:solidFill>
                <a:effectLst/>
                <a:latin typeface="+mn-ea"/>
                <a:cs typeface="Arial" panose="020B0604020202020204" pitchFamily="34" charset="0"/>
              </a:rPr>
              <a:t>doi:https</a:t>
            </a:r>
            <a:r>
              <a:rPr lang="en-US" sz="1400" b="0" i="0" u="none" strike="noStrike" dirty="0">
                <a:solidFill>
                  <a:srgbClr val="00688F"/>
                </a:solidFill>
                <a:effectLst/>
                <a:latin typeface="+mn-ea"/>
                <a:cs typeface="Arial" panose="020B0604020202020204" pitchFamily="34" charset="0"/>
              </a:rPr>
              <a:t>://</a:t>
            </a:r>
            <a:r>
              <a:rPr lang="en-US" sz="1400" b="0" i="0" u="none" strike="noStrike" dirty="0" err="1">
                <a:solidFill>
                  <a:srgbClr val="00688F"/>
                </a:solidFill>
                <a:effectLst/>
                <a:latin typeface="+mn-ea"/>
                <a:cs typeface="Arial" panose="020B0604020202020204" pitchFamily="34" charset="0"/>
              </a:rPr>
              <a:t>doi.org</a:t>
            </a:r>
            <a:r>
              <a:rPr lang="en-US" sz="1400" b="0" i="0" u="none" strike="noStrike" dirty="0">
                <a:solidFill>
                  <a:srgbClr val="00688F"/>
                </a:solidFill>
                <a:effectLst/>
                <a:latin typeface="+mn-ea"/>
                <a:cs typeface="Arial" panose="020B0604020202020204" pitchFamily="34" charset="0"/>
              </a:rPr>
              <a:t>/10.1016/j.jfma.2024.12.038​</a:t>
            </a:r>
          </a:p>
          <a:p>
            <a:pPr algn="l" rtl="0" fontAlgn="base"/>
            <a:endParaRPr lang="en-US" sz="1400" b="0" i="0" u="none" strike="noStrike" dirty="0">
              <a:solidFill>
                <a:srgbClr val="00688F"/>
              </a:solidFill>
              <a:effectLst/>
              <a:latin typeface="+mn-ea"/>
              <a:cs typeface="Arial" panose="020B0604020202020204" pitchFamily="34" charset="0"/>
            </a:endParaRPr>
          </a:p>
        </p:txBody>
      </p:sp>
      <p:sp>
        <p:nvSpPr>
          <p:cNvPr id="57" name="TextBox 56">
            <a:extLst>
              <a:ext uri="{FF2B5EF4-FFF2-40B4-BE49-F238E27FC236}">
                <a16:creationId xmlns:a16="http://schemas.microsoft.com/office/drawing/2014/main" id="{992CC346-56CD-4384-BB14-A915BC781C78}"/>
              </a:ext>
            </a:extLst>
          </p:cNvPr>
          <p:cNvSpPr txBox="1"/>
          <p:nvPr/>
        </p:nvSpPr>
        <p:spPr>
          <a:xfrm>
            <a:off x="23250383" y="18831155"/>
            <a:ext cx="7192297" cy="523220"/>
          </a:xfrm>
          <a:prstGeom prst="rect">
            <a:avLst/>
          </a:prstGeom>
          <a:noFill/>
        </p:spPr>
        <p:txBody>
          <a:bodyPr wrap="square" rtlCol="0">
            <a:spAutoFit/>
          </a:bodyPr>
          <a:lstStyle>
            <a:defPPr>
              <a:defRPr kern="1200"/>
            </a:defPPr>
          </a:lstStyle>
          <a:p>
            <a:r>
              <a:rPr lang="en-US" sz="2800" dirty="0">
                <a:solidFill>
                  <a:srgbClr val="235078"/>
                </a:solidFill>
                <a:latin typeface="+mj-ea"/>
                <a:ea typeface="+mj-ea"/>
              </a:rPr>
              <a:t>References</a:t>
            </a:r>
          </a:p>
        </p:txBody>
      </p:sp>
      <p:sp>
        <p:nvSpPr>
          <p:cNvPr id="58" name="TextBox 57">
            <a:extLst>
              <a:ext uri="{FF2B5EF4-FFF2-40B4-BE49-F238E27FC236}">
                <a16:creationId xmlns:a16="http://schemas.microsoft.com/office/drawing/2014/main" id="{E3DA8D0E-1298-4193-913A-0FE766B77D13}"/>
              </a:ext>
            </a:extLst>
          </p:cNvPr>
          <p:cNvSpPr txBox="1"/>
          <p:nvPr/>
        </p:nvSpPr>
        <p:spPr>
          <a:xfrm>
            <a:off x="23250385" y="5615673"/>
            <a:ext cx="8970989" cy="8094524"/>
          </a:xfrm>
          <a:prstGeom prst="rect">
            <a:avLst/>
          </a:prstGeom>
          <a:noFill/>
        </p:spPr>
        <p:txBody>
          <a:bodyPr wrap="square" rtlCol="0">
            <a:spAutoFit/>
          </a:bodyPr>
          <a:lstStyle>
            <a:defPPr>
              <a:defRPr kern="1200"/>
            </a:defPPr>
          </a:lstStyle>
          <a:p>
            <a:pPr algn="l" rtl="0" fontAlgn="base"/>
            <a:r>
              <a:rPr lang="en-US" sz="2000" b="0" i="0" u="none" strike="noStrike" dirty="0">
                <a:solidFill>
                  <a:srgbClr val="1482A5"/>
                </a:solidFill>
                <a:effectLst/>
                <a:latin typeface="Arial" panose="020B0604020202020204" pitchFamily="34" charset="0"/>
                <a:cs typeface="Arial" panose="020B0604020202020204" pitchFamily="34" charset="0"/>
              </a:rPr>
              <a:t>Currently, our internal medicine residents are exposed to bedside echocardiography during their critical care rotation. We believe that this limited exposure is suboptimal and is better supplemented by an official POCUS curriculum.</a:t>
            </a:r>
            <a:r>
              <a:rPr lang="en-US" sz="2000" b="0" i="0" u="none" strike="noStrike" dirty="0">
                <a:solidFill>
                  <a:srgbClr val="000000"/>
                </a:solidFill>
                <a:effectLst/>
                <a:latin typeface="Arial" panose="020B0604020202020204" pitchFamily="34" charset="0"/>
                <a:cs typeface="Arial" panose="020B0604020202020204" pitchFamily="34" charset="0"/>
              </a:rPr>
              <a:t>​</a:t>
            </a:r>
          </a:p>
          <a:p>
            <a:pPr algn="l" rtl="0" fontAlgn="base"/>
            <a:r>
              <a:rPr lang="en-US" sz="2000" b="0" i="0" u="none" strike="noStrike" dirty="0">
                <a:solidFill>
                  <a:srgbClr val="000000"/>
                </a:solidFill>
                <a:effectLst/>
                <a:latin typeface="Arial" panose="020B0604020202020204" pitchFamily="34" charset="0"/>
                <a:cs typeface="Arial" panose="020B0604020202020204" pitchFamily="34" charset="0"/>
              </a:rPr>
              <a:t>​</a:t>
            </a:r>
          </a:p>
          <a:p>
            <a:pPr algn="l" rtl="0" fontAlgn="base"/>
            <a:r>
              <a:rPr lang="en-US" sz="2000" b="0" i="0" u="none" strike="noStrike" dirty="0">
                <a:solidFill>
                  <a:srgbClr val="1482A5"/>
                </a:solidFill>
                <a:effectLst/>
                <a:latin typeface="Arial" panose="020B0604020202020204" pitchFamily="34" charset="0"/>
                <a:cs typeface="Arial" panose="020B0604020202020204" pitchFamily="34" charset="0"/>
              </a:rPr>
              <a:t>There has been multiple studies directed towards internal medicine residents reporting promising results.</a:t>
            </a:r>
            <a:r>
              <a:rPr lang="en-US" sz="2000" b="0" i="0" u="none" strike="noStrike" dirty="0">
                <a:solidFill>
                  <a:srgbClr val="000000"/>
                </a:solidFill>
                <a:effectLst/>
                <a:latin typeface="Arial" panose="020B0604020202020204" pitchFamily="34" charset="0"/>
                <a:cs typeface="Arial" panose="020B0604020202020204" pitchFamily="34" charset="0"/>
              </a:rPr>
              <a:t>​</a:t>
            </a:r>
            <a:r>
              <a:rPr lang="en-US" sz="2000" dirty="0">
                <a:solidFill>
                  <a:srgbClr val="000000"/>
                </a:solidFill>
                <a:latin typeface="Arial" panose="020B0604020202020204" pitchFamily="34" charset="0"/>
                <a:cs typeface="Arial" panose="020B0604020202020204" pitchFamily="34" charset="0"/>
              </a:rPr>
              <a:t> </a:t>
            </a:r>
            <a:br>
              <a:rPr lang="en-US" sz="2000" dirty="0">
                <a:solidFill>
                  <a:srgbClr val="000000"/>
                </a:solidFill>
                <a:latin typeface="Arial" panose="020B0604020202020204" pitchFamily="34" charset="0"/>
                <a:cs typeface="Arial" panose="020B0604020202020204" pitchFamily="34" charset="0"/>
              </a:rPr>
            </a:br>
            <a:br>
              <a:rPr lang="en-US" sz="2000" dirty="0">
                <a:solidFill>
                  <a:srgbClr val="000000"/>
                </a:solidFill>
                <a:latin typeface="Arial" panose="020B0604020202020204" pitchFamily="34" charset="0"/>
                <a:cs typeface="Arial" panose="020B0604020202020204" pitchFamily="34" charset="0"/>
              </a:rPr>
            </a:br>
            <a:r>
              <a:rPr lang="en-US" sz="2000" b="0" i="0" u="none" strike="noStrike" dirty="0">
                <a:solidFill>
                  <a:srgbClr val="1482A5"/>
                </a:solidFill>
                <a:effectLst/>
                <a:latin typeface="Arial" panose="020B0604020202020204" pitchFamily="34" charset="0"/>
                <a:cs typeface="Arial" panose="020B0604020202020204" pitchFamily="34" charset="0"/>
              </a:rPr>
              <a:t>In one prospective observational study conducted on 101 residents, a POCUS workshop was implemented and was followed by 12 months of independent practice. This study showed a significant (p&lt;0.001) 20.8% increase in mean knowledge assessment scores immediately after training. A score decline was noted at 12 months, however the knowledge baseline remained significantly improved from 30.5% to 50.4% at 12 months. [1] </a:t>
            </a:r>
            <a:r>
              <a:rPr lang="en-US" sz="2000" b="0" i="0" u="none" strike="noStrike" dirty="0">
                <a:solidFill>
                  <a:srgbClr val="000000"/>
                </a:solidFill>
                <a:effectLst/>
                <a:latin typeface="Arial" panose="020B0604020202020204" pitchFamily="34" charset="0"/>
                <a:cs typeface="Arial" panose="020B0604020202020204" pitchFamily="34" charset="0"/>
              </a:rPr>
              <a:t>​</a:t>
            </a:r>
            <a:br>
              <a:rPr lang="en-US" sz="2000" b="0" i="0" u="none" strike="noStrike" dirty="0">
                <a:solidFill>
                  <a:srgbClr val="000000"/>
                </a:solidFill>
                <a:effectLst/>
                <a:latin typeface="Arial" panose="020B0604020202020204" pitchFamily="34" charset="0"/>
                <a:cs typeface="Arial" panose="020B0604020202020204" pitchFamily="34" charset="0"/>
              </a:rPr>
            </a:br>
            <a:endParaRPr lang="en-US" sz="2000" b="0" i="0" u="none" strike="noStrike" dirty="0">
              <a:solidFill>
                <a:srgbClr val="000000"/>
              </a:solidFill>
              <a:effectLst/>
              <a:latin typeface="Arial" panose="020B0604020202020204" pitchFamily="34" charset="0"/>
              <a:cs typeface="Arial" panose="020B0604020202020204" pitchFamily="34" charset="0"/>
            </a:endParaRPr>
          </a:p>
          <a:p>
            <a:pPr algn="l" rtl="0" fontAlgn="base"/>
            <a:r>
              <a:rPr lang="en-US" sz="2000" b="0" i="0" u="none" strike="noStrike" dirty="0">
                <a:solidFill>
                  <a:srgbClr val="000000"/>
                </a:solidFill>
                <a:effectLst/>
                <a:latin typeface="Arial" panose="020B0604020202020204" pitchFamily="34" charset="0"/>
                <a:cs typeface="Arial" panose="020B0604020202020204" pitchFamily="34" charset="0"/>
              </a:rPr>
              <a:t>​</a:t>
            </a:r>
            <a:r>
              <a:rPr lang="en-US" sz="2000" b="0" i="0" u="none" strike="noStrike" dirty="0">
                <a:solidFill>
                  <a:srgbClr val="1482A5"/>
                </a:solidFill>
                <a:effectLst/>
                <a:latin typeface="Arial" panose="020B0604020202020204" pitchFamily="34" charset="0"/>
                <a:cs typeface="Arial" panose="020B0604020202020204" pitchFamily="34" charset="0"/>
              </a:rPr>
              <a:t>In another study, a focused cardiac ultrasound curriculum was developed and supplemented by an assessment tool. This study included a total of 116 residents. The study reported a mean change of knowledge of 13% in the group who received the curriculum, vs a mere 7% in those wo did not (p &lt;0.0001).The mean change in confidence scores was 0.99 vs 0.39 respectively (p 0.046). [2]</a:t>
            </a:r>
            <a:r>
              <a:rPr lang="en-US" sz="2000" b="0" i="0" u="none" strike="noStrike" dirty="0">
                <a:solidFill>
                  <a:srgbClr val="000000"/>
                </a:solidFill>
                <a:effectLst/>
                <a:latin typeface="Arial" panose="020B0604020202020204" pitchFamily="34" charset="0"/>
                <a:cs typeface="Arial" panose="020B0604020202020204" pitchFamily="34" charset="0"/>
              </a:rPr>
              <a:t>​</a:t>
            </a:r>
          </a:p>
          <a:p>
            <a:pPr algn="l" rtl="0" fontAlgn="base"/>
            <a:r>
              <a:rPr lang="en-US" sz="2000" b="0" i="0" u="none" strike="noStrike" dirty="0">
                <a:solidFill>
                  <a:srgbClr val="000000"/>
                </a:solidFill>
                <a:effectLst/>
                <a:latin typeface="Arial" panose="020B0604020202020204" pitchFamily="34" charset="0"/>
                <a:cs typeface="Arial" panose="020B0604020202020204" pitchFamily="34" charset="0"/>
              </a:rPr>
              <a:t>​</a:t>
            </a:r>
          </a:p>
          <a:p>
            <a:pPr algn="l" rtl="0" fontAlgn="base"/>
            <a:r>
              <a:rPr lang="en-US" sz="2000" b="0" i="0" u="none" strike="noStrike" dirty="0">
                <a:solidFill>
                  <a:srgbClr val="1482A5"/>
                </a:solidFill>
                <a:effectLst/>
                <a:latin typeface="Arial" panose="020B0604020202020204" pitchFamily="34" charset="0"/>
                <a:cs typeface="Arial" panose="020B0604020202020204" pitchFamily="34" charset="0"/>
              </a:rPr>
              <a:t>Moreover, a single-center prospective study including 193 resident physicians introduced an echocardiography report interpretation course. This study reported that average scores after the course had significantly improved (2.9 ± 1.3 vs 4.3 ± 1.3; p &lt;0.001). [3]</a:t>
            </a:r>
            <a:r>
              <a:rPr lang="en-US" sz="2000" b="0" i="0" u="none" strike="noStrike" dirty="0">
                <a:solidFill>
                  <a:srgbClr val="000000"/>
                </a:solidFill>
                <a:effectLst/>
                <a:latin typeface="Arial" panose="020B0604020202020204" pitchFamily="34" charset="0"/>
                <a:cs typeface="Arial" panose="020B0604020202020204" pitchFamily="34" charset="0"/>
              </a:rPr>
              <a:t>​</a:t>
            </a:r>
          </a:p>
        </p:txBody>
      </p:sp>
      <p:sp>
        <p:nvSpPr>
          <p:cNvPr id="59" name="TextBox 58">
            <a:extLst>
              <a:ext uri="{FF2B5EF4-FFF2-40B4-BE49-F238E27FC236}">
                <a16:creationId xmlns:a16="http://schemas.microsoft.com/office/drawing/2014/main" id="{D07EEF88-ACF9-4467-B180-074FC642245A}"/>
              </a:ext>
            </a:extLst>
          </p:cNvPr>
          <p:cNvSpPr txBox="1"/>
          <p:nvPr/>
        </p:nvSpPr>
        <p:spPr>
          <a:xfrm>
            <a:off x="23250385" y="5097964"/>
            <a:ext cx="7192297" cy="523220"/>
          </a:xfrm>
          <a:prstGeom prst="rect">
            <a:avLst/>
          </a:prstGeom>
          <a:noFill/>
        </p:spPr>
        <p:txBody>
          <a:bodyPr wrap="square" rtlCol="0">
            <a:spAutoFit/>
          </a:bodyPr>
          <a:lstStyle>
            <a:defPPr>
              <a:defRPr kern="1200"/>
            </a:defPPr>
          </a:lstStyle>
          <a:p>
            <a:r>
              <a:rPr lang="en-US" sz="2800" dirty="0">
                <a:solidFill>
                  <a:srgbClr val="235078"/>
                </a:solidFill>
                <a:latin typeface="+mj-ea"/>
                <a:ea typeface="+mj-ea"/>
              </a:rPr>
              <a:t>Discussion</a:t>
            </a:r>
          </a:p>
        </p:txBody>
      </p:sp>
      <p:sp>
        <p:nvSpPr>
          <p:cNvPr id="60" name="TextBox 59">
            <a:extLst>
              <a:ext uri="{FF2B5EF4-FFF2-40B4-BE49-F238E27FC236}">
                <a16:creationId xmlns:a16="http://schemas.microsoft.com/office/drawing/2014/main" id="{22B0201C-B275-4172-AE5F-42B6EA405F41}"/>
              </a:ext>
            </a:extLst>
          </p:cNvPr>
          <p:cNvSpPr txBox="1"/>
          <p:nvPr/>
        </p:nvSpPr>
        <p:spPr>
          <a:xfrm>
            <a:off x="23250385" y="15144290"/>
            <a:ext cx="9149856" cy="3170099"/>
          </a:xfrm>
          <a:prstGeom prst="rect">
            <a:avLst/>
          </a:prstGeom>
          <a:noFill/>
        </p:spPr>
        <p:txBody>
          <a:bodyPr wrap="square" rtlCol="0">
            <a:spAutoFit/>
          </a:bodyPr>
          <a:lstStyle>
            <a:defPPr>
              <a:defRPr kern="1200"/>
            </a:defPPr>
          </a:lstStyle>
          <a:p>
            <a:pPr algn="l" rtl="0" fontAlgn="base"/>
            <a:r>
              <a:rPr lang="en-US" sz="2000" b="0" i="0" u="none" strike="noStrike" dirty="0">
                <a:solidFill>
                  <a:srgbClr val="1482A5"/>
                </a:solidFill>
                <a:effectLst/>
                <a:latin typeface="+mn-ea"/>
                <a:cs typeface="Arial" panose="020B0604020202020204" pitchFamily="34" charset="0"/>
              </a:rPr>
              <a:t>Considering the overwhelming positive response to this educational session, and the strong interest from a large number of residents in receiving hands-on training with bedside echocardiography, </a:t>
            </a:r>
            <a:r>
              <a:rPr lang="en-US" sz="2000" dirty="0">
                <a:solidFill>
                  <a:srgbClr val="1482A5"/>
                </a:solidFill>
                <a:latin typeface="+mn-ea"/>
                <a:cs typeface="Arial" panose="020B0604020202020204" pitchFamily="34" charset="0"/>
              </a:rPr>
              <a:t>w</a:t>
            </a:r>
            <a:r>
              <a:rPr lang="en-US" sz="2000" b="0" i="0" u="none" strike="noStrike" dirty="0">
                <a:solidFill>
                  <a:srgbClr val="1482A5"/>
                </a:solidFill>
                <a:effectLst/>
                <a:latin typeface="+mn-ea"/>
                <a:cs typeface="Arial" panose="020B0604020202020204" pitchFamily="34" charset="0"/>
              </a:rPr>
              <a:t>e aim to expand this quality improvement project next year to include hands-on teaching sessions to analyze the benefit of these practical sessions, in addition to re-test knowledge retention at 6 &amp; 12 month intervals.</a:t>
            </a:r>
            <a:r>
              <a:rPr lang="en-US" sz="2000" b="0" i="0" u="none" strike="noStrike" dirty="0">
                <a:solidFill>
                  <a:srgbClr val="000000"/>
                </a:solidFill>
                <a:effectLst/>
                <a:latin typeface="+mn-ea"/>
                <a:cs typeface="Arial" panose="020B0604020202020204" pitchFamily="34" charset="0"/>
              </a:rPr>
              <a:t>​</a:t>
            </a:r>
          </a:p>
          <a:p>
            <a:pPr algn="l" rtl="0" fontAlgn="base"/>
            <a:endParaRPr lang="en-US" sz="2000" b="0" i="0" u="none" strike="noStrike" dirty="0">
              <a:solidFill>
                <a:srgbClr val="000000"/>
              </a:solidFill>
              <a:effectLst/>
              <a:latin typeface="+mn-ea"/>
              <a:cs typeface="Arial" panose="020B0604020202020204" pitchFamily="34" charset="0"/>
            </a:endParaRPr>
          </a:p>
          <a:p>
            <a:pPr algn="l" rtl="0" fontAlgn="base"/>
            <a:r>
              <a:rPr lang="en-US" sz="2000" b="0" i="0" u="none" strike="noStrike" dirty="0">
                <a:solidFill>
                  <a:srgbClr val="1482A5"/>
                </a:solidFill>
                <a:effectLst/>
                <a:latin typeface="+mn-ea"/>
                <a:cs typeface="Arial" panose="020B0604020202020204" pitchFamily="34" charset="0"/>
              </a:rPr>
              <a:t>We hope that this future sim-lab experience would lay down the grounds for starting an official POCUS curriculum in our internal medicine residency program. </a:t>
            </a:r>
            <a:r>
              <a:rPr lang="en-US" sz="2000" b="0" i="0" u="none" strike="noStrike" dirty="0">
                <a:solidFill>
                  <a:srgbClr val="000000"/>
                </a:solidFill>
                <a:effectLst/>
                <a:latin typeface="+mn-ea"/>
                <a:cs typeface="Arial" panose="020B0604020202020204" pitchFamily="34" charset="0"/>
              </a:rPr>
              <a:t>​</a:t>
            </a:r>
          </a:p>
        </p:txBody>
      </p:sp>
      <p:sp>
        <p:nvSpPr>
          <p:cNvPr id="61" name="TextBox 60">
            <a:extLst>
              <a:ext uri="{FF2B5EF4-FFF2-40B4-BE49-F238E27FC236}">
                <a16:creationId xmlns:a16="http://schemas.microsoft.com/office/drawing/2014/main" id="{A6E6C31F-098B-45F7-BEE5-8A51FA70D59F}"/>
              </a:ext>
            </a:extLst>
          </p:cNvPr>
          <p:cNvSpPr txBox="1"/>
          <p:nvPr/>
        </p:nvSpPr>
        <p:spPr>
          <a:xfrm>
            <a:off x="23250384" y="14621070"/>
            <a:ext cx="7192297" cy="523220"/>
          </a:xfrm>
          <a:prstGeom prst="rect">
            <a:avLst/>
          </a:prstGeom>
          <a:noFill/>
        </p:spPr>
        <p:txBody>
          <a:bodyPr wrap="square" rtlCol="0">
            <a:spAutoFit/>
          </a:bodyPr>
          <a:lstStyle>
            <a:defPPr>
              <a:defRPr kern="1200"/>
            </a:defPPr>
          </a:lstStyle>
          <a:p>
            <a:r>
              <a:rPr lang="en-US" sz="2800" dirty="0">
                <a:solidFill>
                  <a:srgbClr val="235078"/>
                </a:solidFill>
                <a:latin typeface="+mj-ea"/>
                <a:ea typeface="+mj-ea"/>
              </a:rPr>
              <a:t>Future Considerations</a:t>
            </a:r>
          </a:p>
        </p:txBody>
      </p:sp>
      <p:sp>
        <p:nvSpPr>
          <p:cNvPr id="62" name="TextBox 61">
            <a:extLst>
              <a:ext uri="{FF2B5EF4-FFF2-40B4-BE49-F238E27FC236}">
                <a16:creationId xmlns:a16="http://schemas.microsoft.com/office/drawing/2014/main" id="{A067F8A1-EE95-4354-8E2F-952A6BBDBFFC}"/>
              </a:ext>
            </a:extLst>
          </p:cNvPr>
          <p:cNvSpPr txBox="1"/>
          <p:nvPr/>
        </p:nvSpPr>
        <p:spPr>
          <a:xfrm>
            <a:off x="537995" y="11470601"/>
            <a:ext cx="6897050" cy="9941183"/>
          </a:xfrm>
          <a:prstGeom prst="rect">
            <a:avLst/>
          </a:prstGeom>
          <a:noFill/>
        </p:spPr>
        <p:txBody>
          <a:bodyPr wrap="square" rtlCol="0">
            <a:spAutoFit/>
          </a:bodyPr>
          <a:lstStyle>
            <a:defPPr>
              <a:defRPr kern="1200"/>
            </a:defPPr>
          </a:lstStyle>
          <a:p>
            <a:r>
              <a:rPr lang="en-US" sz="2000" dirty="0">
                <a:solidFill>
                  <a:srgbClr val="1482A5"/>
                </a:solidFill>
                <a:latin typeface="+mn-ea"/>
              </a:rPr>
              <a:t>The QI project was implemented in 6 phases:</a:t>
            </a:r>
          </a:p>
          <a:p>
            <a:endParaRPr lang="en-US" sz="2000" dirty="0">
              <a:solidFill>
                <a:srgbClr val="1482A5"/>
              </a:solidFill>
              <a:latin typeface="+mn-ea"/>
            </a:endParaRPr>
          </a:p>
          <a:p>
            <a:pPr marL="285750" indent="-285750">
              <a:buFont typeface="Arial" panose="020B0604020202020204" pitchFamily="34" charset="0"/>
              <a:buChar char="•"/>
            </a:pPr>
            <a:r>
              <a:rPr lang="en-US" sz="2000" dirty="0">
                <a:solidFill>
                  <a:srgbClr val="1482A5"/>
                </a:solidFill>
                <a:latin typeface="+mn-ea"/>
              </a:rPr>
              <a:t>Phase 1: Internal Medicine residents were surveyed regarding bedside echocardiography experience, current use, interest in attending educational sessions, plans to utilize POCUS in future practice and confidence in obtaining and interpreting echocardiography imaging.</a:t>
            </a:r>
            <a:br>
              <a:rPr lang="en-US" sz="2000" dirty="0">
                <a:solidFill>
                  <a:srgbClr val="1482A5"/>
                </a:solidFill>
                <a:latin typeface="+mn-ea"/>
              </a:rPr>
            </a:br>
            <a:endParaRPr lang="en-US" sz="2000" dirty="0">
              <a:solidFill>
                <a:srgbClr val="1482A5"/>
              </a:solidFill>
              <a:latin typeface="+mn-ea"/>
            </a:endParaRPr>
          </a:p>
          <a:p>
            <a:pPr marL="285750" indent="-285750">
              <a:buFont typeface="Arial" panose="020B0604020202020204" pitchFamily="34" charset="0"/>
              <a:buChar char="•"/>
            </a:pPr>
            <a:r>
              <a:rPr lang="en-US" sz="2000" dirty="0">
                <a:solidFill>
                  <a:srgbClr val="1482A5"/>
                </a:solidFill>
                <a:latin typeface="+mn-ea"/>
              </a:rPr>
              <a:t>Phase 2: The residents were asked to take a knowledge assessment exam where they were expected to answer questions relating to correct use of echocardiography, ability to produce and identify common cardiac windows, identifying cardiac structures and ability to identify different abnormal/diseased findings on imaging.</a:t>
            </a:r>
            <a:br>
              <a:rPr lang="en-US" sz="2000" dirty="0">
                <a:solidFill>
                  <a:srgbClr val="1482A5"/>
                </a:solidFill>
                <a:latin typeface="+mn-ea"/>
              </a:rPr>
            </a:br>
            <a:endParaRPr lang="en-US" sz="2000" dirty="0">
              <a:solidFill>
                <a:srgbClr val="1482A5"/>
              </a:solidFill>
              <a:latin typeface="+mn-ea"/>
            </a:endParaRPr>
          </a:p>
          <a:p>
            <a:pPr marL="285750" indent="-285750">
              <a:buFont typeface="Arial" panose="020B0604020202020204" pitchFamily="34" charset="0"/>
              <a:buChar char="•"/>
            </a:pPr>
            <a:r>
              <a:rPr lang="en-US" sz="2000" dirty="0">
                <a:solidFill>
                  <a:srgbClr val="1482A5"/>
                </a:solidFill>
                <a:latin typeface="+mn-ea"/>
              </a:rPr>
              <a:t>Phase 3: The residents attended an educational session that demonstrated the correct use of bedside echocardiography.</a:t>
            </a:r>
            <a:br>
              <a:rPr lang="en-US" sz="2000" dirty="0">
                <a:solidFill>
                  <a:srgbClr val="1482A5"/>
                </a:solidFill>
                <a:latin typeface="+mn-ea"/>
              </a:rPr>
            </a:br>
            <a:endParaRPr lang="en-US" sz="2000" dirty="0">
              <a:solidFill>
                <a:srgbClr val="1482A5"/>
              </a:solidFill>
              <a:latin typeface="+mn-ea"/>
            </a:endParaRPr>
          </a:p>
          <a:p>
            <a:pPr marL="285750" indent="-285750">
              <a:buFont typeface="Arial" panose="020B0604020202020204" pitchFamily="34" charset="0"/>
              <a:buChar char="•"/>
            </a:pPr>
            <a:r>
              <a:rPr lang="en-US" sz="2000" dirty="0">
                <a:solidFill>
                  <a:srgbClr val="1482A5"/>
                </a:solidFill>
                <a:latin typeface="+mn-ea"/>
              </a:rPr>
              <a:t>Phase 4: The residents then took a knowledge assessment exam after attending the educational session.</a:t>
            </a:r>
            <a:br>
              <a:rPr lang="en-US" sz="2000" dirty="0">
                <a:solidFill>
                  <a:srgbClr val="1482A5"/>
                </a:solidFill>
                <a:latin typeface="+mn-ea"/>
              </a:rPr>
            </a:br>
            <a:endParaRPr lang="en-US" sz="2000" dirty="0">
              <a:solidFill>
                <a:srgbClr val="1482A5"/>
              </a:solidFill>
              <a:latin typeface="+mn-ea"/>
            </a:endParaRPr>
          </a:p>
          <a:p>
            <a:pPr marL="285750" indent="-285750">
              <a:buFont typeface="Arial" panose="020B0604020202020204" pitchFamily="34" charset="0"/>
              <a:buChar char="•"/>
            </a:pPr>
            <a:r>
              <a:rPr lang="en-US" sz="2000" dirty="0">
                <a:solidFill>
                  <a:srgbClr val="1482A5"/>
                </a:solidFill>
                <a:latin typeface="+mn-ea"/>
              </a:rPr>
              <a:t>Phase 5: The residents were surveyed for their feedback on the usefulness of this educational session and their interest in attending hands-on sessions to further supplement their practical experience with POCUS.</a:t>
            </a:r>
            <a:br>
              <a:rPr lang="en-US" sz="2000" dirty="0">
                <a:solidFill>
                  <a:srgbClr val="1482A5"/>
                </a:solidFill>
                <a:latin typeface="+mn-ea"/>
              </a:rPr>
            </a:br>
            <a:endParaRPr lang="en-US" sz="2000" dirty="0">
              <a:solidFill>
                <a:srgbClr val="1482A5"/>
              </a:solidFill>
              <a:latin typeface="+mn-ea"/>
            </a:endParaRPr>
          </a:p>
          <a:p>
            <a:pPr marL="285750" indent="-285750">
              <a:buFont typeface="Arial" panose="020B0604020202020204" pitchFamily="34" charset="0"/>
              <a:buChar char="•"/>
            </a:pPr>
            <a:r>
              <a:rPr lang="en-US" sz="2000" dirty="0">
                <a:solidFill>
                  <a:srgbClr val="1482A5"/>
                </a:solidFill>
                <a:latin typeface="+mn-ea"/>
              </a:rPr>
              <a:t>Phase 6: Results from surveys and exams before and after the educational session were collected and compared to assess for improvement in resident knowledge.</a:t>
            </a:r>
          </a:p>
        </p:txBody>
      </p:sp>
      <p:sp>
        <p:nvSpPr>
          <p:cNvPr id="63" name="TextBox 62">
            <a:extLst>
              <a:ext uri="{FF2B5EF4-FFF2-40B4-BE49-F238E27FC236}">
                <a16:creationId xmlns:a16="http://schemas.microsoft.com/office/drawing/2014/main" id="{92D5F59B-F8CA-463C-871F-D1042309DE00}"/>
              </a:ext>
            </a:extLst>
          </p:cNvPr>
          <p:cNvSpPr txBox="1"/>
          <p:nvPr/>
        </p:nvSpPr>
        <p:spPr>
          <a:xfrm>
            <a:off x="696759" y="10947381"/>
            <a:ext cx="7192297" cy="523220"/>
          </a:xfrm>
          <a:prstGeom prst="rect">
            <a:avLst/>
          </a:prstGeom>
          <a:noFill/>
        </p:spPr>
        <p:txBody>
          <a:bodyPr wrap="square" rtlCol="0">
            <a:spAutoFit/>
          </a:bodyPr>
          <a:lstStyle>
            <a:defPPr>
              <a:defRPr kern="1200"/>
            </a:defPPr>
          </a:lstStyle>
          <a:p>
            <a:r>
              <a:rPr lang="en-US" sz="2800" dirty="0">
                <a:solidFill>
                  <a:srgbClr val="235078"/>
                </a:solidFill>
                <a:latin typeface="+mj-ea"/>
                <a:ea typeface="+mj-ea"/>
              </a:rPr>
              <a:t>Methodology</a:t>
            </a:r>
          </a:p>
        </p:txBody>
      </p:sp>
      <p:sp>
        <p:nvSpPr>
          <p:cNvPr id="64" name="TextBox 63">
            <a:extLst>
              <a:ext uri="{FF2B5EF4-FFF2-40B4-BE49-F238E27FC236}">
                <a16:creationId xmlns:a16="http://schemas.microsoft.com/office/drawing/2014/main" id="{499918C8-D8D3-4947-B7FD-9341EAE5F7F2}"/>
              </a:ext>
            </a:extLst>
          </p:cNvPr>
          <p:cNvSpPr txBox="1"/>
          <p:nvPr/>
        </p:nvSpPr>
        <p:spPr>
          <a:xfrm>
            <a:off x="8336212" y="5587370"/>
            <a:ext cx="14411444" cy="16096714"/>
          </a:xfrm>
          <a:prstGeom prst="rect">
            <a:avLst/>
          </a:prstGeom>
          <a:noFill/>
        </p:spPr>
        <p:txBody>
          <a:bodyPr wrap="square" rtlCol="0">
            <a:spAutoFit/>
          </a:bodyPr>
          <a:lstStyle>
            <a:defPPr>
              <a:defRPr kern="1200"/>
            </a:defPPr>
          </a:lstStyle>
          <a:p>
            <a:r>
              <a:rPr lang="en-US" sz="2000" dirty="0">
                <a:solidFill>
                  <a:srgbClr val="00688F"/>
                </a:solidFill>
                <a:latin typeface="+mn-ea"/>
                <a:cs typeface="Open Sans" panose="020B0606030504020204" pitchFamily="34" charset="0"/>
              </a:rPr>
              <a:t>A total of 30 internal medicine residents from all classes (PGY1-3) at Saint Agnes Medical Center (Fresno) participated in this QI project. (n=30)</a:t>
            </a:r>
          </a:p>
          <a:p>
            <a:endParaRPr lang="en-US" sz="2000" dirty="0">
              <a:solidFill>
                <a:srgbClr val="00688F"/>
              </a:solidFill>
              <a:latin typeface="+mn-ea"/>
              <a:cs typeface="Open Sans" panose="020B0606030504020204" pitchFamily="34" charset="0"/>
            </a:endParaRPr>
          </a:p>
          <a:p>
            <a:r>
              <a:rPr lang="en-US" sz="2000" b="1" u="sng" dirty="0">
                <a:solidFill>
                  <a:srgbClr val="00688F"/>
                </a:solidFill>
                <a:latin typeface="+mn-ea"/>
                <a:cs typeface="Open Sans" panose="020B0606030504020204" pitchFamily="34" charset="0"/>
              </a:rPr>
              <a:t>Initial Survey:</a:t>
            </a:r>
          </a:p>
          <a:p>
            <a:pPr marL="285750" indent="-285750">
              <a:buFont typeface="Arial" panose="020B0604020202020204" pitchFamily="34" charset="0"/>
              <a:buChar char="•"/>
            </a:pPr>
            <a:r>
              <a:rPr lang="en-US" sz="2000" dirty="0">
                <a:solidFill>
                  <a:srgbClr val="00688F"/>
                </a:solidFill>
                <a:latin typeface="+mn-ea"/>
                <a:cs typeface="Open Sans" panose="020B0606030504020204" pitchFamily="34" charset="0"/>
              </a:rPr>
              <a:t>29 out of 30 residents (97%) reported that they have interest in attending educational sessions on bedside echocardiography utilization, while 21 residents (70%) said that they plan to incorporate POCUS in their future clinical practice.</a:t>
            </a:r>
            <a:br>
              <a:rPr lang="en-US" sz="2000" dirty="0">
                <a:solidFill>
                  <a:srgbClr val="00688F"/>
                </a:solidFill>
                <a:latin typeface="+mn-ea"/>
                <a:cs typeface="Open Sans" panose="020B0606030504020204" pitchFamily="34" charset="0"/>
              </a:rPr>
            </a:br>
            <a:endParaRPr lang="en-US" sz="2000" dirty="0">
              <a:solidFill>
                <a:srgbClr val="00688F"/>
              </a:solidFill>
              <a:latin typeface="+mn-ea"/>
              <a:cs typeface="Open Sans" panose="020B0606030504020204" pitchFamily="34" charset="0"/>
            </a:endParaRPr>
          </a:p>
          <a:p>
            <a:pPr marL="285750" indent="-285750">
              <a:buFont typeface="Arial" panose="020B0604020202020204" pitchFamily="34" charset="0"/>
              <a:buChar char="•"/>
            </a:pPr>
            <a:r>
              <a:rPr lang="en-US" sz="2000" dirty="0">
                <a:solidFill>
                  <a:srgbClr val="00688F"/>
                </a:solidFill>
                <a:latin typeface="+mn-ea"/>
                <a:cs typeface="Open Sans" panose="020B0606030504020204" pitchFamily="34" charset="0"/>
              </a:rPr>
              <a:t>Only 15 residents (50%) reported having previous experience with using bedside echocardiography.</a:t>
            </a:r>
          </a:p>
          <a:p>
            <a:pPr marL="285750" indent="-285750">
              <a:buFont typeface="Arial" panose="020B0604020202020204" pitchFamily="34" charset="0"/>
              <a:buChar char="•"/>
            </a:pPr>
            <a:endParaRPr lang="en-US" sz="2000" dirty="0">
              <a:solidFill>
                <a:srgbClr val="00688F"/>
              </a:solidFill>
              <a:latin typeface="+mn-ea"/>
              <a:cs typeface="Open Sans" panose="020B0606030504020204" pitchFamily="34" charset="0"/>
            </a:endParaRPr>
          </a:p>
          <a:p>
            <a:pPr marL="285750" indent="-285750">
              <a:buFont typeface="Arial" panose="020B0604020202020204" pitchFamily="34" charset="0"/>
              <a:buChar char="•"/>
            </a:pPr>
            <a:r>
              <a:rPr lang="en-US" sz="2000" dirty="0">
                <a:solidFill>
                  <a:srgbClr val="00688F"/>
                </a:solidFill>
                <a:latin typeface="+mn-ea"/>
                <a:cs typeface="Open Sans" panose="020B0606030504020204" pitchFamily="34" charset="0"/>
              </a:rPr>
              <a:t>17 residents (57%) said that they have difficulty producing different cardiac windows, and an overwhelming 28 residents (93%) reported that they have difficulty identifying disease processes on echocardiography imaging.</a:t>
            </a:r>
          </a:p>
          <a:p>
            <a:pPr marL="285750" indent="-285750">
              <a:buFont typeface="Arial" panose="020B0604020202020204" pitchFamily="34" charset="0"/>
              <a:buChar char="•"/>
            </a:pPr>
            <a:endParaRPr lang="en-US" sz="2000" dirty="0">
              <a:solidFill>
                <a:srgbClr val="00688F"/>
              </a:solidFill>
              <a:latin typeface="+mn-ea"/>
              <a:cs typeface="Open Sans" panose="020B0606030504020204" pitchFamily="34" charset="0"/>
            </a:endParaRPr>
          </a:p>
          <a:p>
            <a:r>
              <a:rPr lang="en-US" sz="2000" b="1" u="sng" dirty="0">
                <a:solidFill>
                  <a:srgbClr val="00688F"/>
                </a:solidFill>
                <a:latin typeface="+mn-ea"/>
                <a:cs typeface="Open Sans" panose="020B0606030504020204" pitchFamily="34" charset="0"/>
              </a:rPr>
              <a:t>Pre Vs. Post Educational Session:</a:t>
            </a:r>
          </a:p>
          <a:p>
            <a:endParaRPr lang="en-US" sz="2000" b="1" u="sng" dirty="0">
              <a:solidFill>
                <a:srgbClr val="00688F"/>
              </a:solidFill>
              <a:latin typeface="+mn-ea"/>
              <a:cs typeface="Open Sans" panose="020B0606030504020204" pitchFamily="34" charset="0"/>
            </a:endParaRPr>
          </a:p>
          <a:p>
            <a:r>
              <a:rPr lang="en-US" sz="2000" b="0" i="0" u="none" strike="noStrike" dirty="0">
                <a:solidFill>
                  <a:srgbClr val="00688F"/>
                </a:solidFill>
                <a:effectLst/>
                <a:latin typeface="+mn-ea"/>
              </a:rPr>
              <a:t>Figure 1: Residents' ability to identify cardiac windows (Pre vs. Post Session)​</a:t>
            </a: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endParaRPr lang="en-US" sz="2000" dirty="0">
              <a:solidFill>
                <a:srgbClr val="00688F"/>
              </a:solidFill>
              <a:latin typeface="+mn-ea"/>
            </a:endParaRPr>
          </a:p>
          <a:p>
            <a:r>
              <a:rPr lang="en-US" sz="2000" b="0" i="0" u="none" strike="noStrike" dirty="0">
                <a:solidFill>
                  <a:srgbClr val="00688F"/>
                </a:solidFill>
                <a:effectLst/>
                <a:latin typeface="+mn-ea"/>
              </a:rPr>
              <a:t>Figure 2: Residents' ability to identify probe placement, cardiac structures, and pathology  (Pre vs. Post Session)​</a:t>
            </a:r>
          </a:p>
          <a:p>
            <a:endParaRPr lang="en-US" sz="2000" b="1"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endParaRPr lang="en-US" sz="2000" dirty="0">
              <a:solidFill>
                <a:srgbClr val="00688F"/>
              </a:solidFill>
              <a:latin typeface="+mn-ea"/>
              <a:cs typeface="Open Sans" panose="020B0606030504020204" pitchFamily="34" charset="0"/>
            </a:endParaRPr>
          </a:p>
          <a:p>
            <a:br>
              <a:rPr lang="en-US" sz="2000" dirty="0">
                <a:solidFill>
                  <a:srgbClr val="00688F"/>
                </a:solidFill>
                <a:latin typeface="+mn-ea"/>
                <a:cs typeface="Open Sans" panose="020B0606030504020204" pitchFamily="34" charset="0"/>
              </a:rPr>
            </a:br>
            <a:r>
              <a:rPr lang="en-US" sz="2000" b="1" u="sng" dirty="0">
                <a:solidFill>
                  <a:srgbClr val="00688F"/>
                </a:solidFill>
                <a:latin typeface="+mn-ea"/>
                <a:cs typeface="Open Sans" panose="020B0606030504020204" pitchFamily="34" charset="0"/>
              </a:rPr>
              <a:t>Post activity survey:</a:t>
            </a:r>
          </a:p>
          <a:p>
            <a:pPr marL="285750" indent="-285750">
              <a:buFont typeface="Arial" panose="020B0604020202020204" pitchFamily="34" charset="0"/>
              <a:buChar char="•"/>
            </a:pPr>
            <a:r>
              <a:rPr lang="en-US" sz="2000" dirty="0">
                <a:solidFill>
                  <a:srgbClr val="00688F"/>
                </a:solidFill>
                <a:latin typeface="+mn-ea"/>
                <a:cs typeface="Open Sans" panose="020B0606030504020204" pitchFamily="34" charset="0"/>
              </a:rPr>
              <a:t>25 residents (83%) reported that this educational session improved their knowledge, while 2 residents (7%) reported that this educational session was not helpful, and 3 residents (10%) did not provide an answer to this question.</a:t>
            </a:r>
          </a:p>
          <a:p>
            <a:pPr marL="285750" indent="-285750">
              <a:buFont typeface="Arial" panose="020B0604020202020204" pitchFamily="34" charset="0"/>
              <a:buChar char="•"/>
            </a:pPr>
            <a:endParaRPr lang="en-US" sz="2000" b="1" u="sng" dirty="0">
              <a:solidFill>
                <a:srgbClr val="00688F"/>
              </a:solidFill>
              <a:latin typeface="+mn-ea"/>
              <a:cs typeface="Open Sans" panose="020B0606030504020204" pitchFamily="34" charset="0"/>
            </a:endParaRPr>
          </a:p>
          <a:p>
            <a:pPr marL="285750" indent="-285750">
              <a:buFont typeface="Arial" panose="020B0604020202020204" pitchFamily="34" charset="0"/>
              <a:buChar char="•"/>
            </a:pPr>
            <a:r>
              <a:rPr lang="en-US" sz="2000" dirty="0">
                <a:solidFill>
                  <a:srgbClr val="00688F"/>
                </a:solidFill>
                <a:latin typeface="+mn-ea"/>
                <a:cs typeface="Open Sans" panose="020B0606030504020204" pitchFamily="34" charset="0"/>
              </a:rPr>
              <a:t>27 residents (90%) conveyed interest in attending hands-on sessions to receive beside echocardiography training sessions, while 3 residents (10%) did not provide an answer to this question.</a:t>
            </a:r>
          </a:p>
        </p:txBody>
      </p:sp>
      <p:sp>
        <p:nvSpPr>
          <p:cNvPr id="65" name="TextBox 64">
            <a:extLst>
              <a:ext uri="{FF2B5EF4-FFF2-40B4-BE49-F238E27FC236}">
                <a16:creationId xmlns:a16="http://schemas.microsoft.com/office/drawing/2014/main" id="{68744D3E-CEF9-4748-9719-25AAABF27BDD}"/>
              </a:ext>
            </a:extLst>
          </p:cNvPr>
          <p:cNvSpPr txBox="1"/>
          <p:nvPr/>
        </p:nvSpPr>
        <p:spPr>
          <a:xfrm>
            <a:off x="8306976" y="5039909"/>
            <a:ext cx="7192297" cy="523220"/>
          </a:xfrm>
          <a:prstGeom prst="rect">
            <a:avLst/>
          </a:prstGeom>
          <a:noFill/>
        </p:spPr>
        <p:txBody>
          <a:bodyPr wrap="square" rtlCol="0">
            <a:spAutoFit/>
          </a:bodyPr>
          <a:lstStyle>
            <a:defPPr>
              <a:defRPr kern="1200"/>
            </a:defPPr>
          </a:lstStyle>
          <a:p>
            <a:r>
              <a:rPr lang="en-US" sz="2800" dirty="0">
                <a:solidFill>
                  <a:srgbClr val="235078"/>
                </a:solidFill>
                <a:latin typeface="+mj-ea"/>
                <a:ea typeface="+mj-ea"/>
              </a:rPr>
              <a:t>Results</a:t>
            </a:r>
          </a:p>
        </p:txBody>
      </p:sp>
      <p:pic>
        <p:nvPicPr>
          <p:cNvPr id="4" name="Picture 3">
            <a:extLst>
              <a:ext uri="{FF2B5EF4-FFF2-40B4-BE49-F238E27FC236}">
                <a16:creationId xmlns:a16="http://schemas.microsoft.com/office/drawing/2014/main" id="{BB1FB2F4-7095-EBDD-20CC-44536794CF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9947" y="634618"/>
            <a:ext cx="2436409" cy="2436409"/>
          </a:xfrm>
          <a:prstGeom prst="rect">
            <a:avLst/>
          </a:prstGeom>
        </p:spPr>
      </p:pic>
      <p:pic>
        <p:nvPicPr>
          <p:cNvPr id="1026" name="Picture 2">
            <a:extLst>
              <a:ext uri="{FF2B5EF4-FFF2-40B4-BE49-F238E27FC236}">
                <a16:creationId xmlns:a16="http://schemas.microsoft.com/office/drawing/2014/main" id="{B21F76EF-45B9-EF00-F7E3-306CF7D5F3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8873" y="10474270"/>
            <a:ext cx="8026119" cy="40130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206F356-749C-9E13-7DD9-07FE6CE1AC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90090" y="15022726"/>
            <a:ext cx="10503687" cy="433164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1028" descr="46Q.png"/>
          <p:cNvPicPr>
            <a:picLocks noChangeAspect="1"/>
          </p:cNvPicPr>
          <p:nvPr/>
        </p:nvPicPr>
        <p:blipFill>
          <a:blip r:embed="rId6"/>
          <a:stretch>
            <a:fillRect/>
          </a:stretch>
        </p:blipFill>
        <p:spPr>
          <a:xfrm>
            <a:off x="29279088" y="576072"/>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suadingsapphire|08-2022"/>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3780</TotalTime>
  <Words>1124</Words>
  <Application>Microsoft Macintosh PowerPoint</Application>
  <PresentationFormat>Custom</PresentationFormat>
  <Paragraphs>78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Montserrat Light</vt:lpstr>
      <vt:lpstr>Arial</vt:lpstr>
      <vt:lpstr>Libre Baskerville</vt:lpstr>
      <vt:lpstr>Times New Roman</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Phil Kim</cp:lastModifiedBy>
  <cp:revision>309</cp:revision>
  <cp:lastPrinted>2006-11-15T16:04:57Z</cp:lastPrinted>
  <dcterms:modified xsi:type="dcterms:W3CDTF">2025-04-27T02:32:46Z</dcterms:modified>
  <cp:category>templates for scientific poster</cp:category>
</cp:coreProperties>
</file>