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6858000" cy="9144000"/>
  <p:embeddedFontLst>
    <p:embeddedFont>
      <p:font typeface="Helvetica Neue" panose="02000503000000020004" pitchFamily="2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6912">
          <p15:clr>
            <a:srgbClr val="A4A3A4"/>
          </p15:clr>
        </p15:guide>
        <p15:guide id="2" pos="10368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1" roundtripDataSignature="AMtx7mi4Q+ZGagVCoFeZBtkgl6cH2S/+T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>
        <p:scale>
          <a:sx n="42" d="100"/>
          <a:sy n="42" d="100"/>
        </p:scale>
        <p:origin x="968" y="152"/>
      </p:cViewPr>
      <p:guideLst>
        <p:guide orient="horz" pos="6912"/>
        <p:guide pos="103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customschemas.google.com/relationships/presentationmetadata" Target="metadata"/><Relationship Id="rId5" Type="http://schemas.openxmlformats.org/officeDocument/2006/relationships/font" Target="fonts/font2.fntdata"/><Relationship Id="rId15" Type="http://schemas.openxmlformats.org/officeDocument/2006/relationships/tableStyles" Target="tableStyles.xml"/><Relationship Id="rId4" Type="http://schemas.openxmlformats.org/officeDocument/2006/relationships/font" Target="fonts/font1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14425" y="1143000"/>
            <a:ext cx="462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468880" y="3591562"/>
            <a:ext cx="27980640" cy="764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alibri"/>
              <a:buNone/>
              <a:defRPr sz="19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4114800" y="11526522"/>
            <a:ext cx="24688800" cy="5298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1pPr>
            <a:lvl2pPr lvl="1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400"/>
            </a:lvl2pPr>
            <a:lvl3pPr lvl="2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760"/>
            </a:lvl3pPr>
            <a:lvl4pPr lvl="3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/>
            </a:lvl4pPr>
            <a:lvl5pPr lvl="4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/>
            </a:lvl5pPr>
            <a:lvl6pPr lvl="5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/>
            </a:lvl6pPr>
            <a:lvl7pPr lvl="6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/>
            </a:lvl7pPr>
            <a:lvl8pPr lvl="7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/>
            </a:lvl8pPr>
            <a:lvl9pPr lvl="8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263140" y="5842000"/>
            <a:ext cx="28392120" cy="13924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2245997" y="5471167"/>
            <a:ext cx="28392120" cy="9128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alibri"/>
              <a:buNone/>
              <a:defRPr sz="19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2245997" y="14686287"/>
            <a:ext cx="28392120" cy="4800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6400"/>
              <a:buNone/>
              <a:defRPr sz="64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5760"/>
              <a:buNone/>
              <a:defRPr sz="576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512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512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512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512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512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512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2263140" y="5842000"/>
            <a:ext cx="13990320" cy="13924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16664940" y="5842000"/>
            <a:ext cx="13990320" cy="13924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2267428" y="1168405"/>
            <a:ext cx="28392120" cy="4241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2267431" y="5379722"/>
            <a:ext cx="13926024" cy="2636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1pPr>
            <a:lvl2pPr marL="914400" lvl="1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400" b="1"/>
            </a:lvl2pPr>
            <a:lvl3pPr marL="1371600" lvl="2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760" b="1"/>
            </a:lvl3pPr>
            <a:lvl4pPr marL="1828800" lvl="3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 b="1"/>
            </a:lvl4pPr>
            <a:lvl5pPr marL="2286000" lvl="4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 b="1"/>
            </a:lvl5pPr>
            <a:lvl6pPr marL="2743200" lvl="5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 b="1"/>
            </a:lvl6pPr>
            <a:lvl7pPr marL="3200400" lvl="6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 b="1"/>
            </a:lvl7pPr>
            <a:lvl8pPr marL="3657600" lvl="7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 b="1"/>
            </a:lvl8pPr>
            <a:lvl9pPr marL="4114800" lvl="8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2267431" y="8016240"/>
            <a:ext cx="13926024" cy="117906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16664942" y="5379722"/>
            <a:ext cx="13994608" cy="2636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1pPr>
            <a:lvl2pPr marL="914400" lvl="1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400" b="1"/>
            </a:lvl2pPr>
            <a:lvl3pPr marL="1371600" lvl="2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760" b="1"/>
            </a:lvl3pPr>
            <a:lvl4pPr marL="1828800" lvl="3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 b="1"/>
            </a:lvl4pPr>
            <a:lvl5pPr marL="2286000" lvl="4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 b="1"/>
            </a:lvl5pPr>
            <a:lvl6pPr marL="2743200" lvl="5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 b="1"/>
            </a:lvl6pPr>
            <a:lvl7pPr marL="3200400" lvl="6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 b="1"/>
            </a:lvl7pPr>
            <a:lvl8pPr marL="3657600" lvl="7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 b="1"/>
            </a:lvl8pPr>
            <a:lvl9pPr marL="4114800" lvl="8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16664942" y="8016240"/>
            <a:ext cx="13994608" cy="117906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240"/>
              <a:buFont typeface="Calibri"/>
              <a:buNone/>
              <a:defRPr sz="1024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3994608" y="3159765"/>
            <a:ext cx="16664940" cy="155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878839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0240"/>
              <a:buChar char="•"/>
              <a:defRPr sz="10240"/>
            </a:lvl1pPr>
            <a:lvl2pPr marL="914400" lvl="1" indent="-79756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960"/>
              <a:buChar char="•"/>
              <a:defRPr sz="8960"/>
            </a:lvl2pPr>
            <a:lvl3pPr marL="1371600" lvl="2" indent="-71628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Char char="•"/>
              <a:defRPr sz="7680"/>
            </a:lvl3pPr>
            <a:lvl4pPr marL="1828800" lvl="3" indent="-635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400"/>
            </a:lvl4pPr>
            <a:lvl5pPr marL="2286000" lvl="4" indent="-635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400"/>
            </a:lvl5pPr>
            <a:lvl6pPr marL="2743200" lvl="5" indent="-635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400"/>
            </a:lvl6pPr>
            <a:lvl7pPr marL="3200400" lvl="6" indent="-635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400"/>
            </a:lvl7pPr>
            <a:lvl8pPr marL="3657600" lvl="7" indent="-635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400"/>
            </a:lvl8pPr>
            <a:lvl9pPr marL="4114800" lvl="8" indent="-635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400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2267428" y="6583680"/>
            <a:ext cx="10617041" cy="12197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/>
            </a:lvl1pPr>
            <a:lvl2pPr marL="914400" lvl="1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480"/>
              <a:buNone/>
              <a:defRPr sz="4480"/>
            </a:lvl2pPr>
            <a:lvl3pPr marL="1371600" lvl="2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3840"/>
              <a:buNone/>
              <a:defRPr sz="3840"/>
            </a:lvl3pPr>
            <a:lvl4pPr marL="1828800" lvl="3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4pPr>
            <a:lvl5pPr marL="2286000" lvl="4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5pPr>
            <a:lvl6pPr marL="2743200" lvl="5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6pPr>
            <a:lvl7pPr marL="3200400" lvl="6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7pPr>
            <a:lvl8pPr marL="3657600" lvl="7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8pPr>
            <a:lvl9pPr marL="4114800" lvl="8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240"/>
              <a:buFont typeface="Calibri"/>
              <a:buNone/>
              <a:defRPr sz="1024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13994608" y="3159765"/>
            <a:ext cx="16664940" cy="155956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2267428" y="6583680"/>
            <a:ext cx="10617041" cy="12197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5120"/>
            </a:lvl1pPr>
            <a:lvl2pPr marL="914400" lvl="1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480"/>
              <a:buNone/>
              <a:defRPr sz="4480"/>
            </a:lvl2pPr>
            <a:lvl3pPr marL="1371600" lvl="2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3840"/>
              <a:buNone/>
              <a:defRPr sz="3840"/>
            </a:lvl3pPr>
            <a:lvl4pPr marL="1828800" lvl="3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4pPr>
            <a:lvl5pPr marL="2286000" lvl="4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5pPr>
            <a:lvl6pPr marL="2743200" lvl="5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6pPr>
            <a:lvl7pPr marL="3200400" lvl="6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7pPr>
            <a:lvl8pPr marL="3657600" lvl="7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8pPr>
            <a:lvl9pPr marL="4114800" lvl="8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9497059" y="-1391919"/>
            <a:ext cx="13924282" cy="2839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7807306" y="6918326"/>
            <a:ext cx="18597882" cy="7098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405506" y="26036"/>
            <a:ext cx="18597882" cy="20882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80"/>
              <a:buFont typeface="Calibri"/>
              <a:buNone/>
              <a:defRPr sz="140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2263140" y="5842000"/>
            <a:ext cx="28392120" cy="13924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97560" algn="l" rtl="0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8960"/>
              <a:buFont typeface="Arial"/>
              <a:buChar char="•"/>
              <a:defRPr sz="8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71628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Font typeface="Arial"/>
              <a:buChar char="•"/>
              <a:defRPr sz="76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6350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Arial"/>
              <a:buChar char="•"/>
              <a:defRPr sz="6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594359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/>
          <p:cNvPicPr preferRelativeResize="0"/>
          <p:nvPr/>
        </p:nvPicPr>
        <p:blipFill rotWithShape="1">
          <a:blip r:embed="rId3">
            <a:alphaModFix amt="90000"/>
          </a:blip>
          <a:srcRect/>
          <a:stretch/>
        </p:blipFill>
        <p:spPr>
          <a:xfrm>
            <a:off x="-21519" y="-34091"/>
            <a:ext cx="32918399" cy="219796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pic>
      <p:sp>
        <p:nvSpPr>
          <p:cNvPr id="90" name="Google Shape;90;p1"/>
          <p:cNvSpPr/>
          <p:nvPr/>
        </p:nvSpPr>
        <p:spPr>
          <a:xfrm>
            <a:off x="737014" y="10991274"/>
            <a:ext cx="10598331" cy="1080481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 b="1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Guidelines/Goal</a:t>
            </a:r>
            <a:endParaRPr/>
          </a:p>
        </p:txBody>
      </p:sp>
      <p:sp>
        <p:nvSpPr>
          <p:cNvPr id="91" name="Google Shape;91;p1"/>
          <p:cNvSpPr/>
          <p:nvPr/>
        </p:nvSpPr>
        <p:spPr>
          <a:xfrm>
            <a:off x="737014" y="12192575"/>
            <a:ext cx="10598331" cy="9132539"/>
          </a:xfrm>
          <a:prstGeom prst="rect">
            <a:avLst/>
          </a:prstGeom>
          <a:solidFill>
            <a:schemeClr val="lt1">
              <a:alpha val="49803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i="0" u="none" strike="noStrike" cap="none" dirty="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CDC recommends PCV15 or PCV20 for adults who have never received a PCV and meet the following the criteria:</a:t>
            </a:r>
            <a:endParaRPr sz="340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i="0" u="none" strike="noStrike" cap="none" dirty="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- 65 years of age or older </a:t>
            </a:r>
            <a:endParaRPr sz="340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i="0" u="none" strike="noStrike" cap="none" dirty="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- 19-64 years of age with certain risk conditions</a:t>
            </a:r>
            <a:endParaRPr sz="340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sz="340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GB" sz="3400" i="0" u="none" strike="noStrike" cap="none" dirty="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CDC recommends PCV20 for adults 65 years of age or older and meet the following the criteria:</a:t>
            </a:r>
            <a:endParaRPr sz="340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i="0" u="none" strike="noStrike" cap="none" dirty="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- received PCV13 at any age </a:t>
            </a:r>
            <a:endParaRPr sz="340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i="0" u="none" strike="noStrike" cap="none" dirty="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 AND </a:t>
            </a:r>
            <a:endParaRPr sz="340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i="0" u="none" strike="noStrike" cap="none" dirty="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 received PPSV23 at or after 65 years of age</a:t>
            </a:r>
            <a:endParaRPr sz="340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sz="340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GB" sz="3400" i="0" u="none" strike="noStrike" cap="none" dirty="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If PCV15 was administered, it should be followed by a dose of PPSV23. </a:t>
            </a:r>
            <a:endParaRPr sz="340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00" dirty="0">
              <a:solidFill>
                <a:srgbClr val="0D0D0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b="1" i="0" u="none" strike="noStrike" dirty="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Goal: </a:t>
            </a:r>
            <a:r>
              <a:rPr lang="en-GB" sz="3400" i="0" u="none" strike="noStrike" dirty="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Increase PCV20 (Prevnar20) vaccine administration rates in the </a:t>
            </a:r>
            <a:r>
              <a:rPr lang="en-GB" sz="3400" i="0" u="none" strike="noStrike" dirty="0">
                <a:solidFill>
                  <a:srgbClr val="001D3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Saint Agnes Physician Residency Clinic</a:t>
            </a:r>
            <a:r>
              <a:rPr lang="en-GB" sz="3400" i="0" u="none" strike="noStrike" dirty="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amongst adults who meet the CDC recommended criteria.</a:t>
            </a:r>
            <a:endParaRPr sz="3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740229" y="4328161"/>
            <a:ext cx="10598331" cy="1080481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Introduction</a:t>
            </a:r>
            <a:endParaRPr/>
          </a:p>
        </p:txBody>
      </p:sp>
      <p:sp>
        <p:nvSpPr>
          <p:cNvPr id="93" name="Google Shape;93;p1"/>
          <p:cNvSpPr/>
          <p:nvPr/>
        </p:nvSpPr>
        <p:spPr>
          <a:xfrm>
            <a:off x="740229" y="5420024"/>
            <a:ext cx="10598331" cy="5371696"/>
          </a:xfrm>
          <a:prstGeom prst="rect">
            <a:avLst/>
          </a:prstGeom>
          <a:solidFill>
            <a:schemeClr val="lt1">
              <a:alpha val="49803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 i="0" u="none" strike="noStrik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 the general population, </a:t>
            </a:r>
            <a:r>
              <a:rPr lang="en-GB" sz="3200" i="1" u="none" strike="noStrik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Streptococcus pneumoniae</a:t>
            </a:r>
            <a:r>
              <a:rPr lang="en-GB" sz="3200" i="0" u="none" strike="noStrik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causes significant disease, including </a:t>
            </a:r>
            <a:r>
              <a:rPr lang="en-GB" sz="3200" i="0" u="none" strike="noStrik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bacteremia</a:t>
            </a:r>
            <a:r>
              <a:rPr lang="en-GB" sz="3200" i="0" u="none" strike="noStrik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meningitis, and pneumonia, and is responsible for approximately 4,000 deaths each year in the US.</a:t>
            </a:r>
            <a:endParaRPr sz="32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 i="0" u="none" strike="noStrik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Prevnar2</a:t>
            </a:r>
            <a:r>
              <a:rPr lang="en-GB" sz="3200" i="0" u="none" strike="noStrike" dirty="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 is a vaccine indicated for active immunization for the prevention of pneumonia and invasive disease caused by 20 </a:t>
            </a:r>
            <a:r>
              <a:rPr lang="en-GB" sz="3200" i="1" u="none" strike="noStrike" dirty="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Streptococcus pneumoniae</a:t>
            </a:r>
            <a:r>
              <a:rPr lang="en-GB" sz="3200" i="0" u="none" strike="noStrike" dirty="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strains (1, 3, 4, 5, 6A, 6B, 7F, 8, 9V, 10A, 11A, 12F, 14, 15B, 18C, 19A, 19F, 22F, 23F, and 33F) in adults 18 years of age and older. </a:t>
            </a:r>
            <a:endParaRPr sz="3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"/>
          <p:cNvSpPr/>
          <p:nvPr/>
        </p:nvSpPr>
        <p:spPr>
          <a:xfrm>
            <a:off x="693468" y="217585"/>
            <a:ext cx="31484700" cy="3858900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456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/>
          <p:nvPr/>
        </p:nvSpPr>
        <p:spPr>
          <a:xfrm>
            <a:off x="2575155" y="914246"/>
            <a:ext cx="28064136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4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Increase PCV20 Vaccine Administration Rates</a:t>
            </a:r>
            <a:endParaRPr dirty="0"/>
          </a:p>
        </p:txBody>
      </p:sp>
      <p:sp>
        <p:nvSpPr>
          <p:cNvPr id="96" name="Google Shape;96;p1"/>
          <p:cNvSpPr/>
          <p:nvPr/>
        </p:nvSpPr>
        <p:spPr>
          <a:xfrm>
            <a:off x="2647383" y="2246083"/>
            <a:ext cx="27919680" cy="122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Mehar Kahlon MD, Sager Singh Deol MD, Anupama </a:t>
            </a:r>
            <a:r>
              <a:rPr lang="en-GB" sz="4000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Poliyedath</a:t>
            </a:r>
            <a:r>
              <a:rPr lang="en-GB" sz="40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MD 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334" i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Saint Agnes Medical </a:t>
            </a:r>
            <a:r>
              <a:rPr lang="en-GB" sz="3334" i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Center</a:t>
            </a:r>
            <a:r>
              <a:rPr lang="en-GB" sz="3334" i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Fresno, CA</a:t>
            </a:r>
            <a:endParaRPr dirty="0"/>
          </a:p>
        </p:txBody>
      </p:sp>
      <p:sp>
        <p:nvSpPr>
          <p:cNvPr id="97" name="Google Shape;97;p1"/>
          <p:cNvSpPr/>
          <p:nvPr/>
        </p:nvSpPr>
        <p:spPr>
          <a:xfrm>
            <a:off x="21579840" y="4339545"/>
            <a:ext cx="10598328" cy="1080481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Methods</a:t>
            </a:r>
            <a:endParaRPr/>
          </a:p>
        </p:txBody>
      </p:sp>
      <p:sp>
        <p:nvSpPr>
          <p:cNvPr id="98" name="Google Shape;98;p1"/>
          <p:cNvSpPr/>
          <p:nvPr/>
        </p:nvSpPr>
        <p:spPr>
          <a:xfrm>
            <a:off x="21579850" y="5420025"/>
            <a:ext cx="10772400" cy="4862100"/>
          </a:xfrm>
          <a:prstGeom prst="rect">
            <a:avLst/>
          </a:prstGeom>
          <a:solidFill>
            <a:schemeClr val="lt1">
              <a:alpha val="49803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-203200" algn="l" rtl="0"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3200"/>
              <a:buFont typeface="Times New Roman"/>
              <a:buChar char="•"/>
            </a:pPr>
            <a:r>
              <a:rPr lang="en-GB" sz="3200" i="0" u="none" strike="noStrike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CDC recommendation charts placed in each exam room to help remind residents to order PCV20 vaccines when indicated. </a:t>
            </a:r>
            <a:endParaRPr sz="3200" i="0" u="none" strike="noStrike">
              <a:solidFill>
                <a:srgbClr val="0D0D0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rgbClr val="0D0D0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-203200" algn="l" rtl="0"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3200"/>
              <a:buFont typeface="Times New Roman"/>
              <a:buChar char="•"/>
            </a:pPr>
            <a:r>
              <a:rPr lang="en-GB" sz="3200" i="0" u="none" strike="noStrike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Prevnar20 brochures/guides available for patients in the waiting area/lobby to read up on and determine if further discussion is warranted. </a:t>
            </a:r>
            <a:endParaRPr sz="3200" i="0" u="none" strike="noStrike">
              <a:solidFill>
                <a:srgbClr val="0D0D0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rgbClr val="0D0D0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-203200" algn="l" rtl="0"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3200"/>
              <a:buFont typeface="Times New Roman"/>
              <a:buChar char="•"/>
            </a:pPr>
            <a:r>
              <a:rPr lang="en-GB" sz="3200" i="0" u="none" strike="noStrike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Continuous data monitoring via EPIC SlicerDicer to track progress. 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56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9" name="Google Shape;99;p1"/>
          <p:cNvSpPr/>
          <p:nvPr/>
        </p:nvSpPr>
        <p:spPr>
          <a:xfrm>
            <a:off x="21579850" y="15520225"/>
            <a:ext cx="10679100" cy="1080600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References</a:t>
            </a:r>
            <a:endParaRPr/>
          </a:p>
        </p:txBody>
      </p:sp>
      <p:sp>
        <p:nvSpPr>
          <p:cNvPr id="100" name="Google Shape;100;p1"/>
          <p:cNvSpPr/>
          <p:nvPr/>
        </p:nvSpPr>
        <p:spPr>
          <a:xfrm>
            <a:off x="21486575" y="16653325"/>
            <a:ext cx="10772400" cy="3632700"/>
          </a:xfrm>
          <a:prstGeom prst="rect">
            <a:avLst/>
          </a:prstGeom>
          <a:solidFill>
            <a:schemeClr val="lt1">
              <a:alpha val="49803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-139700" algn="l" rtl="0"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2200"/>
              <a:buFont typeface="Times New Roman"/>
              <a:buAutoNum type="arabicPeriod"/>
            </a:pPr>
            <a:r>
              <a:rPr lang="en-GB" sz="2200" i="0" u="none" strike="noStrike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“Vaccines for Pneumococcal.” </a:t>
            </a:r>
            <a:r>
              <a:rPr lang="en-GB" sz="2200" i="1" u="none" strike="noStrike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Centers for Disease Control and Prevention</a:t>
            </a:r>
            <a:r>
              <a:rPr lang="en-GB" sz="2200" i="0" u="none" strike="noStrike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Centers for Disease Control and Prevention, 21 Sept. 2023</a:t>
            </a:r>
            <a:r>
              <a:rPr lang="en-GB" sz="220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2200">
              <a:solidFill>
                <a:srgbClr val="0D0D0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rgbClr val="0D0D0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-139700" algn="l" rtl="0"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2200"/>
              <a:buFont typeface="Times New Roman"/>
              <a:buAutoNum type="arabicPeriod"/>
            </a:pPr>
            <a:r>
              <a:rPr lang="en-GB" sz="2200" i="0" u="none" strike="noStrike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“Protecting Adults against Pneumococcal Disease.” </a:t>
            </a:r>
            <a:r>
              <a:rPr lang="en-GB" sz="2200" i="1" u="none" strike="noStrike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NFID</a:t>
            </a:r>
            <a:r>
              <a:rPr lang="en-GB" sz="2200" i="0" u="none" strike="noStrike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National Foundation for Infectious Diseases, 9 June 2023, Olson, Diana. </a:t>
            </a:r>
            <a:endParaRPr sz="2200" i="0" u="none" strike="noStrike">
              <a:solidFill>
                <a:srgbClr val="0D0D0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rgbClr val="0D0D0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-139700" algn="l" rtl="0"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2200"/>
              <a:buFont typeface="Times New Roman"/>
              <a:buAutoNum type="arabicPeriod"/>
            </a:pPr>
            <a:r>
              <a:rPr lang="en-GB" sz="2200" i="0" u="none" strike="noStrike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“Lesson 4. Immunizations in Adults.” </a:t>
            </a:r>
            <a:r>
              <a:rPr lang="en-GB" sz="2200" i="1" u="none" strike="noStrike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National HIV Curriculum</a:t>
            </a:r>
            <a:r>
              <a:rPr lang="en-GB" sz="2200" i="0" u="none" strike="noStrike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www.hiv.uw.edu/go/basic-primary-care/immunizations/core-concept/all#pneumococcal-vaccination.</a:t>
            </a:r>
            <a:endParaRPr sz="2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1" name="Google Shape;101;p1"/>
          <p:cNvSpPr/>
          <p:nvPr/>
        </p:nvSpPr>
        <p:spPr>
          <a:xfrm>
            <a:off x="21579839" y="10349865"/>
            <a:ext cx="10598400" cy="1080600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Data</a:t>
            </a:r>
            <a:endParaRPr/>
          </a:p>
        </p:txBody>
      </p:sp>
      <p:sp>
        <p:nvSpPr>
          <p:cNvPr id="102" name="Google Shape;102;p1"/>
          <p:cNvSpPr/>
          <p:nvPr/>
        </p:nvSpPr>
        <p:spPr>
          <a:xfrm>
            <a:off x="21579850" y="11509075"/>
            <a:ext cx="10598400" cy="3858900"/>
          </a:xfrm>
          <a:prstGeom prst="rect">
            <a:avLst/>
          </a:prstGeom>
          <a:solidFill>
            <a:schemeClr val="lt1">
              <a:alpha val="49803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431800" algn="l" rtl="0"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3200"/>
              <a:buChar char="•"/>
            </a:pPr>
            <a:r>
              <a:rPr lang="en-GB" sz="320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Prior to implementing our project methods, 46 vaccines had been administered in the past 6 months (Oct 2023 - April 2024) as depicted by graph 1. </a:t>
            </a:r>
            <a:r>
              <a:rPr lang="en-GB" sz="32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32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431800" algn="l" rtl="0">
              <a:spcBef>
                <a:spcPts val="0"/>
              </a:spcBef>
              <a:spcAft>
                <a:spcPts val="0"/>
              </a:spcAft>
              <a:buClr>
                <a:srgbClr val="0D0D0D"/>
              </a:buClr>
              <a:buSzPts val="3200"/>
              <a:buChar char="•"/>
            </a:pPr>
            <a:r>
              <a:rPr lang="en-GB" sz="3200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After implementing our project methods, 103 vaccines have been administered in the past 6 months (Oct 2024 - April 2025) as depicted by graph 2. </a:t>
            </a:r>
            <a:r>
              <a:rPr lang="en-GB" sz="32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099325" y="4601100"/>
            <a:ext cx="8715874" cy="385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" descr="A graph of immunization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 r="11574"/>
          <a:stretch/>
        </p:blipFill>
        <p:spPr>
          <a:xfrm>
            <a:off x="13330735" y="8796000"/>
            <a:ext cx="6552977" cy="583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" title="Screenshot 2025-04-25 at 8.44.36 AM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366075" y="14971225"/>
            <a:ext cx="6623649" cy="59300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449</Words>
  <Application>Microsoft Macintosh PowerPoint</Application>
  <PresentationFormat>Custom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Calibri</vt:lpstr>
      <vt:lpstr>Helvetica Neue</vt:lpstr>
      <vt:lpstr>Arial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Microsoft Office User</dc:creator>
  <cp:lastModifiedBy>Phil Kim</cp:lastModifiedBy>
  <cp:revision>1</cp:revision>
  <dcterms:created xsi:type="dcterms:W3CDTF">2016-02-18T22:13:49Z</dcterms:created>
  <dcterms:modified xsi:type="dcterms:W3CDTF">2025-04-26T17:18:46Z</dcterms:modified>
</cp:coreProperties>
</file>