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918400" cy="21945600"/>
  <p:notesSz cx="6858000" cy="9144000"/>
  <p:embeddedFontLst>
    <p:embeddedFont>
      <p:font typeface="Helvetica Neue" panose="02000503000000020004" pitchFamily="2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912">
          <p15:clr>
            <a:srgbClr val="A4A3A4"/>
          </p15:clr>
        </p15:guide>
        <p15:guide id="2" pos="1036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" roundtripDataSignature="AMtx7mi4Q+ZGagVCoFeZBtkgl6cH2S/+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42" d="100"/>
          <a:sy n="42" d="100"/>
        </p:scale>
        <p:origin x="968" y="152"/>
      </p:cViewPr>
      <p:guideLst>
        <p:guide orient="horz" pos="6912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11" Type="http://customschemas.google.com/relationships/presentationmetadata" Target="meta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14425" y="1143000"/>
            <a:ext cx="462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0"/>
              <a:buFont typeface="Calibri"/>
              <a:buNone/>
              <a:defRPr sz="19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400"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0"/>
              <a:buFont typeface="Calibri"/>
              <a:buNone/>
              <a:defRPr sz="19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6400"/>
              <a:buNone/>
              <a:defRPr sz="64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760"/>
              <a:buNone/>
              <a:defRPr sz="576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2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2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2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2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2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2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2263140" y="5842000"/>
            <a:ext cx="13990320" cy="13924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16664940" y="5842000"/>
            <a:ext cx="13990320" cy="13924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400" b="1"/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 b="1"/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2267431" y="8016240"/>
            <a:ext cx="13926024" cy="11790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16664942" y="5379722"/>
            <a:ext cx="13994608" cy="2636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400" b="1"/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 b="1"/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16664942" y="8016240"/>
            <a:ext cx="13994608" cy="11790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40"/>
              <a:buFont typeface="Calibri"/>
              <a:buNone/>
              <a:defRPr sz="1024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13994608" y="3159765"/>
            <a:ext cx="16664940" cy="155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78839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0240"/>
              <a:buChar char="•"/>
              <a:defRPr sz="10240"/>
            </a:lvl1pPr>
            <a:lvl2pPr marL="914400" lvl="1" indent="-79756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960"/>
              <a:buChar char="•"/>
              <a:defRPr sz="8960"/>
            </a:lvl2pPr>
            <a:lvl3pPr marL="1371600" lvl="2" indent="-71628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Char char="•"/>
              <a:defRPr sz="7680"/>
            </a:lvl3pPr>
            <a:lvl4pPr marL="1828800" lvl="3" indent="-635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4pPr>
            <a:lvl5pPr marL="2286000" lvl="4" indent="-635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5pPr>
            <a:lvl6pPr marL="2743200" lvl="5" indent="-635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6pPr>
            <a:lvl7pPr marL="3200400" lvl="6" indent="-635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7pPr>
            <a:lvl8pPr marL="3657600" lvl="7" indent="-635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8pPr>
            <a:lvl9pPr marL="4114800" lvl="8" indent="-635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2267428" y="6583680"/>
            <a:ext cx="10617041" cy="12197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480"/>
              <a:buNone/>
              <a:defRPr sz="4480"/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840"/>
              <a:buNone/>
              <a:defRPr sz="3840"/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40"/>
              <a:buFont typeface="Calibri"/>
              <a:buNone/>
              <a:defRPr sz="1024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13994608" y="3159765"/>
            <a:ext cx="16664940" cy="155956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2267428" y="6583680"/>
            <a:ext cx="10617041" cy="12197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480"/>
              <a:buNone/>
              <a:defRPr sz="4480"/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840"/>
              <a:buNone/>
              <a:defRPr sz="3840"/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9497059" y="-1391919"/>
            <a:ext cx="13924282" cy="2839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17807306" y="6918326"/>
            <a:ext cx="18597882" cy="7098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3405506" y="26036"/>
            <a:ext cx="18597882" cy="2088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80"/>
              <a:buFont typeface="Calibri"/>
              <a:buNone/>
              <a:defRPr sz="140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97560" algn="l" rtl="0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8960"/>
              <a:buFont typeface="Arial"/>
              <a:buChar char="•"/>
              <a:defRPr sz="8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71628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Font typeface="Arial"/>
              <a:buChar char="•"/>
              <a:defRPr sz="7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635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59436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59436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59436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59436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59436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594359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-21519" y="-34091"/>
            <a:ext cx="32918399" cy="219796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737014" y="10991274"/>
            <a:ext cx="10598331" cy="1080481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Guidelines/Goal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737014" y="12192575"/>
            <a:ext cx="10598331" cy="9132539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i="0" u="none" strike="noStrike" cap="none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CDC recommends PCV15 or PCV20 for adults who have never received a PCV and meet the following the criteria:</a:t>
            </a:r>
            <a:endParaRPr sz="340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i="0" u="none" strike="noStrike" cap="none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- 65 years of age or older </a:t>
            </a:r>
            <a:endParaRPr sz="340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i="0" u="none" strike="noStrike" cap="none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- 19-64 years of age with certain risk conditions</a:t>
            </a:r>
            <a:endParaRPr sz="340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34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400" i="0" u="none" strike="noStrike" cap="none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CDC recommends PCV20 for adults 65 years of age or older and meet the following the criteria:</a:t>
            </a:r>
            <a:endParaRPr sz="340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i="0" u="none" strike="noStrike" cap="none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- received PCV13 at any age </a:t>
            </a:r>
            <a:endParaRPr sz="340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i="0" u="none" strike="noStrike" cap="none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AND </a:t>
            </a:r>
            <a:endParaRPr sz="340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i="0" u="none" strike="noStrike" cap="none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received PPSV23 at or after 65 years of age</a:t>
            </a:r>
            <a:endParaRPr sz="340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34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400" i="0" u="none" strike="noStrike" cap="none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PCV15 was administered, it should be followed by a dose of PPSV23. </a:t>
            </a:r>
            <a:endParaRPr sz="340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 i="0" u="none" strike="noStrike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 </a:t>
            </a:r>
            <a:r>
              <a:rPr lang="en-GB" sz="3400" i="0" u="none" strike="noStrike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 PCV20 (Prevnar20) vaccine administration rates in the </a:t>
            </a:r>
            <a:r>
              <a:rPr lang="en-GB" sz="3400" i="0" u="none" strike="noStrike" dirty="0">
                <a:solidFill>
                  <a:srgbClr val="001D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Saint Agnes Physician Residency Clinic</a:t>
            </a:r>
            <a:r>
              <a:rPr lang="en-GB" sz="3400" i="0" u="none" strike="noStrike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amongst adults who meet the CDC recommended criteria.</a:t>
            </a:r>
            <a:endParaRPr sz="3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740229" y="4328161"/>
            <a:ext cx="10598331" cy="1080481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Introduction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740229" y="5420024"/>
            <a:ext cx="10598331" cy="5371696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general population, </a:t>
            </a:r>
            <a:r>
              <a:rPr lang="en-GB" sz="3200" i="1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Streptococcus pneumoniae</a:t>
            </a:r>
            <a:r>
              <a:rPr lang="en-GB" sz="320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causes significant disease, including </a:t>
            </a:r>
            <a:r>
              <a:rPr lang="en-GB" sz="3200" i="0" u="none" strike="noStrik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bacteremia</a:t>
            </a:r>
            <a:r>
              <a:rPr lang="en-GB" sz="320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meningitis, and pneumonia, and is responsible for approximately 4,000 deaths each year in the US.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Prevnar2</a:t>
            </a:r>
            <a:r>
              <a:rPr lang="en-GB" sz="3200" i="0" u="none" strike="noStrike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is a vaccine indicated for active immunization for the prevention of pneumonia and invasive disease caused by 20 </a:t>
            </a:r>
            <a:r>
              <a:rPr lang="en-GB" sz="3200" i="1" u="none" strike="noStrike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Streptococcus pneumoniae</a:t>
            </a:r>
            <a:r>
              <a:rPr lang="en-GB" sz="3200" i="0" u="none" strike="noStrike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strains (1, 3, 4, 5, 6A, 6B, 7F, 8, 9V, 10A, 11A, 12F, 14, 15B, 18C, 19A, 19F, 22F, 23F, and 33F) in adults 18 years of age and older. </a:t>
            </a: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693468" y="217585"/>
            <a:ext cx="31484700" cy="38589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456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2575155" y="914246"/>
            <a:ext cx="2806413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Increase PCV20 Vaccine Administration Rates</a:t>
            </a:r>
            <a:endParaRPr dirty="0"/>
          </a:p>
        </p:txBody>
      </p:sp>
      <p:sp>
        <p:nvSpPr>
          <p:cNvPr id="96" name="Google Shape;96;p1"/>
          <p:cNvSpPr/>
          <p:nvPr/>
        </p:nvSpPr>
        <p:spPr>
          <a:xfrm>
            <a:off x="2647383" y="2246083"/>
            <a:ext cx="27919680" cy="122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Mehar Kahlon MD, Sager Singh Deol MD, Anupama </a:t>
            </a:r>
            <a:r>
              <a:rPr lang="en-GB" sz="4000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Poliyedath</a:t>
            </a:r>
            <a:r>
              <a:rPr lang="en-GB" sz="40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MD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34" i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Saint Agnes Medical </a:t>
            </a:r>
            <a:r>
              <a:rPr lang="en-GB" sz="3334" i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Center</a:t>
            </a:r>
            <a:r>
              <a:rPr lang="en-GB" sz="3334" i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Fresno, CA</a:t>
            </a:r>
            <a:endParaRPr dirty="0"/>
          </a:p>
        </p:txBody>
      </p:sp>
      <p:sp>
        <p:nvSpPr>
          <p:cNvPr id="97" name="Google Shape;97;p1"/>
          <p:cNvSpPr/>
          <p:nvPr/>
        </p:nvSpPr>
        <p:spPr>
          <a:xfrm>
            <a:off x="21579840" y="4339545"/>
            <a:ext cx="10598328" cy="1080481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Methods</a:t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21579850" y="5420025"/>
            <a:ext cx="10772400" cy="4862100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200"/>
              <a:buFont typeface="Times New Roman"/>
              <a:buChar char="•"/>
            </a:pPr>
            <a:r>
              <a:rPr lang="en-GB" sz="3200" i="0" u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CDC recommendation charts placed in each exam room to help remind residents to order PCV20 vaccines when indicated. </a:t>
            </a:r>
            <a:endParaRPr sz="3200" i="0" u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200"/>
              <a:buFont typeface="Times New Roman"/>
              <a:buChar char="•"/>
            </a:pPr>
            <a:r>
              <a:rPr lang="en-GB" sz="3200" i="0" u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Prevnar20 brochures/guides available for patients in the waiting area/lobby to read up on and determine if further discussion is warranted. </a:t>
            </a:r>
            <a:endParaRPr sz="3200" i="0" u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200"/>
              <a:buFont typeface="Times New Roman"/>
              <a:buChar char="•"/>
            </a:pPr>
            <a:r>
              <a:rPr lang="en-GB" sz="3200" i="0" u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Continuous data monitoring via EPIC SlicerDicer to track progress. 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56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21579850" y="15520225"/>
            <a:ext cx="10679100" cy="10806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References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21486575" y="16653325"/>
            <a:ext cx="10772400" cy="3632700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-1397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Times New Roman"/>
              <a:buAutoNum type="arabicPeriod"/>
            </a:pPr>
            <a:r>
              <a:rPr lang="en-GB" sz="2200" i="0" u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“Vaccines for Pneumococcal.” </a:t>
            </a:r>
            <a:r>
              <a:rPr lang="en-GB" sz="2200" i="1" u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Centers for Disease Control and Prevention</a:t>
            </a:r>
            <a:r>
              <a:rPr lang="en-GB" sz="2200" i="0" u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Centers for Disease Control and Prevention, 21 Sept. 2023</a:t>
            </a:r>
            <a:r>
              <a:rPr lang="en-GB" sz="22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397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Times New Roman"/>
              <a:buAutoNum type="arabicPeriod"/>
            </a:pPr>
            <a:r>
              <a:rPr lang="en-GB" sz="2200" i="0" u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“Protecting Adults against Pneumococcal Disease.” </a:t>
            </a:r>
            <a:r>
              <a:rPr lang="en-GB" sz="2200" i="1" u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NFID</a:t>
            </a:r>
            <a:r>
              <a:rPr lang="en-GB" sz="2200" i="0" u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National Foundation for Infectious Diseases, 9 June 2023, Olson, Diana. </a:t>
            </a:r>
            <a:endParaRPr sz="2200" i="0" u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397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Times New Roman"/>
              <a:buAutoNum type="arabicPeriod"/>
            </a:pPr>
            <a:r>
              <a:rPr lang="en-GB" sz="2200" i="0" u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“Lesson 4. Immunizations in Adults.” </a:t>
            </a:r>
            <a:r>
              <a:rPr lang="en-GB" sz="2200" i="1" u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HIV Curriculum</a:t>
            </a:r>
            <a:r>
              <a:rPr lang="en-GB" sz="2200" i="0" u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www.hiv.uw.edu/go/basic-primary-care/immunizations/core-concept/all#pneumococcal-vaccination.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21579839" y="10349865"/>
            <a:ext cx="10598400" cy="10806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21579850" y="11509075"/>
            <a:ext cx="10598400" cy="3858900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200"/>
              <a:buChar char="•"/>
            </a:pPr>
            <a:r>
              <a:rPr lang="en-GB" sz="32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 to implementing our project methods, 46 vaccines had been administered in the past 6 months (Oct 2023 - April 2024) as depicted by graph 1. </a:t>
            </a:r>
            <a:r>
              <a:rPr lang="en-GB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200"/>
              <a:buChar char="•"/>
            </a:pPr>
            <a:r>
              <a:rPr lang="en-GB" sz="32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implementing our project methods, 103 vaccines have been administered in the past 6 months (Oct 2024 - April 2025) as depicted by graph 2. </a:t>
            </a:r>
            <a:r>
              <a:rPr lang="en-GB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099325" y="4601100"/>
            <a:ext cx="8715874" cy="38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 descr="A graph of immunizatio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 r="11574"/>
          <a:stretch/>
        </p:blipFill>
        <p:spPr>
          <a:xfrm>
            <a:off x="13330735" y="8796000"/>
            <a:ext cx="6552977" cy="583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 title="Screenshot 2025-04-25 at 8.44.36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366075" y="14971225"/>
            <a:ext cx="6623649" cy="593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Picture 105" descr="44Q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79088" y="576072"/>
            <a:ext cx="210312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</Words>
  <Application>Microsoft Macintosh PowerPoint</Application>
  <PresentationFormat>Custom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Helvetica Neue</vt:lpstr>
      <vt:lpstr>Arial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Phil Kim</cp:lastModifiedBy>
  <cp:revision>1</cp:revision>
  <dcterms:created xsi:type="dcterms:W3CDTF">2016-02-18T22:13:49Z</dcterms:created>
  <dcterms:modified xsi:type="dcterms:W3CDTF">2025-04-26T17:18:46Z</dcterms:modified>
</cp:coreProperties>
</file>