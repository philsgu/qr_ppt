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4pscQ88Kptiuosw/VCcy6JWSH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40"/>
    <p:restoredTop sz="94694"/>
  </p:normalViewPr>
  <p:slideViewPr>
    <p:cSldViewPr snapToGrid="0">
      <p:cViewPr varScale="1">
        <p:scale>
          <a:sx n="36" d="100"/>
          <a:sy n="36" d="100"/>
        </p:scale>
        <p:origin x="1616"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7"/>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7"/>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0"/>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13994608" y="3159765"/>
            <a:ext cx="16664940" cy="15595600"/>
          </a:xfrm>
          <a:prstGeom prst="rect">
            <a:avLst/>
          </a:prstGeom>
          <a:noFill/>
          <a:ln>
            <a:noFill/>
          </a:ln>
        </p:spPr>
      </p:sp>
      <p:sp>
        <p:nvSpPr>
          <p:cNvPr id="68" name="Google Shape;68;p11"/>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24079200" y="19249279"/>
            <a:ext cx="8839200" cy="2383565"/>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
          <p:cNvSpPr/>
          <p:nvPr/>
        </p:nvSpPr>
        <p:spPr>
          <a:xfrm>
            <a:off x="609600" y="8408753"/>
            <a:ext cx="1033374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1" name="Google Shape;91;p1"/>
          <p:cNvSpPr/>
          <p:nvPr/>
        </p:nvSpPr>
        <p:spPr>
          <a:xfrm>
            <a:off x="604170" y="10269144"/>
            <a:ext cx="10403275" cy="10255175"/>
          </a:xfrm>
          <a:prstGeom prst="rect">
            <a:avLst/>
          </a:prstGeom>
          <a:solidFill>
            <a:schemeClr val="lt1"/>
          </a:solidFill>
          <a:ln>
            <a:noFill/>
          </a:ln>
        </p:spPr>
        <p:txBody>
          <a:bodyPr spcFirstLastPara="1" wrap="square" lIns="60950" tIns="30467" rIns="60950" bIns="30467" anchor="ctr" anchorCtr="0">
            <a:noAutofit/>
          </a:bodyPr>
          <a:lstStyle/>
          <a:p>
            <a:pPr>
              <a:buSzPts val="3300"/>
            </a:pPr>
            <a:r>
              <a:rPr lang="en-US" sz="2533" dirty="0">
                <a:solidFill>
                  <a:schemeClr val="dk1"/>
                </a:solidFill>
              </a:rPr>
              <a:t>A 72-year-old female with a history of blindness (due to glaucoma), deafness, COPD with emphysema, cirrhosis, chronic diastolic heart failure with pacemaker, hypertension, insomnia, depression, overactive bladder, and remote breast cancer (with normal tumor markers) was admitted for altered mental status. Her caregiver reported intermittent confusion over several days.</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On presentation, the patient was febrile with leukocytosis (WBC 13.8 ×10⁹/L) and elevated lactate (4.3 mmol/L), consistent with sepsis and metabolic acidosis. CT head was unremarkable. She received empiric ceftriaxone and was admitted for further evaluation. Antibiotic therapy was escalated to cefepime due to persistent leukocytosis and rising lactate.</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Despite therapy, the patient developed thrombocytopenia (platelets: 17,000/</a:t>
            </a:r>
            <a:r>
              <a:rPr lang="en-US" sz="2533" dirty="0" err="1">
                <a:solidFill>
                  <a:schemeClr val="dk1"/>
                </a:solidFill>
              </a:rPr>
              <a:t>μL</a:t>
            </a:r>
            <a:r>
              <a:rPr lang="en-US" sz="2533" dirty="0">
                <a:solidFill>
                  <a:schemeClr val="dk1"/>
                </a:solidFill>
              </a:rPr>
              <a:t>) and worsening leukocytosis. Abdominal ultrasound revealed cholelithiasis with a positive Murphy’s sign and coarsened hepatic echotexture, suggestive of chronic liver disease. However, HIDA scan showed no evidence of acute cholecystitis. Blood cultures obtained in the ED grew </a:t>
            </a:r>
            <a:r>
              <a:rPr lang="en-US" sz="2533" i="1" dirty="0">
                <a:solidFill>
                  <a:schemeClr val="dk1"/>
                </a:solidFill>
              </a:rPr>
              <a:t>Pasteurella </a:t>
            </a:r>
            <a:r>
              <a:rPr lang="en-US" sz="2533" i="1" dirty="0" err="1">
                <a:solidFill>
                  <a:schemeClr val="dk1"/>
                </a:solidFill>
              </a:rPr>
              <a:t>multocida</a:t>
            </a:r>
            <a:r>
              <a:rPr lang="en-US" sz="2533" dirty="0">
                <a:solidFill>
                  <a:schemeClr val="dk1"/>
                </a:solidFill>
              </a:rPr>
              <a:t> in all vials. The infectious disease team was consulted.</a:t>
            </a:r>
            <a:br>
              <a:rPr lang="en-US" sz="2533" dirty="0">
                <a:solidFill>
                  <a:schemeClr val="dk1"/>
                </a:solidFill>
              </a:rPr>
            </a:br>
            <a:endParaRPr sz="2533" dirty="0">
              <a:solidFill>
                <a:schemeClr val="dk1"/>
              </a:solidFill>
            </a:endParaRPr>
          </a:p>
          <a:p>
            <a:pPr>
              <a:buClr>
                <a:schemeClr val="dk1"/>
              </a:buClr>
              <a:buSzPts val="1100"/>
            </a:pPr>
            <a:r>
              <a:rPr lang="en-US" sz="2533" dirty="0">
                <a:solidFill>
                  <a:schemeClr val="dk1"/>
                </a:solidFill>
              </a:rPr>
              <a:t>A thorough history revealed no recent animal contact. The patient had not owned pets for over three years, and her caregiver confirmed no exposure to animals. Dermatologic examination was unremarkable. Due to persistent symptoms, antibiotics were switched to IV meropenem, later supplemented with IV levofloxacin due to concern for pulmonary involvement after chest CT revealed left upper lobe ground-glass opacities. </a:t>
            </a:r>
            <a:endParaRPr sz="2533" dirty="0">
              <a:solidFill>
                <a:schemeClr val="dk1"/>
              </a:solidFill>
            </a:endParaRPr>
          </a:p>
        </p:txBody>
      </p:sp>
      <p:sp>
        <p:nvSpPr>
          <p:cNvPr id="92" name="Google Shape;92;p1"/>
          <p:cNvSpPr/>
          <p:nvPr/>
        </p:nvSpPr>
        <p:spPr>
          <a:xfrm>
            <a:off x="609599" y="4145272"/>
            <a:ext cx="10403275"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3" name="Google Shape;93;p1"/>
          <p:cNvSpPr/>
          <p:nvPr/>
        </p:nvSpPr>
        <p:spPr>
          <a:xfrm>
            <a:off x="670573" y="5225745"/>
            <a:ext cx="10275458" cy="3183000"/>
          </a:xfrm>
          <a:prstGeom prst="rect">
            <a:avLst/>
          </a:prstGeom>
          <a:solidFill>
            <a:schemeClr val="lt1"/>
          </a:solidFill>
          <a:ln>
            <a:noFill/>
          </a:ln>
        </p:spPr>
        <p:txBody>
          <a:bodyPr spcFirstLastPara="1" wrap="square" lIns="60950" tIns="30467" rIns="60950" bIns="30467" anchor="ctr" anchorCtr="0">
            <a:noAutofit/>
          </a:bodyPr>
          <a:lstStyle/>
          <a:p>
            <a:pPr>
              <a:buSzPts val="7258"/>
            </a:pPr>
            <a:r>
              <a:rPr lang="en-US" sz="2333" i="1">
                <a:solidFill>
                  <a:schemeClr val="dk1"/>
                </a:solidFill>
              </a:rPr>
              <a:t>Pasteurella multocida</a:t>
            </a:r>
            <a:r>
              <a:rPr lang="en-US" sz="2333">
                <a:solidFill>
                  <a:schemeClr val="dk1"/>
                </a:solidFill>
              </a:rPr>
              <a:t> is a Gram-negative coccobacillus commonly associated with animal bites, particularly from cats and dogs. Infections without direct animal exposure are exceedingly rare, especially in immunocompromised individuals. We present a case of </a:t>
            </a:r>
            <a:r>
              <a:rPr lang="en-US" sz="2333" i="1">
                <a:solidFill>
                  <a:schemeClr val="dk1"/>
                </a:solidFill>
              </a:rPr>
              <a:t>P. multocida</a:t>
            </a:r>
            <a:r>
              <a:rPr lang="en-US" sz="2333">
                <a:solidFill>
                  <a:schemeClr val="dk1"/>
                </a:solidFill>
              </a:rPr>
              <a:t> bacteremia in an elderly patient with multiple comorbidities and no recent animal contact, highlighting the diagnostic challenges and management complexities of opportunistic infections in high-risk populations.</a:t>
            </a:r>
            <a:endParaRPr sz="2333">
              <a:solidFill>
                <a:schemeClr val="lt1"/>
              </a:solidFill>
            </a:endParaRPr>
          </a:p>
        </p:txBody>
      </p:sp>
      <p:sp>
        <p:nvSpPr>
          <p:cNvPr id="94" name="Google Shape;94;p1"/>
          <p:cNvSpPr/>
          <p:nvPr/>
        </p:nvSpPr>
        <p:spPr>
          <a:xfrm>
            <a:off x="25372" y="-37099"/>
            <a:ext cx="329184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
          <p:cNvSpPr/>
          <p:nvPr/>
        </p:nvSpPr>
        <p:spPr>
          <a:xfrm>
            <a:off x="3632324" y="179809"/>
            <a:ext cx="26144600" cy="3193243"/>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5067" dirty="0">
                <a:solidFill>
                  <a:srgbClr val="FFFFFF"/>
                </a:solidFill>
              </a:rPr>
              <a:t>“No Pets, No Problem? </a:t>
            </a:r>
            <a:br>
              <a:rPr lang="en-US" sz="5067" dirty="0">
                <a:solidFill>
                  <a:srgbClr val="FFFFFF"/>
                </a:solidFill>
              </a:rPr>
            </a:br>
            <a:r>
              <a:rPr lang="en-US" sz="5067" dirty="0">
                <a:solidFill>
                  <a:srgbClr val="FFFFFF"/>
                </a:solidFill>
              </a:rPr>
              <a:t>Think Again—</a:t>
            </a:r>
            <a:r>
              <a:rPr lang="en-US" sz="5067" i="1" dirty="0">
                <a:solidFill>
                  <a:srgbClr val="FFFFFF"/>
                </a:solidFill>
              </a:rPr>
              <a:t>Pasteurella</a:t>
            </a:r>
            <a:r>
              <a:rPr lang="en-US" sz="5067" dirty="0">
                <a:solidFill>
                  <a:srgbClr val="FFFFFF"/>
                </a:solidFill>
              </a:rPr>
              <a:t> Bacteremia in a Pet-Free Patient </a:t>
            </a:r>
            <a:endParaRPr sz="5067" dirty="0">
              <a:solidFill>
                <a:srgbClr val="FFFFFF"/>
              </a:solidFill>
            </a:endParaRPr>
          </a:p>
          <a:p>
            <a:pPr algn="ctr">
              <a:buSzPts val="8500"/>
            </a:pPr>
            <a:endParaRPr sz="5667" b="1" dirty="0">
              <a:solidFill>
                <a:schemeClr val="lt1"/>
              </a:solidFill>
              <a:latin typeface="Helvetica Neue"/>
              <a:ea typeface="Helvetica Neue"/>
              <a:cs typeface="Helvetica Neue"/>
              <a:sym typeface="Helvetica Neue"/>
            </a:endParaRPr>
          </a:p>
        </p:txBody>
      </p:sp>
      <p:sp>
        <p:nvSpPr>
          <p:cNvPr id="96" name="Google Shape;96;p1"/>
          <p:cNvSpPr/>
          <p:nvPr/>
        </p:nvSpPr>
        <p:spPr>
          <a:xfrm>
            <a:off x="5940520" y="2158806"/>
            <a:ext cx="21284368" cy="17030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3600" dirty="0">
                <a:solidFill>
                  <a:schemeClr val="lt1"/>
                </a:solidFill>
              </a:rPr>
              <a:t>Aftab Arif MD, </a:t>
            </a:r>
            <a:r>
              <a:rPr lang="en-US" sz="3600" dirty="0">
                <a:solidFill>
                  <a:srgbClr val="FFFFFF"/>
                </a:solidFill>
              </a:rPr>
              <a:t>Ayesha Shahzad MD, Mahwish Sheikh MD, Hamna Javed MD, Roshan Bakht MD</a:t>
            </a:r>
            <a:endParaRPr sz="6600" baseline="30000" dirty="0">
              <a:solidFill>
                <a:srgbClr val="FFFFFF"/>
              </a:solidFill>
            </a:endParaRPr>
          </a:p>
          <a:p>
            <a:pPr algn="ctr">
              <a:buSzPts val="5000"/>
            </a:pPr>
            <a:r>
              <a:rPr lang="en-US" sz="2800" i="1" dirty="0">
                <a:solidFill>
                  <a:schemeClr val="lt1"/>
                </a:solidFill>
                <a:latin typeface="Helvetica Neue"/>
                <a:ea typeface="Helvetica Neue"/>
                <a:cs typeface="Helvetica Neue"/>
                <a:sym typeface="Helvetica Neue"/>
              </a:rPr>
              <a:t>Saint Agnes Medical Center, Fresno, CA</a:t>
            </a:r>
            <a:endParaRPr sz="1050" dirty="0"/>
          </a:p>
        </p:txBody>
      </p:sp>
      <p:sp>
        <p:nvSpPr>
          <p:cNvPr id="97" name="Google Shape;97;p1"/>
          <p:cNvSpPr txBox="1"/>
          <p:nvPr/>
        </p:nvSpPr>
        <p:spPr>
          <a:xfrm>
            <a:off x="13303524" y="15567626"/>
            <a:ext cx="6802200" cy="369306"/>
          </a:xfrm>
          <a:prstGeom prst="rect">
            <a:avLst/>
          </a:prstGeom>
          <a:noFill/>
          <a:ln>
            <a:noFill/>
          </a:ln>
        </p:spPr>
        <p:txBody>
          <a:bodyPr spcFirstLastPara="1" wrap="square" lIns="60950" tIns="30467" rIns="60950" bIns="30467" anchor="t" anchorCtr="0">
            <a:spAutoFit/>
          </a:bodyPr>
          <a:lstStyle/>
          <a:p>
            <a:pPr>
              <a:buSzPts val="3000"/>
            </a:pPr>
            <a:r>
              <a:rPr lang="en-US" sz="2000" b="1" dirty="0">
                <a:solidFill>
                  <a:schemeClr val="dk1"/>
                </a:solidFill>
                <a:latin typeface="Calibri"/>
                <a:ea typeface="Calibri"/>
                <a:cs typeface="Calibri"/>
                <a:sym typeface="Calibri"/>
              </a:rPr>
              <a:t>Figure 1: Timeline of the patients hospitalization</a:t>
            </a:r>
            <a:endParaRPr sz="933" dirty="0"/>
          </a:p>
        </p:txBody>
      </p:sp>
      <p:sp>
        <p:nvSpPr>
          <p:cNvPr id="98" name="Google Shape;98;p1"/>
          <p:cNvSpPr/>
          <p:nvPr/>
        </p:nvSpPr>
        <p:spPr>
          <a:xfrm>
            <a:off x="22401796" y="4206224"/>
            <a:ext cx="10089877"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Discussion</a:t>
            </a:r>
            <a:endParaRPr sz="933" dirty="0"/>
          </a:p>
        </p:txBody>
      </p:sp>
      <p:sp>
        <p:nvSpPr>
          <p:cNvPr id="99" name="Google Shape;99;p1"/>
          <p:cNvSpPr/>
          <p:nvPr/>
        </p:nvSpPr>
        <p:spPr>
          <a:xfrm>
            <a:off x="22433280" y="5234336"/>
            <a:ext cx="10089877" cy="5070800"/>
          </a:xfrm>
          <a:prstGeom prst="rect">
            <a:avLst/>
          </a:prstGeom>
          <a:solidFill>
            <a:schemeClr val="lt1"/>
          </a:solidFill>
          <a:ln>
            <a:noFill/>
          </a:ln>
        </p:spPr>
        <p:txBody>
          <a:bodyPr spcFirstLastPara="1" wrap="square" lIns="60950" tIns="30467" rIns="60950" bIns="30467" anchor="t" anchorCtr="0">
            <a:noAutofit/>
          </a:bodyPr>
          <a:lstStyle/>
          <a:p>
            <a:pPr>
              <a:spcBef>
                <a:spcPts val="800"/>
              </a:spcBef>
              <a:buClr>
                <a:schemeClr val="dk1"/>
              </a:buClr>
              <a:buSzPts val="1100"/>
            </a:pPr>
            <a:r>
              <a:rPr lang="en-US" sz="2533" dirty="0">
                <a:solidFill>
                  <a:schemeClr val="dk1"/>
                </a:solidFill>
              </a:rPr>
              <a:t>This case illustrates a rare presentation of </a:t>
            </a:r>
            <a:r>
              <a:rPr lang="en-US" sz="2533" i="1" dirty="0">
                <a:solidFill>
                  <a:schemeClr val="dk1"/>
                </a:solidFill>
              </a:rPr>
              <a:t>Pasteurella </a:t>
            </a:r>
            <a:r>
              <a:rPr lang="en-US" sz="2533" i="1" dirty="0" err="1">
                <a:solidFill>
                  <a:schemeClr val="dk1"/>
                </a:solidFill>
              </a:rPr>
              <a:t>multocida</a:t>
            </a:r>
            <a:r>
              <a:rPr lang="en-US" sz="2533" dirty="0">
                <a:solidFill>
                  <a:schemeClr val="dk1"/>
                </a:solidFill>
              </a:rPr>
              <a:t> bacteremia in the absence of documented animal exposure. Although commonly linked to animal bites, </a:t>
            </a:r>
            <a:r>
              <a:rPr lang="en-US" sz="2533" i="1" dirty="0">
                <a:solidFill>
                  <a:schemeClr val="dk1"/>
                </a:solidFill>
              </a:rPr>
              <a:t>P. </a:t>
            </a:r>
            <a:r>
              <a:rPr lang="en-US" sz="2533" i="1" dirty="0" err="1">
                <a:solidFill>
                  <a:schemeClr val="dk1"/>
                </a:solidFill>
              </a:rPr>
              <a:t>multocida</a:t>
            </a:r>
            <a:r>
              <a:rPr lang="en-US" sz="2533" dirty="0">
                <a:solidFill>
                  <a:schemeClr val="dk1"/>
                </a:solidFill>
              </a:rPr>
              <a:t> can be part of the oropharyngeal flora and may cause invasive infections in immunocompromised hosts. This patient’s cirrhosis likely contributed to immune dysfunction, increasing susceptibility to atypical </a:t>
            </a:r>
            <a:r>
              <a:rPr lang="en-US" sz="2533" dirty="0" err="1">
                <a:solidFill>
                  <a:schemeClr val="dk1"/>
                </a:solidFill>
              </a:rPr>
              <a:t>pathogens.The</a:t>
            </a:r>
            <a:r>
              <a:rPr lang="en-US" sz="2533" dirty="0">
                <a:solidFill>
                  <a:schemeClr val="dk1"/>
                </a:solidFill>
              </a:rPr>
              <a:t> diagnostic challenge was compounded by the absence of classic risk factors and the presence of overlapping symptoms from her chronic comorbidities. This case underscores the importance of broadening the differential diagnosis in critically ill patients, especially those with cirrhosis and other immunocompromising conditions.</a:t>
            </a:r>
            <a:endParaRPr sz="2533" dirty="0">
              <a:solidFill>
                <a:schemeClr val="dk1"/>
              </a:solidFill>
            </a:endParaRPr>
          </a:p>
        </p:txBody>
      </p:sp>
      <p:sp>
        <p:nvSpPr>
          <p:cNvPr id="100" name="Google Shape;100;p1"/>
          <p:cNvSpPr/>
          <p:nvPr/>
        </p:nvSpPr>
        <p:spPr>
          <a:xfrm>
            <a:off x="11618493" y="16154400"/>
            <a:ext cx="9928422" cy="5479406"/>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467" dirty="0">
                <a:solidFill>
                  <a:schemeClr val="dk1"/>
                </a:solidFill>
              </a:rPr>
              <a:t>An echocardiogram ruled out endocarditis, and bone marrow biopsy showed normocellular marrow without evidence of </a:t>
            </a:r>
            <a:r>
              <a:rPr lang="en-US" sz="2467" dirty="0" err="1">
                <a:solidFill>
                  <a:schemeClr val="dk1"/>
                </a:solidFill>
              </a:rPr>
              <a:t>malignancy.</a:t>
            </a:r>
            <a:r>
              <a:rPr lang="en-US" sz="2533" dirty="0" err="1">
                <a:solidFill>
                  <a:schemeClr val="dk1"/>
                </a:solidFill>
              </a:rPr>
              <a:t>The</a:t>
            </a:r>
            <a:r>
              <a:rPr lang="en-US" sz="2533" dirty="0">
                <a:solidFill>
                  <a:schemeClr val="dk1"/>
                </a:solidFill>
              </a:rPr>
              <a:t> patient’s condition deteriorated, requiring ICU transfer for respiratory support with BiPAP, eventually transitioning to high-flow nasal cannula. Nutritional support included TPN and later tube feeds due to oral dysphagia. Although her pulmonary findings and leukocytosis improved, she developed </a:t>
            </a:r>
            <a:r>
              <a:rPr lang="en-US" sz="2533" i="1" dirty="0" err="1">
                <a:solidFill>
                  <a:schemeClr val="dk1"/>
                </a:solidFill>
              </a:rPr>
              <a:t>Clostridioides</a:t>
            </a:r>
            <a:r>
              <a:rPr lang="en-US" sz="2533" i="1" dirty="0">
                <a:solidFill>
                  <a:schemeClr val="dk1"/>
                </a:solidFill>
              </a:rPr>
              <a:t> difficile</a:t>
            </a:r>
            <a:r>
              <a:rPr lang="en-US" sz="2533" dirty="0">
                <a:solidFill>
                  <a:schemeClr val="dk1"/>
                </a:solidFill>
              </a:rPr>
              <a:t> infection secondary to prolonged antibiotic use, managed with oral vancomycin.</a:t>
            </a:r>
            <a:endParaRPr sz="2533" dirty="0">
              <a:solidFill>
                <a:schemeClr val="dk1"/>
              </a:solidFill>
            </a:endParaRPr>
          </a:p>
          <a:p>
            <a:pPr>
              <a:spcAft>
                <a:spcPts val="1533"/>
              </a:spcAft>
              <a:buClr>
                <a:schemeClr val="dk1"/>
              </a:buClr>
              <a:buSzPts val="1100"/>
            </a:pPr>
            <a:r>
              <a:rPr lang="en-US" sz="2533" dirty="0">
                <a:solidFill>
                  <a:schemeClr val="dk1"/>
                </a:solidFill>
              </a:rPr>
              <a:t>Subsequently, the patient developed septic shock requiring vasopressor support (midodrine and fludrocortisone) and showed signs of protein-calorie malnutrition. Given her poor prognosis and continued decline, a goals-of-care discussion was held, and hospice care was initiated.</a:t>
            </a:r>
            <a:endParaRPr sz="2533" dirty="0">
              <a:solidFill>
                <a:schemeClr val="lt1"/>
              </a:solidFill>
              <a:latin typeface="Calibri"/>
              <a:ea typeface="Calibri"/>
              <a:cs typeface="Calibri"/>
              <a:sym typeface="Calibri"/>
            </a:endParaRPr>
          </a:p>
        </p:txBody>
      </p:sp>
      <p:sp>
        <p:nvSpPr>
          <p:cNvPr id="101" name="Google Shape;101;p1"/>
          <p:cNvSpPr/>
          <p:nvPr/>
        </p:nvSpPr>
        <p:spPr>
          <a:xfrm>
            <a:off x="22401803" y="15396732"/>
            <a:ext cx="10089877"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2" name="Google Shape;102;p1"/>
          <p:cNvSpPr/>
          <p:nvPr/>
        </p:nvSpPr>
        <p:spPr>
          <a:xfrm>
            <a:off x="22401796" y="16476738"/>
            <a:ext cx="10089877" cy="2383600"/>
          </a:xfrm>
          <a:prstGeom prst="rect">
            <a:avLst/>
          </a:prstGeom>
          <a:solidFill>
            <a:schemeClr val="lt1"/>
          </a:solidFill>
          <a:ln>
            <a:noFill/>
          </a:ln>
        </p:spPr>
        <p:txBody>
          <a:bodyPr spcFirstLastPara="1" wrap="square" lIns="60950" tIns="30467" rIns="60950" bIns="30467" anchor="ctr" anchorCtr="0">
            <a:noAutofit/>
          </a:bodyPr>
          <a:lstStyle/>
          <a:p>
            <a:pPr marL="304815" indent="-279414">
              <a:lnSpc>
                <a:spcPct val="115000"/>
              </a:lnSpc>
              <a:spcBef>
                <a:spcPts val="800"/>
              </a:spcBef>
              <a:buClr>
                <a:schemeClr val="dk1"/>
              </a:buClr>
              <a:buSzPts val="3000"/>
              <a:buFont typeface="Arial"/>
              <a:buAutoNum type="arabicPeriod"/>
            </a:pPr>
            <a:r>
              <a:rPr lang="en-US" sz="2000">
                <a:solidFill>
                  <a:schemeClr val="dk1"/>
                </a:solidFill>
              </a:rPr>
              <a:t>Ho, D. L., &amp; M. D. (2020). </a:t>
            </a:r>
            <a:r>
              <a:rPr lang="en-US" sz="2000" i="1">
                <a:solidFill>
                  <a:schemeClr val="dk1"/>
                </a:solidFill>
              </a:rPr>
              <a:t>Pasteurella multocida: An overview of its clinical significance and treatment options.</a:t>
            </a:r>
            <a:r>
              <a:rPr lang="en-US" sz="2000">
                <a:solidFill>
                  <a:schemeClr val="dk1"/>
                </a:solidFill>
              </a:rPr>
              <a:t> Journal of Clinical Microbiology, 58(12), e01930-20.</a:t>
            </a:r>
            <a:endParaRPr sz="2000">
              <a:solidFill>
                <a:schemeClr val="dk1"/>
              </a:solidFill>
            </a:endParaRPr>
          </a:p>
          <a:p>
            <a:pPr marL="304815" indent="-279414">
              <a:lnSpc>
                <a:spcPct val="115000"/>
              </a:lnSpc>
              <a:buClr>
                <a:schemeClr val="dk1"/>
              </a:buClr>
              <a:buSzPts val="3000"/>
              <a:buFont typeface="Arial"/>
              <a:buAutoNum type="arabicPeriod"/>
            </a:pPr>
            <a:r>
              <a:rPr lang="en-US" sz="2000">
                <a:solidFill>
                  <a:schemeClr val="dk1"/>
                </a:solidFill>
              </a:rPr>
              <a:t>Thompson, A. J., &amp; W. G. (2018). </a:t>
            </a:r>
            <a:r>
              <a:rPr lang="en-US" sz="2000" i="1">
                <a:solidFill>
                  <a:schemeClr val="dk1"/>
                </a:solidFill>
              </a:rPr>
              <a:t>Sepsis and bacteremia caused by Pasteurella multocida: A review of clinical outcomes and treatment strategies.</a:t>
            </a:r>
            <a:r>
              <a:rPr lang="en-US" sz="2000">
                <a:solidFill>
                  <a:schemeClr val="dk1"/>
                </a:solidFill>
              </a:rPr>
              <a:t> Infectious Disease Reports, 10(4), 7545.</a:t>
            </a:r>
            <a:endParaRPr sz="2000">
              <a:solidFill>
                <a:schemeClr val="dk1"/>
              </a:solidFill>
            </a:endParaRPr>
          </a:p>
        </p:txBody>
      </p:sp>
      <p:sp>
        <p:nvSpPr>
          <p:cNvPr id="103" name="Google Shape;103;p1"/>
          <p:cNvSpPr/>
          <p:nvPr/>
        </p:nvSpPr>
        <p:spPr>
          <a:xfrm>
            <a:off x="22401803" y="10478793"/>
            <a:ext cx="10089877"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dirty="0">
                <a:solidFill>
                  <a:schemeClr val="lt1"/>
                </a:solidFill>
                <a:latin typeface="Calibri"/>
                <a:ea typeface="Calibri"/>
                <a:cs typeface="Calibri"/>
                <a:sym typeface="Calibri"/>
              </a:rPr>
              <a:t>Conclusion</a:t>
            </a:r>
            <a:endParaRPr sz="933" dirty="0"/>
          </a:p>
        </p:txBody>
      </p:sp>
      <p:sp>
        <p:nvSpPr>
          <p:cNvPr id="104" name="Google Shape;104;p1"/>
          <p:cNvSpPr/>
          <p:nvPr/>
        </p:nvSpPr>
        <p:spPr>
          <a:xfrm>
            <a:off x="22401796" y="11666548"/>
            <a:ext cx="10089877" cy="3637000"/>
          </a:xfrm>
          <a:prstGeom prst="rect">
            <a:avLst/>
          </a:prstGeom>
          <a:solidFill>
            <a:schemeClr val="lt1"/>
          </a:solidFill>
          <a:ln>
            <a:noFill/>
          </a:ln>
        </p:spPr>
        <p:txBody>
          <a:bodyPr spcFirstLastPara="1" wrap="square" lIns="60950" tIns="30467" rIns="60950" bIns="30467" anchor="ctr" anchorCtr="0">
            <a:noAutofit/>
          </a:bodyPr>
          <a:lstStyle/>
          <a:p>
            <a:pPr>
              <a:buSzPts val="4000"/>
            </a:pPr>
            <a:r>
              <a:rPr lang="en-US" sz="2533" i="1">
                <a:solidFill>
                  <a:schemeClr val="dk1"/>
                </a:solidFill>
              </a:rPr>
              <a:t>Pasteurella multocida</a:t>
            </a:r>
            <a:r>
              <a:rPr lang="en-US" sz="2533">
                <a:solidFill>
                  <a:schemeClr val="dk1"/>
                </a:solidFill>
              </a:rPr>
              <a:t> should be considered in immunocompromised patients presenting with sepsis, even in the absence of known animal exposure. Early recognition, appropriate antimicrobial therapy, and a multidisciplinary approach are critical in managing such complex cases. Despite aggressive treatment, this patient’s outcome was limited by her baseline functional status and multisystem decline, underscoring the need for timely goals-of-care discussions in similar scenarios.</a:t>
            </a:r>
            <a:endParaRPr sz="2533">
              <a:solidFill>
                <a:schemeClr val="dk1"/>
              </a:solidFill>
            </a:endParaRPr>
          </a:p>
        </p:txBody>
      </p:sp>
      <p:pic>
        <p:nvPicPr>
          <p:cNvPr id="105" name="Google Shape;105;p1" descr="Logo, company name&#10;&#10;Description automatically generated"/>
          <p:cNvPicPr preferRelativeResize="0"/>
          <p:nvPr/>
        </p:nvPicPr>
        <p:blipFill rotWithShape="1">
          <a:blip r:embed="rId3">
            <a:alphaModFix/>
          </a:blip>
          <a:srcRect b="54543"/>
          <a:stretch/>
        </p:blipFill>
        <p:spPr>
          <a:xfrm>
            <a:off x="24467079" y="19632316"/>
            <a:ext cx="3514545" cy="1692222"/>
          </a:xfrm>
          <a:prstGeom prst="rect">
            <a:avLst/>
          </a:prstGeom>
          <a:noFill/>
          <a:ln>
            <a:noFill/>
          </a:ln>
        </p:spPr>
      </p:pic>
      <p:pic>
        <p:nvPicPr>
          <p:cNvPr id="106" name="Google Shape;106;p1" descr="Logo, company name&#10;&#10;Description automatically generated"/>
          <p:cNvPicPr preferRelativeResize="0"/>
          <p:nvPr/>
        </p:nvPicPr>
        <p:blipFill rotWithShape="1">
          <a:blip r:embed="rId3">
            <a:alphaModFix/>
          </a:blip>
          <a:srcRect t="47565" b="13424"/>
          <a:stretch/>
        </p:blipFill>
        <p:spPr>
          <a:xfrm>
            <a:off x="26740870" y="19653796"/>
            <a:ext cx="3709142" cy="1532673"/>
          </a:xfrm>
          <a:prstGeom prst="rect">
            <a:avLst/>
          </a:prstGeom>
          <a:noFill/>
          <a:ln>
            <a:noFill/>
          </a:ln>
        </p:spPr>
      </p:pic>
      <p:pic>
        <p:nvPicPr>
          <p:cNvPr id="107" name="Google Shape;107;p1"/>
          <p:cNvPicPr preferRelativeResize="0"/>
          <p:nvPr/>
        </p:nvPicPr>
        <p:blipFill>
          <a:blip r:embed="rId4">
            <a:alphaModFix/>
          </a:blip>
          <a:stretch>
            <a:fillRect/>
          </a:stretch>
        </p:blipFill>
        <p:spPr>
          <a:xfrm>
            <a:off x="12717803" y="4165247"/>
            <a:ext cx="7533539" cy="11300317"/>
          </a:xfrm>
          <a:prstGeom prst="rect">
            <a:avLst/>
          </a:prstGeom>
          <a:noFill/>
          <a:ln>
            <a:noFill/>
          </a:ln>
        </p:spPr>
      </p:pic>
      <p:pic>
        <p:nvPicPr>
          <p:cNvPr id="108" name="Picture 107" descr="16C.png"/>
          <p:cNvPicPr>
            <a:picLocks noChangeAspect="1"/>
          </p:cNvPicPr>
          <p:nvPr/>
        </p:nvPicPr>
        <p:blipFill>
          <a:blip r:embed="rId5"/>
          <a:stretch>
            <a:fillRect/>
          </a:stretch>
        </p:blipFill>
        <p:spPr>
          <a:xfrm>
            <a:off x="29279088" y="356616"/>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761</Words>
  <Application>Microsoft Macintosh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cp:revision>
  <dcterms:modified xsi:type="dcterms:W3CDTF">2025-05-03T18:15:15Z</dcterms:modified>
</cp:coreProperties>
</file>