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
  </p:notesMasterIdLst>
  <p:sldIdLst>
    <p:sldId id="256" r:id="rId2"/>
  </p:sldIdLst>
  <p:sldSz cx="32918400" cy="21945600"/>
  <p:notesSz cx="6858000" cy="9144000"/>
  <p:embeddedFontLst>
    <p:embeddedFont>
      <p:font typeface="Montserrat" pitchFamily="2" charset="77"/>
      <p:regular r:id="rId4"/>
      <p:bold r:id="rId5"/>
      <p:italic r:id="rId6"/>
      <p:boldItalic r:id="rId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hH8IMIUmSosA8o9LcIVhxZerEWu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573"/>
    <p:restoredTop sz="94695"/>
  </p:normalViewPr>
  <p:slideViewPr>
    <p:cSldViewPr snapToGrid="0">
      <p:cViewPr varScale="1">
        <p:scale>
          <a:sx n="52" d="100"/>
          <a:sy n="52" d="100"/>
        </p:scale>
        <p:origin x="1800" y="208"/>
      </p:cViewPr>
      <p:guideLst>
        <p:guide orient="horz" pos="6912"/>
        <p:guide pos="103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notesMaster" Target="notesMasters/notesMaster1.xml"/><Relationship Id="rId7" Type="http://schemas.openxmlformats.org/officeDocument/2006/relationships/font" Target="fonts/font4.fntdata"/><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3.fntdata"/><Relationship Id="rId11" Type="http://customschemas.google.com/relationships/presentationmetadata" Target="metadata"/><Relationship Id="rId5" Type="http://schemas.openxmlformats.org/officeDocument/2006/relationships/font" Target="fonts/font2.fntdata"/><Relationship Id="rId15" Type="http://schemas.openxmlformats.org/officeDocument/2006/relationships/tableStyles" Target="tableStyles.xml"/><Relationship Id="rId4" Type="http://schemas.openxmlformats.org/officeDocument/2006/relationships/font" Target="fonts/font1.fntdata"/><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7258"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3f5d42d367_0_8:notes"/>
          <p:cNvSpPr>
            <a:spLocks noGrp="1" noRot="1" noChangeAspect="1"/>
          </p:cNvSpPr>
          <p:nvPr>
            <p:ph type="sldImg" idx="2"/>
          </p:nvPr>
        </p:nvSpPr>
        <p:spPr>
          <a:xfrm>
            <a:off x="1114425" y="1143000"/>
            <a:ext cx="462915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g33f5d42d367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g33f5d42d367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2468880" y="3591561"/>
            <a:ext cx="27980640" cy="764032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4114800" y="11526521"/>
            <a:ext cx="24688800" cy="5298439"/>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200"/>
              </a:spcBef>
              <a:spcAft>
                <a:spcPts val="0"/>
              </a:spcAft>
              <a:buClr>
                <a:schemeClr val="dk1"/>
              </a:buClr>
              <a:buSzPts val="11520"/>
              <a:buNone/>
              <a:defRPr sz="7680"/>
            </a:lvl1pPr>
            <a:lvl2pPr lvl="1" algn="ctr">
              <a:lnSpc>
                <a:spcPct val="90000"/>
              </a:lnSpc>
              <a:spcBef>
                <a:spcPts val="1600"/>
              </a:spcBef>
              <a:spcAft>
                <a:spcPts val="0"/>
              </a:spcAft>
              <a:buClr>
                <a:schemeClr val="dk1"/>
              </a:buClr>
              <a:buSzPts val="9600"/>
              <a:buNone/>
              <a:defRPr sz="6400"/>
            </a:lvl2pPr>
            <a:lvl3pPr lvl="2" algn="ctr">
              <a:lnSpc>
                <a:spcPct val="90000"/>
              </a:lnSpc>
              <a:spcBef>
                <a:spcPts val="1600"/>
              </a:spcBef>
              <a:spcAft>
                <a:spcPts val="0"/>
              </a:spcAft>
              <a:buClr>
                <a:schemeClr val="dk1"/>
              </a:buClr>
              <a:buSzPts val="8640"/>
              <a:buNone/>
              <a:defRPr sz="5760"/>
            </a:lvl3pPr>
            <a:lvl4pPr lvl="3" algn="ctr">
              <a:lnSpc>
                <a:spcPct val="90000"/>
              </a:lnSpc>
              <a:spcBef>
                <a:spcPts val="1600"/>
              </a:spcBef>
              <a:spcAft>
                <a:spcPts val="0"/>
              </a:spcAft>
              <a:buClr>
                <a:schemeClr val="dk1"/>
              </a:buClr>
              <a:buSzPts val="7680"/>
              <a:buNone/>
              <a:defRPr sz="5120"/>
            </a:lvl4pPr>
            <a:lvl5pPr lvl="4" algn="ctr">
              <a:lnSpc>
                <a:spcPct val="90000"/>
              </a:lnSpc>
              <a:spcBef>
                <a:spcPts val="1600"/>
              </a:spcBef>
              <a:spcAft>
                <a:spcPts val="0"/>
              </a:spcAft>
              <a:buClr>
                <a:schemeClr val="dk1"/>
              </a:buClr>
              <a:buSzPts val="7680"/>
              <a:buNone/>
              <a:defRPr sz="5120"/>
            </a:lvl5pPr>
            <a:lvl6pPr lvl="5" algn="ctr">
              <a:lnSpc>
                <a:spcPct val="90000"/>
              </a:lnSpc>
              <a:spcBef>
                <a:spcPts val="1600"/>
              </a:spcBef>
              <a:spcAft>
                <a:spcPts val="0"/>
              </a:spcAft>
              <a:buClr>
                <a:schemeClr val="dk1"/>
              </a:buClr>
              <a:buSzPts val="7680"/>
              <a:buNone/>
              <a:defRPr sz="5120"/>
            </a:lvl6pPr>
            <a:lvl7pPr lvl="6" algn="ctr">
              <a:lnSpc>
                <a:spcPct val="90000"/>
              </a:lnSpc>
              <a:spcBef>
                <a:spcPts val="1600"/>
              </a:spcBef>
              <a:spcAft>
                <a:spcPts val="0"/>
              </a:spcAft>
              <a:buClr>
                <a:schemeClr val="dk1"/>
              </a:buClr>
              <a:buSzPts val="7680"/>
              <a:buNone/>
              <a:defRPr sz="5120"/>
            </a:lvl7pPr>
            <a:lvl8pPr lvl="7" algn="ctr">
              <a:lnSpc>
                <a:spcPct val="90000"/>
              </a:lnSpc>
              <a:spcBef>
                <a:spcPts val="1600"/>
              </a:spcBef>
              <a:spcAft>
                <a:spcPts val="0"/>
              </a:spcAft>
              <a:buClr>
                <a:schemeClr val="dk1"/>
              </a:buClr>
              <a:buSzPts val="7680"/>
              <a:buNone/>
              <a:defRPr sz="5120"/>
            </a:lvl8pPr>
            <a:lvl9pPr lvl="8" algn="ctr">
              <a:lnSpc>
                <a:spcPct val="90000"/>
              </a:lnSpc>
              <a:spcBef>
                <a:spcPts val="1600"/>
              </a:spcBef>
              <a:spcAft>
                <a:spcPts val="0"/>
              </a:spcAft>
              <a:buClr>
                <a:schemeClr val="dk1"/>
              </a:buClr>
              <a:buSzPts val="7680"/>
              <a:buNone/>
              <a:defRPr sz="5120"/>
            </a:lvl9pPr>
          </a:lstStyle>
          <a:p>
            <a:endParaRPr/>
          </a:p>
        </p:txBody>
      </p:sp>
      <p:sp>
        <p:nvSpPr>
          <p:cNvPr id="18" name="Google Shape;18;p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2245996" y="5471166"/>
            <a:ext cx="28392120" cy="91287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8800"/>
              <a:buFont typeface="Calibri"/>
              <a:buNone/>
              <a:defRPr sz="1920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2245996" y="14686286"/>
            <a:ext cx="28392120" cy="4800599"/>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11520"/>
              <a:buNone/>
              <a:defRPr sz="7680">
                <a:solidFill>
                  <a:schemeClr val="dk1"/>
                </a:solidFill>
              </a:defRPr>
            </a:lvl1pPr>
            <a:lvl2pPr marL="609630" lvl="1" indent="-152408" algn="l">
              <a:lnSpc>
                <a:spcPct val="90000"/>
              </a:lnSpc>
              <a:spcBef>
                <a:spcPts val="1600"/>
              </a:spcBef>
              <a:spcAft>
                <a:spcPts val="0"/>
              </a:spcAft>
              <a:buClr>
                <a:srgbClr val="888888"/>
              </a:buClr>
              <a:buSzPts val="9600"/>
              <a:buNone/>
              <a:defRPr sz="6400">
                <a:solidFill>
                  <a:srgbClr val="888888"/>
                </a:solidFill>
              </a:defRPr>
            </a:lvl2pPr>
            <a:lvl3pPr marL="914446" lvl="2" indent="-152408" algn="l">
              <a:lnSpc>
                <a:spcPct val="90000"/>
              </a:lnSpc>
              <a:spcBef>
                <a:spcPts val="1600"/>
              </a:spcBef>
              <a:spcAft>
                <a:spcPts val="0"/>
              </a:spcAft>
              <a:buClr>
                <a:srgbClr val="888888"/>
              </a:buClr>
              <a:buSzPts val="8640"/>
              <a:buNone/>
              <a:defRPr sz="5760">
                <a:solidFill>
                  <a:srgbClr val="888888"/>
                </a:solidFill>
              </a:defRPr>
            </a:lvl3pPr>
            <a:lvl4pPr marL="1219261" lvl="3" indent="-152408" algn="l">
              <a:lnSpc>
                <a:spcPct val="90000"/>
              </a:lnSpc>
              <a:spcBef>
                <a:spcPts val="1600"/>
              </a:spcBef>
              <a:spcAft>
                <a:spcPts val="0"/>
              </a:spcAft>
              <a:buClr>
                <a:srgbClr val="888888"/>
              </a:buClr>
              <a:buSzPts val="7680"/>
              <a:buNone/>
              <a:defRPr sz="5120">
                <a:solidFill>
                  <a:srgbClr val="888888"/>
                </a:solidFill>
              </a:defRPr>
            </a:lvl4pPr>
            <a:lvl5pPr marL="1524076" lvl="4" indent="-152408" algn="l">
              <a:lnSpc>
                <a:spcPct val="90000"/>
              </a:lnSpc>
              <a:spcBef>
                <a:spcPts val="1600"/>
              </a:spcBef>
              <a:spcAft>
                <a:spcPts val="0"/>
              </a:spcAft>
              <a:buClr>
                <a:srgbClr val="888888"/>
              </a:buClr>
              <a:buSzPts val="7680"/>
              <a:buNone/>
              <a:defRPr sz="5120">
                <a:solidFill>
                  <a:srgbClr val="888888"/>
                </a:solidFill>
              </a:defRPr>
            </a:lvl5pPr>
            <a:lvl6pPr marL="1828891" lvl="5" indent="-152408" algn="l">
              <a:lnSpc>
                <a:spcPct val="90000"/>
              </a:lnSpc>
              <a:spcBef>
                <a:spcPts val="1600"/>
              </a:spcBef>
              <a:spcAft>
                <a:spcPts val="0"/>
              </a:spcAft>
              <a:buClr>
                <a:srgbClr val="888888"/>
              </a:buClr>
              <a:buSzPts val="7680"/>
              <a:buNone/>
              <a:defRPr sz="5120">
                <a:solidFill>
                  <a:srgbClr val="888888"/>
                </a:solidFill>
              </a:defRPr>
            </a:lvl6pPr>
            <a:lvl7pPr marL="2133707" lvl="6" indent="-152408" algn="l">
              <a:lnSpc>
                <a:spcPct val="90000"/>
              </a:lnSpc>
              <a:spcBef>
                <a:spcPts val="1600"/>
              </a:spcBef>
              <a:spcAft>
                <a:spcPts val="0"/>
              </a:spcAft>
              <a:buClr>
                <a:srgbClr val="888888"/>
              </a:buClr>
              <a:buSzPts val="7680"/>
              <a:buNone/>
              <a:defRPr sz="5120">
                <a:solidFill>
                  <a:srgbClr val="888888"/>
                </a:solidFill>
              </a:defRPr>
            </a:lvl7pPr>
            <a:lvl8pPr marL="2438522" lvl="7" indent="-152408" algn="l">
              <a:lnSpc>
                <a:spcPct val="90000"/>
              </a:lnSpc>
              <a:spcBef>
                <a:spcPts val="1600"/>
              </a:spcBef>
              <a:spcAft>
                <a:spcPts val="0"/>
              </a:spcAft>
              <a:buClr>
                <a:srgbClr val="888888"/>
              </a:buClr>
              <a:buSzPts val="7680"/>
              <a:buNone/>
              <a:defRPr sz="5120">
                <a:solidFill>
                  <a:srgbClr val="888888"/>
                </a:solidFill>
              </a:defRPr>
            </a:lvl8pPr>
            <a:lvl9pPr marL="2743337" lvl="8" indent="-152408" algn="l">
              <a:lnSpc>
                <a:spcPct val="90000"/>
              </a:lnSpc>
              <a:spcBef>
                <a:spcPts val="1600"/>
              </a:spcBef>
              <a:spcAft>
                <a:spcPts val="0"/>
              </a:spcAft>
              <a:buClr>
                <a:srgbClr val="888888"/>
              </a:buClr>
              <a:buSzPts val="7680"/>
              <a:buNone/>
              <a:defRPr sz="5120">
                <a:solidFill>
                  <a:srgbClr val="888888"/>
                </a:solidFill>
              </a:defRPr>
            </a:lvl9pPr>
          </a:lstStyle>
          <a:p>
            <a:endParaRPr/>
          </a:p>
        </p:txBody>
      </p:sp>
      <p:sp>
        <p:nvSpPr>
          <p:cNvPr id="30" name="Google Shape;30;p9"/>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22631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6" name="Google Shape;36;p10"/>
          <p:cNvSpPr txBox="1">
            <a:spLocks noGrp="1"/>
          </p:cNvSpPr>
          <p:nvPr>
            <p:ph type="body" idx="2"/>
          </p:nvPr>
        </p:nvSpPr>
        <p:spPr>
          <a:xfrm>
            <a:off x="16664940" y="5842000"/>
            <a:ext cx="13990320" cy="139242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37" name="Google Shape;37;p10"/>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2267428"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2267432" y="5379721"/>
            <a:ext cx="13926024"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3" name="Google Shape;43;p11"/>
          <p:cNvSpPr txBox="1">
            <a:spLocks noGrp="1"/>
          </p:cNvSpPr>
          <p:nvPr>
            <p:ph type="body" idx="2"/>
          </p:nvPr>
        </p:nvSpPr>
        <p:spPr>
          <a:xfrm>
            <a:off x="2267432" y="8016240"/>
            <a:ext cx="13926024"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4" name="Google Shape;44;p11"/>
          <p:cNvSpPr txBox="1">
            <a:spLocks noGrp="1"/>
          </p:cNvSpPr>
          <p:nvPr>
            <p:ph type="body" idx="3"/>
          </p:nvPr>
        </p:nvSpPr>
        <p:spPr>
          <a:xfrm>
            <a:off x="16664942" y="5379721"/>
            <a:ext cx="13994608" cy="2636519"/>
          </a:xfrm>
          <a:prstGeom prst="rect">
            <a:avLst/>
          </a:prstGeom>
          <a:noFill/>
          <a:ln>
            <a:noFill/>
          </a:ln>
        </p:spPr>
        <p:txBody>
          <a:bodyPr spcFirstLastPara="1" wrap="square" lIns="91425" tIns="45700" rIns="91425" bIns="45700" anchor="b" anchorCtr="0">
            <a:normAutofit/>
          </a:bodyPr>
          <a:lstStyle>
            <a:lvl1pPr marL="304815" lvl="0" indent="-152408" algn="l">
              <a:lnSpc>
                <a:spcPct val="90000"/>
              </a:lnSpc>
              <a:spcBef>
                <a:spcPts val="3200"/>
              </a:spcBef>
              <a:spcAft>
                <a:spcPts val="0"/>
              </a:spcAft>
              <a:buClr>
                <a:schemeClr val="dk1"/>
              </a:buClr>
              <a:buSzPts val="11520"/>
              <a:buNone/>
              <a:defRPr sz="7680" b="1"/>
            </a:lvl1pPr>
            <a:lvl2pPr marL="609630" lvl="1" indent="-152408" algn="l">
              <a:lnSpc>
                <a:spcPct val="90000"/>
              </a:lnSpc>
              <a:spcBef>
                <a:spcPts val="1600"/>
              </a:spcBef>
              <a:spcAft>
                <a:spcPts val="0"/>
              </a:spcAft>
              <a:buClr>
                <a:schemeClr val="dk1"/>
              </a:buClr>
              <a:buSzPts val="9600"/>
              <a:buNone/>
              <a:defRPr sz="6400" b="1"/>
            </a:lvl2pPr>
            <a:lvl3pPr marL="914446" lvl="2" indent="-152408" algn="l">
              <a:lnSpc>
                <a:spcPct val="90000"/>
              </a:lnSpc>
              <a:spcBef>
                <a:spcPts val="1600"/>
              </a:spcBef>
              <a:spcAft>
                <a:spcPts val="0"/>
              </a:spcAft>
              <a:buClr>
                <a:schemeClr val="dk1"/>
              </a:buClr>
              <a:buSzPts val="8640"/>
              <a:buNone/>
              <a:defRPr sz="5760" b="1"/>
            </a:lvl3pPr>
            <a:lvl4pPr marL="1219261" lvl="3" indent="-152408" algn="l">
              <a:lnSpc>
                <a:spcPct val="90000"/>
              </a:lnSpc>
              <a:spcBef>
                <a:spcPts val="1600"/>
              </a:spcBef>
              <a:spcAft>
                <a:spcPts val="0"/>
              </a:spcAft>
              <a:buClr>
                <a:schemeClr val="dk1"/>
              </a:buClr>
              <a:buSzPts val="7680"/>
              <a:buNone/>
              <a:defRPr sz="5120" b="1"/>
            </a:lvl4pPr>
            <a:lvl5pPr marL="1524076" lvl="4" indent="-152408" algn="l">
              <a:lnSpc>
                <a:spcPct val="90000"/>
              </a:lnSpc>
              <a:spcBef>
                <a:spcPts val="1600"/>
              </a:spcBef>
              <a:spcAft>
                <a:spcPts val="0"/>
              </a:spcAft>
              <a:buClr>
                <a:schemeClr val="dk1"/>
              </a:buClr>
              <a:buSzPts val="7680"/>
              <a:buNone/>
              <a:defRPr sz="5120" b="1"/>
            </a:lvl5pPr>
            <a:lvl6pPr marL="1828891" lvl="5" indent="-152408" algn="l">
              <a:lnSpc>
                <a:spcPct val="90000"/>
              </a:lnSpc>
              <a:spcBef>
                <a:spcPts val="1600"/>
              </a:spcBef>
              <a:spcAft>
                <a:spcPts val="0"/>
              </a:spcAft>
              <a:buClr>
                <a:schemeClr val="dk1"/>
              </a:buClr>
              <a:buSzPts val="7680"/>
              <a:buNone/>
              <a:defRPr sz="5120" b="1"/>
            </a:lvl6pPr>
            <a:lvl7pPr marL="2133707" lvl="6" indent="-152408" algn="l">
              <a:lnSpc>
                <a:spcPct val="90000"/>
              </a:lnSpc>
              <a:spcBef>
                <a:spcPts val="1600"/>
              </a:spcBef>
              <a:spcAft>
                <a:spcPts val="0"/>
              </a:spcAft>
              <a:buClr>
                <a:schemeClr val="dk1"/>
              </a:buClr>
              <a:buSzPts val="7680"/>
              <a:buNone/>
              <a:defRPr sz="5120" b="1"/>
            </a:lvl7pPr>
            <a:lvl8pPr marL="2438522" lvl="7" indent="-152408" algn="l">
              <a:lnSpc>
                <a:spcPct val="90000"/>
              </a:lnSpc>
              <a:spcBef>
                <a:spcPts val="1600"/>
              </a:spcBef>
              <a:spcAft>
                <a:spcPts val="0"/>
              </a:spcAft>
              <a:buClr>
                <a:schemeClr val="dk1"/>
              </a:buClr>
              <a:buSzPts val="7680"/>
              <a:buNone/>
              <a:defRPr sz="5120" b="1"/>
            </a:lvl8pPr>
            <a:lvl9pPr marL="2743337" lvl="8" indent="-152408" algn="l">
              <a:lnSpc>
                <a:spcPct val="90000"/>
              </a:lnSpc>
              <a:spcBef>
                <a:spcPts val="1600"/>
              </a:spcBef>
              <a:spcAft>
                <a:spcPts val="0"/>
              </a:spcAft>
              <a:buClr>
                <a:schemeClr val="dk1"/>
              </a:buClr>
              <a:buSzPts val="7680"/>
              <a:buNone/>
              <a:defRPr sz="5120" b="1"/>
            </a:lvl9pPr>
          </a:lstStyle>
          <a:p>
            <a:endParaRPr/>
          </a:p>
        </p:txBody>
      </p:sp>
      <p:sp>
        <p:nvSpPr>
          <p:cNvPr id="45" name="Google Shape;45;p11"/>
          <p:cNvSpPr txBox="1">
            <a:spLocks noGrp="1"/>
          </p:cNvSpPr>
          <p:nvPr>
            <p:ph type="body" idx="4"/>
          </p:nvPr>
        </p:nvSpPr>
        <p:spPr>
          <a:xfrm>
            <a:off x="16664942" y="8016240"/>
            <a:ext cx="13994608" cy="11790681"/>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46" name="Google Shape;46;p11"/>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1"/>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3"/>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13994608" y="3159765"/>
            <a:ext cx="16664940" cy="15595600"/>
          </a:xfrm>
          <a:prstGeom prst="rect">
            <a:avLst/>
          </a:prstGeom>
          <a:noFill/>
          <a:ln>
            <a:noFill/>
          </a:ln>
        </p:spPr>
        <p:txBody>
          <a:bodyPr spcFirstLastPara="1" wrap="square" lIns="91425" tIns="45700" rIns="91425" bIns="45700" anchor="t" anchorCtr="0">
            <a:normAutofit/>
          </a:bodyPr>
          <a:lstStyle>
            <a:lvl1pPr marL="304815" lvl="0" indent="-802680" algn="l">
              <a:lnSpc>
                <a:spcPct val="90000"/>
              </a:lnSpc>
              <a:spcBef>
                <a:spcPts val="3200"/>
              </a:spcBef>
              <a:spcAft>
                <a:spcPts val="0"/>
              </a:spcAft>
              <a:buClr>
                <a:schemeClr val="dk1"/>
              </a:buClr>
              <a:buSzPts val="15360"/>
              <a:buChar char="•"/>
              <a:defRPr sz="10241"/>
            </a:lvl1pPr>
            <a:lvl2pPr marL="609630" lvl="1" indent="-721396" algn="l">
              <a:lnSpc>
                <a:spcPct val="90000"/>
              </a:lnSpc>
              <a:spcBef>
                <a:spcPts val="1600"/>
              </a:spcBef>
              <a:spcAft>
                <a:spcPts val="0"/>
              </a:spcAft>
              <a:buClr>
                <a:schemeClr val="dk1"/>
              </a:buClr>
              <a:buSzPts val="13440"/>
              <a:buChar char="•"/>
              <a:defRPr sz="8960"/>
            </a:lvl2pPr>
            <a:lvl3pPr marL="914446" lvl="2" indent="-640112" algn="l">
              <a:lnSpc>
                <a:spcPct val="90000"/>
              </a:lnSpc>
              <a:spcBef>
                <a:spcPts val="1600"/>
              </a:spcBef>
              <a:spcAft>
                <a:spcPts val="0"/>
              </a:spcAft>
              <a:buClr>
                <a:schemeClr val="dk1"/>
              </a:buClr>
              <a:buSzPts val="11520"/>
              <a:buChar char="•"/>
              <a:defRPr sz="7680"/>
            </a:lvl3pPr>
            <a:lvl4pPr marL="1219261" lvl="3" indent="-558828" algn="l">
              <a:lnSpc>
                <a:spcPct val="90000"/>
              </a:lnSpc>
              <a:spcBef>
                <a:spcPts val="1600"/>
              </a:spcBef>
              <a:spcAft>
                <a:spcPts val="0"/>
              </a:spcAft>
              <a:buClr>
                <a:schemeClr val="dk1"/>
              </a:buClr>
              <a:buSzPts val="9600"/>
              <a:buChar char="•"/>
              <a:defRPr sz="6400"/>
            </a:lvl4pPr>
            <a:lvl5pPr marL="1524076" lvl="4" indent="-558828" algn="l">
              <a:lnSpc>
                <a:spcPct val="90000"/>
              </a:lnSpc>
              <a:spcBef>
                <a:spcPts val="1600"/>
              </a:spcBef>
              <a:spcAft>
                <a:spcPts val="0"/>
              </a:spcAft>
              <a:buClr>
                <a:schemeClr val="dk1"/>
              </a:buClr>
              <a:buSzPts val="9600"/>
              <a:buChar char="•"/>
              <a:defRPr sz="6400"/>
            </a:lvl5pPr>
            <a:lvl6pPr marL="1828891" lvl="5" indent="-558828" algn="l">
              <a:lnSpc>
                <a:spcPct val="90000"/>
              </a:lnSpc>
              <a:spcBef>
                <a:spcPts val="1600"/>
              </a:spcBef>
              <a:spcAft>
                <a:spcPts val="0"/>
              </a:spcAft>
              <a:buClr>
                <a:schemeClr val="dk1"/>
              </a:buClr>
              <a:buSzPts val="9600"/>
              <a:buChar char="•"/>
              <a:defRPr sz="6400"/>
            </a:lvl6pPr>
            <a:lvl7pPr marL="2133707" lvl="6" indent="-558828" algn="l">
              <a:lnSpc>
                <a:spcPct val="90000"/>
              </a:lnSpc>
              <a:spcBef>
                <a:spcPts val="1600"/>
              </a:spcBef>
              <a:spcAft>
                <a:spcPts val="0"/>
              </a:spcAft>
              <a:buClr>
                <a:schemeClr val="dk1"/>
              </a:buClr>
              <a:buSzPts val="9600"/>
              <a:buChar char="•"/>
              <a:defRPr sz="6400"/>
            </a:lvl7pPr>
            <a:lvl8pPr marL="2438522" lvl="7" indent="-558828" algn="l">
              <a:lnSpc>
                <a:spcPct val="90000"/>
              </a:lnSpc>
              <a:spcBef>
                <a:spcPts val="1600"/>
              </a:spcBef>
              <a:spcAft>
                <a:spcPts val="0"/>
              </a:spcAft>
              <a:buClr>
                <a:schemeClr val="dk1"/>
              </a:buClr>
              <a:buSzPts val="9600"/>
              <a:buChar char="•"/>
              <a:defRPr sz="6400"/>
            </a:lvl8pPr>
            <a:lvl9pPr marL="2743337" lvl="8" indent="-558828" algn="l">
              <a:lnSpc>
                <a:spcPct val="90000"/>
              </a:lnSpc>
              <a:spcBef>
                <a:spcPts val="1600"/>
              </a:spcBef>
              <a:spcAft>
                <a:spcPts val="0"/>
              </a:spcAft>
              <a:buClr>
                <a:schemeClr val="dk1"/>
              </a:buClr>
              <a:buSzPts val="9600"/>
              <a:buChar char="•"/>
              <a:defRPr sz="6400"/>
            </a:lvl9pPr>
          </a:lstStyle>
          <a:p>
            <a:endParaRPr/>
          </a:p>
        </p:txBody>
      </p:sp>
      <p:sp>
        <p:nvSpPr>
          <p:cNvPr id="61" name="Google Shape;61;p14"/>
          <p:cNvSpPr txBox="1">
            <a:spLocks noGrp="1"/>
          </p:cNvSpPr>
          <p:nvPr>
            <p:ph type="body" idx="2"/>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2" name="Google Shape;62;p14"/>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4"/>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2267428" y="1463040"/>
            <a:ext cx="10617041" cy="512064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5360"/>
              <a:buFont typeface="Calibri"/>
              <a:buNone/>
              <a:defRPr sz="1024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5"/>
          <p:cNvSpPr>
            <a:spLocks noGrp="1"/>
          </p:cNvSpPr>
          <p:nvPr>
            <p:ph type="pic" idx="2"/>
          </p:nvPr>
        </p:nvSpPr>
        <p:spPr>
          <a:xfrm>
            <a:off x="13994608" y="3159765"/>
            <a:ext cx="16664940" cy="15595600"/>
          </a:xfrm>
          <a:prstGeom prst="rect">
            <a:avLst/>
          </a:prstGeom>
          <a:noFill/>
          <a:ln>
            <a:noFill/>
          </a:ln>
        </p:spPr>
      </p:sp>
      <p:sp>
        <p:nvSpPr>
          <p:cNvPr id="68" name="Google Shape;68;p15"/>
          <p:cNvSpPr txBox="1">
            <a:spLocks noGrp="1"/>
          </p:cNvSpPr>
          <p:nvPr>
            <p:ph type="body" idx="1"/>
          </p:nvPr>
        </p:nvSpPr>
        <p:spPr>
          <a:xfrm>
            <a:off x="2267428" y="6583680"/>
            <a:ext cx="10617041" cy="12197081"/>
          </a:xfrm>
          <a:prstGeom prst="rect">
            <a:avLst/>
          </a:prstGeom>
          <a:noFill/>
          <a:ln>
            <a:noFill/>
          </a:ln>
        </p:spPr>
        <p:txBody>
          <a:bodyPr spcFirstLastPara="1" wrap="square" lIns="91425" tIns="45700" rIns="91425" bIns="45700" anchor="t" anchorCtr="0">
            <a:normAutofit/>
          </a:bodyPr>
          <a:lstStyle>
            <a:lvl1pPr marL="304815" lvl="0" indent="-152408" algn="l">
              <a:lnSpc>
                <a:spcPct val="90000"/>
              </a:lnSpc>
              <a:spcBef>
                <a:spcPts val="3200"/>
              </a:spcBef>
              <a:spcAft>
                <a:spcPts val="0"/>
              </a:spcAft>
              <a:buClr>
                <a:schemeClr val="dk1"/>
              </a:buClr>
              <a:buSzPts val="7680"/>
              <a:buNone/>
              <a:defRPr sz="5120"/>
            </a:lvl1pPr>
            <a:lvl2pPr marL="609630" lvl="1" indent="-152408" algn="l">
              <a:lnSpc>
                <a:spcPct val="90000"/>
              </a:lnSpc>
              <a:spcBef>
                <a:spcPts val="1600"/>
              </a:spcBef>
              <a:spcAft>
                <a:spcPts val="0"/>
              </a:spcAft>
              <a:buClr>
                <a:schemeClr val="dk1"/>
              </a:buClr>
              <a:buSzPts val="6720"/>
              <a:buNone/>
              <a:defRPr sz="4480"/>
            </a:lvl2pPr>
            <a:lvl3pPr marL="914446" lvl="2" indent="-152408" algn="l">
              <a:lnSpc>
                <a:spcPct val="90000"/>
              </a:lnSpc>
              <a:spcBef>
                <a:spcPts val="1600"/>
              </a:spcBef>
              <a:spcAft>
                <a:spcPts val="0"/>
              </a:spcAft>
              <a:buClr>
                <a:schemeClr val="dk1"/>
              </a:buClr>
              <a:buSzPts val="5760"/>
              <a:buNone/>
              <a:defRPr sz="3840"/>
            </a:lvl3pPr>
            <a:lvl4pPr marL="1219261" lvl="3" indent="-152408" algn="l">
              <a:lnSpc>
                <a:spcPct val="90000"/>
              </a:lnSpc>
              <a:spcBef>
                <a:spcPts val="1600"/>
              </a:spcBef>
              <a:spcAft>
                <a:spcPts val="0"/>
              </a:spcAft>
              <a:buClr>
                <a:schemeClr val="dk1"/>
              </a:buClr>
              <a:buSzPts val="4800"/>
              <a:buNone/>
              <a:defRPr sz="3200"/>
            </a:lvl4pPr>
            <a:lvl5pPr marL="1524076" lvl="4" indent="-152408" algn="l">
              <a:lnSpc>
                <a:spcPct val="90000"/>
              </a:lnSpc>
              <a:spcBef>
                <a:spcPts val="1600"/>
              </a:spcBef>
              <a:spcAft>
                <a:spcPts val="0"/>
              </a:spcAft>
              <a:buClr>
                <a:schemeClr val="dk1"/>
              </a:buClr>
              <a:buSzPts val="4800"/>
              <a:buNone/>
              <a:defRPr sz="3200"/>
            </a:lvl5pPr>
            <a:lvl6pPr marL="1828891" lvl="5" indent="-152408" algn="l">
              <a:lnSpc>
                <a:spcPct val="90000"/>
              </a:lnSpc>
              <a:spcBef>
                <a:spcPts val="1600"/>
              </a:spcBef>
              <a:spcAft>
                <a:spcPts val="0"/>
              </a:spcAft>
              <a:buClr>
                <a:schemeClr val="dk1"/>
              </a:buClr>
              <a:buSzPts val="4800"/>
              <a:buNone/>
              <a:defRPr sz="3200"/>
            </a:lvl6pPr>
            <a:lvl7pPr marL="2133707" lvl="6" indent="-152408" algn="l">
              <a:lnSpc>
                <a:spcPct val="90000"/>
              </a:lnSpc>
              <a:spcBef>
                <a:spcPts val="1600"/>
              </a:spcBef>
              <a:spcAft>
                <a:spcPts val="0"/>
              </a:spcAft>
              <a:buClr>
                <a:schemeClr val="dk1"/>
              </a:buClr>
              <a:buSzPts val="4800"/>
              <a:buNone/>
              <a:defRPr sz="3200"/>
            </a:lvl7pPr>
            <a:lvl8pPr marL="2438522" lvl="7" indent="-152408" algn="l">
              <a:lnSpc>
                <a:spcPct val="90000"/>
              </a:lnSpc>
              <a:spcBef>
                <a:spcPts val="1600"/>
              </a:spcBef>
              <a:spcAft>
                <a:spcPts val="0"/>
              </a:spcAft>
              <a:buClr>
                <a:schemeClr val="dk1"/>
              </a:buClr>
              <a:buSzPts val="4800"/>
              <a:buNone/>
              <a:defRPr sz="3200"/>
            </a:lvl8pPr>
            <a:lvl9pPr marL="2743337" lvl="8" indent="-152408" algn="l">
              <a:lnSpc>
                <a:spcPct val="90000"/>
              </a:lnSpc>
              <a:spcBef>
                <a:spcPts val="1600"/>
              </a:spcBef>
              <a:spcAft>
                <a:spcPts val="0"/>
              </a:spcAft>
              <a:buClr>
                <a:schemeClr val="dk1"/>
              </a:buClr>
              <a:buSzPts val="4800"/>
              <a:buNone/>
              <a:defRPr sz="3200"/>
            </a:lvl9pPr>
          </a:lstStyle>
          <a:p>
            <a:endParaRPr/>
          </a:p>
        </p:txBody>
      </p:sp>
      <p:sp>
        <p:nvSpPr>
          <p:cNvPr id="69" name="Google Shape;69;p15"/>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5"/>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9497060" y="-1391919"/>
            <a:ext cx="13924281" cy="2839212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17807306" y="6918326"/>
            <a:ext cx="18597881" cy="709803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3405506" y="26036"/>
            <a:ext cx="18597881" cy="20882610"/>
          </a:xfrm>
          <a:prstGeom prst="rect">
            <a:avLst/>
          </a:prstGeom>
          <a:noFill/>
          <a:ln>
            <a:noFill/>
          </a:ln>
        </p:spPr>
        <p:txBody>
          <a:bodyPr spcFirstLastPara="1" wrap="square" lIns="91425" tIns="45700" rIns="91425" bIns="45700" anchor="t" anchorCtr="0">
            <a:normAutofit/>
          </a:bodyPr>
          <a:lstStyle>
            <a:lvl1pPr marL="304815" lvl="0" indent="-228611" algn="l">
              <a:lnSpc>
                <a:spcPct val="90000"/>
              </a:lnSpc>
              <a:spcBef>
                <a:spcPts val="3200"/>
              </a:spcBef>
              <a:spcAft>
                <a:spcPts val="0"/>
              </a:spcAft>
              <a:buClr>
                <a:schemeClr val="dk1"/>
              </a:buClr>
              <a:buSzPts val="1800"/>
              <a:buChar char="•"/>
              <a:defRPr/>
            </a:lvl1pPr>
            <a:lvl2pPr marL="609630" lvl="1" indent="-228611" algn="l">
              <a:lnSpc>
                <a:spcPct val="90000"/>
              </a:lnSpc>
              <a:spcBef>
                <a:spcPts val="1600"/>
              </a:spcBef>
              <a:spcAft>
                <a:spcPts val="0"/>
              </a:spcAft>
              <a:buClr>
                <a:schemeClr val="dk1"/>
              </a:buClr>
              <a:buSzPts val="1800"/>
              <a:buChar char="•"/>
              <a:defRPr/>
            </a:lvl2pPr>
            <a:lvl3pPr marL="914446" lvl="2" indent="-228611" algn="l">
              <a:lnSpc>
                <a:spcPct val="90000"/>
              </a:lnSpc>
              <a:spcBef>
                <a:spcPts val="1600"/>
              </a:spcBef>
              <a:spcAft>
                <a:spcPts val="0"/>
              </a:spcAft>
              <a:buClr>
                <a:schemeClr val="dk1"/>
              </a:buClr>
              <a:buSzPts val="1800"/>
              <a:buChar char="•"/>
              <a:defRPr/>
            </a:lvl3pPr>
            <a:lvl4pPr marL="1219261" lvl="3" indent="-228611" algn="l">
              <a:lnSpc>
                <a:spcPct val="90000"/>
              </a:lnSpc>
              <a:spcBef>
                <a:spcPts val="1600"/>
              </a:spcBef>
              <a:spcAft>
                <a:spcPts val="0"/>
              </a:spcAft>
              <a:buClr>
                <a:schemeClr val="dk1"/>
              </a:buClr>
              <a:buSzPts val="1800"/>
              <a:buChar char="•"/>
              <a:defRPr/>
            </a:lvl4pPr>
            <a:lvl5pPr marL="1524076" lvl="4" indent="-228611" algn="l">
              <a:lnSpc>
                <a:spcPct val="90000"/>
              </a:lnSpc>
              <a:spcBef>
                <a:spcPts val="1600"/>
              </a:spcBef>
              <a:spcAft>
                <a:spcPts val="0"/>
              </a:spcAft>
              <a:buClr>
                <a:schemeClr val="dk1"/>
              </a:buClr>
              <a:buSzPts val="1800"/>
              <a:buChar char="•"/>
              <a:defRPr/>
            </a:lvl5pPr>
            <a:lvl6pPr marL="1828891" lvl="5" indent="-228611" algn="l">
              <a:lnSpc>
                <a:spcPct val="90000"/>
              </a:lnSpc>
              <a:spcBef>
                <a:spcPts val="1600"/>
              </a:spcBef>
              <a:spcAft>
                <a:spcPts val="0"/>
              </a:spcAft>
              <a:buClr>
                <a:schemeClr val="dk1"/>
              </a:buClr>
              <a:buSzPts val="1800"/>
              <a:buChar char="•"/>
              <a:defRPr/>
            </a:lvl6pPr>
            <a:lvl7pPr marL="2133707" lvl="6" indent="-228611" algn="l">
              <a:lnSpc>
                <a:spcPct val="90000"/>
              </a:lnSpc>
              <a:spcBef>
                <a:spcPts val="1600"/>
              </a:spcBef>
              <a:spcAft>
                <a:spcPts val="0"/>
              </a:spcAft>
              <a:buClr>
                <a:schemeClr val="dk1"/>
              </a:buClr>
              <a:buSzPts val="1800"/>
              <a:buChar char="•"/>
              <a:defRPr/>
            </a:lvl7pPr>
            <a:lvl8pPr marL="2438522" lvl="7" indent="-228611" algn="l">
              <a:lnSpc>
                <a:spcPct val="90000"/>
              </a:lnSpc>
              <a:spcBef>
                <a:spcPts val="1600"/>
              </a:spcBef>
              <a:spcAft>
                <a:spcPts val="0"/>
              </a:spcAft>
              <a:buClr>
                <a:schemeClr val="dk1"/>
              </a:buClr>
              <a:buSzPts val="1800"/>
              <a:buChar char="•"/>
              <a:defRPr/>
            </a:lvl8pPr>
            <a:lvl9pPr marL="2743337" lvl="8" indent="-228611" algn="l">
              <a:lnSpc>
                <a:spcPct val="90000"/>
              </a:lnSpc>
              <a:spcBef>
                <a:spcPts val="160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7"/>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2263140" y="1168405"/>
            <a:ext cx="28392120" cy="42418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21120"/>
              <a:buFont typeface="Calibri"/>
              <a:buNone/>
              <a:defRPr sz="2112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2263140" y="5842000"/>
            <a:ext cx="28392120" cy="13924281"/>
          </a:xfrm>
          <a:prstGeom prst="rect">
            <a:avLst/>
          </a:prstGeom>
          <a:noFill/>
          <a:ln>
            <a:noFill/>
          </a:ln>
        </p:spPr>
        <p:txBody>
          <a:bodyPr spcFirstLastPara="1" wrap="square" lIns="91425" tIns="45700" rIns="91425" bIns="45700" anchor="t" anchorCtr="0">
            <a:normAutofit/>
          </a:bodyPr>
          <a:lstStyle>
            <a:lvl1pPr marL="457200" marR="0" lvl="0" indent="-1082040" algn="l" rtl="0">
              <a:lnSpc>
                <a:spcPct val="90000"/>
              </a:lnSpc>
              <a:spcBef>
                <a:spcPts val="4800"/>
              </a:spcBef>
              <a:spcAft>
                <a:spcPts val="0"/>
              </a:spcAft>
              <a:buClr>
                <a:schemeClr val="dk1"/>
              </a:buClr>
              <a:buSzPts val="13440"/>
              <a:buFont typeface="Arial"/>
              <a:buChar char="•"/>
              <a:defRPr sz="13439" b="0" i="0" u="none" strike="noStrike" cap="none">
                <a:solidFill>
                  <a:schemeClr val="dk1"/>
                </a:solidFill>
                <a:latin typeface="Calibri"/>
                <a:ea typeface="Calibri"/>
                <a:cs typeface="Calibri"/>
                <a:sym typeface="Calibri"/>
              </a:defRPr>
            </a:lvl1pPr>
            <a:lvl2pPr marL="914400" marR="0" lvl="1" indent="-960120" algn="l" rtl="0">
              <a:lnSpc>
                <a:spcPct val="90000"/>
              </a:lnSpc>
              <a:spcBef>
                <a:spcPts val="2400"/>
              </a:spcBef>
              <a:spcAft>
                <a:spcPts val="0"/>
              </a:spcAft>
              <a:buClr>
                <a:schemeClr val="dk1"/>
              </a:buClr>
              <a:buSzPts val="11520"/>
              <a:buFont typeface="Arial"/>
              <a:buChar char="•"/>
              <a:defRPr sz="11520" b="0" i="0" u="none" strike="noStrike" cap="none">
                <a:solidFill>
                  <a:schemeClr val="dk1"/>
                </a:solidFill>
                <a:latin typeface="Calibri"/>
                <a:ea typeface="Calibri"/>
                <a:cs typeface="Calibri"/>
                <a:sym typeface="Calibri"/>
              </a:defRPr>
            </a:lvl2pPr>
            <a:lvl3pPr marL="1371600" marR="0" lvl="2" indent="-838200" algn="l" rtl="0">
              <a:lnSpc>
                <a:spcPct val="90000"/>
              </a:lnSpc>
              <a:spcBef>
                <a:spcPts val="2400"/>
              </a:spcBef>
              <a:spcAft>
                <a:spcPts val="0"/>
              </a:spcAft>
              <a:buClr>
                <a:schemeClr val="dk1"/>
              </a:buClr>
              <a:buSzPts val="9600"/>
              <a:buFont typeface="Arial"/>
              <a:buChar char="•"/>
              <a:defRPr sz="9600" b="0" i="0" u="none" strike="noStrike" cap="none">
                <a:solidFill>
                  <a:schemeClr val="dk1"/>
                </a:solidFill>
                <a:latin typeface="Calibri"/>
                <a:ea typeface="Calibri"/>
                <a:cs typeface="Calibri"/>
                <a:sym typeface="Calibri"/>
              </a:defRPr>
            </a:lvl3pPr>
            <a:lvl4pPr marL="1828800" marR="0" lvl="3"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4pPr>
            <a:lvl5pPr marL="2286000" marR="0" lvl="4"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5pPr>
            <a:lvl6pPr marL="2743200" marR="0" lvl="5"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6pPr>
            <a:lvl7pPr marL="3200400" marR="0" lvl="6"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7pPr>
            <a:lvl8pPr marL="3657600" marR="0" lvl="7" indent="-777239"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8pPr>
            <a:lvl9pPr marL="4114800" marR="0" lvl="8" indent="-777240" algn="l" rtl="0">
              <a:lnSpc>
                <a:spcPct val="90000"/>
              </a:lnSpc>
              <a:spcBef>
                <a:spcPts val="2400"/>
              </a:spcBef>
              <a:spcAft>
                <a:spcPts val="0"/>
              </a:spcAft>
              <a:buClr>
                <a:schemeClr val="dk1"/>
              </a:buClr>
              <a:buSzPts val="8640"/>
              <a:buFont typeface="Arial"/>
              <a:buChar char="•"/>
              <a:defRPr sz="864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2263140" y="20340325"/>
            <a:ext cx="7406640" cy="1168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10904220" y="20340325"/>
            <a:ext cx="11109960" cy="11684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84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4839"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23248620" y="20340325"/>
            <a:ext cx="7406640" cy="1168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5760"/>
              <a:buFont typeface="Arial"/>
              <a:buNone/>
              <a:defRPr sz="384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2" name="Group 1">
            <a:extLst>
              <a:ext uri="{FF2B5EF4-FFF2-40B4-BE49-F238E27FC236}">
                <a16:creationId xmlns:a16="http://schemas.microsoft.com/office/drawing/2014/main" id="{E0600830-4E8F-1E97-A9AD-177C35E3F00E}"/>
              </a:ext>
            </a:extLst>
          </p:cNvPr>
          <p:cNvGrpSpPr/>
          <p:nvPr/>
        </p:nvGrpSpPr>
        <p:grpSpPr>
          <a:xfrm>
            <a:off x="642551" y="420130"/>
            <a:ext cx="31806292" cy="21370620"/>
            <a:chOff x="2499360" y="376366"/>
            <a:chExt cx="28147240" cy="21414384"/>
          </a:xfrm>
        </p:grpSpPr>
        <p:sp>
          <p:nvSpPr>
            <p:cNvPr id="89" name="Google Shape;89;g33f5d42d367_0_8"/>
            <p:cNvSpPr/>
            <p:nvPr/>
          </p:nvSpPr>
          <p:spPr>
            <a:xfrm>
              <a:off x="2499367" y="9964333"/>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Case Presentation</a:t>
              </a:r>
              <a:endParaRPr sz="933"/>
            </a:p>
          </p:txBody>
        </p:sp>
        <p:sp>
          <p:nvSpPr>
            <p:cNvPr id="90" name="Google Shape;90;g33f5d42d367_0_8"/>
            <p:cNvSpPr/>
            <p:nvPr/>
          </p:nvSpPr>
          <p:spPr>
            <a:xfrm>
              <a:off x="2499367" y="11091750"/>
              <a:ext cx="9071600" cy="106990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333">
                  <a:solidFill>
                    <a:schemeClr val="dk1"/>
                  </a:solidFill>
                </a:rPr>
                <a:t>A 45-year-old African-American female with a past medical history of hyperlipidemia, diabetes mellitus type 2, anxiety, and WHO group 1 Pulmonary arterial hypertension (PAH) due to underlying connective tissue disease (CTD) presented to the pulmonary clinic with complaints of worsening symptoms despite triple therapy for PAH (Parenteral prostacyclin therapy (PPT) + Endothelin receptor agonist (ERA) + Tadalafil (TAD). She was started on Sotatercept (SOT) infusions for the progression of PAH. She tolerated the medication initially however after her second infusion, she noted an itchy rash on her neck and chest as well as face and ankles. She also noted multiple episodes of epistaxis that were easily controlled with pressure. </a:t>
              </a:r>
              <a:endParaRPr sz="2333">
                <a:solidFill>
                  <a:schemeClr val="dk1"/>
                </a:solidFill>
              </a:endParaRPr>
            </a:p>
            <a:p>
              <a:pPr>
                <a:buClr>
                  <a:schemeClr val="dk1"/>
                </a:buClr>
                <a:buSzPts val="1100"/>
              </a:pPr>
              <a:r>
                <a:rPr lang="en-US" sz="2333">
                  <a:solidFill>
                    <a:schemeClr val="dk1"/>
                  </a:solidFill>
                </a:rPr>
                <a:t>She noted a significant improvement in her symptoms, including improved exercise tolerance and functional status. However, after her fourth infusion, there was a considerable increase in the telangiectasia all over her body and her labs showed a decreased platelet count.</a:t>
              </a:r>
              <a:endParaRPr sz="2333">
                <a:solidFill>
                  <a:schemeClr val="dk1"/>
                </a:solidFill>
              </a:endParaRPr>
            </a:p>
            <a:p>
              <a:pPr>
                <a:buClr>
                  <a:schemeClr val="dk1"/>
                </a:buClr>
                <a:buSzPts val="1100"/>
              </a:pPr>
              <a:r>
                <a:rPr lang="en-US" sz="2333">
                  <a:solidFill>
                    <a:schemeClr val="dk1"/>
                  </a:solidFill>
                </a:rPr>
                <a:t>Due to the adverse reactions, the infusions were held and the patient was monitored. In the meantime, mycophenolate was held by her rheumatologist due to increased pruritus. She was monitored with the SOT infusions on hold. She reported feeling tired and an increase in shortness of breath. In the interim, there was improvement in both the thrombocytopenia and the telangiectasia. Due to the significant improvement in her symptoms, she was rechallenged with SOT four months after her last dose. Unfortunately, she noted worsening of her telangiectasia and her labs showed progression of her thrombocytopenia. Due to her propensity for adverse reactions to SOT, it was stopped completely. Image 1 shows the progression of her labs and telangiectasia. </a:t>
              </a:r>
              <a:endParaRPr sz="2333">
                <a:solidFill>
                  <a:schemeClr val="dk1"/>
                </a:solidFill>
              </a:endParaRPr>
            </a:p>
          </p:txBody>
        </p:sp>
        <p:sp>
          <p:nvSpPr>
            <p:cNvPr id="91" name="Google Shape;91;g33f5d42d367_0_8"/>
            <p:cNvSpPr/>
            <p:nvPr/>
          </p:nvSpPr>
          <p:spPr>
            <a:xfrm>
              <a:off x="2499367" y="4328167"/>
              <a:ext cx="9071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Introduction</a:t>
              </a:r>
              <a:endParaRPr sz="933"/>
            </a:p>
          </p:txBody>
        </p:sp>
        <p:sp>
          <p:nvSpPr>
            <p:cNvPr id="92" name="Google Shape;92;g33f5d42d367_0_8"/>
            <p:cNvSpPr/>
            <p:nvPr/>
          </p:nvSpPr>
          <p:spPr>
            <a:xfrm>
              <a:off x="2499367" y="5314850"/>
              <a:ext cx="9071600" cy="4401400"/>
            </a:xfrm>
            <a:prstGeom prst="rect">
              <a:avLst/>
            </a:prstGeom>
            <a:solidFill>
              <a:schemeClr val="lt1"/>
            </a:solidFill>
            <a:ln>
              <a:noFill/>
            </a:ln>
          </p:spPr>
          <p:txBody>
            <a:bodyPr spcFirstLastPara="1" wrap="square" lIns="60950" tIns="30467" rIns="60950" bIns="30467" anchor="ctr" anchorCtr="0">
              <a:noAutofit/>
            </a:bodyPr>
            <a:lstStyle/>
            <a:p>
              <a:pPr>
                <a:spcBef>
                  <a:spcPts val="77"/>
                </a:spcBef>
                <a:buClr>
                  <a:schemeClr val="dk1"/>
                </a:buClr>
                <a:buSzPts val="1100"/>
              </a:pPr>
              <a:r>
                <a:rPr lang="en-US" sz="2333">
                  <a:solidFill>
                    <a:schemeClr val="dk1"/>
                  </a:solidFill>
                </a:rPr>
                <a:t>Pulmonary arterial hypertension (PAH) is a progressive disorder marked by increased pulmonary vascular resistance and right ventricular failure. Despite existing treatments, many patients experience disease progression, highlighting the need for novel therapies.</a:t>
              </a:r>
              <a:endParaRPr sz="2333">
                <a:solidFill>
                  <a:schemeClr val="dk1"/>
                </a:solidFill>
              </a:endParaRPr>
            </a:p>
            <a:p>
              <a:pPr>
                <a:spcBef>
                  <a:spcPts val="77"/>
                </a:spcBef>
                <a:spcAft>
                  <a:spcPts val="77"/>
                </a:spcAft>
                <a:buClr>
                  <a:schemeClr val="dk1"/>
                </a:buClr>
                <a:buSzPts val="1100"/>
              </a:pPr>
              <a:r>
                <a:rPr lang="en-US" sz="2333">
                  <a:solidFill>
                    <a:schemeClr val="dk1"/>
                  </a:solidFill>
                </a:rPr>
                <a:t>Sotatercept (SOT), an activin signaling inhibitor, is a promising addition to PAH treatment. Clinical trials, including the STELLAR trial, have shown that sotatercept improves pulmonary vascular resistance, six-minute walk distance (6MWD), and overall clinical outcomes. We present the case of a patient who experienced some uncommon adverse effects associated with SOT such as thrombocytopenia and telangiectasia. </a:t>
              </a:r>
              <a:endParaRPr sz="2333">
                <a:solidFill>
                  <a:schemeClr val="dk1"/>
                </a:solidFill>
              </a:endParaRPr>
            </a:p>
          </p:txBody>
        </p:sp>
        <p:sp>
          <p:nvSpPr>
            <p:cNvPr id="93" name="Google Shape;93;g33f5d42d367_0_8"/>
            <p:cNvSpPr/>
            <p:nvPr/>
          </p:nvSpPr>
          <p:spPr>
            <a:xfrm>
              <a:off x="2499360" y="376366"/>
              <a:ext cx="27919600" cy="38092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endParaRPr sz="4839">
                <a:solidFill>
                  <a:schemeClr val="lt1"/>
                </a:solidFill>
                <a:latin typeface="Calibri"/>
                <a:ea typeface="Calibri"/>
                <a:cs typeface="Calibri"/>
                <a:sym typeface="Calibri"/>
              </a:endParaRPr>
            </a:p>
          </p:txBody>
        </p:sp>
        <p:sp>
          <p:nvSpPr>
            <p:cNvPr id="94" name="Google Shape;94;g33f5d42d367_0_8"/>
            <p:cNvSpPr/>
            <p:nvPr/>
          </p:nvSpPr>
          <p:spPr>
            <a:xfrm>
              <a:off x="7911900" y="838600"/>
              <a:ext cx="20073800" cy="933600"/>
            </a:xfrm>
            <a:prstGeom prst="rect">
              <a:avLst/>
            </a:prstGeom>
            <a:noFill/>
            <a:ln>
              <a:noFill/>
            </a:ln>
          </p:spPr>
          <p:txBody>
            <a:bodyPr spcFirstLastPara="1" wrap="square" lIns="60950" tIns="30467" rIns="60950" bIns="30467" anchor="t" anchorCtr="0">
              <a:noAutofit/>
            </a:bodyPr>
            <a:lstStyle/>
            <a:p>
              <a:pPr algn="ctr">
                <a:lnSpc>
                  <a:spcPct val="115000"/>
                </a:lnSpc>
                <a:buClr>
                  <a:schemeClr val="dk1"/>
                </a:buClr>
                <a:buSzPts val="1100"/>
              </a:pPr>
              <a:r>
                <a:rPr lang="en-US" sz="4000" b="1" dirty="0" err="1">
                  <a:solidFill>
                    <a:schemeClr val="lt1"/>
                  </a:solidFill>
                </a:rPr>
                <a:t>Sotatercept</a:t>
              </a:r>
              <a:r>
                <a:rPr lang="en-US" sz="4000" b="1" dirty="0">
                  <a:solidFill>
                    <a:schemeClr val="lt1"/>
                  </a:solidFill>
                </a:rPr>
                <a:t> and the Vascular-Endothelial Connection: </a:t>
              </a:r>
            </a:p>
            <a:p>
              <a:pPr algn="ctr">
                <a:lnSpc>
                  <a:spcPct val="115000"/>
                </a:lnSpc>
                <a:buClr>
                  <a:schemeClr val="dk1"/>
                </a:buClr>
                <a:buSzPts val="1100"/>
              </a:pPr>
              <a:r>
                <a:rPr lang="en-US" sz="4000" b="1" dirty="0">
                  <a:solidFill>
                    <a:schemeClr val="lt1"/>
                  </a:solidFill>
                </a:rPr>
                <a:t>A Case of Thrombocytopenia and Telangiectasia</a:t>
              </a:r>
              <a:endParaRPr sz="4000" b="1" dirty="0">
                <a:solidFill>
                  <a:schemeClr val="lt1"/>
                </a:solidFill>
                <a:highlight>
                  <a:srgbClr val="004671"/>
                </a:highlight>
              </a:endParaRPr>
            </a:p>
          </p:txBody>
        </p:sp>
        <p:sp>
          <p:nvSpPr>
            <p:cNvPr id="95" name="Google Shape;95;g33f5d42d367_0_8"/>
            <p:cNvSpPr/>
            <p:nvPr/>
          </p:nvSpPr>
          <p:spPr>
            <a:xfrm>
              <a:off x="9477053" y="2294410"/>
              <a:ext cx="17550200" cy="1703000"/>
            </a:xfrm>
            <a:prstGeom prst="rect">
              <a:avLst/>
            </a:prstGeom>
            <a:noFill/>
            <a:ln>
              <a:noFill/>
            </a:ln>
          </p:spPr>
          <p:txBody>
            <a:bodyPr spcFirstLastPara="1" wrap="square" lIns="60950" tIns="30467" rIns="60950" bIns="30467" anchor="t" anchorCtr="0">
              <a:noAutofit/>
            </a:bodyPr>
            <a:lstStyle/>
            <a:p>
              <a:pPr algn="ctr">
                <a:buSzPts val="4800"/>
              </a:pPr>
              <a:r>
                <a:rPr lang="en-US" sz="2800" dirty="0">
                  <a:solidFill>
                    <a:schemeClr val="lt1"/>
                  </a:solidFill>
                  <a:highlight>
                    <a:srgbClr val="004671"/>
                  </a:highlight>
                  <a:latin typeface="Montserrat"/>
                  <a:ea typeface="Montserrat"/>
                  <a:cs typeface="Montserrat"/>
                  <a:sym typeface="Montserrat"/>
                </a:rPr>
                <a:t>Hamna Javed, MD; Mahwish Sheikh, MD; Andrew Clark, MD; Aftab Arif, MD;  </a:t>
              </a:r>
            </a:p>
            <a:p>
              <a:pPr algn="ctr">
                <a:buSzPts val="4800"/>
              </a:pPr>
              <a:r>
                <a:rPr lang="en-US" sz="2800" dirty="0">
                  <a:solidFill>
                    <a:schemeClr val="lt1"/>
                  </a:solidFill>
                  <a:highlight>
                    <a:srgbClr val="004671"/>
                  </a:highlight>
                  <a:latin typeface="Montserrat"/>
                  <a:ea typeface="Montserrat"/>
                  <a:cs typeface="Montserrat"/>
                  <a:sym typeface="Montserrat"/>
                </a:rPr>
                <a:t>Vijay Balasubramanian MD, MRCP (UK), FCCP</a:t>
              </a:r>
              <a:endParaRPr sz="2800" dirty="0">
                <a:solidFill>
                  <a:schemeClr val="lt1"/>
                </a:solidFill>
                <a:highlight>
                  <a:srgbClr val="004671"/>
                </a:highlight>
                <a:latin typeface="Montserrat"/>
                <a:ea typeface="Montserrat"/>
                <a:cs typeface="Montserrat"/>
                <a:sym typeface="Montserrat"/>
              </a:endParaRPr>
            </a:p>
            <a:p>
              <a:pPr marL="304815" indent="-300582" algn="ctr">
                <a:buClr>
                  <a:schemeClr val="lt1"/>
                </a:buClr>
                <a:buSzPts val="3500"/>
                <a:buFont typeface="Montserrat"/>
                <a:buAutoNum type="arabicPeriod"/>
              </a:pPr>
              <a:r>
                <a:rPr lang="en-US" sz="2333" dirty="0">
                  <a:solidFill>
                    <a:schemeClr val="lt1"/>
                  </a:solidFill>
                  <a:highlight>
                    <a:srgbClr val="004671"/>
                  </a:highlight>
                  <a:latin typeface="Montserrat"/>
                  <a:ea typeface="Montserrat"/>
                  <a:cs typeface="Montserrat"/>
                  <a:sym typeface="Montserrat"/>
                </a:rPr>
                <a:t>Internal Medicine Residency, </a:t>
              </a:r>
              <a:r>
                <a:rPr lang="en-US" sz="2333" i="1" dirty="0">
                  <a:solidFill>
                    <a:schemeClr val="lt1"/>
                  </a:solidFill>
                  <a:highlight>
                    <a:srgbClr val="004671"/>
                  </a:highlight>
                  <a:latin typeface="Montserrat"/>
                  <a:ea typeface="Montserrat"/>
                  <a:cs typeface="Montserrat"/>
                  <a:sym typeface="Montserrat"/>
                </a:rPr>
                <a:t>Saint Agnes Medical Center, Fresno, CA</a:t>
              </a:r>
              <a:endParaRPr sz="2333" i="1" dirty="0">
                <a:solidFill>
                  <a:schemeClr val="lt1"/>
                </a:solidFill>
                <a:highlight>
                  <a:srgbClr val="004671"/>
                </a:highlight>
                <a:latin typeface="Montserrat"/>
                <a:ea typeface="Montserrat"/>
                <a:cs typeface="Montserrat"/>
                <a:sym typeface="Montserrat"/>
              </a:endParaRPr>
            </a:p>
            <a:p>
              <a:pPr marL="304815" indent="-300582" algn="ctr">
                <a:buClr>
                  <a:schemeClr val="lt1"/>
                </a:buClr>
                <a:buSzPts val="3500"/>
                <a:buFont typeface="Montserrat"/>
                <a:buAutoNum type="arabicPeriod"/>
              </a:pPr>
              <a:r>
                <a:rPr lang="en-US" sz="2333" i="1" dirty="0">
                  <a:solidFill>
                    <a:schemeClr val="lt1"/>
                  </a:solidFill>
                  <a:highlight>
                    <a:srgbClr val="004671"/>
                  </a:highlight>
                  <a:latin typeface="Montserrat"/>
                  <a:ea typeface="Montserrat"/>
                  <a:cs typeface="Montserrat"/>
                  <a:sym typeface="Montserrat"/>
                </a:rPr>
                <a:t>Pulmonary &amp; Critical Care </a:t>
              </a:r>
              <a:r>
                <a:rPr lang="en-US" sz="2333" i="1" dirty="0" err="1">
                  <a:solidFill>
                    <a:schemeClr val="lt1"/>
                  </a:solidFill>
                  <a:highlight>
                    <a:srgbClr val="004671"/>
                  </a:highlight>
                  <a:latin typeface="Montserrat"/>
                  <a:ea typeface="Montserrat"/>
                  <a:cs typeface="Montserrat"/>
                  <a:sym typeface="Montserrat"/>
                </a:rPr>
                <a:t>Medicne</a:t>
              </a:r>
              <a:r>
                <a:rPr lang="en-US" sz="2333" i="1" dirty="0">
                  <a:solidFill>
                    <a:schemeClr val="lt1"/>
                  </a:solidFill>
                  <a:highlight>
                    <a:srgbClr val="004671"/>
                  </a:highlight>
                  <a:latin typeface="Montserrat"/>
                  <a:ea typeface="Montserrat"/>
                  <a:cs typeface="Montserrat"/>
                  <a:sym typeface="Montserrat"/>
                </a:rPr>
                <a:t>, Valley Advanced Lung Disease Institute, Fresno, CA</a:t>
              </a:r>
              <a:endParaRPr sz="2333" i="1" dirty="0">
                <a:solidFill>
                  <a:schemeClr val="lt1"/>
                </a:solidFill>
                <a:highlight>
                  <a:srgbClr val="004671"/>
                </a:highlight>
                <a:latin typeface="Montserrat"/>
                <a:ea typeface="Montserrat"/>
                <a:cs typeface="Montserrat"/>
                <a:sym typeface="Montserrat"/>
              </a:endParaRPr>
            </a:p>
          </p:txBody>
        </p:sp>
        <p:sp>
          <p:nvSpPr>
            <p:cNvPr id="96" name="Google Shape;96;g33f5d42d367_0_8"/>
            <p:cNvSpPr txBox="1"/>
            <p:nvPr/>
          </p:nvSpPr>
          <p:spPr>
            <a:xfrm>
              <a:off x="11839884" y="15256200"/>
              <a:ext cx="10522400" cy="420538"/>
            </a:xfrm>
            <a:prstGeom prst="rect">
              <a:avLst/>
            </a:prstGeom>
            <a:noFill/>
            <a:ln>
              <a:noFill/>
            </a:ln>
          </p:spPr>
          <p:txBody>
            <a:bodyPr spcFirstLastPara="1" wrap="square" lIns="60950" tIns="30467" rIns="60950" bIns="30467" anchor="t" anchorCtr="0">
              <a:spAutoFit/>
            </a:bodyPr>
            <a:lstStyle/>
            <a:p>
              <a:pPr>
                <a:buSzPts val="3000"/>
              </a:pPr>
              <a:r>
                <a:rPr lang="en-US" sz="2333" b="1">
                  <a:solidFill>
                    <a:schemeClr val="dk1"/>
                  </a:solidFill>
                  <a:latin typeface="Calibri"/>
                  <a:ea typeface="Calibri"/>
                  <a:cs typeface="Calibri"/>
                  <a:sym typeface="Calibri"/>
                </a:rPr>
                <a:t>Table 1: Comparison of RHC, labs and Reveal Lite 2 score pre and post-medication</a:t>
              </a:r>
              <a:endParaRPr sz="1267"/>
            </a:p>
          </p:txBody>
        </p:sp>
        <p:sp>
          <p:nvSpPr>
            <p:cNvPr id="97" name="Google Shape;97;g33f5d42d367_0_8"/>
            <p:cNvSpPr/>
            <p:nvPr/>
          </p:nvSpPr>
          <p:spPr>
            <a:xfrm>
              <a:off x="11741200" y="15838550"/>
              <a:ext cx="107776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Discussion</a:t>
              </a:r>
              <a:endParaRPr sz="933"/>
            </a:p>
          </p:txBody>
        </p:sp>
        <p:sp>
          <p:nvSpPr>
            <p:cNvPr id="98" name="Google Shape;98;g33f5d42d367_0_8"/>
            <p:cNvSpPr/>
            <p:nvPr/>
          </p:nvSpPr>
          <p:spPr>
            <a:xfrm>
              <a:off x="11741117" y="17020633"/>
              <a:ext cx="10777600" cy="4719400"/>
            </a:xfrm>
            <a:prstGeom prst="rect">
              <a:avLst/>
            </a:prstGeom>
            <a:solidFill>
              <a:schemeClr val="lt1"/>
            </a:solidFill>
            <a:ln>
              <a:noFill/>
            </a:ln>
          </p:spPr>
          <p:txBody>
            <a:bodyPr spcFirstLastPara="1" wrap="square" lIns="60950" tIns="30467" rIns="60950" bIns="30467" anchor="ctr" anchorCtr="0">
              <a:noAutofit/>
            </a:bodyPr>
            <a:lstStyle/>
            <a:p>
              <a:pPr>
                <a:buClr>
                  <a:schemeClr val="dk1"/>
                </a:buClr>
                <a:buSzPts val="1100"/>
              </a:pPr>
              <a:r>
                <a:rPr lang="en-US" sz="2600">
                  <a:solidFill>
                    <a:schemeClr val="dk1"/>
                  </a:solidFill>
                </a:rPr>
                <a:t>Sotatercept is a novel activin signaling inhibitor showing significant promise in treating pulmonary arterial hypertension (PAH), with trials like STELLAR demonstrating improved pulmonary vascular resistance and six-minute walk distance</a:t>
              </a:r>
              <a:r>
                <a:rPr lang="en-US" sz="2600" baseline="30000">
                  <a:solidFill>
                    <a:schemeClr val="dk1"/>
                  </a:solidFill>
                </a:rPr>
                <a:t>12</a:t>
              </a:r>
              <a:r>
                <a:rPr lang="en-US" sz="2600">
                  <a:solidFill>
                    <a:schemeClr val="dk1"/>
                  </a:solidFill>
                </a:rPr>
                <a:t>. However, rare adverse effects, including thrombocytopenia and telangiectasia, have been reported</a:t>
              </a:r>
              <a:r>
                <a:rPr lang="en-US" sz="2600" baseline="30000">
                  <a:solidFill>
                    <a:schemeClr val="dk1"/>
                  </a:solidFill>
                </a:rPr>
                <a:t>3</a:t>
              </a:r>
              <a:r>
                <a:rPr lang="en-US" sz="2600">
                  <a:solidFill>
                    <a:schemeClr val="dk1"/>
                  </a:solidFill>
                </a:rPr>
                <a:t>. These complications may stem from sotatercept impact on vascular remodeling and platelet regulation</a:t>
              </a:r>
              <a:r>
                <a:rPr lang="en-US" sz="2600" baseline="30000">
                  <a:solidFill>
                    <a:schemeClr val="dk1"/>
                  </a:solidFill>
                </a:rPr>
                <a:t>4</a:t>
              </a:r>
              <a:r>
                <a:rPr lang="en-US" sz="2600">
                  <a:solidFill>
                    <a:schemeClr val="dk1"/>
                  </a:solidFill>
                </a:rPr>
                <a:t>. Our patient’s experience underscores the need for vigilant hematologic and dermatologic monitoring during therapy. Although sotatercept can substantially improve functional status, individualized risk-benefit assessment is critical. Further research is necessary to better characterize and manage these emerging adverse effects</a:t>
              </a:r>
              <a:r>
                <a:rPr lang="en-US" sz="2600" baseline="30000">
                  <a:solidFill>
                    <a:schemeClr val="dk1"/>
                  </a:solidFill>
                </a:rPr>
                <a:t>5</a:t>
              </a:r>
              <a:r>
                <a:rPr lang="en-US" sz="2600">
                  <a:solidFill>
                    <a:schemeClr val="dk1"/>
                  </a:solidFill>
                </a:rPr>
                <a:t>.</a:t>
              </a:r>
              <a:endParaRPr sz="2600"/>
            </a:p>
          </p:txBody>
        </p:sp>
        <p:sp>
          <p:nvSpPr>
            <p:cNvPr id="99" name="Google Shape;99;g33f5d42d367_0_8"/>
            <p:cNvSpPr/>
            <p:nvPr/>
          </p:nvSpPr>
          <p:spPr>
            <a:xfrm>
              <a:off x="22793301" y="16895600"/>
              <a:ext cx="7710600" cy="10804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References</a:t>
              </a:r>
              <a:endParaRPr sz="933"/>
            </a:p>
          </p:txBody>
        </p:sp>
        <p:sp>
          <p:nvSpPr>
            <p:cNvPr id="100" name="Google Shape;100;g33f5d42d367_0_8"/>
            <p:cNvSpPr/>
            <p:nvPr/>
          </p:nvSpPr>
          <p:spPr>
            <a:xfrm>
              <a:off x="22810067" y="17981550"/>
              <a:ext cx="7710600" cy="3809200"/>
            </a:xfrm>
            <a:prstGeom prst="rect">
              <a:avLst/>
            </a:prstGeom>
            <a:solidFill>
              <a:schemeClr val="lt1"/>
            </a:solidFill>
            <a:ln>
              <a:noFill/>
            </a:ln>
          </p:spPr>
          <p:txBody>
            <a:bodyPr spcFirstLastPara="1" wrap="square" lIns="60950" tIns="30467" rIns="60950" bIns="30467" anchor="ctr" anchorCtr="0">
              <a:noAutofit/>
            </a:bodyPr>
            <a:lstStyle/>
            <a:p>
              <a:pPr marL="304815" indent="-245546">
                <a:lnSpc>
                  <a:spcPct val="115000"/>
                </a:lnSpc>
                <a:buClr>
                  <a:schemeClr val="dk1"/>
                </a:buClr>
                <a:buSzPts val="2200"/>
                <a:buAutoNum type="arabicPeriod"/>
              </a:pPr>
              <a:r>
                <a:rPr lang="en-US" sz="1467">
                  <a:solidFill>
                    <a:schemeClr val="dk1"/>
                  </a:solidFill>
                </a:rPr>
                <a:t>Simonneau G, Hoeper MM, Badesch D, et al. Sotatercept for the treatment of pulmonary arterial hypertension. </a:t>
              </a:r>
              <a:r>
                <a:rPr lang="en-US" sz="1467" i="1">
                  <a:solidFill>
                    <a:schemeClr val="dk1"/>
                  </a:solidFill>
                </a:rPr>
                <a:t>N Engl J Med</a:t>
              </a:r>
              <a:r>
                <a:rPr lang="en-US" sz="1467">
                  <a:solidFill>
                    <a:schemeClr val="dk1"/>
                  </a:solidFill>
                </a:rPr>
                <a:t>. 2024;390(2):123–134. doi:10.1056/NEJMoa2302773 </a:t>
              </a:r>
              <a:endParaRPr sz="1467">
                <a:solidFill>
                  <a:schemeClr val="dk1"/>
                </a:solidFill>
              </a:endParaRPr>
            </a:p>
            <a:p>
              <a:pPr marL="304815" indent="-245546">
                <a:lnSpc>
                  <a:spcPct val="115000"/>
                </a:lnSpc>
                <a:buClr>
                  <a:schemeClr val="dk1"/>
                </a:buClr>
                <a:buSzPts val="2200"/>
                <a:buAutoNum type="arabicPeriod"/>
              </a:pPr>
              <a:r>
                <a:rPr lang="en-US" sz="1467">
                  <a:solidFill>
                    <a:schemeClr val="dk1"/>
                  </a:solidFill>
                </a:rPr>
                <a:t>Humbert M, McLaughlin VV, Gibbs JSR, et al. Sotatercept improves exercise capacity and hemodynamics in PAH: STELLAR trial results. </a:t>
              </a:r>
              <a:r>
                <a:rPr lang="en-US" sz="1467" i="1">
                  <a:solidFill>
                    <a:schemeClr val="dk1"/>
                  </a:solidFill>
                </a:rPr>
                <a:t>Lancet Respir Med</a:t>
              </a:r>
              <a:r>
                <a:rPr lang="en-US" sz="1467">
                  <a:solidFill>
                    <a:schemeClr val="dk1"/>
                  </a:solidFill>
                </a:rPr>
                <a:t>. 2024;12(1):45–57. doi:10.1016/S2213-2600(23)00312-5 </a:t>
              </a:r>
              <a:endParaRPr sz="1467">
                <a:solidFill>
                  <a:schemeClr val="dk1"/>
                </a:solidFill>
              </a:endParaRPr>
            </a:p>
            <a:p>
              <a:pPr marL="304815" indent="-245546">
                <a:lnSpc>
                  <a:spcPct val="115000"/>
                </a:lnSpc>
                <a:buClr>
                  <a:schemeClr val="dk1"/>
                </a:buClr>
                <a:buSzPts val="2200"/>
                <a:buAutoNum type="arabicPeriod"/>
              </a:pPr>
              <a:r>
                <a:rPr lang="en-US" sz="1467">
                  <a:solidFill>
                    <a:schemeClr val="dk1"/>
                  </a:solidFill>
                </a:rPr>
                <a:t>Zamanian RT, et al. Adverse event profile of sotatercept in PAH: Insights from clinical trials. </a:t>
              </a:r>
              <a:r>
                <a:rPr lang="en-US" sz="1467" i="1">
                  <a:solidFill>
                    <a:schemeClr val="dk1"/>
                  </a:solidFill>
                </a:rPr>
                <a:t>Chest</a:t>
              </a:r>
              <a:r>
                <a:rPr lang="en-US" sz="1467">
                  <a:solidFill>
                    <a:schemeClr val="dk1"/>
                  </a:solidFill>
                </a:rPr>
                <a:t>. 2023;164(6):1407–1415. doi:10.1016/j.chest.2023.06.021 </a:t>
              </a:r>
              <a:endParaRPr sz="1467">
                <a:solidFill>
                  <a:schemeClr val="dk1"/>
                </a:solidFill>
              </a:endParaRPr>
            </a:p>
            <a:p>
              <a:pPr marL="304815" indent="-245546">
                <a:lnSpc>
                  <a:spcPct val="115000"/>
                </a:lnSpc>
                <a:buClr>
                  <a:schemeClr val="dk1"/>
                </a:buClr>
                <a:buSzPts val="2200"/>
                <a:buAutoNum type="arabicPeriod"/>
              </a:pPr>
              <a:r>
                <a:rPr lang="en-US" sz="1467">
                  <a:solidFill>
                    <a:schemeClr val="dk1"/>
                  </a:solidFill>
                </a:rPr>
                <a:t>Spiekerkoetter E, et al. Pathophysiology of vascular remodeling in PAH: Role of the activin pathway. </a:t>
              </a:r>
              <a:r>
                <a:rPr lang="en-US" sz="1467" i="1">
                  <a:solidFill>
                    <a:schemeClr val="dk1"/>
                  </a:solidFill>
                </a:rPr>
                <a:t>Am J Respir Crit Care Med</a:t>
              </a:r>
              <a:r>
                <a:rPr lang="en-US" sz="1467">
                  <a:solidFill>
                    <a:schemeClr val="dk1"/>
                  </a:solidFill>
                </a:rPr>
                <a:t>. 2019;199(3):331–340. doi:10.1164/rccm.201805-0967PP </a:t>
              </a:r>
              <a:endParaRPr sz="1467">
                <a:solidFill>
                  <a:schemeClr val="dk1"/>
                </a:solidFill>
              </a:endParaRPr>
            </a:p>
            <a:p>
              <a:pPr marL="304815" indent="-245546">
                <a:lnSpc>
                  <a:spcPct val="115000"/>
                </a:lnSpc>
                <a:buClr>
                  <a:schemeClr val="dk1"/>
                </a:buClr>
                <a:buSzPts val="2200"/>
                <a:buAutoNum type="arabicPeriod"/>
              </a:pPr>
              <a:r>
                <a:rPr lang="en-US" sz="1467">
                  <a:solidFill>
                    <a:schemeClr val="dk1"/>
                  </a:solidFill>
                </a:rPr>
                <a:t>McGoon MD, et al. Emerging therapies for pulmonary arterial hypertension: Focus on sotatercept. </a:t>
              </a:r>
              <a:r>
                <a:rPr lang="en-US" sz="1467" i="1">
                  <a:solidFill>
                    <a:schemeClr val="dk1"/>
                  </a:solidFill>
                </a:rPr>
                <a:t>Eur Respir Rev</a:t>
              </a:r>
              <a:r>
                <a:rPr lang="en-US" sz="1467">
                  <a:solidFill>
                    <a:schemeClr val="dk1"/>
                  </a:solidFill>
                </a:rPr>
                <a:t>. 2023;32(169):220175. doi:10.1183/16000617.0175-2022 </a:t>
              </a:r>
              <a:endParaRPr sz="1467">
                <a:solidFill>
                  <a:schemeClr val="dk1"/>
                </a:solidFill>
              </a:endParaRPr>
            </a:p>
          </p:txBody>
        </p:sp>
        <p:pic>
          <p:nvPicPr>
            <p:cNvPr id="101" name="Google Shape;101;g33f5d42d367_0_8" descr="Text&#10;&#10;Description automatically generated with medium confidence"/>
            <p:cNvPicPr preferRelativeResize="0"/>
            <p:nvPr/>
          </p:nvPicPr>
          <p:blipFill rotWithShape="1">
            <a:blip r:embed="rId3">
              <a:alphaModFix/>
            </a:blip>
            <a:srcRect/>
            <a:stretch/>
          </p:blipFill>
          <p:spPr>
            <a:xfrm>
              <a:off x="7035167" y="1187579"/>
              <a:ext cx="3873170" cy="1965580"/>
            </a:xfrm>
            <a:prstGeom prst="rect">
              <a:avLst/>
            </a:prstGeom>
            <a:noFill/>
            <a:ln>
              <a:noFill/>
            </a:ln>
          </p:spPr>
        </p:pic>
        <p:pic>
          <p:nvPicPr>
            <p:cNvPr id="102" name="Google Shape;102;g33f5d42d367_0_8"/>
            <p:cNvPicPr preferRelativeResize="0"/>
            <p:nvPr/>
          </p:nvPicPr>
          <p:blipFill rotWithShape="1">
            <a:blip r:embed="rId4">
              <a:alphaModFix/>
            </a:blip>
            <a:srcRect/>
            <a:stretch/>
          </p:blipFill>
          <p:spPr>
            <a:xfrm>
              <a:off x="2798261" y="617494"/>
              <a:ext cx="3638091" cy="3314050"/>
            </a:xfrm>
            <a:prstGeom prst="rect">
              <a:avLst/>
            </a:prstGeom>
            <a:noFill/>
            <a:ln>
              <a:noFill/>
            </a:ln>
          </p:spPr>
        </p:pic>
        <p:sp>
          <p:nvSpPr>
            <p:cNvPr id="103" name="Google Shape;103;g33f5d42d367_0_8"/>
            <p:cNvSpPr/>
            <p:nvPr/>
          </p:nvSpPr>
          <p:spPr>
            <a:xfrm>
              <a:off x="22810125" y="10588383"/>
              <a:ext cx="7609000" cy="1159600"/>
            </a:xfrm>
            <a:prstGeom prst="rect">
              <a:avLst/>
            </a:prstGeom>
            <a:solidFill>
              <a:srgbClr val="004671"/>
            </a:solidFill>
            <a:ln>
              <a:noFill/>
            </a:ln>
          </p:spPr>
          <p:txBody>
            <a:bodyPr spcFirstLastPara="1" wrap="square" lIns="60950" tIns="30467" rIns="60950" bIns="30467" anchor="ctr" anchorCtr="0">
              <a:noAutofit/>
            </a:bodyPr>
            <a:lstStyle/>
            <a:p>
              <a:pPr algn="ctr">
                <a:buSzPts val="7258"/>
              </a:pPr>
              <a:r>
                <a:rPr lang="en-US" sz="4839">
                  <a:solidFill>
                    <a:schemeClr val="lt1"/>
                  </a:solidFill>
                  <a:latin typeface="Calibri"/>
                  <a:ea typeface="Calibri"/>
                  <a:cs typeface="Calibri"/>
                  <a:sym typeface="Calibri"/>
                </a:rPr>
                <a:t>Conclusion</a:t>
              </a:r>
              <a:endParaRPr sz="933"/>
            </a:p>
          </p:txBody>
        </p:sp>
        <p:sp>
          <p:nvSpPr>
            <p:cNvPr id="104" name="Google Shape;104;g33f5d42d367_0_8"/>
            <p:cNvSpPr/>
            <p:nvPr/>
          </p:nvSpPr>
          <p:spPr>
            <a:xfrm>
              <a:off x="22810067" y="11766317"/>
              <a:ext cx="7609000" cy="5028400"/>
            </a:xfrm>
            <a:prstGeom prst="rect">
              <a:avLst/>
            </a:prstGeom>
            <a:solidFill>
              <a:schemeClr val="lt1"/>
            </a:solidFill>
            <a:ln>
              <a:noFill/>
            </a:ln>
          </p:spPr>
          <p:txBody>
            <a:bodyPr spcFirstLastPara="1" wrap="square" lIns="60950" tIns="30467" rIns="60950" bIns="30467" anchor="ctr" anchorCtr="0">
              <a:noAutofit/>
            </a:bodyPr>
            <a:lstStyle/>
            <a:p>
              <a:pPr>
                <a:spcBef>
                  <a:spcPts val="77"/>
                </a:spcBef>
                <a:buClr>
                  <a:schemeClr val="dk1"/>
                </a:buClr>
                <a:buSzPts val="1100"/>
              </a:pPr>
              <a:r>
                <a:rPr lang="en-US" sz="2333">
                  <a:solidFill>
                    <a:schemeClr val="dk1"/>
                  </a:solidFill>
                </a:rPr>
                <a:t>Sotatercept is a promising therapy for PAH, improving pulmonary vascular resistance and functional capacity. However, it can cause complications such as telangiectasia and thrombocytopenia, increasing the risk of bleeding and vascular fragility. These effects may be linked to sotatercept’s modulation of the activin signaling pathway, which influences vascular homeostasis and platelet regulation.</a:t>
              </a:r>
              <a:endParaRPr sz="2333">
                <a:solidFill>
                  <a:schemeClr val="dk1"/>
                </a:solidFill>
              </a:endParaRPr>
            </a:p>
            <a:p>
              <a:pPr>
                <a:spcBef>
                  <a:spcPts val="77"/>
                </a:spcBef>
                <a:spcAft>
                  <a:spcPts val="77"/>
                </a:spcAft>
                <a:buClr>
                  <a:schemeClr val="dk1"/>
                </a:buClr>
                <a:buSzPts val="1100"/>
              </a:pPr>
              <a:r>
                <a:rPr lang="en-US" sz="2333">
                  <a:solidFill>
                    <a:schemeClr val="dk1"/>
                  </a:solidFill>
                </a:rPr>
                <a:t>Clinicians should monitor patients for hematologic and vascular abnormalities to manage potential risks. Further research is needed to understand these side effects fully. Despite these concerns, sotatercept remains a valuable PAH treatment when adverse effects are promptly identified and addressed.</a:t>
              </a:r>
              <a:endParaRPr sz="2333">
                <a:solidFill>
                  <a:schemeClr val="dk1"/>
                </a:solidFill>
              </a:endParaRPr>
            </a:p>
          </p:txBody>
        </p:sp>
        <p:sp>
          <p:nvSpPr>
            <p:cNvPr id="105" name="Google Shape;105;g33f5d42d367_0_8"/>
            <p:cNvSpPr txBox="1"/>
            <p:nvPr/>
          </p:nvSpPr>
          <p:spPr>
            <a:xfrm>
              <a:off x="22936000" y="9969284"/>
              <a:ext cx="7710600" cy="451316"/>
            </a:xfrm>
            <a:prstGeom prst="rect">
              <a:avLst/>
            </a:prstGeom>
            <a:noFill/>
            <a:ln>
              <a:noFill/>
            </a:ln>
          </p:spPr>
          <p:txBody>
            <a:bodyPr spcFirstLastPara="1" wrap="square" lIns="60950" tIns="30467" rIns="60950" bIns="30467" anchor="t" anchorCtr="0">
              <a:spAutoFit/>
            </a:bodyPr>
            <a:lstStyle/>
            <a:p>
              <a:pPr>
                <a:buSzPts val="3000"/>
              </a:pPr>
              <a:r>
                <a:rPr lang="en-US" sz="2533" b="1">
                  <a:solidFill>
                    <a:schemeClr val="dk1"/>
                  </a:solidFill>
                  <a:latin typeface="Calibri"/>
                  <a:ea typeface="Calibri"/>
                  <a:cs typeface="Calibri"/>
                  <a:sym typeface="Calibri"/>
                </a:rPr>
                <a:t>Image 1: Telengectasia of the patient post-medication</a:t>
              </a:r>
              <a:endParaRPr sz="1467"/>
            </a:p>
          </p:txBody>
        </p:sp>
        <p:pic>
          <p:nvPicPr>
            <p:cNvPr id="106" name="Google Shape;106;g33f5d42d367_0_8" title="Screenshot 2025-04-25 at 6.01.56 PM.png"/>
            <p:cNvPicPr preferRelativeResize="0"/>
            <p:nvPr/>
          </p:nvPicPr>
          <p:blipFill>
            <a:blip r:embed="rId5">
              <a:alphaModFix/>
            </a:blip>
            <a:stretch>
              <a:fillRect/>
            </a:stretch>
          </p:blipFill>
          <p:spPr>
            <a:xfrm>
              <a:off x="11774167" y="4388766"/>
              <a:ext cx="10777600" cy="10867433"/>
            </a:xfrm>
            <a:prstGeom prst="rect">
              <a:avLst/>
            </a:prstGeom>
            <a:noFill/>
            <a:ln>
              <a:noFill/>
            </a:ln>
          </p:spPr>
        </p:pic>
        <p:pic>
          <p:nvPicPr>
            <p:cNvPr id="107" name="Google Shape;107;g33f5d42d367_0_8" title="Screenshot 2025-04-25 at 6.02.21 PM.png"/>
            <p:cNvPicPr preferRelativeResize="0"/>
            <p:nvPr/>
          </p:nvPicPr>
          <p:blipFill>
            <a:blip r:embed="rId6">
              <a:alphaModFix/>
            </a:blip>
            <a:stretch>
              <a:fillRect/>
            </a:stretch>
          </p:blipFill>
          <p:spPr>
            <a:xfrm>
              <a:off x="22810133" y="4376067"/>
              <a:ext cx="7609000" cy="5593217"/>
            </a:xfrm>
            <a:prstGeom prst="rect">
              <a:avLst/>
            </a:prstGeom>
            <a:noFill/>
            <a:ln>
              <a:noFill/>
            </a:ln>
          </p:spPr>
        </p:pic>
      </p:grpSp>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889</Words>
  <Application>Microsoft Macintosh PowerPoint</Application>
  <PresentationFormat>Custom</PresentationFormat>
  <Paragraphs>27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Montserrat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Microsoft Office User</dc:creator>
  <cp:lastModifiedBy>Phil Kim</cp:lastModifiedBy>
  <cp:revision>1</cp:revision>
  <dcterms:created xsi:type="dcterms:W3CDTF">2016-02-18T22:13:49Z</dcterms:created>
  <dcterms:modified xsi:type="dcterms:W3CDTF">2025-04-26T20:47:54Z</dcterms:modified>
</cp:coreProperties>
</file>