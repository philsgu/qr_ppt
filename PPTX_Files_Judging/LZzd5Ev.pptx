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3"/>
  </p:handoutMasterIdLst>
  <p:sldIdLst>
    <p:sldId id="259" r:id="rId2"/>
  </p:sldIdLst>
  <p:sldSz cx="32918400" cy="21945600"/>
  <p:notesSz cx="6953250" cy="9239250"/>
  <p:embeddedFontLst>
    <p:embeddedFont>
      <p:font typeface="Nunito" pitchFamily="2" charset="77"/>
      <p:regular r:id="rId4"/>
      <p:bold r:id="rId5"/>
      <p:italic r:id="rId6"/>
      <p:boldItalic r:id="rId7"/>
    </p:embeddedFont>
    <p:embeddedFont>
      <p:font typeface="Open Sans" panose="020B0606030504020204" pitchFamily="34" charset="0"/>
      <p:regular r:id="rId8"/>
      <p:bold r:id="rId9"/>
      <p:italic r:id="rId10"/>
      <p:boldItalic r:id="rId11"/>
    </p:embeddedFont>
  </p:embeddedFontLst>
  <p:custDataLst>
    <p:tags r:id="rId12"/>
  </p:custDataLst>
  <p:defaultTextStyle>
    <a:defPPr>
      <a:defRPr lang="en-US"/>
    </a:defPPr>
    <a:lvl1pPr algn="ctr" rtl="0" fontAlgn="base">
      <a:spcBef>
        <a:spcPct val="0"/>
      </a:spcBef>
      <a:spcAft>
        <a:spcPct val="0"/>
      </a:spcAft>
      <a:defRPr sz="3071" b="1" kern="1200">
        <a:solidFill>
          <a:srgbClr val="FF9900"/>
        </a:solidFill>
        <a:latin typeface="Arial"/>
        <a:ea typeface="+mn-ea"/>
        <a:cs typeface="+mn-cs"/>
      </a:defRPr>
    </a:lvl1pPr>
    <a:lvl2pPr marL="326532" algn="ctr" rtl="0" fontAlgn="base">
      <a:spcBef>
        <a:spcPct val="0"/>
      </a:spcBef>
      <a:spcAft>
        <a:spcPct val="0"/>
      </a:spcAft>
      <a:defRPr sz="3071" b="1" kern="1200">
        <a:solidFill>
          <a:srgbClr val="FF9900"/>
        </a:solidFill>
        <a:latin typeface="Arial"/>
        <a:ea typeface="+mn-ea"/>
        <a:cs typeface="+mn-cs"/>
      </a:defRPr>
    </a:lvl2pPr>
    <a:lvl3pPr marL="653064" algn="ctr" rtl="0" fontAlgn="base">
      <a:spcBef>
        <a:spcPct val="0"/>
      </a:spcBef>
      <a:spcAft>
        <a:spcPct val="0"/>
      </a:spcAft>
      <a:defRPr sz="3071" b="1" kern="1200">
        <a:solidFill>
          <a:srgbClr val="FF9900"/>
        </a:solidFill>
        <a:latin typeface="Arial"/>
        <a:ea typeface="+mn-ea"/>
        <a:cs typeface="+mn-cs"/>
      </a:defRPr>
    </a:lvl3pPr>
    <a:lvl4pPr marL="979597" algn="ctr" rtl="0" fontAlgn="base">
      <a:spcBef>
        <a:spcPct val="0"/>
      </a:spcBef>
      <a:spcAft>
        <a:spcPct val="0"/>
      </a:spcAft>
      <a:defRPr sz="3071" b="1" kern="1200">
        <a:solidFill>
          <a:srgbClr val="FF9900"/>
        </a:solidFill>
        <a:latin typeface="Arial"/>
        <a:ea typeface="+mn-ea"/>
        <a:cs typeface="+mn-cs"/>
      </a:defRPr>
    </a:lvl4pPr>
    <a:lvl5pPr marL="1306129" algn="ctr" rtl="0" fontAlgn="base">
      <a:spcBef>
        <a:spcPct val="0"/>
      </a:spcBef>
      <a:spcAft>
        <a:spcPct val="0"/>
      </a:spcAft>
      <a:defRPr sz="3071" b="1" kern="1200">
        <a:solidFill>
          <a:srgbClr val="FF9900"/>
        </a:solidFill>
        <a:latin typeface="Arial"/>
        <a:ea typeface="+mn-ea"/>
        <a:cs typeface="+mn-cs"/>
      </a:defRPr>
    </a:lvl5pPr>
    <a:lvl6pPr marL="1632661" algn="l" defTabSz="653064" rtl="0" eaLnBrk="1" latinLnBrk="0" hangingPunct="1">
      <a:defRPr sz="3071" b="1" kern="1200">
        <a:solidFill>
          <a:srgbClr val="FF9900"/>
        </a:solidFill>
        <a:latin typeface="Arial"/>
        <a:ea typeface="+mn-ea"/>
        <a:cs typeface="+mn-cs"/>
      </a:defRPr>
    </a:lvl6pPr>
    <a:lvl7pPr marL="1959193" algn="l" defTabSz="653064" rtl="0" eaLnBrk="1" latinLnBrk="0" hangingPunct="1">
      <a:defRPr sz="3071" b="1" kern="1200">
        <a:solidFill>
          <a:srgbClr val="FF9900"/>
        </a:solidFill>
        <a:latin typeface="Arial"/>
        <a:ea typeface="+mn-ea"/>
        <a:cs typeface="+mn-cs"/>
      </a:defRPr>
    </a:lvl7pPr>
    <a:lvl8pPr marL="2285726" algn="l" defTabSz="653064" rtl="0" eaLnBrk="1" latinLnBrk="0" hangingPunct="1">
      <a:defRPr sz="3071" b="1" kern="1200">
        <a:solidFill>
          <a:srgbClr val="FF9900"/>
        </a:solidFill>
        <a:latin typeface="Arial"/>
        <a:ea typeface="+mn-ea"/>
        <a:cs typeface="+mn-cs"/>
      </a:defRPr>
    </a:lvl8pPr>
    <a:lvl9pPr marL="2612258" algn="l" defTabSz="653064" rtl="0" eaLnBrk="1" latinLnBrk="0" hangingPunct="1">
      <a:defRPr sz="3071" b="1" kern="1200">
        <a:solidFill>
          <a:srgbClr val="FF9900"/>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stin Delre" initials="JD" lastIdx="0" clrIdx="0">
    <p:extLst>
      <p:ext uri="{19B8F6BF-5375-455C-9EA6-DF929625EA0E}">
        <p15:presenceInfo xmlns:p15="http://schemas.microsoft.com/office/powerpoint/2012/main" userId="Justin Delr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49F02-1C0D-2762-17DA-6C774F7666A9}" v="767" dt="2025-04-24T04:05:33.947"/>
    <p1510:client id="{4EC2ED2E-76F4-6F87-2F72-CBB58A95D57C}" v="1278" dt="2025-04-24T05:57:55.886"/>
    <p1510:client id="{DB2A7D76-055B-73C8-8A10-5445B89F554F}" v="40" dt="2025-04-24T05:57:57.710"/>
    <p1510:client id="{E8D38814-0EDA-66DA-ECE7-EC7F026B44E2}" v="42" dt="2025-04-24T03:01:07.044"/>
    <p1510:client id="{FCFC4502-F75F-0D10-174D-ED7E4F091584}" v="1" dt="2025-04-24T06:14:23.4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25"/>
    <p:restoredTop sz="94694"/>
  </p:normalViewPr>
  <p:slideViewPr>
    <p:cSldViewPr snapToGrid="0">
      <p:cViewPr>
        <p:scale>
          <a:sx n="22" d="100"/>
          <a:sy n="22" d="100"/>
        </p:scale>
        <p:origin x="2568" y="1248"/>
      </p:cViewPr>
      <p:guideLst>
        <p:guide orient="horz" pos="6912"/>
        <p:guide pos="103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commentAuthors" Target="commentAuthors.xml"/><Relationship Id="rId18" Type="http://schemas.microsoft.com/office/2015/10/relationships/revisionInfo" Target="revisionInfo.xml"/><Relationship Id="rId3" Type="http://schemas.openxmlformats.org/officeDocument/2006/relationships/handoutMaster" Target="handoutMasters/handoutMaster1.xml"/><Relationship Id="rId7" Type="http://schemas.openxmlformats.org/officeDocument/2006/relationships/font" Target="fonts/font4.fntdata"/><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viewProps" Target="view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699" name="Rectangle 3"/>
          <p:cNvSpPr>
            <a:spLocks noGrp="1" noChangeArrowheads="1"/>
          </p:cNvSpPr>
          <p:nvPr>
            <p:ph type="dt" sz="quarter" idx="1"/>
          </p:nvPr>
        </p:nvSpPr>
        <p:spPr bwMode="auto">
          <a:xfrm>
            <a:off x="3938588" y="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t"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endParaRPr lang="en-US"/>
          </a:p>
        </p:txBody>
      </p:sp>
      <p:sp>
        <p:nvSpPr>
          <p:cNvPr id="29700" name="Rectangle 4"/>
          <p:cNvSpPr>
            <a:spLocks noGrp="1" noChangeArrowheads="1"/>
          </p:cNvSpPr>
          <p:nvPr>
            <p:ph type="ftr" sz="quarter" idx="2"/>
          </p:nvPr>
        </p:nvSpPr>
        <p:spPr bwMode="auto">
          <a:xfrm>
            <a:off x="0"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l" defTabSz="928688">
              <a:defRPr sz="1200" b="0">
                <a:solidFill>
                  <a:schemeClr val="tx1"/>
                </a:solidFill>
                <a:latin typeface="Arial" pitchFamily="34" charset="0"/>
              </a:defRPr>
            </a:lvl1pPr>
          </a:lstStyle>
          <a:p>
            <a:pPr>
              <a:defRPr/>
            </a:pPr>
            <a:endParaRPr lang="en-US"/>
          </a:p>
        </p:txBody>
      </p:sp>
      <p:sp>
        <p:nvSpPr>
          <p:cNvPr id="29701" name="Rectangle 5"/>
          <p:cNvSpPr>
            <a:spLocks noGrp="1" noChangeArrowheads="1"/>
          </p:cNvSpPr>
          <p:nvPr>
            <p:ph type="sldNum" sz="quarter" idx="3"/>
          </p:nvPr>
        </p:nvSpPr>
        <p:spPr bwMode="auto">
          <a:xfrm>
            <a:off x="3938588" y="8775700"/>
            <a:ext cx="3013075" cy="46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910" tIns="46455" rIns="92910" bIns="46455" anchor="b" anchorCtr="0" compatLnSpc="1">
            <a:prstTxWarp prst="textNoShape">
              <a:avLst/>
            </a:prstTxWarp>
          </a:bodyPr>
          <a:lstStyle>
            <a:defPPr>
              <a:defRPr kern="1200"/>
            </a:defPPr>
            <a:lvl1pPr algn="r" defTabSz="928688">
              <a:defRPr sz="1200" b="0">
                <a:solidFill>
                  <a:schemeClr val="tx1"/>
                </a:solidFill>
                <a:latin typeface="Arial" pitchFamily="34" charset="0"/>
              </a:defRPr>
            </a:lvl1pPr>
          </a:lstStyle>
          <a:p>
            <a:pPr>
              <a:defRPr/>
            </a:pPr>
            <a:fld id="{54F1B5D8-D97D-47DE-99FD-BED51FB7C907}" type="slidenum">
              <a:rPr lang="en-US"/>
              <a:pPr>
                <a:defRPr/>
              </a:pPr>
              <a:t>‹#›</a:t>
            </a:fld>
            <a:endParaRPr lang="en-US"/>
          </a:p>
        </p:txBody>
      </p:sp>
    </p:spTree>
    <p:extLst>
      <p:ext uri="{BB962C8B-B14F-4D97-AF65-F5344CB8AC3E}">
        <p14:creationId xmlns:p14="http://schemas.microsoft.com/office/powerpoint/2010/main" val="748278429"/>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9358" y="6817784"/>
            <a:ext cx="27979688" cy="470323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7523" y="12435417"/>
            <a:ext cx="23043356" cy="5609167"/>
          </a:xfrm>
        </p:spPr>
        <p:txBody>
          <a:bodyPr/>
          <a:lstStyle>
            <a:defPPr>
              <a:defRPr kern="1200"/>
            </a:defPPr>
            <a:lvl1pPr marL="0" indent="0" algn="ctr">
              <a:buNone/>
              <a:defRPr/>
            </a:lvl1pPr>
            <a:lvl2pPr marL="304815" indent="0" algn="ctr">
              <a:buNone/>
              <a:defRPr/>
            </a:lvl2pPr>
            <a:lvl3pPr marL="609630" indent="0" algn="ctr">
              <a:buNone/>
              <a:defRPr/>
            </a:lvl3pPr>
            <a:lvl4pPr marL="914446" indent="0" algn="ctr">
              <a:buNone/>
              <a:defRPr/>
            </a:lvl4pPr>
            <a:lvl5pPr marL="1219261" indent="0" algn="ctr">
              <a:buNone/>
              <a:defRPr/>
            </a:lvl5pPr>
            <a:lvl6pPr marL="1524076" indent="0" algn="ctr">
              <a:buNone/>
              <a:defRPr/>
            </a:lvl6pPr>
            <a:lvl7pPr marL="1828891" indent="0" algn="ctr">
              <a:buNone/>
              <a:defRPr/>
            </a:lvl7pPr>
            <a:lvl8pPr marL="2133707" indent="0" algn="ctr">
              <a:buNone/>
              <a:defRPr/>
            </a:lvl8pPr>
            <a:lvl9pPr marL="2438522"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EDBB11-81A3-4CFA-BA97-1ABE9A8F32CF}" type="slidenum">
              <a:rPr lang="en-US"/>
              <a:pPr>
                <a:defRPr/>
              </a:pPr>
              <a:t>‹#›</a:t>
            </a:fld>
            <a:endParaRPr lang="en-US"/>
          </a:p>
        </p:txBody>
      </p:sp>
    </p:spTree>
    <p:extLst>
      <p:ext uri="{BB962C8B-B14F-4D97-AF65-F5344CB8AC3E}">
        <p14:creationId xmlns:p14="http://schemas.microsoft.com/office/powerpoint/2010/main" val="35658167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5940B6B-3169-44D4-847B-7863905C32CF}" type="slidenum">
              <a:rPr lang="en-US"/>
              <a:pPr>
                <a:defRPr/>
              </a:pPr>
              <a:t>‹#›</a:t>
            </a:fld>
            <a:endParaRPr lang="en-US"/>
          </a:p>
        </p:txBody>
      </p:sp>
    </p:spTree>
    <p:extLst>
      <p:ext uri="{BB962C8B-B14F-4D97-AF65-F5344CB8AC3E}">
        <p14:creationId xmlns:p14="http://schemas.microsoft.com/office/powerpoint/2010/main" val="17305290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294"/>
            <a:ext cx="27980878" cy="4358217"/>
          </a:xfrm>
        </p:spPr>
        <p:txBody>
          <a:bodyPr anchor="t"/>
          <a:lstStyle>
            <a:defPPr>
              <a:defRPr kern="1200"/>
            </a:defPPr>
            <a:lvl1pPr algn="l">
              <a:defRPr sz="2667" b="1" cap="all"/>
            </a:lvl1pPr>
          </a:lstStyle>
          <a:p>
            <a:r>
              <a:rPr lang="en-US"/>
              <a:t>Click to edit Master title style</a:t>
            </a:r>
          </a:p>
        </p:txBody>
      </p:sp>
      <p:sp>
        <p:nvSpPr>
          <p:cNvPr id="3" name="Text Placeholder 2"/>
          <p:cNvSpPr>
            <a:spLocks noGrp="1"/>
          </p:cNvSpPr>
          <p:nvPr>
            <p:ph type="body" idx="1"/>
          </p:nvPr>
        </p:nvSpPr>
        <p:spPr>
          <a:xfrm>
            <a:off x="2600325" y="9301692"/>
            <a:ext cx="27980878" cy="4800600"/>
          </a:xfrm>
        </p:spPr>
        <p:txBody>
          <a:bodyPr anchor="b"/>
          <a:lstStyle>
            <a:defPPr>
              <a:defRPr kern="1200"/>
            </a:defPPr>
            <a:lvl1pPr marL="0" indent="0">
              <a:buNone/>
              <a:defRPr sz="1333"/>
            </a:lvl1pPr>
            <a:lvl2pPr marL="304815" indent="0">
              <a:buNone/>
              <a:defRPr sz="1200"/>
            </a:lvl2pPr>
            <a:lvl3pPr marL="609630" indent="0">
              <a:buNone/>
              <a:defRPr sz="1067"/>
            </a:lvl3pPr>
            <a:lvl4pPr marL="914446" indent="0">
              <a:buNone/>
              <a:defRPr sz="933"/>
            </a:lvl4pPr>
            <a:lvl5pPr marL="1219261" indent="0">
              <a:buNone/>
              <a:defRPr sz="933"/>
            </a:lvl5pPr>
            <a:lvl6pPr marL="1524076" indent="0">
              <a:buNone/>
              <a:defRPr sz="933"/>
            </a:lvl6pPr>
            <a:lvl7pPr marL="1828891" indent="0">
              <a:buNone/>
              <a:defRPr sz="933"/>
            </a:lvl7pPr>
            <a:lvl8pPr marL="2133707" indent="0">
              <a:buNone/>
              <a:defRPr sz="933"/>
            </a:lvl8pPr>
            <a:lvl9pPr marL="2438522" indent="0">
              <a:buNone/>
              <a:defRPr sz="933"/>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A03A4FA6-7C07-49C1-973B-224AB06B993C}" type="slidenum">
              <a:rPr lang="en-US"/>
              <a:pPr>
                <a:defRPr/>
              </a:pPr>
              <a:t>‹#›</a:t>
            </a:fld>
            <a:endParaRPr lang="en-US"/>
          </a:p>
        </p:txBody>
      </p:sp>
    </p:spTree>
    <p:extLst>
      <p:ext uri="{BB962C8B-B14F-4D97-AF65-F5344CB8AC3E}">
        <p14:creationId xmlns:p14="http://schemas.microsoft.com/office/powerpoint/2010/main" val="239311738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5446"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16352" y="5120217"/>
            <a:ext cx="14756606" cy="14484350"/>
          </a:xfrm>
        </p:spPr>
        <p:txBody>
          <a:bodyPr/>
          <a:lstStyle>
            <a:defPPr>
              <a:defRPr kern="1200"/>
            </a:defPPr>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B302B25C-7078-4EDD-9EEA-F171F39DFD5B}" type="slidenum">
              <a:rPr lang="en-US"/>
              <a:pPr>
                <a:defRPr/>
              </a:pPr>
              <a:t>‹#›</a:t>
            </a:fld>
            <a:endParaRPr lang="en-US"/>
          </a:p>
        </p:txBody>
      </p:sp>
    </p:spTree>
    <p:extLst>
      <p:ext uri="{BB962C8B-B14F-4D97-AF65-F5344CB8AC3E}">
        <p14:creationId xmlns:p14="http://schemas.microsoft.com/office/powerpoint/2010/main" val="356620333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5444" y="4912785"/>
            <a:ext cx="14544675"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1645444" y="6959600"/>
            <a:ext cx="14544675"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2328" y="4912785"/>
            <a:ext cx="14550630" cy="2046817"/>
          </a:xfrm>
        </p:spPr>
        <p:txBody>
          <a:bodyPr anchor="b"/>
          <a:lstStyle>
            <a:defPPr>
              <a:defRPr kern="1200"/>
            </a:defPPr>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16722328" y="6959600"/>
            <a:ext cx="14550630" cy="12643908"/>
          </a:xfrm>
        </p:spPr>
        <p:txBody>
          <a:bodyPr/>
          <a:lstStyle>
            <a:defPPr>
              <a:defRPr kern="1200"/>
            </a:defPPr>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32F454DA-B8E5-407C-A8B0-B2982CBF7185}" type="slidenum">
              <a:rPr lang="en-US"/>
              <a:pPr>
                <a:defRPr/>
              </a:pPr>
              <a:t>‹#›</a:t>
            </a:fld>
            <a:endParaRPr lang="en-US"/>
          </a:p>
        </p:txBody>
      </p:sp>
    </p:spTree>
    <p:extLst>
      <p:ext uri="{BB962C8B-B14F-4D97-AF65-F5344CB8AC3E}">
        <p14:creationId xmlns:p14="http://schemas.microsoft.com/office/powerpoint/2010/main" val="1805889058"/>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865CC813-0CE0-4F7E-9B7F-FCCCD6CE8862}" type="slidenum">
              <a:rPr lang="en-US"/>
              <a:pPr>
                <a:defRPr/>
              </a:pPr>
              <a:t>‹#›</a:t>
            </a:fld>
            <a:endParaRPr lang="en-US"/>
          </a:p>
        </p:txBody>
      </p:sp>
    </p:spTree>
    <p:extLst>
      <p:ext uri="{BB962C8B-B14F-4D97-AF65-F5344CB8AC3E}">
        <p14:creationId xmlns:p14="http://schemas.microsoft.com/office/powerpoint/2010/main" val="226043568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5D3508A-868C-432E-A93E-3C5AF7B204CE}" type="slidenum">
              <a:rPr lang="en-US"/>
              <a:pPr>
                <a:defRPr/>
              </a:pPr>
              <a:t>‹#›</a:t>
            </a:fld>
            <a:endParaRPr lang="en-US"/>
          </a:p>
        </p:txBody>
      </p:sp>
    </p:spTree>
    <p:extLst>
      <p:ext uri="{BB962C8B-B14F-4D97-AF65-F5344CB8AC3E}">
        <p14:creationId xmlns:p14="http://schemas.microsoft.com/office/powerpoint/2010/main" val="232937732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5444" y="874184"/>
            <a:ext cx="10829925" cy="3717925"/>
          </a:xfrm>
        </p:spPr>
        <p:txBody>
          <a:bodyPr anchor="b"/>
          <a:lstStyle>
            <a:defPPr>
              <a:defRPr kern="1200"/>
            </a:defPPr>
            <a:lvl1pPr algn="l">
              <a:defRPr sz="1333" b="1"/>
            </a:lvl1pPr>
          </a:lstStyle>
          <a:p>
            <a:r>
              <a:rPr lang="en-US"/>
              <a:t>Click to edit Master title style</a:t>
            </a:r>
          </a:p>
        </p:txBody>
      </p:sp>
      <p:sp>
        <p:nvSpPr>
          <p:cNvPr id="3" name="Content Placeholder 2"/>
          <p:cNvSpPr>
            <a:spLocks noGrp="1"/>
          </p:cNvSpPr>
          <p:nvPr>
            <p:ph idx="1"/>
          </p:nvPr>
        </p:nvSpPr>
        <p:spPr>
          <a:xfrm>
            <a:off x="12870656" y="874184"/>
            <a:ext cx="18402300" cy="18729325"/>
          </a:xfrm>
        </p:spPr>
        <p:txBody>
          <a:bodyPr/>
          <a:lstStyle>
            <a:defPPr>
              <a:defRPr kern="1200"/>
            </a:defPPr>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5444" y="4592109"/>
            <a:ext cx="10829925" cy="15011400"/>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DEB5CAF5-4FB5-4E33-861E-BCE1A11039C1}" type="slidenum">
              <a:rPr lang="en-US"/>
              <a:pPr>
                <a:defRPr/>
              </a:pPr>
              <a:t>‹#›</a:t>
            </a:fld>
            <a:endParaRPr lang="en-US"/>
          </a:p>
        </p:txBody>
      </p:sp>
    </p:spTree>
    <p:extLst>
      <p:ext uri="{BB962C8B-B14F-4D97-AF65-F5344CB8AC3E}">
        <p14:creationId xmlns:p14="http://schemas.microsoft.com/office/powerpoint/2010/main" val="306706918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1999" y="15361712"/>
            <a:ext cx="19751280" cy="1813983"/>
          </a:xfrm>
        </p:spPr>
        <p:txBody>
          <a:bodyPr anchor="b"/>
          <a:lstStyle>
            <a:defPPr>
              <a:defRPr kern="1200"/>
            </a:defPPr>
            <a:lvl1pPr algn="l">
              <a:defRPr sz="1333" b="1"/>
            </a:lvl1pPr>
          </a:lstStyle>
          <a:p>
            <a:r>
              <a:rPr lang="en-US"/>
              <a:t>Click to edit Master title style</a:t>
            </a:r>
          </a:p>
        </p:txBody>
      </p:sp>
      <p:sp>
        <p:nvSpPr>
          <p:cNvPr id="3" name="Picture Placeholder 2"/>
          <p:cNvSpPr>
            <a:spLocks noGrp="1"/>
          </p:cNvSpPr>
          <p:nvPr>
            <p:ph type="pic" idx="1"/>
          </p:nvPr>
        </p:nvSpPr>
        <p:spPr>
          <a:xfrm>
            <a:off x="6451999" y="1961092"/>
            <a:ext cx="19751280" cy="13166725"/>
          </a:xfrm>
        </p:spPr>
        <p:txBody>
          <a:bodyPr/>
          <a:lstStyle>
            <a:defPPr>
              <a:defRPr kern="1200"/>
            </a:defPPr>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pPr lvl="0"/>
            <a:endParaRPr lang="en-US" noProof="0"/>
          </a:p>
        </p:txBody>
      </p:sp>
      <p:sp>
        <p:nvSpPr>
          <p:cNvPr id="4" name="Text Placeholder 3"/>
          <p:cNvSpPr>
            <a:spLocks noGrp="1"/>
          </p:cNvSpPr>
          <p:nvPr>
            <p:ph type="body" sz="half" idx="2"/>
          </p:nvPr>
        </p:nvSpPr>
        <p:spPr>
          <a:xfrm>
            <a:off x="6451999" y="17175694"/>
            <a:ext cx="19751280" cy="2574925"/>
          </a:xfrm>
        </p:spPr>
        <p:txBody>
          <a:bodyPr/>
          <a:lstStyle>
            <a:defPPr>
              <a:defRPr kern="1200"/>
            </a:defPPr>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E1738493-E10F-4F1A-B075-F4B94CA41991}" type="slidenum">
              <a:rPr lang="en-US"/>
              <a:pPr>
                <a:defRPr/>
              </a:pPr>
              <a:t>‹#›</a:t>
            </a:fld>
            <a:endParaRPr lang="en-US"/>
          </a:p>
        </p:txBody>
      </p:sp>
    </p:spTree>
    <p:extLst>
      <p:ext uri="{BB962C8B-B14F-4D97-AF65-F5344CB8AC3E}">
        <p14:creationId xmlns:p14="http://schemas.microsoft.com/office/powerpoint/2010/main" val="412977478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65ECC0F7-0140-4FFA-BB4D-270D63D3C308}" type="slidenum">
              <a:rPr lang="en-US"/>
              <a:pPr>
                <a:defRPr/>
              </a:pPr>
              <a:t>‹#›</a:t>
            </a:fld>
            <a:endParaRPr lang="en-US"/>
          </a:p>
        </p:txBody>
      </p:sp>
    </p:spTree>
    <p:extLst>
      <p:ext uri="{BB962C8B-B14F-4D97-AF65-F5344CB8AC3E}">
        <p14:creationId xmlns:p14="http://schemas.microsoft.com/office/powerpoint/2010/main" val="37073775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081" y="878417"/>
            <a:ext cx="7406878" cy="18726150"/>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5444" y="878417"/>
            <a:ext cx="22106334" cy="18726150"/>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BC1B9D64-3336-481D-94A5-F579BB4A8A39}" type="slidenum">
              <a:rPr lang="en-US"/>
              <a:pPr>
                <a:defRPr/>
              </a:pPr>
              <a:t>‹#›</a:t>
            </a:fld>
            <a:endParaRPr lang="en-US"/>
          </a:p>
        </p:txBody>
      </p:sp>
    </p:spTree>
    <p:extLst>
      <p:ext uri="{BB962C8B-B14F-4D97-AF65-F5344CB8AC3E}">
        <p14:creationId xmlns:p14="http://schemas.microsoft.com/office/powerpoint/2010/main" val="183614209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1645445" y="878417"/>
            <a:ext cx="29627512" cy="3657600"/>
          </a:xfrm>
        </p:spPr>
        <p:txBody>
          <a:bodyPr/>
          <a:lstStyle>
            <a:defPPr>
              <a:defRPr kern="1200"/>
            </a:defPPr>
          </a:lstStyle>
          <a:p>
            <a:r>
              <a:rPr lang="en-US"/>
              <a:t>Click to edit Master title style</a:t>
            </a:r>
          </a:p>
        </p:txBody>
      </p:sp>
      <p:sp>
        <p:nvSpPr>
          <p:cNvPr id="3" name="Content Placeholder 2"/>
          <p:cNvSpPr>
            <a:spLocks noGrp="1"/>
          </p:cNvSpPr>
          <p:nvPr>
            <p:ph sz="quarter" idx="1"/>
          </p:nvPr>
        </p:nvSpPr>
        <p:spPr>
          <a:xfrm>
            <a:off x="1645446"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16516352" y="5120218"/>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1645446"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16516352" y="12413192"/>
            <a:ext cx="14756606" cy="7191375"/>
          </a:xfrm>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D98BD33-354E-4B11-91E6-709054688882}" type="slidenum">
              <a:rPr lang="en-US"/>
              <a:pPr>
                <a:defRPr/>
              </a:pPr>
              <a:t>‹#›</a:t>
            </a:fld>
            <a:endParaRPr lang="en-US"/>
          </a:p>
        </p:txBody>
      </p:sp>
    </p:spTree>
    <p:extLst>
      <p:ext uri="{BB962C8B-B14F-4D97-AF65-F5344CB8AC3E}">
        <p14:creationId xmlns:p14="http://schemas.microsoft.com/office/powerpoint/2010/main" val="110649802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DDA9A9"/>
            </a:gs>
            <a:gs pos="50000">
              <a:srgbClr val="990000"/>
            </a:gs>
            <a:gs pos="100000">
              <a:srgbClr val="DDA9A9"/>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645444" y="878417"/>
            <a:ext cx="29627512"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1645444" y="5120217"/>
            <a:ext cx="29627512" cy="1448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16454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l" defTabSz="2508375">
              <a:defRPr sz="3800" b="0">
                <a:solidFill>
                  <a:schemeClr val="tx1"/>
                </a:solidFill>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6644" y="19985568"/>
            <a:ext cx="104251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defTabSz="2508375">
              <a:defRPr sz="3800" b="0">
                <a:solidFill>
                  <a:schemeClr val="tx1"/>
                </a:solidFill>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1044" y="19985568"/>
            <a:ext cx="7681913"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376203" tIns="188102" rIns="376203" bIns="188102" anchor="t" anchorCtr="0" compatLnSpc="1">
            <a:prstTxWarp prst="textNoShape">
              <a:avLst/>
            </a:prstTxWarp>
          </a:bodyPr>
          <a:lstStyle>
            <a:defPPr>
              <a:defRPr kern="1200"/>
            </a:defPPr>
            <a:lvl1pPr algn="r" defTabSz="2508375">
              <a:defRPr sz="3800" b="0">
                <a:solidFill>
                  <a:schemeClr val="tx1"/>
                </a:solidFill>
                <a:latin typeface="Arial" pitchFamily="34" charset="0"/>
              </a:defRPr>
            </a:lvl1pPr>
          </a:lstStyle>
          <a:p>
            <a:pPr>
              <a:defRPr/>
            </a:pPr>
            <a:fld id="{B42DBB13-E718-4C9A-AC99-89A36AFA8FDE}" type="slidenum">
              <a:rPr lang="en-US"/>
              <a:pPr>
                <a:defRPr/>
              </a:pPr>
              <a:t>‹#›</a:t>
            </a:fld>
            <a:endParaRPr lang="en-US"/>
          </a:p>
        </p:txBody>
      </p:sp>
      <p:pic>
        <p:nvPicPr>
          <p:cNvPr id="1031" name="New picture"/>
          <p:cNvPicPr/>
          <p:nvPr/>
        </p:nvPicPr>
        <p:blipFill>
          <a:blip r:embed="rId14"/>
          <a:stretch>
            <a:fillRect/>
          </a:stretch>
        </p:blipFill>
        <p:spPr>
          <a:xfrm rot="16200000">
            <a:off x="-11074400" y="10972800"/>
            <a:ext cx="14274800" cy="3937000"/>
          </a:xfrm>
          <a:prstGeom prst="rect">
            <a:avLst/>
          </a:prstGeom>
        </p:spPr>
      </p:pic>
      <p:pic>
        <p:nvPicPr>
          <p:cNvPr id="1032" name="New picture"/>
          <p:cNvPicPr/>
          <p:nvPr/>
        </p:nvPicPr>
        <p:blipFill>
          <a:blip r:embed="rId14"/>
          <a:stretch>
            <a:fillRect/>
          </a:stretch>
        </p:blipFill>
        <p:spPr>
          <a:xfrm rot="5400000">
            <a:off x="29718000" y="10972800"/>
            <a:ext cx="14274800" cy="3937000"/>
          </a:xfrm>
          <a:prstGeom prst="rect">
            <a:avLst/>
          </a:prstGeom>
        </p:spPr>
      </p:pic>
      <p:pic>
        <p:nvPicPr>
          <p:cNvPr id="1033" name="New picture"/>
          <p:cNvPicPr/>
          <p:nvPr/>
        </p:nvPicPr>
        <p:blipFill>
          <a:blip r:embed="rId15"/>
          <a:stretch>
            <a:fillRect/>
          </a:stretch>
        </p:blipFill>
        <p:spPr>
          <a:xfrm>
            <a:off x="1460500" y="22453600"/>
            <a:ext cx="29997400" cy="1447800"/>
          </a:xfrm>
          <a:prstGeom prst="rect">
            <a:avLst/>
          </a:prstGeom>
        </p:spPr>
      </p:pic>
      <p:sp>
        <p:nvSpPr>
          <p:cNvPr id="1034"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perceptualpewter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defPPr>
        <a:defRPr kern="1200"/>
      </a:defPPr>
      <a:lvl1pPr algn="ctr" defTabSz="2508375" rtl="0" eaLnBrk="0" fontAlgn="base" hangingPunct="0">
        <a:spcBef>
          <a:spcPct val="0"/>
        </a:spcBef>
        <a:spcAft>
          <a:spcPct val="0"/>
        </a:spcAft>
        <a:defRPr sz="12134">
          <a:solidFill>
            <a:schemeClr val="tx2"/>
          </a:solidFill>
          <a:latin typeface="+mj-lt"/>
          <a:ea typeface="+mj-ea"/>
          <a:cs typeface="+mj-cs"/>
        </a:defRPr>
      </a:lvl1pPr>
      <a:lvl2pPr algn="ctr" defTabSz="2508375" rtl="0" eaLnBrk="0" fontAlgn="base" hangingPunct="0">
        <a:spcBef>
          <a:spcPct val="0"/>
        </a:spcBef>
        <a:spcAft>
          <a:spcPct val="0"/>
        </a:spcAft>
        <a:defRPr sz="12134">
          <a:solidFill>
            <a:schemeClr val="tx2"/>
          </a:solidFill>
          <a:latin typeface="Arial" pitchFamily="34" charset="0"/>
        </a:defRPr>
      </a:lvl2pPr>
      <a:lvl3pPr algn="ctr" defTabSz="2508375" rtl="0" eaLnBrk="0" fontAlgn="base" hangingPunct="0">
        <a:spcBef>
          <a:spcPct val="0"/>
        </a:spcBef>
        <a:spcAft>
          <a:spcPct val="0"/>
        </a:spcAft>
        <a:defRPr sz="12134">
          <a:solidFill>
            <a:schemeClr val="tx2"/>
          </a:solidFill>
          <a:latin typeface="Arial" pitchFamily="34" charset="0"/>
        </a:defRPr>
      </a:lvl3pPr>
      <a:lvl4pPr algn="ctr" defTabSz="2508375" rtl="0" eaLnBrk="0" fontAlgn="base" hangingPunct="0">
        <a:spcBef>
          <a:spcPct val="0"/>
        </a:spcBef>
        <a:spcAft>
          <a:spcPct val="0"/>
        </a:spcAft>
        <a:defRPr sz="12134">
          <a:solidFill>
            <a:schemeClr val="tx2"/>
          </a:solidFill>
          <a:latin typeface="Arial" pitchFamily="34" charset="0"/>
        </a:defRPr>
      </a:lvl4pPr>
      <a:lvl5pPr algn="ctr" defTabSz="2508375" rtl="0" eaLnBrk="0" fontAlgn="base" hangingPunct="0">
        <a:spcBef>
          <a:spcPct val="0"/>
        </a:spcBef>
        <a:spcAft>
          <a:spcPct val="0"/>
        </a:spcAft>
        <a:defRPr sz="12134">
          <a:solidFill>
            <a:schemeClr val="tx2"/>
          </a:solidFill>
          <a:latin typeface="Arial" pitchFamily="34" charset="0"/>
        </a:defRPr>
      </a:lvl5pPr>
      <a:lvl6pPr marL="304815" algn="ctr" defTabSz="2508375" rtl="0" fontAlgn="base">
        <a:spcBef>
          <a:spcPct val="0"/>
        </a:spcBef>
        <a:spcAft>
          <a:spcPct val="0"/>
        </a:spcAft>
        <a:defRPr sz="12134">
          <a:solidFill>
            <a:schemeClr val="tx2"/>
          </a:solidFill>
          <a:latin typeface="Arial" pitchFamily="34" charset="0"/>
        </a:defRPr>
      </a:lvl6pPr>
      <a:lvl7pPr marL="609630" algn="ctr" defTabSz="2508375" rtl="0" fontAlgn="base">
        <a:spcBef>
          <a:spcPct val="0"/>
        </a:spcBef>
        <a:spcAft>
          <a:spcPct val="0"/>
        </a:spcAft>
        <a:defRPr sz="12134">
          <a:solidFill>
            <a:schemeClr val="tx2"/>
          </a:solidFill>
          <a:latin typeface="Arial" pitchFamily="34" charset="0"/>
        </a:defRPr>
      </a:lvl7pPr>
      <a:lvl8pPr marL="914446" algn="ctr" defTabSz="2508375" rtl="0" fontAlgn="base">
        <a:spcBef>
          <a:spcPct val="0"/>
        </a:spcBef>
        <a:spcAft>
          <a:spcPct val="0"/>
        </a:spcAft>
        <a:defRPr sz="12134">
          <a:solidFill>
            <a:schemeClr val="tx2"/>
          </a:solidFill>
          <a:latin typeface="Arial" pitchFamily="34" charset="0"/>
        </a:defRPr>
      </a:lvl8pPr>
      <a:lvl9pPr marL="1219261" algn="ctr" defTabSz="2508375" rtl="0" fontAlgn="base">
        <a:spcBef>
          <a:spcPct val="0"/>
        </a:spcBef>
        <a:spcAft>
          <a:spcPct val="0"/>
        </a:spcAft>
        <a:defRPr sz="12134">
          <a:solidFill>
            <a:schemeClr val="tx2"/>
          </a:solidFill>
          <a:latin typeface="Arial" pitchFamily="34" charset="0"/>
        </a:defRPr>
      </a:lvl9pPr>
    </p:titleStyle>
    <p:bodyStyle>
      <a:defPPr>
        <a:defRPr kern="1200"/>
      </a:defPPr>
      <a:lvl1pPr marL="939847" indent="-939847" algn="l" defTabSz="2508375" rtl="0" eaLnBrk="0" fontAlgn="base" hangingPunct="0">
        <a:spcBef>
          <a:spcPct val="20000"/>
        </a:spcBef>
        <a:spcAft>
          <a:spcPct val="0"/>
        </a:spcAft>
        <a:buChar char="•"/>
        <a:defRPr sz="8800">
          <a:solidFill>
            <a:schemeClr val="tx1"/>
          </a:solidFill>
          <a:latin typeface="+mn-lt"/>
          <a:ea typeface="+mn-ea"/>
          <a:cs typeface="+mn-cs"/>
        </a:defRPr>
      </a:lvl1pPr>
      <a:lvl2pPr marL="2038452" indent="-784265" algn="l" defTabSz="2508375" rtl="0" eaLnBrk="0" fontAlgn="base" hangingPunct="0">
        <a:spcBef>
          <a:spcPct val="20000"/>
        </a:spcBef>
        <a:spcAft>
          <a:spcPct val="0"/>
        </a:spcAft>
        <a:buChar char="–"/>
        <a:defRPr sz="7667">
          <a:solidFill>
            <a:schemeClr val="tx1"/>
          </a:solidFill>
          <a:latin typeface="+mn-lt"/>
        </a:defRPr>
      </a:lvl2pPr>
      <a:lvl3pPr marL="3134940" indent="-626565" algn="l" defTabSz="2508375" rtl="0" eaLnBrk="0" fontAlgn="base" hangingPunct="0">
        <a:spcBef>
          <a:spcPct val="20000"/>
        </a:spcBef>
        <a:spcAft>
          <a:spcPct val="0"/>
        </a:spcAft>
        <a:buChar char="•"/>
        <a:defRPr sz="6600">
          <a:solidFill>
            <a:schemeClr val="tx1"/>
          </a:solidFill>
          <a:latin typeface="+mn-lt"/>
        </a:defRPr>
      </a:lvl3pPr>
      <a:lvl4pPr marL="4389128" indent="-626565" algn="l" defTabSz="2508375" rtl="0" eaLnBrk="0" fontAlgn="base" hangingPunct="0">
        <a:spcBef>
          <a:spcPct val="20000"/>
        </a:spcBef>
        <a:spcAft>
          <a:spcPct val="0"/>
        </a:spcAft>
        <a:buChar char="–"/>
        <a:defRPr sz="5467">
          <a:solidFill>
            <a:schemeClr val="tx1"/>
          </a:solidFill>
          <a:latin typeface="+mn-lt"/>
        </a:defRPr>
      </a:lvl4pPr>
      <a:lvl5pPr marL="5644374" indent="-627623" algn="l" defTabSz="2508375" rtl="0" eaLnBrk="0" fontAlgn="base" hangingPunct="0">
        <a:spcBef>
          <a:spcPct val="20000"/>
        </a:spcBef>
        <a:spcAft>
          <a:spcPct val="0"/>
        </a:spcAft>
        <a:buChar char="»"/>
        <a:defRPr sz="5467">
          <a:solidFill>
            <a:schemeClr val="tx1"/>
          </a:solidFill>
          <a:latin typeface="+mn-lt"/>
        </a:defRPr>
      </a:lvl5pPr>
      <a:lvl6pPr marL="5949189" indent="-627623" algn="l" defTabSz="2508375" rtl="0" fontAlgn="base">
        <a:spcBef>
          <a:spcPct val="20000"/>
        </a:spcBef>
        <a:spcAft>
          <a:spcPct val="0"/>
        </a:spcAft>
        <a:buChar char="»"/>
        <a:defRPr sz="5467">
          <a:solidFill>
            <a:schemeClr val="tx1"/>
          </a:solidFill>
          <a:latin typeface="+mn-lt"/>
        </a:defRPr>
      </a:lvl6pPr>
      <a:lvl7pPr marL="6254005" indent="-627623" algn="l" defTabSz="2508375" rtl="0" fontAlgn="base">
        <a:spcBef>
          <a:spcPct val="20000"/>
        </a:spcBef>
        <a:spcAft>
          <a:spcPct val="0"/>
        </a:spcAft>
        <a:buChar char="»"/>
        <a:defRPr sz="5467">
          <a:solidFill>
            <a:schemeClr val="tx1"/>
          </a:solidFill>
          <a:latin typeface="+mn-lt"/>
        </a:defRPr>
      </a:lvl7pPr>
      <a:lvl8pPr marL="6558820" indent="-627623" algn="l" defTabSz="2508375" rtl="0" fontAlgn="base">
        <a:spcBef>
          <a:spcPct val="20000"/>
        </a:spcBef>
        <a:spcAft>
          <a:spcPct val="0"/>
        </a:spcAft>
        <a:buChar char="»"/>
        <a:defRPr sz="5467">
          <a:solidFill>
            <a:schemeClr val="tx1"/>
          </a:solidFill>
          <a:latin typeface="+mn-lt"/>
        </a:defRPr>
      </a:lvl8pPr>
      <a:lvl9pPr marL="6863635" indent="-627623" algn="l" defTabSz="2508375" rtl="0" fontAlgn="base">
        <a:spcBef>
          <a:spcPct val="20000"/>
        </a:spcBef>
        <a:spcAft>
          <a:spcPct val="0"/>
        </a:spcAft>
        <a:buChar char="»"/>
        <a:defRPr sz="5467">
          <a:solidFill>
            <a:schemeClr val="tx1"/>
          </a:solidFill>
          <a:latin typeface="+mn-lt"/>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lin ang="5400000" scaled="1"/>
        </a:gra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sz="quarter"/>
          </p:nvPr>
        </p:nvSpPr>
        <p:spPr>
          <a:xfrm>
            <a:off x="393549" y="323942"/>
            <a:ext cx="32156400" cy="3996231"/>
          </a:xfrm>
          <a:prstGeom prst="roundRect">
            <a:avLst>
              <a:gd name="adj" fmla="val 6990"/>
            </a:avLst>
          </a:prstGeom>
          <a:solidFill>
            <a:srgbClr val="2D3C50"/>
          </a:solidFill>
          <a:ln>
            <a:solidFill>
              <a:schemeClr val="tx1"/>
            </a:solidFill>
            <a:miter lim="800000"/>
          </a:ln>
        </p:spPr>
        <p:txBody>
          <a:bodyPr/>
          <a:lstStyle>
            <a:defPPr>
              <a:defRPr kern="1200"/>
            </a:defPPr>
          </a:lstStyle>
          <a:p>
            <a:pPr eaLnBrk="1" hangingPunct="1"/>
            <a:endParaRPr lang="en-US" sz="2667" i="1" dirty="0">
              <a:noFill/>
            </a:endParaRPr>
          </a:p>
        </p:txBody>
      </p:sp>
      <p:sp>
        <p:nvSpPr>
          <p:cNvPr id="17" name="Text Placeholder 5">
            <a:extLst>
              <a:ext uri="{FF2B5EF4-FFF2-40B4-BE49-F238E27FC236}">
                <a16:creationId xmlns:a16="http://schemas.microsoft.com/office/drawing/2014/main" id="{B2C25681-95AF-45D0-852E-DC3E00E2FDFE}"/>
              </a:ext>
            </a:extLst>
          </p:cNvPr>
          <p:cNvSpPr txBox="1"/>
          <p:nvPr/>
        </p:nvSpPr>
        <p:spPr>
          <a:xfrm>
            <a:off x="6222274" y="775029"/>
            <a:ext cx="20473851" cy="1958293"/>
          </a:xfrm>
          <a:prstGeom prst="rect">
            <a:avLst/>
          </a:prstGeom>
        </p:spPr>
        <p:txBody>
          <a:bodyPr lIns="0" tIns="0" rIns="0" bIns="0" anchor="t">
            <a:no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defTabSz="2507516">
              <a:spcBef>
                <a:spcPct val="20000"/>
              </a:spcBef>
              <a:defRPr/>
            </a:pPr>
            <a:r>
              <a:rPr lang="en-US" sz="4800" b="0" dirty="0">
                <a:solidFill>
                  <a:schemeClr val="bg1"/>
                </a:solidFill>
                <a:ea typeface="+mn-lt"/>
                <a:cs typeface="+mn-lt"/>
              </a:rPr>
              <a:t>A Case Report on Methemoglobinemia and Encephalopathy Resulting </a:t>
            </a:r>
            <a:endParaRPr lang="en-US" sz="6600" dirty="0">
              <a:solidFill>
                <a:schemeClr val="bg1"/>
              </a:solidFill>
              <a:ea typeface="+mn-lt"/>
              <a:cs typeface="+mn-lt"/>
            </a:endParaRPr>
          </a:p>
          <a:p>
            <a:pPr algn="ctr" defTabSz="2507516">
              <a:spcBef>
                <a:spcPct val="20000"/>
              </a:spcBef>
              <a:defRPr/>
            </a:pPr>
            <a:r>
              <a:rPr lang="en-US" sz="4800" b="0" dirty="0">
                <a:solidFill>
                  <a:schemeClr val="bg1"/>
                </a:solidFill>
                <a:ea typeface="+mn-lt"/>
                <a:cs typeface="+mn-lt"/>
              </a:rPr>
              <a:t>from Pesticide Exposure</a:t>
            </a:r>
            <a:endParaRPr lang="en-US" sz="6600" dirty="0">
              <a:solidFill>
                <a:schemeClr val="bg1"/>
              </a:solidFill>
            </a:endParaRPr>
          </a:p>
        </p:txBody>
      </p:sp>
      <p:sp>
        <p:nvSpPr>
          <p:cNvPr id="18" name="Text Placeholder 5">
            <a:extLst>
              <a:ext uri="{FF2B5EF4-FFF2-40B4-BE49-F238E27FC236}">
                <a16:creationId xmlns:a16="http://schemas.microsoft.com/office/drawing/2014/main" id="{EF872E11-D0DF-4446-BE76-A398B88E9B44}"/>
              </a:ext>
            </a:extLst>
          </p:cNvPr>
          <p:cNvSpPr txBox="1"/>
          <p:nvPr/>
        </p:nvSpPr>
        <p:spPr>
          <a:xfrm>
            <a:off x="4250516" y="2726281"/>
            <a:ext cx="25086526" cy="492443"/>
          </a:xfrm>
          <a:prstGeom prst="rect">
            <a:avLst/>
          </a:prstGeom>
        </p:spPr>
        <p:txBody>
          <a:bodyPr wrap="square" lIns="0" tIns="0" rIns="0" bIns="0" anchor="t">
            <a:spAutoFit/>
          </a:bodyPr>
          <a:lstStyle>
            <a:defPPr>
              <a:defRPr lang="en-US"/>
            </a:defPPr>
            <a:lvl1pPr marL="0" algn="l" defTabSz="3756396" rtl="0" eaLnBrk="1" latinLnBrk="0" hangingPunct="1">
              <a:defRPr sz="7400" kern="1200">
                <a:solidFill>
                  <a:schemeClr val="tx1"/>
                </a:solidFill>
                <a:latin typeface="+mn-lt"/>
                <a:ea typeface="+mn-ea"/>
                <a:cs typeface="+mn-cs"/>
              </a:defRPr>
            </a:lvl1pPr>
            <a:lvl2pPr marL="1878198" algn="l" defTabSz="3756396" rtl="0" eaLnBrk="1" latinLnBrk="0" hangingPunct="1">
              <a:defRPr sz="7400" kern="1200">
                <a:solidFill>
                  <a:schemeClr val="tx1"/>
                </a:solidFill>
                <a:latin typeface="+mn-lt"/>
                <a:ea typeface="+mn-ea"/>
                <a:cs typeface="+mn-cs"/>
              </a:defRPr>
            </a:lvl2pPr>
            <a:lvl3pPr marL="3756396" algn="l" defTabSz="3756396" rtl="0" eaLnBrk="1" latinLnBrk="0" hangingPunct="1">
              <a:defRPr sz="7400" kern="1200">
                <a:solidFill>
                  <a:schemeClr val="tx1"/>
                </a:solidFill>
                <a:latin typeface="+mn-lt"/>
                <a:ea typeface="+mn-ea"/>
                <a:cs typeface="+mn-cs"/>
              </a:defRPr>
            </a:lvl3pPr>
            <a:lvl4pPr marL="5634594" algn="l" defTabSz="3756396" rtl="0" eaLnBrk="1" latinLnBrk="0" hangingPunct="1">
              <a:defRPr sz="7400" kern="1200">
                <a:solidFill>
                  <a:schemeClr val="tx1"/>
                </a:solidFill>
                <a:latin typeface="+mn-lt"/>
                <a:ea typeface="+mn-ea"/>
                <a:cs typeface="+mn-cs"/>
              </a:defRPr>
            </a:lvl4pPr>
            <a:lvl5pPr marL="7512797" algn="l" defTabSz="3756396" rtl="0" eaLnBrk="1" latinLnBrk="0" hangingPunct="1">
              <a:defRPr sz="7400" kern="1200">
                <a:solidFill>
                  <a:schemeClr val="tx1"/>
                </a:solidFill>
                <a:latin typeface="+mn-lt"/>
                <a:ea typeface="+mn-ea"/>
                <a:cs typeface="+mn-cs"/>
              </a:defRPr>
            </a:lvl5pPr>
            <a:lvl6pPr marL="9390995" algn="l" defTabSz="3756396" rtl="0" eaLnBrk="1" latinLnBrk="0" hangingPunct="1">
              <a:defRPr sz="7400" kern="1200">
                <a:solidFill>
                  <a:schemeClr val="tx1"/>
                </a:solidFill>
                <a:latin typeface="+mn-lt"/>
                <a:ea typeface="+mn-ea"/>
                <a:cs typeface="+mn-cs"/>
              </a:defRPr>
            </a:lvl6pPr>
            <a:lvl7pPr marL="11269197" algn="l" defTabSz="3756396" rtl="0" eaLnBrk="1" latinLnBrk="0" hangingPunct="1">
              <a:defRPr sz="7400" kern="1200">
                <a:solidFill>
                  <a:schemeClr val="tx1"/>
                </a:solidFill>
                <a:latin typeface="+mn-lt"/>
                <a:ea typeface="+mn-ea"/>
                <a:cs typeface="+mn-cs"/>
              </a:defRPr>
            </a:lvl7pPr>
            <a:lvl8pPr marL="13147394" algn="l" defTabSz="3756396" rtl="0" eaLnBrk="1" latinLnBrk="0" hangingPunct="1">
              <a:defRPr sz="7400" kern="1200">
                <a:solidFill>
                  <a:schemeClr val="tx1"/>
                </a:solidFill>
                <a:latin typeface="+mn-lt"/>
                <a:ea typeface="+mn-ea"/>
                <a:cs typeface="+mn-cs"/>
              </a:defRPr>
            </a:lvl8pPr>
            <a:lvl9pPr marL="15025593" algn="l" defTabSz="3756396" rtl="0" eaLnBrk="1" latinLnBrk="0" hangingPunct="1">
              <a:defRPr sz="7400" kern="1200">
                <a:solidFill>
                  <a:schemeClr val="tx1"/>
                </a:solidFill>
                <a:latin typeface="+mn-lt"/>
                <a:ea typeface="+mn-ea"/>
                <a:cs typeface="+mn-cs"/>
              </a:defRPr>
            </a:lvl9pPr>
          </a:lstStyle>
          <a:p>
            <a:pPr algn="ctr">
              <a:defRPr/>
            </a:pPr>
            <a:r>
              <a:rPr lang="en-US" sz="3200" b="0" dirty="0" err="1">
                <a:solidFill>
                  <a:schemeClr val="bg1"/>
                </a:solidFill>
                <a:latin typeface="Open Sans"/>
                <a:ea typeface="Open Sans"/>
                <a:cs typeface="Open Sans"/>
              </a:rPr>
              <a:t>Maram</a:t>
            </a:r>
            <a:r>
              <a:rPr lang="en-US" sz="3200" b="0" dirty="0">
                <a:solidFill>
                  <a:schemeClr val="bg1"/>
                </a:solidFill>
                <a:latin typeface="Open Sans"/>
                <a:ea typeface="Open Sans"/>
                <a:cs typeface="Open Sans"/>
              </a:rPr>
              <a:t> Cooper, DO</a:t>
            </a:r>
            <a:r>
              <a:rPr lang="en-US" sz="3200" b="0" baseline="30000" dirty="0">
                <a:solidFill>
                  <a:schemeClr val="bg1"/>
                </a:solidFill>
                <a:latin typeface="Open Sans"/>
                <a:ea typeface="Open Sans"/>
                <a:cs typeface="Open Sans"/>
              </a:rPr>
              <a:t>1 </a:t>
            </a:r>
            <a:r>
              <a:rPr lang="en-US" sz="3200" b="0" dirty="0">
                <a:solidFill>
                  <a:schemeClr val="bg1"/>
                </a:solidFill>
                <a:latin typeface="Open Sans"/>
                <a:ea typeface="Open Sans"/>
                <a:cs typeface="Open Sans"/>
              </a:rPr>
              <a:t>; Jasmine Gill, DO, MS</a:t>
            </a:r>
            <a:r>
              <a:rPr lang="en-US" sz="3200" b="0" baseline="30000" dirty="0">
                <a:solidFill>
                  <a:schemeClr val="bg1"/>
                </a:solidFill>
                <a:latin typeface="Open Sans"/>
                <a:ea typeface="Open Sans"/>
                <a:cs typeface="Open Sans"/>
              </a:rPr>
              <a:t>1</a:t>
            </a:r>
            <a:r>
              <a:rPr lang="en-US" sz="3200" b="0" dirty="0">
                <a:solidFill>
                  <a:schemeClr val="bg1"/>
                </a:solidFill>
                <a:latin typeface="Open Sans"/>
                <a:ea typeface="Open Sans"/>
                <a:cs typeface="Open Sans"/>
              </a:rPr>
              <a:t>; Roma Ramirez-Bueno, BS</a:t>
            </a:r>
            <a:r>
              <a:rPr lang="en-US" sz="3200" b="0" baseline="30000" dirty="0">
                <a:solidFill>
                  <a:schemeClr val="bg1"/>
                </a:solidFill>
                <a:latin typeface="Open Sans"/>
                <a:ea typeface="Open Sans"/>
                <a:cs typeface="Open Sans"/>
              </a:rPr>
              <a:t>2</a:t>
            </a:r>
            <a:r>
              <a:rPr lang="en-US" sz="3200" b="0" dirty="0">
                <a:solidFill>
                  <a:schemeClr val="bg1"/>
                </a:solidFill>
                <a:latin typeface="Open Sans"/>
                <a:ea typeface="Open Sans"/>
                <a:cs typeface="Open Sans"/>
              </a:rPr>
              <a:t>; </a:t>
            </a:r>
            <a:r>
              <a:rPr lang="en-US" sz="3200" b="0" dirty="0" err="1">
                <a:solidFill>
                  <a:schemeClr val="bg1"/>
                </a:solidFill>
                <a:latin typeface="Open Sans"/>
                <a:ea typeface="Open Sans"/>
                <a:cs typeface="Open Sans"/>
              </a:rPr>
              <a:t>Ruqayya</a:t>
            </a:r>
            <a:r>
              <a:rPr lang="en-US" sz="3200" b="0" dirty="0">
                <a:solidFill>
                  <a:schemeClr val="bg1"/>
                </a:solidFill>
                <a:latin typeface="Open Sans"/>
                <a:ea typeface="Open Sans"/>
                <a:cs typeface="Open Sans"/>
              </a:rPr>
              <a:t> Gill, DO</a:t>
            </a:r>
            <a:r>
              <a:rPr lang="en-US" sz="3200" b="0" baseline="30000" dirty="0">
                <a:solidFill>
                  <a:schemeClr val="bg1"/>
                </a:solidFill>
                <a:latin typeface="Open Sans"/>
                <a:ea typeface="Open Sans"/>
                <a:cs typeface="Open Sans"/>
              </a:rPr>
              <a:t>1</a:t>
            </a:r>
            <a:r>
              <a:rPr lang="en-US" sz="3200" b="0" dirty="0">
                <a:solidFill>
                  <a:schemeClr val="bg1"/>
                </a:solidFill>
                <a:latin typeface="Open Sans"/>
                <a:ea typeface="Open Sans"/>
                <a:cs typeface="Open Sans"/>
              </a:rPr>
              <a:t>; Jimmy Donkor, MD, PhD</a:t>
            </a:r>
            <a:r>
              <a:rPr lang="en-US" sz="3200" b="0" baseline="30000" dirty="0">
                <a:solidFill>
                  <a:schemeClr val="bg1"/>
                </a:solidFill>
                <a:latin typeface="Open Sans"/>
                <a:ea typeface="Open Sans"/>
                <a:cs typeface="Open Sans"/>
              </a:rPr>
              <a:t>1</a:t>
            </a:r>
            <a:endParaRPr lang="en-US" sz="3200" baseline="30000" dirty="0">
              <a:solidFill>
                <a:schemeClr val="bg1"/>
              </a:solidFill>
            </a:endParaRPr>
          </a:p>
        </p:txBody>
      </p:sp>
      <p:sp>
        <p:nvSpPr>
          <p:cNvPr id="2155" name="Rectangle 167"/>
          <p:cNvSpPr>
            <a:spLocks noChangeArrowheads="1"/>
          </p:cNvSpPr>
          <p:nvPr/>
        </p:nvSpPr>
        <p:spPr bwMode="auto">
          <a:xfrm>
            <a:off x="389007" y="4587887"/>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Abstract</a:t>
            </a:r>
          </a:p>
        </p:txBody>
      </p:sp>
      <p:sp>
        <p:nvSpPr>
          <p:cNvPr id="19" name="Rectangle 167">
            <a:extLst>
              <a:ext uri="{FF2B5EF4-FFF2-40B4-BE49-F238E27FC236}">
                <a16:creationId xmlns:a16="http://schemas.microsoft.com/office/drawing/2014/main" id="{CC5F2601-3472-4441-8610-673ACB878A1B}"/>
              </a:ext>
            </a:extLst>
          </p:cNvPr>
          <p:cNvSpPr>
            <a:spLocks noChangeArrowheads="1"/>
          </p:cNvSpPr>
          <p:nvPr/>
        </p:nvSpPr>
        <p:spPr bwMode="auto">
          <a:xfrm>
            <a:off x="16793780" y="4587887"/>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Case Presentation</a:t>
            </a:r>
            <a:endParaRPr lang="en-US" sz="2400">
              <a:solidFill>
                <a:schemeClr val="bg1"/>
              </a:solidFill>
              <a:latin typeface="Nunito" panose="00000500000000000000" pitchFamily="2" charset="0"/>
            </a:endParaRPr>
          </a:p>
        </p:txBody>
      </p:sp>
      <p:sp>
        <p:nvSpPr>
          <p:cNvPr id="20" name="Rectangle 167">
            <a:extLst>
              <a:ext uri="{FF2B5EF4-FFF2-40B4-BE49-F238E27FC236}">
                <a16:creationId xmlns:a16="http://schemas.microsoft.com/office/drawing/2014/main" id="{F8160BCC-36FC-4419-BD0D-F8E0CD69D3FC}"/>
              </a:ext>
            </a:extLst>
          </p:cNvPr>
          <p:cNvSpPr>
            <a:spLocks noChangeArrowheads="1"/>
          </p:cNvSpPr>
          <p:nvPr/>
        </p:nvSpPr>
        <p:spPr bwMode="auto">
          <a:xfrm>
            <a:off x="16798945" y="11569494"/>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MICU course </a:t>
            </a:r>
            <a:endParaRPr lang="en-US" sz="2400">
              <a:solidFill>
                <a:schemeClr val="bg1"/>
              </a:solidFill>
              <a:latin typeface="Nunito" panose="00000500000000000000" pitchFamily="2" charset="0"/>
            </a:endParaRPr>
          </a:p>
        </p:txBody>
      </p:sp>
      <p:sp>
        <p:nvSpPr>
          <p:cNvPr id="22" name="Rectangle 167">
            <a:extLst>
              <a:ext uri="{FF2B5EF4-FFF2-40B4-BE49-F238E27FC236}">
                <a16:creationId xmlns:a16="http://schemas.microsoft.com/office/drawing/2014/main" id="{911E8223-4617-4E14-85CC-64FBEF860AEB}"/>
              </a:ext>
            </a:extLst>
          </p:cNvPr>
          <p:cNvSpPr>
            <a:spLocks noChangeArrowheads="1"/>
          </p:cNvSpPr>
          <p:nvPr/>
        </p:nvSpPr>
        <p:spPr bwMode="auto">
          <a:xfrm>
            <a:off x="25027751" y="11543951"/>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Discussion</a:t>
            </a:r>
            <a:endParaRPr lang="en-US" sz="2400">
              <a:solidFill>
                <a:schemeClr val="bg1"/>
              </a:solidFill>
              <a:latin typeface="Nunito" panose="00000500000000000000" pitchFamily="2" charset="0"/>
            </a:endParaRPr>
          </a:p>
        </p:txBody>
      </p:sp>
      <p:sp>
        <p:nvSpPr>
          <p:cNvPr id="27" name="Rectangle 167">
            <a:extLst>
              <a:ext uri="{FF2B5EF4-FFF2-40B4-BE49-F238E27FC236}">
                <a16:creationId xmlns:a16="http://schemas.microsoft.com/office/drawing/2014/main" id="{9E369C6D-A264-4B89-931F-14FD6655F2D2}"/>
              </a:ext>
            </a:extLst>
          </p:cNvPr>
          <p:cNvSpPr>
            <a:spLocks noChangeArrowheads="1"/>
          </p:cNvSpPr>
          <p:nvPr/>
        </p:nvSpPr>
        <p:spPr bwMode="auto">
          <a:xfrm>
            <a:off x="8236889" y="4581425"/>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Introduction</a:t>
            </a:r>
          </a:p>
        </p:txBody>
      </p:sp>
      <p:sp>
        <p:nvSpPr>
          <p:cNvPr id="21" name="Rectangle 167">
            <a:extLst>
              <a:ext uri="{FF2B5EF4-FFF2-40B4-BE49-F238E27FC236}">
                <a16:creationId xmlns:a16="http://schemas.microsoft.com/office/drawing/2014/main" id="{101B52F1-D8CA-4741-B86D-98C03F645847}"/>
              </a:ext>
            </a:extLst>
          </p:cNvPr>
          <p:cNvSpPr>
            <a:spLocks noChangeArrowheads="1"/>
          </p:cNvSpPr>
          <p:nvPr/>
        </p:nvSpPr>
        <p:spPr bwMode="auto">
          <a:xfrm>
            <a:off x="24974913" y="4612230"/>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panose="00000500000000000000" pitchFamily="2" charset="0"/>
              </a:rPr>
              <a:t>Conclusion</a:t>
            </a:r>
          </a:p>
        </p:txBody>
      </p:sp>
      <p:sp>
        <p:nvSpPr>
          <p:cNvPr id="32" name="Rectangle 167">
            <a:extLst>
              <a:ext uri="{FF2B5EF4-FFF2-40B4-BE49-F238E27FC236}">
                <a16:creationId xmlns:a16="http://schemas.microsoft.com/office/drawing/2014/main" id="{8A36DE9E-ADA7-4B49-A36B-D777D03B40F4}"/>
              </a:ext>
            </a:extLst>
          </p:cNvPr>
          <p:cNvSpPr>
            <a:spLocks noChangeArrowheads="1"/>
          </p:cNvSpPr>
          <p:nvPr/>
        </p:nvSpPr>
        <p:spPr bwMode="auto">
          <a:xfrm>
            <a:off x="25018370" y="16817442"/>
            <a:ext cx="7604996" cy="609600"/>
          </a:xfrm>
          <a:prstGeom prst="roundRect">
            <a:avLst/>
          </a:prstGeom>
          <a:solidFill>
            <a:srgbClr val="E64B3C"/>
          </a:solidFill>
          <a:ln w="9525">
            <a:noFill/>
            <a:miter lim="800000"/>
          </a:ln>
        </p:spPr>
        <p:txBody>
          <a:bodyPr wrap="none" lIns="91440" tIns="45720" rIns="91440" bIns="45720" anchor="ctr"/>
          <a:lstStyle>
            <a:defPPr>
              <a:defRPr kern="1200"/>
            </a:defPPr>
          </a:lstStyle>
          <a:p>
            <a:pPr defTabSz="2508375"/>
            <a:r>
              <a:rPr lang="en-US" sz="2400">
                <a:solidFill>
                  <a:schemeClr val="bg1"/>
                </a:solidFill>
                <a:latin typeface="Nunito"/>
              </a:rPr>
              <a:t>References</a:t>
            </a:r>
            <a:endParaRPr lang="en-US" sz="2400">
              <a:solidFill>
                <a:schemeClr val="bg1"/>
              </a:solidFill>
              <a:latin typeface="Nunito" panose="00000500000000000000" pitchFamily="2" charset="0"/>
            </a:endParaRPr>
          </a:p>
        </p:txBody>
      </p:sp>
      <p:sp>
        <p:nvSpPr>
          <p:cNvPr id="48" name="TextBox 47">
            <a:extLst>
              <a:ext uri="{FF2B5EF4-FFF2-40B4-BE49-F238E27FC236}">
                <a16:creationId xmlns:a16="http://schemas.microsoft.com/office/drawing/2014/main" id="{6A0D303C-BC2E-4D27-8DCB-AFFC83235B99}"/>
              </a:ext>
            </a:extLst>
          </p:cNvPr>
          <p:cNvSpPr txBox="1"/>
          <p:nvPr/>
        </p:nvSpPr>
        <p:spPr>
          <a:xfrm>
            <a:off x="461244" y="5376477"/>
            <a:ext cx="7251460" cy="7786747"/>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Methemoglobinemia is a rare but potentially life-threatening condition characterized by increased levels of methemoglobin, leading to impaired oxygen delivery. It can be caused by various oxidizing agents, including medications, chemicals, and environmental toxins.</a:t>
            </a:r>
            <a:endParaRPr lang="en-US" sz="2200">
              <a:solidFill>
                <a:schemeClr val="tx1"/>
              </a:solidFill>
            </a:endParaRPr>
          </a:p>
          <a:p>
            <a:pPr algn="l"/>
            <a:r>
              <a:rPr lang="en-US" sz="2200" b="0">
                <a:solidFill>
                  <a:schemeClr val="tx1"/>
                </a:solidFill>
                <a:ea typeface="Open Sans"/>
                <a:cs typeface="Arial"/>
              </a:rPr>
              <a:t>We report the case of an 80-year-old male who presented to the emergency department with altered mental status and hypoxia. Initial evaluation revealed cyanosis unresponsive to supplemental oxygen. Arterial blood gas analysis demonstrated a normal partial pressure of oxygen, but methemoglobin labs showed elevated methemoglobin levels. A thorough history and collateral information from family revealed recent exposure to gardening herbicides and pesticides, raising suspicion for toxic-induced methemoglobinemia. The patient was treated with intravenous methylene blue, leading to rapid clinical improvement and resolution of hypoxia.</a:t>
            </a:r>
            <a:endParaRPr lang="en-US" sz="2200">
              <a:solidFill>
                <a:schemeClr val="tx1"/>
              </a:solidFill>
            </a:endParaRPr>
          </a:p>
          <a:p>
            <a:pPr algn="l"/>
            <a:r>
              <a:rPr lang="en-US" sz="2200" b="0">
                <a:solidFill>
                  <a:schemeClr val="tx1"/>
                </a:solidFill>
                <a:ea typeface="Open Sans"/>
                <a:cs typeface="Arial"/>
              </a:rPr>
              <a:t>This case highlights the importance of considering methemoglobinemia in patients with unexplained hypoxia and cyanosis, particularly in those with recent chemical exposures.</a:t>
            </a:r>
            <a:r>
              <a:rPr lang="en-US" sz="2000" b="0">
                <a:solidFill>
                  <a:schemeClr val="tx1"/>
                </a:solidFill>
                <a:ea typeface="Open Sans"/>
                <a:cs typeface="Arial"/>
              </a:rPr>
              <a:t> </a:t>
            </a:r>
            <a:endParaRPr lang="en-US" sz="2000" b="0">
              <a:solidFill>
                <a:schemeClr val="tx1"/>
              </a:solidFill>
              <a:ea typeface="Open Sans"/>
            </a:endParaRPr>
          </a:p>
          <a:p>
            <a:pPr algn="l"/>
            <a:endParaRPr lang="en-US" sz="1600" b="0">
              <a:solidFill>
                <a:schemeClr val="tx1"/>
              </a:solidFill>
              <a:latin typeface="Open Sans"/>
              <a:ea typeface="Open Sans"/>
              <a:cs typeface="Open Sans"/>
            </a:endParaRPr>
          </a:p>
        </p:txBody>
      </p:sp>
      <p:sp>
        <p:nvSpPr>
          <p:cNvPr id="49" name="TextBox 48">
            <a:extLst>
              <a:ext uri="{FF2B5EF4-FFF2-40B4-BE49-F238E27FC236}">
                <a16:creationId xmlns:a16="http://schemas.microsoft.com/office/drawing/2014/main" id="{DEA09F5A-1661-4BDF-A2DF-89252468F52D}"/>
              </a:ext>
            </a:extLst>
          </p:cNvPr>
          <p:cNvSpPr txBox="1"/>
          <p:nvPr/>
        </p:nvSpPr>
        <p:spPr>
          <a:xfrm>
            <a:off x="8245716" y="5189275"/>
            <a:ext cx="7604996" cy="7325082"/>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Methemoglobinemia is a rare but serious disorder caused by the oxidation of hemoglobin to methemoglobin due to iron being present in the ferric [Fe3+] state rather than the ferrous [Fe2+] state, resulting in decreased oxygen release to tissues.</a:t>
            </a:r>
            <a:r>
              <a:rPr lang="en-US" sz="2200" b="0" baseline="30000">
                <a:solidFill>
                  <a:schemeClr val="tx1"/>
                </a:solidFill>
                <a:ea typeface="Open Sans"/>
                <a:cs typeface="Arial"/>
              </a:rPr>
              <a:t>1</a:t>
            </a:r>
            <a:r>
              <a:rPr lang="en-US" sz="2200" b="0">
                <a:solidFill>
                  <a:schemeClr val="tx1"/>
                </a:solidFill>
                <a:ea typeface="Open Sans"/>
                <a:cs typeface="Arial"/>
              </a:rPr>
              <a:t> Methemoglobinemia is generally rare, with prevalence up to 1:1000 in some isolated populations.</a:t>
            </a:r>
            <a:r>
              <a:rPr lang="en-US" sz="2200" b="0" baseline="30000">
                <a:solidFill>
                  <a:schemeClr val="tx1"/>
                </a:solidFill>
                <a:ea typeface="Open Sans"/>
                <a:cs typeface="Arial"/>
              </a:rPr>
              <a:t>1</a:t>
            </a:r>
            <a:r>
              <a:rPr lang="en-US" sz="2200" b="0">
                <a:solidFill>
                  <a:schemeClr val="tx1"/>
                </a:solidFill>
                <a:ea typeface="Open Sans"/>
                <a:cs typeface="Arial"/>
              </a:rPr>
              <a:t> While some cases of methemoglobinemia are congenital, most cases are acquired. A retrospective study conducted at an academic medical center in the Midwestern United States found the most frequent acquired causes of methemoglobinemia to be dapsone (73.3% pediatric, 65.3% adult) and nitric oxide (18.1% pediatric, 13.2% adult).</a:t>
            </a:r>
            <a:r>
              <a:rPr lang="en-US" sz="2200" b="0" baseline="30000">
                <a:solidFill>
                  <a:schemeClr val="tx1"/>
                </a:solidFill>
                <a:ea typeface="Open Sans"/>
                <a:cs typeface="Arial"/>
              </a:rPr>
              <a:t>2</a:t>
            </a:r>
            <a:r>
              <a:rPr lang="en-US" sz="2200" b="0">
                <a:solidFill>
                  <a:schemeClr val="tx1"/>
                </a:solidFill>
                <a:ea typeface="Open Sans"/>
                <a:cs typeface="Arial"/>
              </a:rPr>
              <a:t> Other commonly reported causes of acquired methemoglobinemia include suicide attempts by sodium nitrite</a:t>
            </a:r>
            <a:r>
              <a:rPr lang="en-US" sz="2200" b="0" baseline="30000">
                <a:solidFill>
                  <a:schemeClr val="tx1"/>
                </a:solidFill>
                <a:ea typeface="Open Sans"/>
                <a:cs typeface="Arial"/>
              </a:rPr>
              <a:t>2,3,4</a:t>
            </a:r>
            <a:r>
              <a:rPr lang="en-US" sz="2200" b="0">
                <a:solidFill>
                  <a:schemeClr val="tx1"/>
                </a:solidFill>
                <a:ea typeface="Open Sans"/>
                <a:cs typeface="Arial"/>
              </a:rPr>
              <a:t>, anesthetics such as benzocaine and lidocaine </a:t>
            </a:r>
            <a:r>
              <a:rPr lang="en-US" sz="2200" b="0" baseline="30000">
                <a:solidFill>
                  <a:schemeClr val="tx1"/>
                </a:solidFill>
                <a:ea typeface="Open Sans"/>
                <a:cs typeface="Arial"/>
              </a:rPr>
              <a:t>5,6,7</a:t>
            </a:r>
            <a:r>
              <a:rPr lang="en-US" sz="2200" b="0">
                <a:solidFill>
                  <a:schemeClr val="tx1"/>
                </a:solidFill>
                <a:ea typeface="Open Sans"/>
                <a:cs typeface="Arial"/>
              </a:rPr>
              <a:t>, and recreational drugs containing amyl nitrite.</a:t>
            </a:r>
            <a:r>
              <a:rPr lang="en-US" sz="2200" b="0" baseline="30000">
                <a:solidFill>
                  <a:schemeClr val="tx1"/>
                </a:solidFill>
                <a:ea typeface="Open Sans"/>
                <a:cs typeface="Arial"/>
              </a:rPr>
              <a:t>8,9,10</a:t>
            </a:r>
            <a:r>
              <a:rPr lang="en-US" sz="2200" b="0">
                <a:solidFill>
                  <a:schemeClr val="tx1"/>
                </a:solidFill>
                <a:ea typeface="Open Sans"/>
                <a:cs typeface="Arial"/>
              </a:rPr>
              <a:t> A significant cause worth noting is pesticide use in agricultural regions</a:t>
            </a:r>
            <a:r>
              <a:rPr lang="en-US" sz="2200" b="0" baseline="30000">
                <a:solidFill>
                  <a:schemeClr val="tx1"/>
                </a:solidFill>
                <a:ea typeface="Open Sans"/>
                <a:cs typeface="Arial"/>
              </a:rPr>
              <a:t>11,12</a:t>
            </a:r>
            <a:r>
              <a:rPr lang="en-US" sz="2200" b="0">
                <a:solidFill>
                  <a:schemeClr val="tx1"/>
                </a:solidFill>
                <a:ea typeface="Open Sans"/>
                <a:cs typeface="Arial"/>
              </a:rPr>
              <a:t> in addition to nitrite found in contaminated water sources.</a:t>
            </a:r>
            <a:r>
              <a:rPr lang="en-US" sz="2200" b="0" baseline="30000">
                <a:solidFill>
                  <a:schemeClr val="tx1"/>
                </a:solidFill>
                <a:ea typeface="Open Sans"/>
                <a:cs typeface="Arial"/>
              </a:rPr>
              <a:t>13,14,15</a:t>
            </a:r>
            <a:endParaRPr lang="en-US" sz="2200">
              <a:solidFill>
                <a:schemeClr val="tx1"/>
              </a:solidFill>
              <a:ea typeface="Open Sans"/>
            </a:endParaRPr>
          </a:p>
          <a:p>
            <a:pPr algn="l"/>
            <a:endParaRPr lang="en-US" sz="2400" b="0">
              <a:solidFill>
                <a:schemeClr val="tx1"/>
              </a:solidFill>
              <a:ea typeface="Open Sans"/>
            </a:endParaRPr>
          </a:p>
          <a:p>
            <a:pPr algn="l"/>
            <a:endParaRPr lang="en-US" sz="1800" b="0">
              <a:solidFill>
                <a:schemeClr val="tx1"/>
              </a:solidFill>
              <a:ea typeface="Open Sans"/>
            </a:endParaRPr>
          </a:p>
          <a:p>
            <a:pPr algn="l"/>
            <a:endParaRPr lang="en-US" sz="1500" b="0" baseline="30000">
              <a:solidFill>
                <a:schemeClr val="tx1"/>
              </a:solidFill>
              <a:ea typeface="Open Sans"/>
            </a:endParaRPr>
          </a:p>
        </p:txBody>
      </p:sp>
      <p:sp>
        <p:nvSpPr>
          <p:cNvPr id="54" name="TextBox 53">
            <a:extLst>
              <a:ext uri="{FF2B5EF4-FFF2-40B4-BE49-F238E27FC236}">
                <a16:creationId xmlns:a16="http://schemas.microsoft.com/office/drawing/2014/main" id="{78FB01C1-373E-4866-BF69-4540A0DE8387}"/>
              </a:ext>
            </a:extLst>
          </p:cNvPr>
          <p:cNvSpPr txBox="1"/>
          <p:nvPr/>
        </p:nvSpPr>
        <p:spPr>
          <a:xfrm>
            <a:off x="16793779" y="5206920"/>
            <a:ext cx="7604996" cy="6432530"/>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An 80-year-old male with a past medical history significant for coronary artery disease status post-coronary artery bypass graft (CABG) approximately 20 years ago and hyperlipidemia presented to the emergency department with complaints of altered level of consciousness and hypoxia. On arrival, the patient had a Glasgow Coma Scale (GCS) score of 12 and an oxygen saturation of 79%, with a blood pressure of 97/57. Physical examination revealed peripheral cyanosis of the fingers and toes. Family members reported that earlier in the day, the patient had a GCS of 15. Despite administration of 15L of oxygen via a non-rebreather mask, the patient’s oxygen saturation improved only to 89%, remaining hypoxic. While labs were drawn, it was observed to be resembling chocolate in color.</a:t>
            </a:r>
            <a:endParaRPr lang="en-US" sz="2200">
              <a:solidFill>
                <a:schemeClr val="tx1"/>
              </a:solidFill>
              <a:ea typeface="Open Sans"/>
            </a:endParaRPr>
          </a:p>
          <a:p>
            <a:pPr algn="l"/>
            <a:r>
              <a:rPr lang="en-US" sz="2200" b="0">
                <a:solidFill>
                  <a:schemeClr val="tx1"/>
                </a:solidFill>
                <a:ea typeface="Open Sans"/>
                <a:cs typeface="Arial"/>
              </a:rPr>
              <a:t>An arterial blood gas (ABG) analysis revealed a normal pH, normal CO2, and normal bicarbonate levels. Due to concerns regarding airway protection and persistent hypoxia, the patient was intubated. </a:t>
            </a:r>
            <a:endParaRPr lang="en-US" sz="2200" b="0">
              <a:solidFill>
                <a:schemeClr val="tx1"/>
              </a:solidFill>
              <a:ea typeface="Open Sans"/>
            </a:endParaRPr>
          </a:p>
          <a:p>
            <a:pPr algn="l"/>
            <a:endParaRPr lang="en-US" sz="16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1" name="TextBox 240">
            <a:extLst>
              <a:ext uri="{FF2B5EF4-FFF2-40B4-BE49-F238E27FC236}">
                <a16:creationId xmlns:a16="http://schemas.microsoft.com/office/drawing/2014/main" id="{289F4C29-97DA-4889-85D4-4718B5EF9EE5}"/>
              </a:ext>
            </a:extLst>
          </p:cNvPr>
          <p:cNvSpPr txBox="1"/>
          <p:nvPr/>
        </p:nvSpPr>
        <p:spPr>
          <a:xfrm>
            <a:off x="16798944" y="12188528"/>
            <a:ext cx="7604996" cy="6432530"/>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The patient was admitted to the intensive care unit (ICU) for further management and workup. A chest X-ray showed no acute cardiopulmonary pathology, while a CTA of the chest did not reveal any large central pulmonary emboli but did show mild atelectatic changes in the bilateral lung bases. An echocardiogram showed an ejection fraction of 50-55%. Laboratory results were remarkable for a methemoglobin level of 37.8%. Urine drug screen and a respiratory viral panel were negative. Upon questioning of family, it was found patient was using concentrated pesticides which he most likely absorbed either through his skin or inhaled which caused methemoglobinemia. </a:t>
            </a:r>
            <a:endParaRPr lang="en-US" sz="2200" b="0">
              <a:solidFill>
                <a:schemeClr val="tx1"/>
              </a:solidFill>
              <a:ea typeface="Open Sans"/>
            </a:endParaRPr>
          </a:p>
          <a:p>
            <a:pPr algn="l"/>
            <a:r>
              <a:rPr lang="en-US" sz="2200" b="0">
                <a:solidFill>
                  <a:schemeClr val="tx1"/>
                </a:solidFill>
                <a:ea typeface="Open Sans"/>
                <a:cs typeface="Arial"/>
              </a:rPr>
              <a:t>Given the elevated methemoglobin level, the patient was promptly treated with intravenous methylene blue. The patient demonstrated clinical improvement, was extubated to 4L nasal cannula, and was subsequently weaned to room air. A repeat methemoglobin level was 0.1%, confirming resolution of methemoglobinemia.</a:t>
            </a:r>
            <a:endParaRPr lang="en-US" sz="2200">
              <a:solidFill>
                <a:schemeClr val="tx1"/>
              </a:solidFill>
              <a:ea typeface="Open Sans"/>
            </a:endParaRPr>
          </a:p>
          <a:p>
            <a:pPr algn="l"/>
            <a:endParaRPr lang="en-US" sz="16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49" name="TextBox 248">
            <a:extLst>
              <a:ext uri="{FF2B5EF4-FFF2-40B4-BE49-F238E27FC236}">
                <a16:creationId xmlns:a16="http://schemas.microsoft.com/office/drawing/2014/main" id="{E7F5A37C-2B6C-4404-91FF-0640D04BD011}"/>
              </a:ext>
            </a:extLst>
          </p:cNvPr>
          <p:cNvSpPr txBox="1"/>
          <p:nvPr/>
        </p:nvSpPr>
        <p:spPr>
          <a:xfrm>
            <a:off x="25030611" y="12189065"/>
            <a:ext cx="7604996" cy="4493538"/>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Pesticides which are regularly used in the Central Valley of California, was the acquired cause of methemoglobinemia in this elderly patient. Prompt recognition and consideration of methemoglobinemia as a differential diagnosis by the ED provider who observed “chocolate blood” drawn during the point of care labs reduced this patient’s ICU and overall hospital length of stay. Initially, the cause of the patient's encephalopathy was unclear; however, when inquired about the patient's daily activities, the family reported that the patient gardened on a daily basis and used herbicides/pesticides. Our case highlights the importance of history taking and the many presentations of pesticide toxicity. </a:t>
            </a:r>
            <a:endParaRPr lang="en-US" sz="2200">
              <a:solidFill>
                <a:schemeClr val="tx1"/>
              </a:solidFill>
              <a:ea typeface="Open Sans"/>
            </a:endParaRPr>
          </a:p>
        </p:txBody>
      </p:sp>
      <p:sp>
        <p:nvSpPr>
          <p:cNvPr id="306" name="TextBox 305">
            <a:extLst>
              <a:ext uri="{FF2B5EF4-FFF2-40B4-BE49-F238E27FC236}">
                <a16:creationId xmlns:a16="http://schemas.microsoft.com/office/drawing/2014/main" id="{52719D96-727F-42F6-8B2A-AA919B98673D}"/>
              </a:ext>
            </a:extLst>
          </p:cNvPr>
          <p:cNvSpPr txBox="1"/>
          <p:nvPr/>
        </p:nvSpPr>
        <p:spPr>
          <a:xfrm>
            <a:off x="24951076" y="5191341"/>
            <a:ext cx="7604996" cy="2831544"/>
          </a:xfrm>
          <a:prstGeom prst="rect">
            <a:avLst/>
          </a:prstGeom>
          <a:noFill/>
        </p:spPr>
        <p:txBody>
          <a:bodyPr wrap="square" lIns="91440" tIns="45720" rIns="91440" bIns="45720" rtlCol="0" anchor="t">
            <a:spAutoFit/>
          </a:bodyPr>
          <a:lstStyle>
            <a:defPPr>
              <a:defRPr kern="1200"/>
            </a:defPPr>
          </a:lstStyle>
          <a:p>
            <a:pPr algn="l"/>
            <a:r>
              <a:rPr lang="en-US" sz="2200" b="0">
                <a:solidFill>
                  <a:schemeClr val="tx1"/>
                </a:solidFill>
                <a:ea typeface="Open Sans"/>
                <a:cs typeface="Arial"/>
              </a:rPr>
              <a:t>This case highlights the importance of considering methemoglobinemia in patients presenting with unexplained hypoxia and cyanosis, particularly when conventional oxygen therapy fails to improve symptoms. Early recognition and prompt treatment with methylene blue can be lifesaving. Additionally, thorough environmental and occupational history-taking is crucial in identifying potential toxic exposures.</a:t>
            </a:r>
            <a:r>
              <a:rPr lang="en-US" sz="2400" b="0">
                <a:solidFill>
                  <a:schemeClr val="tx1"/>
                </a:solidFill>
                <a:ea typeface="Open Sans"/>
                <a:cs typeface="Arial"/>
              </a:rPr>
              <a:t> </a:t>
            </a:r>
            <a:endParaRPr lang="en-US" sz="2400" b="0">
              <a:solidFill>
                <a:schemeClr val="tx1"/>
              </a:solidFill>
              <a:ea typeface="Open Sans"/>
            </a:endParaRPr>
          </a:p>
        </p:txBody>
      </p:sp>
      <p:pic>
        <p:nvPicPr>
          <p:cNvPr id="5" name="Picture 4" descr="Dr Raashid - Share and like this post Patients with  methemoglobinemia(MetHb) have chocolate-colored blood (increased  concentration of deoxyhemoglobin and cyanosis. Clinically evident cyanosis  occurs at metHb levels &gt;1.5 g/dL. Skin color does">
            <a:extLst>
              <a:ext uri="{FF2B5EF4-FFF2-40B4-BE49-F238E27FC236}">
                <a16:creationId xmlns:a16="http://schemas.microsoft.com/office/drawing/2014/main" id="{BA727705-5BCB-E504-1CAC-3444AFB85981}"/>
              </a:ext>
            </a:extLst>
          </p:cNvPr>
          <p:cNvPicPr>
            <a:picLocks noChangeAspect="1"/>
          </p:cNvPicPr>
          <p:nvPr/>
        </p:nvPicPr>
        <p:blipFill>
          <a:blip r:embed="rId2"/>
          <a:stretch>
            <a:fillRect/>
          </a:stretch>
        </p:blipFill>
        <p:spPr>
          <a:xfrm>
            <a:off x="470029" y="14742229"/>
            <a:ext cx="6482168" cy="6518594"/>
          </a:xfrm>
          <a:prstGeom prst="rect">
            <a:avLst/>
          </a:prstGeom>
        </p:spPr>
      </p:pic>
      <p:sp>
        <p:nvSpPr>
          <p:cNvPr id="6" name="TextBox 5">
            <a:extLst>
              <a:ext uri="{FF2B5EF4-FFF2-40B4-BE49-F238E27FC236}">
                <a16:creationId xmlns:a16="http://schemas.microsoft.com/office/drawing/2014/main" id="{EEE757C8-FE0C-D878-69C7-4AF63E8D1330}"/>
              </a:ext>
            </a:extLst>
          </p:cNvPr>
          <p:cNvSpPr txBox="1"/>
          <p:nvPr/>
        </p:nvSpPr>
        <p:spPr>
          <a:xfrm>
            <a:off x="8233023" y="11965335"/>
            <a:ext cx="7192376" cy="6515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dirty="0">
                <a:solidFill>
                  <a:schemeClr val="tx1"/>
                </a:solidFill>
              </a:rPr>
              <a:t>Symptoms of methemoglobinemia range from entirely asymptomatic to severe, making the condition difficult for providers to identify, especially in resource-poor locations.</a:t>
            </a:r>
            <a:r>
              <a:rPr lang="en-US" sz="2200" b="0" baseline="30000" dirty="0">
                <a:solidFill>
                  <a:schemeClr val="tx1"/>
                </a:solidFill>
              </a:rPr>
              <a:t>13</a:t>
            </a:r>
            <a:r>
              <a:rPr lang="en-US" sz="2200" b="0" dirty="0">
                <a:solidFill>
                  <a:schemeClr val="tx1"/>
                </a:solidFill>
              </a:rPr>
              <a:t> It is important to consider methemoglobinemia as a differential diagnosis for hypoxic patients in agricultural regions, such as the Central Valley of California, as it is easily reversible.</a:t>
            </a:r>
            <a:r>
              <a:rPr lang="en-US" sz="2200" b="0" baseline="30000" dirty="0">
                <a:solidFill>
                  <a:schemeClr val="tx1"/>
                </a:solidFill>
              </a:rPr>
              <a:t>1</a:t>
            </a:r>
            <a:r>
              <a:rPr lang="en-US" sz="2200" b="0" dirty="0">
                <a:solidFill>
                  <a:schemeClr val="tx1"/>
                </a:solidFill>
              </a:rPr>
              <a:t> </a:t>
            </a:r>
            <a:endParaRPr lang="en-US" sz="2200" dirty="0">
              <a:solidFill>
                <a:schemeClr val="tx1"/>
              </a:solidFill>
            </a:endParaRPr>
          </a:p>
          <a:p>
            <a:pPr algn="l"/>
            <a:r>
              <a:rPr lang="en-US" sz="2200" b="0" dirty="0">
                <a:solidFill>
                  <a:schemeClr val="tx1"/>
                </a:solidFill>
              </a:rPr>
              <a:t>Clinically, methemoglobinemia presents with varying degrees of cyanosis, dyspnea, fatigue, and altered mental status, depending on the level of methemoglobin present in circulation. Cyanosis that is disproportionate to oxygen saturation levels, along with hypoxia unresponsive to supplemental oxygen, are key diagnostic clues. </a:t>
            </a:r>
            <a:endParaRPr lang="en-US" sz="2200" dirty="0">
              <a:solidFill>
                <a:schemeClr val="tx1"/>
              </a:solidFill>
            </a:endParaRPr>
          </a:p>
          <a:p>
            <a:pPr algn="l"/>
            <a:endParaRPr lang="en-US" sz="2400" b="0" dirty="0">
              <a:solidFill>
                <a:schemeClr val="tx1"/>
              </a:solidFill>
            </a:endParaRPr>
          </a:p>
          <a:p>
            <a:pPr algn="l"/>
            <a:endParaRPr lang="en-US" sz="2400" b="0" dirty="0">
              <a:solidFill>
                <a:schemeClr val="tx1"/>
              </a:solidFill>
            </a:endParaRPr>
          </a:p>
          <a:p>
            <a:pPr algn="l"/>
            <a:br>
              <a:rPr lang="en-US" dirty="0"/>
            </a:br>
            <a:endParaRPr lang="en-US" dirty="0"/>
          </a:p>
        </p:txBody>
      </p:sp>
      <p:pic>
        <p:nvPicPr>
          <p:cNvPr id="2" name="Picture 1">
            <a:extLst>
              <a:ext uri="{FF2B5EF4-FFF2-40B4-BE49-F238E27FC236}">
                <a16:creationId xmlns:a16="http://schemas.microsoft.com/office/drawing/2014/main" id="{F9F480C0-FF6D-51D6-5893-C96CD812678B}"/>
              </a:ext>
            </a:extLst>
          </p:cNvPr>
          <p:cNvPicPr>
            <a:picLocks noChangeAspect="1"/>
          </p:cNvPicPr>
          <p:nvPr/>
        </p:nvPicPr>
        <p:blipFill>
          <a:blip r:embed="rId3"/>
          <a:stretch>
            <a:fillRect/>
          </a:stretch>
        </p:blipFill>
        <p:spPr>
          <a:xfrm>
            <a:off x="27141689" y="17991498"/>
            <a:ext cx="3045495" cy="3257304"/>
          </a:xfrm>
          <a:prstGeom prst="rect">
            <a:avLst/>
          </a:prstGeom>
        </p:spPr>
      </p:pic>
      <p:sp>
        <p:nvSpPr>
          <p:cNvPr id="4" name="TextBox 3">
            <a:extLst>
              <a:ext uri="{FF2B5EF4-FFF2-40B4-BE49-F238E27FC236}">
                <a16:creationId xmlns:a16="http://schemas.microsoft.com/office/drawing/2014/main" id="{EE477C5D-BD86-A8E2-35FB-B31E46584DE6}"/>
              </a:ext>
            </a:extLst>
          </p:cNvPr>
          <p:cNvSpPr txBox="1"/>
          <p:nvPr/>
        </p:nvSpPr>
        <p:spPr>
          <a:xfrm>
            <a:off x="27139351" y="17412907"/>
            <a:ext cx="3034577"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a:solidFill>
                  <a:schemeClr val="tx1"/>
                </a:solidFill>
              </a:rPr>
              <a:t>Scan me for sources!</a:t>
            </a:r>
          </a:p>
        </p:txBody>
      </p:sp>
      <p:sp>
        <p:nvSpPr>
          <p:cNvPr id="7" name="TextBox 6">
            <a:extLst>
              <a:ext uri="{FF2B5EF4-FFF2-40B4-BE49-F238E27FC236}">
                <a16:creationId xmlns:a16="http://schemas.microsoft.com/office/drawing/2014/main" id="{66768630-BDBD-6090-D6B7-F938DAF28F9A}"/>
              </a:ext>
            </a:extLst>
          </p:cNvPr>
          <p:cNvSpPr txBox="1"/>
          <p:nvPr/>
        </p:nvSpPr>
        <p:spPr>
          <a:xfrm>
            <a:off x="25154188" y="4609219"/>
            <a:ext cx="107191" cy="38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8" name="TextBox 7">
            <a:extLst>
              <a:ext uri="{FF2B5EF4-FFF2-40B4-BE49-F238E27FC236}">
                <a16:creationId xmlns:a16="http://schemas.microsoft.com/office/drawing/2014/main" id="{05E32D92-FDE2-B384-BBE3-64FF977F971B}"/>
              </a:ext>
            </a:extLst>
          </p:cNvPr>
          <p:cNvSpPr txBox="1"/>
          <p:nvPr/>
        </p:nvSpPr>
        <p:spPr>
          <a:xfrm>
            <a:off x="25032542" y="8016625"/>
            <a:ext cx="7640333" cy="24622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200" b="0">
                <a:solidFill>
                  <a:schemeClr val="tx1"/>
                </a:solidFill>
              </a:rPr>
              <a:t>As demonstrated in this case, exposure to common household and gardening chemicals can lead to severe toxic effects, reinforcing the need for public awareness and preventative measures. Clinicians should maintain a high index of suspicion for acquired methemoglobinemia in appropriate clinical scenarios to ensure timely diagnosis and management.</a:t>
            </a:r>
            <a:endParaRPr lang="en-US" sz="2200">
              <a:solidFill>
                <a:schemeClr val="tx1"/>
              </a:solidFill>
            </a:endParaRPr>
          </a:p>
        </p:txBody>
      </p:sp>
      <p:sp>
        <p:nvSpPr>
          <p:cNvPr id="9" name="TextBox 8">
            <a:extLst>
              <a:ext uri="{FF2B5EF4-FFF2-40B4-BE49-F238E27FC236}">
                <a16:creationId xmlns:a16="http://schemas.microsoft.com/office/drawing/2014/main" id="{D838A629-18BF-DB62-D7C3-EC21919CB8E8}"/>
              </a:ext>
            </a:extLst>
          </p:cNvPr>
          <p:cNvSpPr txBox="1"/>
          <p:nvPr/>
        </p:nvSpPr>
        <p:spPr>
          <a:xfrm>
            <a:off x="7292385" y="3218724"/>
            <a:ext cx="17099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0" dirty="0">
                <a:solidFill>
                  <a:schemeClr val="bg1"/>
                </a:solidFill>
              </a:rPr>
              <a:t> Saint Agnes Medical Center, Fresno, CA</a:t>
            </a:r>
            <a:r>
              <a:rPr lang="en-US" sz="2400" b="0" baseline="30000" dirty="0">
                <a:solidFill>
                  <a:schemeClr val="bg1"/>
                </a:solidFill>
              </a:rPr>
              <a:t>1</a:t>
            </a:r>
            <a:r>
              <a:rPr lang="en-US" sz="2400" b="0" dirty="0">
                <a:solidFill>
                  <a:schemeClr val="bg1"/>
                </a:solidFill>
              </a:rPr>
              <a:t> California Health Sciences University, Clovis, CA</a:t>
            </a:r>
            <a:r>
              <a:rPr lang="en-US" sz="2400" b="0" baseline="30000" dirty="0">
                <a:solidFill>
                  <a:schemeClr val="bg1"/>
                </a:solidFill>
              </a:rPr>
              <a:t>2</a:t>
            </a:r>
          </a:p>
        </p:txBody>
      </p:sp>
      <p:graphicFrame>
        <p:nvGraphicFramePr>
          <p:cNvPr id="12" name="Table 11">
            <a:extLst>
              <a:ext uri="{FF2B5EF4-FFF2-40B4-BE49-F238E27FC236}">
                <a16:creationId xmlns:a16="http://schemas.microsoft.com/office/drawing/2014/main" id="{1A890A8B-4234-67A5-8F90-ED4389C9B9E9}"/>
              </a:ext>
            </a:extLst>
          </p:cNvPr>
          <p:cNvGraphicFramePr>
            <a:graphicFrameLocks noGrp="1"/>
          </p:cNvGraphicFramePr>
          <p:nvPr>
            <p:extLst>
              <p:ext uri="{D42A27DB-BD31-4B8C-83A1-F6EECF244321}">
                <p14:modId xmlns:p14="http://schemas.microsoft.com/office/powerpoint/2010/main" val="1498146454"/>
              </p:ext>
            </p:extLst>
          </p:nvPr>
        </p:nvGraphicFramePr>
        <p:xfrm>
          <a:off x="8147199" y="17122242"/>
          <a:ext cx="7456743" cy="3840480"/>
        </p:xfrm>
        <a:graphic>
          <a:graphicData uri="http://schemas.openxmlformats.org/drawingml/2006/table">
            <a:tbl>
              <a:tblPr/>
              <a:tblGrid>
                <a:gridCol w="2485581">
                  <a:extLst>
                    <a:ext uri="{9D8B030D-6E8A-4147-A177-3AD203B41FA5}">
                      <a16:colId xmlns:a16="http://schemas.microsoft.com/office/drawing/2014/main" val="1638963999"/>
                    </a:ext>
                  </a:extLst>
                </a:gridCol>
                <a:gridCol w="2485581">
                  <a:extLst>
                    <a:ext uri="{9D8B030D-6E8A-4147-A177-3AD203B41FA5}">
                      <a16:colId xmlns:a16="http://schemas.microsoft.com/office/drawing/2014/main" val="3550484097"/>
                    </a:ext>
                  </a:extLst>
                </a:gridCol>
                <a:gridCol w="2485581">
                  <a:extLst>
                    <a:ext uri="{9D8B030D-6E8A-4147-A177-3AD203B41FA5}">
                      <a16:colId xmlns:a16="http://schemas.microsoft.com/office/drawing/2014/main" val="3077511057"/>
                    </a:ext>
                  </a:extLst>
                </a:gridCol>
              </a:tblGrid>
              <a:tr h="0">
                <a:tc>
                  <a:txBody>
                    <a:bodyPr/>
                    <a:lstStyle/>
                    <a:p>
                      <a:pPr rtl="0"/>
                      <a:r>
                        <a:rPr lang="en-US" dirty="0">
                          <a:effectLst/>
                        </a:rPr>
                        <a:t>Parameter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Normal Range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Patient 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02978283"/>
                  </a:ext>
                </a:extLst>
              </a:tr>
              <a:tr h="0">
                <a:tc>
                  <a:txBody>
                    <a:bodyPr/>
                    <a:lstStyle/>
                    <a:p>
                      <a:pPr rtl="0"/>
                      <a:r>
                        <a:rPr lang="en-US" b="1" dirty="0">
                          <a:effectLst/>
                        </a:rPr>
                        <a:t>Respirations</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12-20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22</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97585566"/>
                  </a:ext>
                </a:extLst>
              </a:tr>
              <a:tr h="0">
                <a:tc>
                  <a:txBody>
                    <a:bodyPr/>
                    <a:lstStyle/>
                    <a:p>
                      <a:pPr rtl="0"/>
                      <a:r>
                        <a:rPr lang="en-US" b="1" dirty="0">
                          <a:effectLst/>
                        </a:rPr>
                        <a:t>SpO2</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94-100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a:solidFill>
                            <a:srgbClr val="FF0000"/>
                          </a:solidFill>
                          <a:effectLst/>
                        </a:rPr>
                        <a:t>88</a:t>
                      </a:r>
                      <a:endParaRPr lang="en-US">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63283798"/>
                  </a:ext>
                </a:extLst>
              </a:tr>
              <a:tr h="0">
                <a:tc>
                  <a:txBody>
                    <a:bodyPr/>
                    <a:lstStyle/>
                    <a:p>
                      <a:pPr rtl="0"/>
                      <a:r>
                        <a:rPr lang="en-US" b="1">
                          <a:effectLst/>
                        </a:rPr>
                        <a:t>Heart Rate</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60-100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a:solidFill>
                            <a:srgbClr val="FF0000"/>
                          </a:solidFill>
                          <a:effectLst/>
                        </a:rPr>
                        <a:t>86</a:t>
                      </a:r>
                      <a:endParaRPr lang="en-US">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26231797"/>
                  </a:ext>
                </a:extLst>
              </a:tr>
              <a:tr h="0">
                <a:tc>
                  <a:txBody>
                    <a:bodyPr/>
                    <a:lstStyle/>
                    <a:p>
                      <a:pPr rtl="0"/>
                      <a:r>
                        <a:rPr lang="en-US" b="1">
                          <a:effectLst/>
                        </a:rPr>
                        <a:t>Blood Pressure</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120-100/80-65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97/57</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0824374"/>
                  </a:ext>
                </a:extLst>
              </a:tr>
              <a:tr h="0">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40802528"/>
                  </a:ext>
                </a:extLst>
              </a:tr>
              <a:tr h="0">
                <a:tc>
                  <a:txBody>
                    <a:bodyPr/>
                    <a:lstStyle/>
                    <a:p>
                      <a:pPr rtl="0"/>
                      <a:r>
                        <a:rPr lang="en-US" b="1" dirty="0">
                          <a:effectLst/>
                        </a:rPr>
                        <a:t>VBG</a:t>
                      </a:r>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dirty="0">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53311712"/>
                  </a:ext>
                </a:extLst>
              </a:tr>
              <a:tr h="0">
                <a:tc>
                  <a:txBody>
                    <a:bodyPr/>
                    <a:lstStyle/>
                    <a:p>
                      <a:pPr rtl="0"/>
                      <a:r>
                        <a:rPr lang="en-US" b="1">
                          <a:effectLst/>
                        </a:rPr>
                        <a:t>pH</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7.31-7.41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7.36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50369222"/>
                  </a:ext>
                </a:extLst>
              </a:tr>
              <a:tr h="0">
                <a:tc>
                  <a:txBody>
                    <a:bodyPr/>
                    <a:lstStyle/>
                    <a:p>
                      <a:pPr rtl="0"/>
                      <a:r>
                        <a:rPr lang="en-US" b="1">
                          <a:effectLst/>
                        </a:rPr>
                        <a:t>pO2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80-105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8</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02079634"/>
                  </a:ext>
                </a:extLst>
              </a:tr>
              <a:tr h="0">
                <a:tc>
                  <a:txBody>
                    <a:bodyPr/>
                    <a:lstStyle/>
                    <a:p>
                      <a:pPr rtl="0"/>
                      <a:r>
                        <a:rPr lang="en-US" b="1">
                          <a:effectLst/>
                        </a:rPr>
                        <a:t>pCO2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41-51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42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39136257"/>
                  </a:ext>
                </a:extLst>
              </a:tr>
              <a:tr h="0">
                <a:tc>
                  <a:txBody>
                    <a:bodyPr/>
                    <a:lstStyle/>
                    <a:p>
                      <a:pPr rtl="0"/>
                      <a:r>
                        <a:rPr lang="en-US" b="1">
                          <a:effectLst/>
                        </a:rPr>
                        <a:t>HCO3</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22.0-28.0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dirty="0">
                          <a:effectLst/>
                        </a:rPr>
                        <a:t>23.8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29587493"/>
                  </a:ext>
                </a:extLst>
              </a:tr>
              <a:tr h="0">
                <a:tc>
                  <a:txBody>
                    <a:bodyPr/>
                    <a:lstStyle/>
                    <a:p>
                      <a:pPr rtl="0"/>
                      <a:r>
                        <a:rPr lang="en-US" b="1">
                          <a:effectLst/>
                        </a:rPr>
                        <a:t>SO2</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95-98%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7</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71530148"/>
                  </a:ext>
                </a:extLst>
              </a:tr>
              <a:tr h="0">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98711703"/>
                  </a:ext>
                </a:extLst>
              </a:tr>
              <a:tr h="0">
                <a:tc>
                  <a:txBody>
                    <a:bodyPr/>
                    <a:lstStyle/>
                    <a:p>
                      <a:pPr rtl="0"/>
                      <a:r>
                        <a:rPr lang="en-US" b="1">
                          <a:effectLst/>
                        </a:rPr>
                        <a:t>Methemoglobin</a:t>
                      </a:r>
                      <a:endParaRPr lang="en-US">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a:effectLst/>
                        </a:rPr>
                        <a:t>0.0-1.5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rtl="0"/>
                      <a:r>
                        <a:rPr lang="en-US" b="1" dirty="0">
                          <a:solidFill>
                            <a:srgbClr val="FF0000"/>
                          </a:solidFill>
                          <a:effectLst/>
                        </a:rPr>
                        <a:t>37.8</a:t>
                      </a:r>
                      <a:endParaRPr lang="en-US" dirty="0">
                        <a:solidFill>
                          <a:srgbClr val="FF0000"/>
                        </a:solidFill>
                        <a:effectLs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0708812"/>
                  </a:ext>
                </a:extLst>
              </a:tr>
            </a:tbl>
          </a:graphicData>
        </a:graphic>
      </p:graphicFrame>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ceptualpewter|08-2022"/>
</p:tagLst>
</file>

<file path=ppt/theme/theme1.xml><?xml version="1.0" encoding="utf-8"?>
<a:theme xmlns:a="http://schemas.openxmlformats.org/drawingml/2006/main" name="Default Design">
  <a:themeElements>
    <a:clrScheme name="Pushpin">
      <a:dk1>
        <a:sysClr val="windowText" lastClr="000000"/>
      </a:dk1>
      <a:lt1>
        <a:sysClr val="window" lastClr="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spDef>
    <a:lnDef>
      <a:spPr bwMode="auto">
        <a:xfrm>
          <a:off x="0" y="0"/>
          <a:ext cx="1" cy="1"/>
        </a:xfrm>
        <a:custGeom>
          <a:avLst/>
          <a:gdLst/>
          <a:ahLst/>
          <a:cxnLst/>
          <a:rect l="0" t="0" r="0" b="0"/>
          <a:pathLst/>
        </a:custGeom>
        <a:gradFill rotWithShape="1">
          <a:gsLst>
            <a:gs pos="0">
              <a:srgbClr val="800000"/>
            </a:gs>
            <a:gs pos="50000">
              <a:srgbClr val="800000">
                <a:gamma/>
                <a:tint val="73725"/>
                <a:invGamma/>
              </a:srgbClr>
            </a:gs>
            <a:gs pos="100000">
              <a:srgbClr val="800000"/>
            </a:gs>
          </a:gsLst>
          <a:lin ang="5400000" scaled="1"/>
        </a:gra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37160" tIns="68580" rIns="137160" bIns="68580" numCol="1" anchor="ctr" anchorCtr="0" compatLnSpc="1">
        <a:prstTxWarp prst="textNoShape">
          <a:avLst/>
        </a:prstTxWarp>
      </a:bodyPr>
      <a:lstStyle>
        <a:defPPr marL="0" marR="0" indent="0" algn="ctr" defTabSz="3762375" rtl="0" eaLnBrk="1" fontAlgn="base" latinLnBrk="0" hangingPunct="1">
          <a:lnSpc>
            <a:spcPct val="100000"/>
          </a:lnSpc>
          <a:spcBef>
            <a:spcPct val="0"/>
          </a:spcBef>
          <a:spcAft>
            <a:spcPct val="0"/>
          </a:spcAft>
          <a:buClrTx/>
          <a:buSzTx/>
          <a:buFontTx/>
          <a:buNone/>
          <a:tabLst/>
          <a:defRPr kumimoji="0" lang="en-US" sz="4300" b="1" i="0" u="none" strike="noStrike" cap="none" normalizeH="0" baseline="0" smtClean="0">
            <a:ln>
              <a:noFill/>
            </a:ln>
            <a:solidFill>
              <a:srgbClr val="FF9900"/>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1102</Words>
  <Application>Microsoft Macintosh PowerPoint</Application>
  <PresentationFormat>Custom</PresentationFormat>
  <Paragraphs>63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Open Sans</vt:lpstr>
      <vt:lpstr>Nunito</vt:lpstr>
      <vt:lpstr>Arial</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Free Research Poster</dc:subject>
  <dc:creator>Graphicsland/MakeSigns.com</dc:creator>
  <cp:keywords>scientific, research, template, custom, poster, presentation, symposium, printing, PowerPoint, create, design, example, sample, download</cp:keywords>
  <dc:description>These templates are offered for free to help your create a poster ranging from nursing research posters to psychology research posters.</dc:description>
  <cp:lastModifiedBy>Phil Kim</cp:lastModifiedBy>
  <cp:revision>4</cp:revision>
  <dcterms:modified xsi:type="dcterms:W3CDTF">2025-04-25T04:02:13Z</dcterms:modified>
  <cp:category>science research poster</cp:category>
</cp:coreProperties>
</file>