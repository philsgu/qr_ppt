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handoutMasterIdLst>
    <p:handoutMasterId r:id="rId3"/>
  </p:handoutMasterIdLst>
  <p:sldIdLst>
    <p:sldId id="259" r:id="rId2"/>
  </p:sldIdLst>
  <p:sldSz cx="32918400" cy="21945600"/>
  <p:notesSz cx="6953250" cy="9239250"/>
  <p:embeddedFontLst>
    <p:embeddedFont>
      <p:font typeface="Nunito" pitchFamily="2" charset="77"/>
      <p:regular r:id="rId4"/>
      <p:bold r:id="rId5"/>
      <p:italic r:id="rId6"/>
      <p:boldItalic r:id="rId7"/>
    </p:embeddedFont>
    <p:embeddedFont>
      <p:font typeface="Open Sans" panose="020B0606030504020204" pitchFamily="34" charset="0"/>
      <p:regular r:id="rId8"/>
      <p:bold r:id="rId9"/>
      <p:italic r:id="rId10"/>
      <p:boldItalic r:id="rId11"/>
    </p:embeddedFont>
  </p:embeddedFontLst>
  <p:custDataLst>
    <p:tags r:id="rId12"/>
  </p:custDataLst>
  <p:defaultTextStyle>
    <a:defPPr>
      <a:defRPr lang="en-US"/>
    </a:defPPr>
    <a:lvl1pPr algn="ctr" rtl="0" fontAlgn="base">
      <a:spcBef>
        <a:spcPct val="0"/>
      </a:spcBef>
      <a:spcAft>
        <a:spcPct val="0"/>
      </a:spcAft>
      <a:defRPr sz="3071" b="1" kern="1200">
        <a:solidFill>
          <a:srgbClr val="FF9900"/>
        </a:solidFill>
        <a:latin typeface="Arial"/>
        <a:ea typeface="+mn-ea"/>
        <a:cs typeface="+mn-cs"/>
      </a:defRPr>
    </a:lvl1pPr>
    <a:lvl2pPr marL="326532" algn="ctr" rtl="0" fontAlgn="base">
      <a:spcBef>
        <a:spcPct val="0"/>
      </a:spcBef>
      <a:spcAft>
        <a:spcPct val="0"/>
      </a:spcAft>
      <a:defRPr sz="3071" b="1" kern="1200">
        <a:solidFill>
          <a:srgbClr val="FF9900"/>
        </a:solidFill>
        <a:latin typeface="Arial"/>
        <a:ea typeface="+mn-ea"/>
        <a:cs typeface="+mn-cs"/>
      </a:defRPr>
    </a:lvl2pPr>
    <a:lvl3pPr marL="653064" algn="ctr" rtl="0" fontAlgn="base">
      <a:spcBef>
        <a:spcPct val="0"/>
      </a:spcBef>
      <a:spcAft>
        <a:spcPct val="0"/>
      </a:spcAft>
      <a:defRPr sz="3071" b="1" kern="1200">
        <a:solidFill>
          <a:srgbClr val="FF9900"/>
        </a:solidFill>
        <a:latin typeface="Arial"/>
        <a:ea typeface="+mn-ea"/>
        <a:cs typeface="+mn-cs"/>
      </a:defRPr>
    </a:lvl3pPr>
    <a:lvl4pPr marL="979597" algn="ctr" rtl="0" fontAlgn="base">
      <a:spcBef>
        <a:spcPct val="0"/>
      </a:spcBef>
      <a:spcAft>
        <a:spcPct val="0"/>
      </a:spcAft>
      <a:defRPr sz="3071" b="1" kern="1200">
        <a:solidFill>
          <a:srgbClr val="FF9900"/>
        </a:solidFill>
        <a:latin typeface="Arial"/>
        <a:ea typeface="+mn-ea"/>
        <a:cs typeface="+mn-cs"/>
      </a:defRPr>
    </a:lvl4pPr>
    <a:lvl5pPr marL="1306129" algn="ctr" rtl="0" fontAlgn="base">
      <a:spcBef>
        <a:spcPct val="0"/>
      </a:spcBef>
      <a:spcAft>
        <a:spcPct val="0"/>
      </a:spcAft>
      <a:defRPr sz="3071" b="1" kern="1200">
        <a:solidFill>
          <a:srgbClr val="FF9900"/>
        </a:solidFill>
        <a:latin typeface="Arial"/>
        <a:ea typeface="+mn-ea"/>
        <a:cs typeface="+mn-cs"/>
      </a:defRPr>
    </a:lvl5pPr>
    <a:lvl6pPr marL="1632661" algn="l" defTabSz="653064" rtl="0" eaLnBrk="1" latinLnBrk="0" hangingPunct="1">
      <a:defRPr sz="3071" b="1" kern="1200">
        <a:solidFill>
          <a:srgbClr val="FF9900"/>
        </a:solidFill>
        <a:latin typeface="Arial"/>
        <a:ea typeface="+mn-ea"/>
        <a:cs typeface="+mn-cs"/>
      </a:defRPr>
    </a:lvl6pPr>
    <a:lvl7pPr marL="1959193" algn="l" defTabSz="653064" rtl="0" eaLnBrk="1" latinLnBrk="0" hangingPunct="1">
      <a:defRPr sz="3071" b="1" kern="1200">
        <a:solidFill>
          <a:srgbClr val="FF9900"/>
        </a:solidFill>
        <a:latin typeface="Arial"/>
        <a:ea typeface="+mn-ea"/>
        <a:cs typeface="+mn-cs"/>
      </a:defRPr>
    </a:lvl7pPr>
    <a:lvl8pPr marL="2285726" algn="l" defTabSz="653064" rtl="0" eaLnBrk="1" latinLnBrk="0" hangingPunct="1">
      <a:defRPr sz="3071" b="1" kern="1200">
        <a:solidFill>
          <a:srgbClr val="FF9900"/>
        </a:solidFill>
        <a:latin typeface="Arial"/>
        <a:ea typeface="+mn-ea"/>
        <a:cs typeface="+mn-cs"/>
      </a:defRPr>
    </a:lvl8pPr>
    <a:lvl9pPr marL="2612258" algn="l" defTabSz="653064" rtl="0" eaLnBrk="1" latinLnBrk="0" hangingPunct="1">
      <a:defRPr sz="3071" b="1" kern="1200">
        <a:solidFill>
          <a:srgbClr val="FF9900"/>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stin Delre" initials="JD" lastIdx="0" clrIdx="0">
    <p:extLst>
      <p:ext uri="{19B8F6BF-5375-455C-9EA6-DF929625EA0E}">
        <p15:presenceInfo xmlns:p15="http://schemas.microsoft.com/office/powerpoint/2012/main" userId="Justin Delr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2B08C-AFDA-B89C-D529-284C3C81D605}" v="1" dt="2025-04-10T23:56:10.413"/>
    <p1510:client id="{37A56412-44A4-C8B1-6511-5812FA62A1B5}" v="5" dt="2025-04-09T16:04:15.839"/>
    <p1510:client id="{B3C40E8D-98DF-0E2A-B150-9B3770908706}" v="20" dt="2025-04-09T15:05:11.952"/>
    <p1510:client id="{F917DC3E-6920-89EF-B439-20AC2EACC0BF}" v="156" dt="2025-04-08T23:59:42.8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36" d="100"/>
          <a:sy n="36" d="100"/>
        </p:scale>
        <p:origin x="1688" y="288"/>
      </p:cViewPr>
      <p:guideLst>
        <p:guide orient="horz" pos="6912"/>
        <p:guide pos="1036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commentAuthors" Target="commentAuthors.xml"/><Relationship Id="rId18" Type="http://schemas.microsoft.com/office/2015/10/relationships/revisionInfo" Target="revisionInfo.xml"/><Relationship Id="rId3" Type="http://schemas.openxmlformats.org/officeDocument/2006/relationships/handoutMaster" Target="handoutMasters/handoutMaster1.xml"/><Relationship Id="rId7" Type="http://schemas.openxmlformats.org/officeDocument/2006/relationships/font" Target="fonts/font4.fntdata"/><Relationship Id="rId12" Type="http://schemas.openxmlformats.org/officeDocument/2006/relationships/tags" Target="tags/tag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viewProps" Target="view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t" anchorCtr="0" compatLnSpc="1">
            <a:prstTxWarp prst="textNoShape">
              <a:avLst/>
            </a:prstTxWarp>
          </a:bodyPr>
          <a:lstStyle>
            <a:defPPr>
              <a:defRPr kern="1200"/>
            </a:defPPr>
            <a:lvl1pPr algn="l" defTabSz="928688">
              <a:defRPr sz="1200" b="0">
                <a:solidFill>
                  <a:schemeClr val="tx1"/>
                </a:solidFill>
                <a:latin typeface="Arial" pitchFamily="34" charset="0"/>
              </a:defRPr>
            </a:lvl1pPr>
          </a:lstStyle>
          <a:p>
            <a:pPr>
              <a:defRPr/>
            </a:pPr>
            <a:endParaRPr lang="en-US"/>
          </a:p>
        </p:txBody>
      </p:sp>
      <p:sp>
        <p:nvSpPr>
          <p:cNvPr id="29699" name="Rectangle 3"/>
          <p:cNvSpPr>
            <a:spLocks noGrp="1" noChangeArrowheads="1"/>
          </p:cNvSpPr>
          <p:nvPr>
            <p:ph type="dt" sz="quarter" idx="1"/>
          </p:nvPr>
        </p:nvSpPr>
        <p:spPr bwMode="auto">
          <a:xfrm>
            <a:off x="3938588" y="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t" anchorCtr="0" compatLnSpc="1">
            <a:prstTxWarp prst="textNoShape">
              <a:avLst/>
            </a:prstTxWarp>
          </a:bodyPr>
          <a:lstStyle>
            <a:defPPr>
              <a:defRPr kern="1200"/>
            </a:defPPr>
            <a:lvl1pPr algn="r" defTabSz="928688">
              <a:defRPr sz="1200" b="0">
                <a:solidFill>
                  <a:schemeClr val="tx1"/>
                </a:solidFill>
                <a:latin typeface="Arial" pitchFamily="34" charset="0"/>
              </a:defRPr>
            </a:lvl1pPr>
          </a:lstStyle>
          <a:p>
            <a:pPr>
              <a:defRPr/>
            </a:pPr>
            <a:endParaRPr lang="en-US"/>
          </a:p>
        </p:txBody>
      </p:sp>
      <p:sp>
        <p:nvSpPr>
          <p:cNvPr id="29700" name="Rectangle 4"/>
          <p:cNvSpPr>
            <a:spLocks noGrp="1" noChangeArrowheads="1"/>
          </p:cNvSpPr>
          <p:nvPr>
            <p:ph type="ftr" sz="quarter" idx="2"/>
          </p:nvPr>
        </p:nvSpPr>
        <p:spPr bwMode="auto">
          <a:xfrm>
            <a:off x="0" y="877570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b" anchorCtr="0" compatLnSpc="1">
            <a:prstTxWarp prst="textNoShape">
              <a:avLst/>
            </a:prstTxWarp>
          </a:bodyPr>
          <a:lstStyle>
            <a:defPPr>
              <a:defRPr kern="1200"/>
            </a:defPPr>
            <a:lvl1pPr algn="l" defTabSz="928688">
              <a:defRPr sz="1200" b="0">
                <a:solidFill>
                  <a:schemeClr val="tx1"/>
                </a:solidFill>
                <a:latin typeface="Arial" pitchFamily="34" charset="0"/>
              </a:defRPr>
            </a:lvl1pPr>
          </a:lstStyle>
          <a:p>
            <a:pPr>
              <a:defRPr/>
            </a:pPr>
            <a:endParaRPr lang="en-US"/>
          </a:p>
        </p:txBody>
      </p:sp>
      <p:sp>
        <p:nvSpPr>
          <p:cNvPr id="29701" name="Rectangle 5"/>
          <p:cNvSpPr>
            <a:spLocks noGrp="1" noChangeArrowheads="1"/>
          </p:cNvSpPr>
          <p:nvPr>
            <p:ph type="sldNum" sz="quarter" idx="3"/>
          </p:nvPr>
        </p:nvSpPr>
        <p:spPr bwMode="auto">
          <a:xfrm>
            <a:off x="3938588" y="877570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b" anchorCtr="0" compatLnSpc="1">
            <a:prstTxWarp prst="textNoShape">
              <a:avLst/>
            </a:prstTxWarp>
          </a:bodyPr>
          <a:lstStyle>
            <a:defPPr>
              <a:defRPr kern="1200"/>
            </a:defPPr>
            <a:lvl1pPr algn="r" defTabSz="928688">
              <a:defRPr sz="1200" b="0">
                <a:solidFill>
                  <a:schemeClr val="tx1"/>
                </a:solidFill>
                <a:latin typeface="Arial" pitchFamily="34" charset="0"/>
              </a:defRPr>
            </a:lvl1pPr>
          </a:lstStyle>
          <a:p>
            <a:pPr>
              <a:defRPr/>
            </a:pPr>
            <a:fld id="{54F1B5D8-D97D-47DE-99FD-BED51FB7C907}" type="slidenum">
              <a:rPr lang="en-US"/>
              <a:pPr>
                <a:defRPr/>
              </a:pPr>
              <a:t>‹#›</a:t>
            </a:fld>
            <a:endParaRPr lang="en-US"/>
          </a:p>
        </p:txBody>
      </p:sp>
    </p:spTree>
    <p:extLst>
      <p:ext uri="{BB962C8B-B14F-4D97-AF65-F5344CB8AC3E}">
        <p14:creationId xmlns:p14="http://schemas.microsoft.com/office/powerpoint/2010/main" val="74827842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8" y="6817784"/>
            <a:ext cx="2797968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2435417"/>
            <a:ext cx="23043356"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5EDBB11-81A3-4CFA-BA97-1ABE9A8F32CF}" type="slidenum">
              <a:rPr lang="en-US"/>
              <a:pPr>
                <a:defRPr/>
              </a:pPr>
              <a:t>‹#›</a:t>
            </a:fld>
            <a:endParaRPr lang="en-US"/>
          </a:p>
        </p:txBody>
      </p:sp>
    </p:spTree>
    <p:extLst>
      <p:ext uri="{BB962C8B-B14F-4D97-AF65-F5344CB8AC3E}">
        <p14:creationId xmlns:p14="http://schemas.microsoft.com/office/powerpoint/2010/main" val="356581677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5940B6B-3169-44D4-847B-7863905C32CF}" type="slidenum">
              <a:rPr lang="en-US"/>
              <a:pPr>
                <a:defRPr/>
              </a:pPr>
              <a:t>‹#›</a:t>
            </a:fld>
            <a:endParaRPr lang="en-US"/>
          </a:p>
        </p:txBody>
      </p:sp>
    </p:spTree>
    <p:extLst>
      <p:ext uri="{BB962C8B-B14F-4D97-AF65-F5344CB8AC3E}">
        <p14:creationId xmlns:p14="http://schemas.microsoft.com/office/powerpoint/2010/main" val="173052901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294"/>
            <a:ext cx="2798087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5" y="9301692"/>
            <a:ext cx="2798087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03A4FA6-7C07-49C1-973B-224AB06B993C}" type="slidenum">
              <a:rPr lang="en-US"/>
              <a:pPr>
                <a:defRPr/>
              </a:pPr>
              <a:t>‹#›</a:t>
            </a:fld>
            <a:endParaRPr lang="en-US"/>
          </a:p>
        </p:txBody>
      </p:sp>
    </p:spTree>
    <p:extLst>
      <p:ext uri="{BB962C8B-B14F-4D97-AF65-F5344CB8AC3E}">
        <p14:creationId xmlns:p14="http://schemas.microsoft.com/office/powerpoint/2010/main" val="239311738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5446"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B302B25C-7078-4EDD-9EEA-F171F39DFD5B}" type="slidenum">
              <a:rPr lang="en-US"/>
              <a:pPr>
                <a:defRPr/>
              </a:pPr>
              <a:t>‹#›</a:t>
            </a:fld>
            <a:endParaRPr lang="en-US"/>
          </a:p>
        </p:txBody>
      </p:sp>
    </p:spTree>
    <p:extLst>
      <p:ext uri="{BB962C8B-B14F-4D97-AF65-F5344CB8AC3E}">
        <p14:creationId xmlns:p14="http://schemas.microsoft.com/office/powerpoint/2010/main" val="356620333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4912785"/>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444"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4912785"/>
            <a:ext cx="14550630"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2328" y="6959600"/>
            <a:ext cx="14550630"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32F454DA-B8E5-407C-A8B0-B2982CBF7185}" type="slidenum">
              <a:rPr lang="en-US"/>
              <a:pPr>
                <a:defRPr/>
              </a:pPr>
              <a:t>‹#›</a:t>
            </a:fld>
            <a:endParaRPr lang="en-US"/>
          </a:p>
        </p:txBody>
      </p:sp>
    </p:spTree>
    <p:extLst>
      <p:ext uri="{BB962C8B-B14F-4D97-AF65-F5344CB8AC3E}">
        <p14:creationId xmlns:p14="http://schemas.microsoft.com/office/powerpoint/2010/main" val="180588905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865CC813-0CE0-4F7E-9B7F-FCCCD6CE8862}" type="slidenum">
              <a:rPr lang="en-US"/>
              <a:pPr>
                <a:defRPr/>
              </a:pPr>
              <a:t>‹#›</a:t>
            </a:fld>
            <a:endParaRPr lang="en-US"/>
          </a:p>
        </p:txBody>
      </p:sp>
    </p:spTree>
    <p:extLst>
      <p:ext uri="{BB962C8B-B14F-4D97-AF65-F5344CB8AC3E}">
        <p14:creationId xmlns:p14="http://schemas.microsoft.com/office/powerpoint/2010/main" val="226043568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5D3508A-868C-432E-A93E-3C5AF7B204CE}" type="slidenum">
              <a:rPr lang="en-US"/>
              <a:pPr>
                <a:defRPr/>
              </a:pPr>
              <a:t>‹#›</a:t>
            </a:fld>
            <a:endParaRPr lang="en-US"/>
          </a:p>
        </p:txBody>
      </p:sp>
    </p:spTree>
    <p:extLst>
      <p:ext uri="{BB962C8B-B14F-4D97-AF65-F5344CB8AC3E}">
        <p14:creationId xmlns:p14="http://schemas.microsoft.com/office/powerpoint/2010/main" val="232937732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656"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DEB5CAF5-4FB5-4E33-861E-BCE1A11039C1}" type="slidenum">
              <a:rPr lang="en-US"/>
              <a:pPr>
                <a:defRPr/>
              </a:pPr>
              <a:t>‹#›</a:t>
            </a:fld>
            <a:endParaRPr lang="en-US"/>
          </a:p>
        </p:txBody>
      </p:sp>
    </p:spTree>
    <p:extLst>
      <p:ext uri="{BB962C8B-B14F-4D97-AF65-F5344CB8AC3E}">
        <p14:creationId xmlns:p14="http://schemas.microsoft.com/office/powerpoint/2010/main" val="306706918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9" y="15361712"/>
            <a:ext cx="19751280"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1999" y="1961092"/>
            <a:ext cx="19751280"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1999" y="17175694"/>
            <a:ext cx="19751280"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E1738493-E10F-4F1A-B075-F4B94CA41991}" type="slidenum">
              <a:rPr lang="en-US"/>
              <a:pPr>
                <a:defRPr/>
              </a:pPr>
              <a:t>‹#›</a:t>
            </a:fld>
            <a:endParaRPr lang="en-US"/>
          </a:p>
        </p:txBody>
      </p:sp>
    </p:spTree>
    <p:extLst>
      <p:ext uri="{BB962C8B-B14F-4D97-AF65-F5344CB8AC3E}">
        <p14:creationId xmlns:p14="http://schemas.microsoft.com/office/powerpoint/2010/main" val="412977478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5ECC0F7-0140-4FFA-BB4D-270D63D3C308}" type="slidenum">
              <a:rPr lang="en-US"/>
              <a:pPr>
                <a:defRPr/>
              </a:pPr>
              <a:t>‹#›</a:t>
            </a:fld>
            <a:endParaRPr lang="en-US"/>
          </a:p>
        </p:txBody>
      </p:sp>
    </p:spTree>
    <p:extLst>
      <p:ext uri="{BB962C8B-B14F-4D97-AF65-F5344CB8AC3E}">
        <p14:creationId xmlns:p14="http://schemas.microsoft.com/office/powerpoint/2010/main" val="37073775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1" y="878417"/>
            <a:ext cx="7406878" cy="1872615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5444" y="878417"/>
            <a:ext cx="22106334" cy="1872615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C1B9D64-3336-481D-94A5-F579BB4A8A39}" type="slidenum">
              <a:rPr lang="en-US"/>
              <a:pPr>
                <a:defRPr/>
              </a:pPr>
              <a:t>‹#›</a:t>
            </a:fld>
            <a:endParaRPr lang="en-US"/>
          </a:p>
        </p:txBody>
      </p:sp>
    </p:spTree>
    <p:extLst>
      <p:ext uri="{BB962C8B-B14F-4D97-AF65-F5344CB8AC3E}">
        <p14:creationId xmlns:p14="http://schemas.microsoft.com/office/powerpoint/2010/main" val="183614209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645445" y="878417"/>
            <a:ext cx="29627512" cy="3657600"/>
          </a:xfrm>
        </p:spPr>
        <p:txBody>
          <a:bodyPr/>
          <a:lstStyle>
            <a:defPPr>
              <a:defRPr kern="1200"/>
            </a:defPPr>
          </a:lstStyle>
          <a:p>
            <a:r>
              <a:rPr lang="en-US"/>
              <a:t>Click to edit Master title style</a:t>
            </a:r>
          </a:p>
        </p:txBody>
      </p:sp>
      <p:sp>
        <p:nvSpPr>
          <p:cNvPr id="3" name="Content Placeholder 2"/>
          <p:cNvSpPr>
            <a:spLocks noGrp="1"/>
          </p:cNvSpPr>
          <p:nvPr>
            <p:ph sz="quarter" idx="1"/>
          </p:nvPr>
        </p:nvSpPr>
        <p:spPr>
          <a:xfrm>
            <a:off x="1645446" y="5120218"/>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6516352" y="5120218"/>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645446" y="12413192"/>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16516352" y="12413192"/>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2D98BD33-354E-4B11-91E6-709054688882}" type="slidenum">
              <a:rPr lang="en-US"/>
              <a:pPr>
                <a:defRPr/>
              </a:pPr>
              <a:t>‹#›</a:t>
            </a:fld>
            <a:endParaRPr lang="en-US"/>
          </a:p>
        </p:txBody>
      </p:sp>
    </p:spTree>
    <p:extLst>
      <p:ext uri="{BB962C8B-B14F-4D97-AF65-F5344CB8AC3E}">
        <p14:creationId xmlns:p14="http://schemas.microsoft.com/office/powerpoint/2010/main" val="110649802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DA9A9"/>
            </a:gs>
            <a:gs pos="50000">
              <a:srgbClr val="990000"/>
            </a:gs>
            <a:gs pos="100000">
              <a:srgbClr val="DDA9A9"/>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878417"/>
            <a:ext cx="29627512"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5444" y="5120217"/>
            <a:ext cx="29627512" cy="1448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algn="l" defTabSz="2508375">
              <a:defRPr sz="3800" b="0">
                <a:solidFill>
                  <a:schemeClr val="tx1"/>
                </a:solidFill>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19985568"/>
            <a:ext cx="104251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defTabSz="2508375">
              <a:defRPr sz="3800" b="0">
                <a:solidFill>
                  <a:schemeClr val="tx1"/>
                </a:solidFill>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algn="r" defTabSz="2508375">
              <a:defRPr sz="3800" b="0">
                <a:solidFill>
                  <a:schemeClr val="tx1"/>
                </a:solidFill>
                <a:latin typeface="Arial" pitchFamily="34" charset="0"/>
              </a:defRPr>
            </a:lvl1pPr>
          </a:lstStyle>
          <a:p>
            <a:pPr>
              <a:defRPr/>
            </a:pPr>
            <a:fld id="{B42DBB13-E718-4C9A-AC99-89A36AFA8FDE}" type="slidenum">
              <a:rPr lang="en-US"/>
              <a:pPr>
                <a:defRPr/>
              </a:pPr>
              <a:t>‹#›</a:t>
            </a:fld>
            <a:endParaRPr lang="en-US"/>
          </a:p>
        </p:txBody>
      </p:sp>
      <p:pic>
        <p:nvPicPr>
          <p:cNvPr id="1031" name="New picture"/>
          <p:cNvPicPr/>
          <p:nvPr/>
        </p:nvPicPr>
        <p:blipFill>
          <a:blip r:embed="rId14"/>
          <a:stretch>
            <a:fillRect/>
          </a:stretch>
        </p:blipFill>
        <p:spPr>
          <a:xfrm rot="16200000">
            <a:off x="-11074400" y="10972800"/>
            <a:ext cx="14274800" cy="3937000"/>
          </a:xfrm>
          <a:prstGeom prst="rect">
            <a:avLst/>
          </a:prstGeom>
        </p:spPr>
      </p:pic>
      <p:pic>
        <p:nvPicPr>
          <p:cNvPr id="1032" name="New picture"/>
          <p:cNvPicPr/>
          <p:nvPr/>
        </p:nvPicPr>
        <p:blipFill>
          <a:blip r:embed="rId14"/>
          <a:stretch>
            <a:fillRect/>
          </a:stretch>
        </p:blipFill>
        <p:spPr>
          <a:xfrm rot="5400000">
            <a:off x="29718000" y="10972800"/>
            <a:ext cx="14274800" cy="3937000"/>
          </a:xfrm>
          <a:prstGeom prst="rect">
            <a:avLst/>
          </a:prstGeom>
        </p:spPr>
      </p:pic>
      <p:pic>
        <p:nvPicPr>
          <p:cNvPr id="1033" name="New picture"/>
          <p:cNvPicPr/>
          <p:nvPr/>
        </p:nvPicPr>
        <p:blipFill>
          <a:blip r:embed="rId15"/>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perceptualpewter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defPPr>
        <a:defRPr kern="1200"/>
      </a:defPPr>
      <a:lvl1pPr algn="ctr" defTabSz="2508375" rtl="0" eaLnBrk="0" fontAlgn="base" hangingPunct="0">
        <a:spcBef>
          <a:spcPct val="0"/>
        </a:spcBef>
        <a:spcAft>
          <a:spcPct val="0"/>
        </a:spcAft>
        <a:defRPr sz="12134">
          <a:solidFill>
            <a:schemeClr val="tx2"/>
          </a:solidFill>
          <a:latin typeface="+mj-lt"/>
          <a:ea typeface="+mj-ea"/>
          <a:cs typeface="+mj-cs"/>
        </a:defRPr>
      </a:lvl1pPr>
      <a:lvl2pPr algn="ctr" defTabSz="2508375" rtl="0" eaLnBrk="0" fontAlgn="base" hangingPunct="0">
        <a:spcBef>
          <a:spcPct val="0"/>
        </a:spcBef>
        <a:spcAft>
          <a:spcPct val="0"/>
        </a:spcAft>
        <a:defRPr sz="12134">
          <a:solidFill>
            <a:schemeClr val="tx2"/>
          </a:solidFill>
          <a:latin typeface="Arial" pitchFamily="34" charset="0"/>
        </a:defRPr>
      </a:lvl2pPr>
      <a:lvl3pPr algn="ctr" defTabSz="2508375" rtl="0" eaLnBrk="0" fontAlgn="base" hangingPunct="0">
        <a:spcBef>
          <a:spcPct val="0"/>
        </a:spcBef>
        <a:spcAft>
          <a:spcPct val="0"/>
        </a:spcAft>
        <a:defRPr sz="12134">
          <a:solidFill>
            <a:schemeClr val="tx2"/>
          </a:solidFill>
          <a:latin typeface="Arial" pitchFamily="34" charset="0"/>
        </a:defRPr>
      </a:lvl3pPr>
      <a:lvl4pPr algn="ctr" defTabSz="2508375" rtl="0" eaLnBrk="0" fontAlgn="base" hangingPunct="0">
        <a:spcBef>
          <a:spcPct val="0"/>
        </a:spcBef>
        <a:spcAft>
          <a:spcPct val="0"/>
        </a:spcAft>
        <a:defRPr sz="12134">
          <a:solidFill>
            <a:schemeClr val="tx2"/>
          </a:solidFill>
          <a:latin typeface="Arial" pitchFamily="34" charset="0"/>
        </a:defRPr>
      </a:lvl4pPr>
      <a:lvl5pPr algn="ctr" defTabSz="2508375" rtl="0" eaLnBrk="0" fontAlgn="base" hangingPunct="0">
        <a:spcBef>
          <a:spcPct val="0"/>
        </a:spcBef>
        <a:spcAft>
          <a:spcPct val="0"/>
        </a:spcAft>
        <a:defRPr sz="12134">
          <a:solidFill>
            <a:schemeClr val="tx2"/>
          </a:solidFill>
          <a:latin typeface="Arial" pitchFamily="34" charset="0"/>
        </a:defRPr>
      </a:lvl5pPr>
      <a:lvl6pPr marL="304815" algn="ctr" defTabSz="2508375" rtl="0" fontAlgn="base">
        <a:spcBef>
          <a:spcPct val="0"/>
        </a:spcBef>
        <a:spcAft>
          <a:spcPct val="0"/>
        </a:spcAft>
        <a:defRPr sz="12134">
          <a:solidFill>
            <a:schemeClr val="tx2"/>
          </a:solidFill>
          <a:latin typeface="Arial" pitchFamily="34" charset="0"/>
        </a:defRPr>
      </a:lvl6pPr>
      <a:lvl7pPr marL="609630" algn="ctr" defTabSz="2508375" rtl="0" fontAlgn="base">
        <a:spcBef>
          <a:spcPct val="0"/>
        </a:spcBef>
        <a:spcAft>
          <a:spcPct val="0"/>
        </a:spcAft>
        <a:defRPr sz="12134">
          <a:solidFill>
            <a:schemeClr val="tx2"/>
          </a:solidFill>
          <a:latin typeface="Arial" pitchFamily="34" charset="0"/>
        </a:defRPr>
      </a:lvl7pPr>
      <a:lvl8pPr marL="914446" algn="ctr" defTabSz="2508375" rtl="0" fontAlgn="base">
        <a:spcBef>
          <a:spcPct val="0"/>
        </a:spcBef>
        <a:spcAft>
          <a:spcPct val="0"/>
        </a:spcAft>
        <a:defRPr sz="12134">
          <a:solidFill>
            <a:schemeClr val="tx2"/>
          </a:solidFill>
          <a:latin typeface="Arial" pitchFamily="34" charset="0"/>
        </a:defRPr>
      </a:lvl8pPr>
      <a:lvl9pPr marL="1219261" algn="ctr" defTabSz="2508375" rtl="0" fontAlgn="base">
        <a:spcBef>
          <a:spcPct val="0"/>
        </a:spcBef>
        <a:spcAft>
          <a:spcPct val="0"/>
        </a:spcAft>
        <a:defRPr sz="12134">
          <a:solidFill>
            <a:schemeClr val="tx2"/>
          </a:solidFill>
          <a:latin typeface="Arial" pitchFamily="34" charset="0"/>
        </a:defRPr>
      </a:lvl9pPr>
    </p:titleStyle>
    <p:bodyStyle>
      <a:defPPr>
        <a:defRPr kern="1200"/>
      </a:defPPr>
      <a:lvl1pPr marL="939847" indent="-939847" algn="l" defTabSz="2508375" rtl="0" eaLnBrk="0" fontAlgn="base" hangingPunct="0">
        <a:spcBef>
          <a:spcPct val="20000"/>
        </a:spcBef>
        <a:spcAft>
          <a:spcPct val="0"/>
        </a:spcAft>
        <a:buChar char="•"/>
        <a:defRPr sz="8800">
          <a:solidFill>
            <a:schemeClr val="tx1"/>
          </a:solidFill>
          <a:latin typeface="+mn-lt"/>
          <a:ea typeface="+mn-ea"/>
          <a:cs typeface="+mn-cs"/>
        </a:defRPr>
      </a:lvl1pPr>
      <a:lvl2pPr marL="2038452" indent="-784265" algn="l" defTabSz="2508375" rtl="0" eaLnBrk="0" fontAlgn="base" hangingPunct="0">
        <a:spcBef>
          <a:spcPct val="20000"/>
        </a:spcBef>
        <a:spcAft>
          <a:spcPct val="0"/>
        </a:spcAft>
        <a:buChar char="–"/>
        <a:defRPr sz="7667">
          <a:solidFill>
            <a:schemeClr val="tx1"/>
          </a:solidFill>
          <a:latin typeface="+mn-lt"/>
        </a:defRPr>
      </a:lvl2pPr>
      <a:lvl3pPr marL="3134940" indent="-626565" algn="l" defTabSz="2508375" rtl="0" eaLnBrk="0" fontAlgn="base" hangingPunct="0">
        <a:spcBef>
          <a:spcPct val="20000"/>
        </a:spcBef>
        <a:spcAft>
          <a:spcPct val="0"/>
        </a:spcAft>
        <a:buChar char="•"/>
        <a:defRPr sz="6600">
          <a:solidFill>
            <a:schemeClr val="tx1"/>
          </a:solidFill>
          <a:latin typeface="+mn-lt"/>
        </a:defRPr>
      </a:lvl3pPr>
      <a:lvl4pPr marL="4389128" indent="-626565" algn="l" defTabSz="2508375" rtl="0" eaLnBrk="0" fontAlgn="base" hangingPunct="0">
        <a:spcBef>
          <a:spcPct val="20000"/>
        </a:spcBef>
        <a:spcAft>
          <a:spcPct val="0"/>
        </a:spcAft>
        <a:buChar char="–"/>
        <a:defRPr sz="5467">
          <a:solidFill>
            <a:schemeClr val="tx1"/>
          </a:solidFill>
          <a:latin typeface="+mn-lt"/>
        </a:defRPr>
      </a:lvl4pPr>
      <a:lvl5pPr marL="5644374" indent="-627623" algn="l" defTabSz="2508375" rtl="0" eaLnBrk="0" fontAlgn="base" hangingPunct="0">
        <a:spcBef>
          <a:spcPct val="20000"/>
        </a:spcBef>
        <a:spcAft>
          <a:spcPct val="0"/>
        </a:spcAft>
        <a:buChar char="»"/>
        <a:defRPr sz="5467">
          <a:solidFill>
            <a:schemeClr val="tx1"/>
          </a:solidFill>
          <a:latin typeface="+mn-lt"/>
        </a:defRPr>
      </a:lvl5pPr>
      <a:lvl6pPr marL="5949189" indent="-627623" algn="l" defTabSz="2508375" rtl="0" fontAlgn="base">
        <a:spcBef>
          <a:spcPct val="20000"/>
        </a:spcBef>
        <a:spcAft>
          <a:spcPct val="0"/>
        </a:spcAft>
        <a:buChar char="»"/>
        <a:defRPr sz="5467">
          <a:solidFill>
            <a:schemeClr val="tx1"/>
          </a:solidFill>
          <a:latin typeface="+mn-lt"/>
        </a:defRPr>
      </a:lvl6pPr>
      <a:lvl7pPr marL="6254005" indent="-627623" algn="l" defTabSz="2508375" rtl="0" fontAlgn="base">
        <a:spcBef>
          <a:spcPct val="20000"/>
        </a:spcBef>
        <a:spcAft>
          <a:spcPct val="0"/>
        </a:spcAft>
        <a:buChar char="»"/>
        <a:defRPr sz="5467">
          <a:solidFill>
            <a:schemeClr val="tx1"/>
          </a:solidFill>
          <a:latin typeface="+mn-lt"/>
        </a:defRPr>
      </a:lvl7pPr>
      <a:lvl8pPr marL="6558820" indent="-627623" algn="l" defTabSz="2508375" rtl="0" fontAlgn="base">
        <a:spcBef>
          <a:spcPct val="20000"/>
        </a:spcBef>
        <a:spcAft>
          <a:spcPct val="0"/>
        </a:spcAft>
        <a:buChar char="»"/>
        <a:defRPr sz="5467">
          <a:solidFill>
            <a:schemeClr val="tx1"/>
          </a:solidFill>
          <a:latin typeface="+mn-lt"/>
        </a:defRPr>
      </a:lvl8pPr>
      <a:lvl9pPr marL="6863635" indent="-627623" algn="l" defTabSz="2508375" rtl="0" fontAlgn="base">
        <a:spcBef>
          <a:spcPct val="20000"/>
        </a:spcBef>
        <a:spcAft>
          <a:spcPct val="0"/>
        </a:spcAft>
        <a:buChar char="»"/>
        <a:defRPr sz="5467">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lin ang="5400000" scaled="1"/>
        </a:gra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sz="quarter"/>
          </p:nvPr>
        </p:nvSpPr>
        <p:spPr>
          <a:xfrm>
            <a:off x="381000" y="355600"/>
            <a:ext cx="32156400" cy="3996231"/>
          </a:xfrm>
          <a:prstGeom prst="roundRect">
            <a:avLst>
              <a:gd name="adj" fmla="val 6990"/>
            </a:avLst>
          </a:prstGeom>
          <a:solidFill>
            <a:srgbClr val="2D3C50"/>
          </a:solidFill>
          <a:ln>
            <a:solidFill>
              <a:schemeClr val="tx1"/>
            </a:solidFill>
            <a:miter lim="800000"/>
          </a:ln>
        </p:spPr>
        <p:txBody>
          <a:bodyPr/>
          <a:lstStyle>
            <a:defPPr>
              <a:defRPr kern="1200"/>
            </a:defPPr>
          </a:lstStyle>
          <a:p>
            <a:pPr eaLnBrk="1" hangingPunct="1"/>
            <a:endParaRPr lang="en-US" sz="2667" i="1" dirty="0">
              <a:noFill/>
            </a:endParaRPr>
          </a:p>
        </p:txBody>
      </p:sp>
      <p:sp>
        <p:nvSpPr>
          <p:cNvPr id="17" name="Text Placeholder 5">
            <a:extLst>
              <a:ext uri="{FF2B5EF4-FFF2-40B4-BE49-F238E27FC236}">
                <a16:creationId xmlns:a16="http://schemas.microsoft.com/office/drawing/2014/main" id="{B2C25681-95AF-45D0-852E-DC3E00E2FDFE}"/>
              </a:ext>
            </a:extLst>
          </p:cNvPr>
          <p:cNvSpPr txBox="1"/>
          <p:nvPr/>
        </p:nvSpPr>
        <p:spPr>
          <a:xfrm>
            <a:off x="4344884" y="1220896"/>
            <a:ext cx="24384000" cy="1109492"/>
          </a:xfrm>
          <a:prstGeom prst="rect">
            <a:avLst/>
          </a:prstGeom>
        </p:spPr>
        <p:txBody>
          <a:bodyPr lIns="0" tIns="0" rIns="0" bIns="0" anchor="t">
            <a:noAutofit/>
          </a:bodyPr>
          <a:lstStyle>
            <a:defPPr>
              <a:defRPr lang="en-US"/>
            </a:defPPr>
            <a:lvl1pPr marL="0" algn="l" defTabSz="3756396" rtl="0" eaLnBrk="1" latinLnBrk="0" hangingPunct="1">
              <a:defRPr sz="7400" kern="1200">
                <a:solidFill>
                  <a:schemeClr val="tx1"/>
                </a:solidFill>
                <a:latin typeface="+mn-lt"/>
                <a:ea typeface="+mn-ea"/>
                <a:cs typeface="+mn-cs"/>
              </a:defRPr>
            </a:lvl1pPr>
            <a:lvl2pPr marL="1878198" algn="l" defTabSz="3756396" rtl="0" eaLnBrk="1" latinLnBrk="0" hangingPunct="1">
              <a:defRPr sz="7400" kern="1200">
                <a:solidFill>
                  <a:schemeClr val="tx1"/>
                </a:solidFill>
                <a:latin typeface="+mn-lt"/>
                <a:ea typeface="+mn-ea"/>
                <a:cs typeface="+mn-cs"/>
              </a:defRPr>
            </a:lvl2pPr>
            <a:lvl3pPr marL="3756396" algn="l" defTabSz="3756396" rtl="0" eaLnBrk="1" latinLnBrk="0" hangingPunct="1">
              <a:defRPr sz="7400" kern="1200">
                <a:solidFill>
                  <a:schemeClr val="tx1"/>
                </a:solidFill>
                <a:latin typeface="+mn-lt"/>
                <a:ea typeface="+mn-ea"/>
                <a:cs typeface="+mn-cs"/>
              </a:defRPr>
            </a:lvl3pPr>
            <a:lvl4pPr marL="5634594" algn="l" defTabSz="3756396" rtl="0" eaLnBrk="1" latinLnBrk="0" hangingPunct="1">
              <a:defRPr sz="7400" kern="1200">
                <a:solidFill>
                  <a:schemeClr val="tx1"/>
                </a:solidFill>
                <a:latin typeface="+mn-lt"/>
                <a:ea typeface="+mn-ea"/>
                <a:cs typeface="+mn-cs"/>
              </a:defRPr>
            </a:lvl4pPr>
            <a:lvl5pPr marL="7512797" algn="l" defTabSz="3756396" rtl="0" eaLnBrk="1" latinLnBrk="0" hangingPunct="1">
              <a:defRPr sz="7400" kern="1200">
                <a:solidFill>
                  <a:schemeClr val="tx1"/>
                </a:solidFill>
                <a:latin typeface="+mn-lt"/>
                <a:ea typeface="+mn-ea"/>
                <a:cs typeface="+mn-cs"/>
              </a:defRPr>
            </a:lvl5pPr>
            <a:lvl6pPr marL="9390995" algn="l" defTabSz="3756396" rtl="0" eaLnBrk="1" latinLnBrk="0" hangingPunct="1">
              <a:defRPr sz="7400" kern="1200">
                <a:solidFill>
                  <a:schemeClr val="tx1"/>
                </a:solidFill>
                <a:latin typeface="+mn-lt"/>
                <a:ea typeface="+mn-ea"/>
                <a:cs typeface="+mn-cs"/>
              </a:defRPr>
            </a:lvl6pPr>
            <a:lvl7pPr marL="11269197" algn="l" defTabSz="3756396" rtl="0" eaLnBrk="1" latinLnBrk="0" hangingPunct="1">
              <a:defRPr sz="7400" kern="1200">
                <a:solidFill>
                  <a:schemeClr val="tx1"/>
                </a:solidFill>
                <a:latin typeface="+mn-lt"/>
                <a:ea typeface="+mn-ea"/>
                <a:cs typeface="+mn-cs"/>
              </a:defRPr>
            </a:lvl7pPr>
            <a:lvl8pPr marL="13147394" algn="l" defTabSz="3756396" rtl="0" eaLnBrk="1" latinLnBrk="0" hangingPunct="1">
              <a:defRPr sz="7400" kern="1200">
                <a:solidFill>
                  <a:schemeClr val="tx1"/>
                </a:solidFill>
                <a:latin typeface="+mn-lt"/>
                <a:ea typeface="+mn-ea"/>
                <a:cs typeface="+mn-cs"/>
              </a:defRPr>
            </a:lvl8pPr>
            <a:lvl9pPr marL="15025593" algn="l" defTabSz="3756396" rtl="0" eaLnBrk="1" latinLnBrk="0" hangingPunct="1">
              <a:defRPr sz="7400" kern="1200">
                <a:solidFill>
                  <a:schemeClr val="tx1"/>
                </a:solidFill>
                <a:latin typeface="+mn-lt"/>
                <a:ea typeface="+mn-ea"/>
                <a:cs typeface="+mn-cs"/>
              </a:defRPr>
            </a:lvl9pPr>
          </a:lstStyle>
          <a:p>
            <a:pPr algn="ctr" defTabSz="2507516">
              <a:spcBef>
                <a:spcPct val="20000"/>
              </a:spcBef>
              <a:defRPr/>
            </a:pPr>
            <a:r>
              <a:rPr lang="en-US" sz="6000" dirty="0">
                <a:solidFill>
                  <a:schemeClr val="bg1"/>
                </a:solidFill>
                <a:latin typeface="Nunito"/>
              </a:rPr>
              <a:t>Diagnostic Challenge in Neonatal Vomiting: Case Report</a:t>
            </a:r>
            <a:endParaRPr lang="en-US" sz="6000" dirty="0">
              <a:solidFill>
                <a:schemeClr val="bg1"/>
              </a:solidFill>
              <a:latin typeface="Nunito" panose="00000500000000000000" pitchFamily="2" charset="0"/>
            </a:endParaRPr>
          </a:p>
        </p:txBody>
      </p:sp>
      <p:sp>
        <p:nvSpPr>
          <p:cNvPr id="18" name="Text Placeholder 5">
            <a:extLst>
              <a:ext uri="{FF2B5EF4-FFF2-40B4-BE49-F238E27FC236}">
                <a16:creationId xmlns:a16="http://schemas.microsoft.com/office/drawing/2014/main" id="{EF872E11-D0DF-4446-BE76-A398B88E9B44}"/>
              </a:ext>
            </a:extLst>
          </p:cNvPr>
          <p:cNvSpPr txBox="1"/>
          <p:nvPr/>
        </p:nvSpPr>
        <p:spPr>
          <a:xfrm>
            <a:off x="4344884" y="2581005"/>
            <a:ext cx="24306316" cy="1000274"/>
          </a:xfrm>
          <a:prstGeom prst="rect">
            <a:avLst/>
          </a:prstGeom>
        </p:spPr>
        <p:txBody>
          <a:bodyPr wrap="square" lIns="0" tIns="0" rIns="0" bIns="0" anchor="t">
            <a:spAutoFit/>
          </a:bodyPr>
          <a:lstStyle>
            <a:defPPr>
              <a:defRPr lang="en-US"/>
            </a:defPPr>
            <a:lvl1pPr marL="0" algn="l" defTabSz="3756396" rtl="0" eaLnBrk="1" latinLnBrk="0" hangingPunct="1">
              <a:defRPr sz="7400" kern="1200">
                <a:solidFill>
                  <a:schemeClr val="tx1"/>
                </a:solidFill>
                <a:latin typeface="+mn-lt"/>
                <a:ea typeface="+mn-ea"/>
                <a:cs typeface="+mn-cs"/>
              </a:defRPr>
            </a:lvl1pPr>
            <a:lvl2pPr marL="1878198" algn="l" defTabSz="3756396" rtl="0" eaLnBrk="1" latinLnBrk="0" hangingPunct="1">
              <a:defRPr sz="7400" kern="1200">
                <a:solidFill>
                  <a:schemeClr val="tx1"/>
                </a:solidFill>
                <a:latin typeface="+mn-lt"/>
                <a:ea typeface="+mn-ea"/>
                <a:cs typeface="+mn-cs"/>
              </a:defRPr>
            </a:lvl2pPr>
            <a:lvl3pPr marL="3756396" algn="l" defTabSz="3756396" rtl="0" eaLnBrk="1" latinLnBrk="0" hangingPunct="1">
              <a:defRPr sz="7400" kern="1200">
                <a:solidFill>
                  <a:schemeClr val="tx1"/>
                </a:solidFill>
                <a:latin typeface="+mn-lt"/>
                <a:ea typeface="+mn-ea"/>
                <a:cs typeface="+mn-cs"/>
              </a:defRPr>
            </a:lvl3pPr>
            <a:lvl4pPr marL="5634594" algn="l" defTabSz="3756396" rtl="0" eaLnBrk="1" latinLnBrk="0" hangingPunct="1">
              <a:defRPr sz="7400" kern="1200">
                <a:solidFill>
                  <a:schemeClr val="tx1"/>
                </a:solidFill>
                <a:latin typeface="+mn-lt"/>
                <a:ea typeface="+mn-ea"/>
                <a:cs typeface="+mn-cs"/>
              </a:defRPr>
            </a:lvl4pPr>
            <a:lvl5pPr marL="7512797" algn="l" defTabSz="3756396" rtl="0" eaLnBrk="1" latinLnBrk="0" hangingPunct="1">
              <a:defRPr sz="7400" kern="1200">
                <a:solidFill>
                  <a:schemeClr val="tx1"/>
                </a:solidFill>
                <a:latin typeface="+mn-lt"/>
                <a:ea typeface="+mn-ea"/>
                <a:cs typeface="+mn-cs"/>
              </a:defRPr>
            </a:lvl5pPr>
            <a:lvl6pPr marL="9390995" algn="l" defTabSz="3756396" rtl="0" eaLnBrk="1" latinLnBrk="0" hangingPunct="1">
              <a:defRPr sz="7400" kern="1200">
                <a:solidFill>
                  <a:schemeClr val="tx1"/>
                </a:solidFill>
                <a:latin typeface="+mn-lt"/>
                <a:ea typeface="+mn-ea"/>
                <a:cs typeface="+mn-cs"/>
              </a:defRPr>
            </a:lvl6pPr>
            <a:lvl7pPr marL="11269197" algn="l" defTabSz="3756396" rtl="0" eaLnBrk="1" latinLnBrk="0" hangingPunct="1">
              <a:defRPr sz="7400" kern="1200">
                <a:solidFill>
                  <a:schemeClr val="tx1"/>
                </a:solidFill>
                <a:latin typeface="+mn-lt"/>
                <a:ea typeface="+mn-ea"/>
                <a:cs typeface="+mn-cs"/>
              </a:defRPr>
            </a:lvl7pPr>
            <a:lvl8pPr marL="13147394" algn="l" defTabSz="3756396" rtl="0" eaLnBrk="1" latinLnBrk="0" hangingPunct="1">
              <a:defRPr sz="7400" kern="1200">
                <a:solidFill>
                  <a:schemeClr val="tx1"/>
                </a:solidFill>
                <a:latin typeface="+mn-lt"/>
                <a:ea typeface="+mn-ea"/>
                <a:cs typeface="+mn-cs"/>
              </a:defRPr>
            </a:lvl8pPr>
            <a:lvl9pPr marL="15025593" algn="l" defTabSz="3756396" rtl="0" eaLnBrk="1" latinLnBrk="0" hangingPunct="1">
              <a:defRPr sz="7400" kern="1200">
                <a:solidFill>
                  <a:schemeClr val="tx1"/>
                </a:solidFill>
                <a:latin typeface="+mn-lt"/>
                <a:ea typeface="+mn-ea"/>
                <a:cs typeface="+mn-cs"/>
              </a:defRPr>
            </a:lvl9pPr>
          </a:lstStyle>
          <a:p>
            <a:pPr algn="ctr">
              <a:defRPr/>
            </a:pPr>
            <a:r>
              <a:rPr lang="en-US" sz="3700" b="0" dirty="0" err="1">
                <a:solidFill>
                  <a:schemeClr val="bg1"/>
                </a:solidFill>
                <a:latin typeface="Open Sans"/>
                <a:ea typeface="Open Sans"/>
                <a:cs typeface="Open Sans"/>
              </a:rPr>
              <a:t>Donghui</a:t>
            </a:r>
            <a:r>
              <a:rPr lang="en-US" sz="3700" b="0" dirty="0">
                <a:solidFill>
                  <a:schemeClr val="bg1"/>
                </a:solidFill>
                <a:latin typeface="Open Sans"/>
                <a:ea typeface="Open Sans"/>
                <a:cs typeface="Open Sans"/>
              </a:rPr>
              <a:t> Park</a:t>
            </a:r>
            <a:r>
              <a:rPr lang="en-US" sz="3700" b="0" baseline="30000" dirty="0">
                <a:solidFill>
                  <a:schemeClr val="bg1"/>
                </a:solidFill>
                <a:latin typeface="Open Sans"/>
                <a:ea typeface="Open Sans"/>
                <a:cs typeface="Open Sans"/>
              </a:rPr>
              <a:t>1</a:t>
            </a:r>
            <a:r>
              <a:rPr lang="en-US" sz="3700" b="0" dirty="0">
                <a:solidFill>
                  <a:schemeClr val="bg1"/>
                </a:solidFill>
                <a:latin typeface="Open Sans"/>
                <a:ea typeface="Open Sans"/>
                <a:cs typeface="Open Sans"/>
              </a:rPr>
              <a:t>, Phillip Kim</a:t>
            </a:r>
            <a:r>
              <a:rPr lang="en-US" sz="3700" b="0" baseline="30000" dirty="0">
                <a:solidFill>
                  <a:schemeClr val="bg1"/>
                </a:solidFill>
                <a:latin typeface="Open Sans"/>
                <a:ea typeface="Open Sans"/>
                <a:cs typeface="Open Sans"/>
              </a:rPr>
              <a:t>1</a:t>
            </a:r>
            <a:r>
              <a:rPr lang="en-US" sz="3700" b="0" dirty="0">
                <a:solidFill>
                  <a:schemeClr val="bg1"/>
                </a:solidFill>
                <a:latin typeface="Open Sans"/>
                <a:ea typeface="Open Sans"/>
                <a:cs typeface="Open Sans"/>
              </a:rPr>
              <a:t>, Cristo Salazar</a:t>
            </a:r>
            <a:r>
              <a:rPr lang="en-US" sz="3700" b="0" baseline="30000" dirty="0">
                <a:solidFill>
                  <a:schemeClr val="bg1"/>
                </a:solidFill>
                <a:latin typeface="Open Sans"/>
                <a:ea typeface="Open Sans"/>
                <a:cs typeface="Open Sans"/>
              </a:rPr>
              <a:t>2</a:t>
            </a:r>
            <a:r>
              <a:rPr lang="en-US" sz="3700" b="0" dirty="0">
                <a:solidFill>
                  <a:schemeClr val="bg1"/>
                </a:solidFill>
                <a:latin typeface="Open Sans"/>
                <a:ea typeface="Open Sans"/>
                <a:cs typeface="Open Sans"/>
              </a:rPr>
              <a:t>, Shelby Wong</a:t>
            </a:r>
            <a:r>
              <a:rPr lang="en-US" sz="3700" b="0" baseline="30000" dirty="0">
                <a:solidFill>
                  <a:schemeClr val="bg1"/>
                </a:solidFill>
                <a:latin typeface="Open Sans"/>
                <a:ea typeface="Open Sans"/>
                <a:cs typeface="Open Sans"/>
              </a:rPr>
              <a:t>1</a:t>
            </a:r>
            <a:r>
              <a:rPr lang="en-US" sz="3700" b="0" dirty="0">
                <a:solidFill>
                  <a:schemeClr val="bg1"/>
                </a:solidFill>
                <a:latin typeface="Open Sans"/>
                <a:ea typeface="Open Sans"/>
                <a:cs typeface="Open Sans"/>
              </a:rPr>
              <a:t>, Pulak Agrawal</a:t>
            </a:r>
            <a:r>
              <a:rPr lang="en-US" sz="3700" b="0" baseline="30000" dirty="0">
                <a:solidFill>
                  <a:schemeClr val="bg1"/>
                </a:solidFill>
                <a:latin typeface="Open Sans"/>
                <a:ea typeface="Open Sans"/>
                <a:cs typeface="Open Sans"/>
              </a:rPr>
              <a:t>2</a:t>
            </a:r>
          </a:p>
          <a:p>
            <a:pPr algn="ctr">
              <a:defRPr/>
            </a:pPr>
            <a:r>
              <a:rPr lang="en-US" sz="2800" b="0" baseline="30000" dirty="0">
                <a:solidFill>
                  <a:schemeClr val="bg1"/>
                </a:solidFill>
                <a:latin typeface="Open Sans"/>
                <a:ea typeface="Open Sans"/>
                <a:cs typeface="Open Sans"/>
              </a:rPr>
              <a:t>1</a:t>
            </a:r>
            <a:r>
              <a:rPr lang="en-US" sz="2800" b="0" dirty="0">
                <a:solidFill>
                  <a:schemeClr val="bg1"/>
                </a:solidFill>
                <a:latin typeface="Open Sans"/>
                <a:ea typeface="Open Sans"/>
                <a:cs typeface="Open Sans"/>
              </a:rPr>
              <a:t>St. Agnes Medical Center,  </a:t>
            </a:r>
            <a:r>
              <a:rPr lang="en-US" sz="2800" b="0" baseline="30000" dirty="0">
                <a:solidFill>
                  <a:schemeClr val="bg1"/>
                </a:solidFill>
                <a:latin typeface="Open Sans"/>
                <a:ea typeface="Open Sans"/>
                <a:cs typeface="Open Sans"/>
              </a:rPr>
              <a:t>2</a:t>
            </a:r>
            <a:r>
              <a:rPr lang="en-US" sz="2800" b="0" dirty="0">
                <a:solidFill>
                  <a:schemeClr val="bg1"/>
                </a:solidFill>
                <a:latin typeface="Open Sans"/>
                <a:ea typeface="Open Sans"/>
                <a:cs typeface="Open Sans"/>
              </a:rPr>
              <a:t>Valley Children's Hospital</a:t>
            </a:r>
            <a:endParaRPr lang="en-US" sz="2800" b="0" baseline="30000" dirty="0">
              <a:solidFill>
                <a:schemeClr val="bg1"/>
              </a:solidFill>
              <a:latin typeface="Open Sans"/>
              <a:ea typeface="Open Sans"/>
              <a:cs typeface="Open Sans"/>
            </a:endParaRPr>
          </a:p>
        </p:txBody>
      </p:sp>
      <p:sp>
        <p:nvSpPr>
          <p:cNvPr id="19" name="Rectangle 167">
            <a:extLst>
              <a:ext uri="{FF2B5EF4-FFF2-40B4-BE49-F238E27FC236}">
                <a16:creationId xmlns:a16="http://schemas.microsoft.com/office/drawing/2014/main" id="{CC5F2601-3472-4441-8610-673ACB878A1B}"/>
              </a:ext>
            </a:extLst>
          </p:cNvPr>
          <p:cNvSpPr>
            <a:spLocks noChangeArrowheads="1"/>
          </p:cNvSpPr>
          <p:nvPr/>
        </p:nvSpPr>
        <p:spPr bwMode="auto">
          <a:xfrm>
            <a:off x="8570139" y="4873823"/>
            <a:ext cx="15768759"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Case Presentation</a:t>
            </a:r>
            <a:endParaRPr lang="en-US" sz="2400">
              <a:solidFill>
                <a:schemeClr val="bg1"/>
              </a:solidFill>
              <a:latin typeface="Nunito" panose="00000500000000000000" pitchFamily="2" charset="0"/>
            </a:endParaRPr>
          </a:p>
        </p:txBody>
      </p:sp>
      <p:sp>
        <p:nvSpPr>
          <p:cNvPr id="22" name="Rectangle 167">
            <a:extLst>
              <a:ext uri="{FF2B5EF4-FFF2-40B4-BE49-F238E27FC236}">
                <a16:creationId xmlns:a16="http://schemas.microsoft.com/office/drawing/2014/main" id="{911E8223-4617-4E14-85CC-64FBEF860AEB}"/>
              </a:ext>
            </a:extLst>
          </p:cNvPr>
          <p:cNvSpPr>
            <a:spLocks noChangeArrowheads="1"/>
          </p:cNvSpPr>
          <p:nvPr/>
        </p:nvSpPr>
        <p:spPr bwMode="auto">
          <a:xfrm>
            <a:off x="24749089" y="4873823"/>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Discussion</a:t>
            </a:r>
            <a:endParaRPr lang="en-US" sz="2400">
              <a:solidFill>
                <a:schemeClr val="bg1"/>
              </a:solidFill>
              <a:latin typeface="Nunito" panose="00000500000000000000" pitchFamily="2" charset="0"/>
            </a:endParaRPr>
          </a:p>
        </p:txBody>
      </p:sp>
      <p:sp>
        <p:nvSpPr>
          <p:cNvPr id="27" name="Rectangle 167">
            <a:extLst>
              <a:ext uri="{FF2B5EF4-FFF2-40B4-BE49-F238E27FC236}">
                <a16:creationId xmlns:a16="http://schemas.microsoft.com/office/drawing/2014/main" id="{9E369C6D-A264-4B89-931F-14FD6655F2D2}"/>
              </a:ext>
            </a:extLst>
          </p:cNvPr>
          <p:cNvSpPr>
            <a:spLocks noChangeArrowheads="1"/>
          </p:cNvSpPr>
          <p:nvPr/>
        </p:nvSpPr>
        <p:spPr bwMode="auto">
          <a:xfrm>
            <a:off x="652354" y="4886850"/>
            <a:ext cx="7604996" cy="583255"/>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panose="00000500000000000000" pitchFamily="2" charset="0"/>
              </a:rPr>
              <a:t>Introduction</a:t>
            </a:r>
          </a:p>
        </p:txBody>
      </p:sp>
      <p:sp>
        <p:nvSpPr>
          <p:cNvPr id="49" name="TextBox 48">
            <a:extLst>
              <a:ext uri="{FF2B5EF4-FFF2-40B4-BE49-F238E27FC236}">
                <a16:creationId xmlns:a16="http://schemas.microsoft.com/office/drawing/2014/main" id="{DEA09F5A-1661-4BDF-A2DF-89252468F52D}"/>
              </a:ext>
            </a:extLst>
          </p:cNvPr>
          <p:cNvSpPr txBox="1"/>
          <p:nvPr/>
        </p:nvSpPr>
        <p:spPr>
          <a:xfrm>
            <a:off x="652354" y="5650691"/>
            <a:ext cx="7604996" cy="11203067"/>
          </a:xfrm>
          <a:prstGeom prst="rect">
            <a:avLst/>
          </a:prstGeom>
          <a:noFill/>
        </p:spPr>
        <p:txBody>
          <a:bodyPr wrap="square" lIns="91440" tIns="45720" rIns="91440" bIns="45720" rtlCol="0" anchor="t">
            <a:spAutoFit/>
          </a:bodyPr>
          <a:lstStyle>
            <a:defPPr>
              <a:defRPr kern="1200"/>
            </a:defPPr>
          </a:lstStyle>
          <a:p>
            <a:pPr marL="457200" indent="-457200" algn="l">
              <a:buFont typeface="Arial"/>
              <a:buChar char="•"/>
            </a:pPr>
            <a:r>
              <a:rPr lang="en-US" sz="2400" b="0" dirty="0">
                <a:solidFill>
                  <a:schemeClr val="tx1"/>
                </a:solidFill>
                <a:ea typeface="Open Sans"/>
                <a:cs typeface="Arial"/>
              </a:rPr>
              <a:t> </a:t>
            </a:r>
            <a:r>
              <a:rPr lang="en-US" sz="2400" dirty="0">
                <a:solidFill>
                  <a:schemeClr val="tx1"/>
                </a:solidFill>
                <a:ea typeface="Open Sans"/>
                <a:cs typeface="Arial"/>
              </a:rPr>
              <a:t>Neonatal Bowel Obstruction:</a:t>
            </a:r>
            <a:endParaRPr lang="en-US" dirty="0"/>
          </a:p>
          <a:p>
            <a:pPr marL="783590" lvl="1" indent="-457200" algn="l">
              <a:buFont typeface="Courier New"/>
              <a:buChar char="o"/>
            </a:pPr>
            <a:r>
              <a:rPr lang="en-US" sz="2400" b="0" dirty="0">
                <a:solidFill>
                  <a:schemeClr val="tx1"/>
                </a:solidFill>
                <a:ea typeface="Open Sans"/>
                <a:cs typeface="Arial"/>
              </a:rPr>
              <a:t>Symptoms: Constipation, nausea, vomiting, irritability, feeding intolerance.</a:t>
            </a:r>
          </a:p>
          <a:p>
            <a:pPr marL="783590" lvl="1" indent="-457200" algn="l">
              <a:buFont typeface="Courier New"/>
              <a:buChar char="o"/>
            </a:pPr>
            <a:r>
              <a:rPr lang="en-US" sz="2400" b="0" dirty="0">
                <a:solidFill>
                  <a:schemeClr val="tx1"/>
                </a:solidFill>
                <a:ea typeface="Open Sans"/>
                <a:cs typeface="Arial"/>
              </a:rPr>
              <a:t>Etiology: Ranges from benign conditions (e.g., meconium ileus) to emergent ones (e.g., midgut volvulus, Hirschsprung disease).</a:t>
            </a:r>
          </a:p>
          <a:p>
            <a:pPr marL="783590" lvl="1" indent="-457200" algn="l">
              <a:buFont typeface="Courier New"/>
              <a:buChar char="o"/>
            </a:pPr>
            <a:r>
              <a:rPr lang="en-US" sz="2400" dirty="0">
                <a:solidFill>
                  <a:schemeClr val="tx1"/>
                </a:solidFill>
                <a:ea typeface="Open Sans"/>
                <a:cs typeface="Arial"/>
              </a:rPr>
              <a:t>Importance of Timely Imaging:</a:t>
            </a:r>
            <a:r>
              <a:rPr lang="en-US" sz="2400" b="0" dirty="0">
                <a:solidFill>
                  <a:schemeClr val="tx1"/>
                </a:solidFill>
                <a:ea typeface="Open Sans"/>
                <a:cs typeface="Arial"/>
              </a:rPr>
              <a:t> Crucial for early diagnosis and treatment.</a:t>
            </a:r>
            <a:endParaRPr lang="en-US" sz="2400" b="0" dirty="0">
              <a:solidFill>
                <a:schemeClr val="tx1"/>
              </a:solidFill>
              <a:ea typeface="Open Sans"/>
            </a:endParaRPr>
          </a:p>
          <a:p>
            <a:pPr marL="457200" indent="-457200" algn="l">
              <a:buFont typeface="Arial"/>
              <a:buChar char="•"/>
            </a:pPr>
            <a:r>
              <a:rPr lang="en-US" sz="2400" dirty="0">
                <a:solidFill>
                  <a:schemeClr val="tx1"/>
                </a:solidFill>
                <a:ea typeface="Open Sans"/>
                <a:cs typeface="Arial"/>
              </a:rPr>
              <a:t>Hirschsprung Disease (HD):</a:t>
            </a:r>
          </a:p>
          <a:p>
            <a:pPr marL="783590" lvl="1" indent="-457200" algn="l">
              <a:buFont typeface="Courier New"/>
              <a:buChar char="o"/>
            </a:pPr>
            <a:r>
              <a:rPr lang="en-US" sz="2400" b="0" dirty="0">
                <a:solidFill>
                  <a:schemeClr val="tx1"/>
                </a:solidFill>
                <a:ea typeface="Open Sans"/>
                <a:cs typeface="Arial"/>
              </a:rPr>
              <a:t>Cause: Absence of ganglion cells in Auerbach’s and Meissner’s plexus in the terminal rectum.</a:t>
            </a:r>
          </a:p>
          <a:p>
            <a:pPr marL="783590" lvl="1" indent="-457200" algn="l">
              <a:buFont typeface="Courier New"/>
              <a:buChar char="o"/>
            </a:pPr>
            <a:r>
              <a:rPr lang="en-US" sz="2400" b="0" dirty="0">
                <a:solidFill>
                  <a:schemeClr val="tx1"/>
                </a:solidFill>
                <a:ea typeface="Open Sans"/>
                <a:cs typeface="Arial"/>
              </a:rPr>
              <a:t>Leads to: Constipation and intestinal obstruction.</a:t>
            </a:r>
          </a:p>
          <a:p>
            <a:pPr marL="783590" lvl="1" indent="-457200" algn="l">
              <a:buFont typeface="Courier New"/>
              <a:buChar char="o"/>
            </a:pPr>
            <a:r>
              <a:rPr lang="en-US" sz="2400" dirty="0">
                <a:solidFill>
                  <a:schemeClr val="tx1"/>
                </a:solidFill>
                <a:ea typeface="Open Sans"/>
                <a:cs typeface="Arial"/>
              </a:rPr>
              <a:t>Diagnosis:</a:t>
            </a:r>
            <a:r>
              <a:rPr lang="en-US" sz="2400" b="0" dirty="0">
                <a:solidFill>
                  <a:schemeClr val="tx1"/>
                </a:solidFill>
                <a:ea typeface="Open Sans"/>
                <a:cs typeface="Arial"/>
              </a:rPr>
              <a:t> Confirmed by rectal biopsy, showing absence of ganglion cells in the submucosa and muscularis of the terminal rectum.</a:t>
            </a:r>
            <a:endParaRPr lang="en-US" sz="2400" b="0" dirty="0">
              <a:solidFill>
                <a:schemeClr val="tx1"/>
              </a:solidFill>
              <a:ea typeface="Open Sans"/>
            </a:endParaRPr>
          </a:p>
          <a:p>
            <a:pPr marL="457200" indent="-457200" algn="l">
              <a:buFont typeface="Arial"/>
              <a:buChar char="•"/>
            </a:pPr>
            <a:r>
              <a:rPr lang="en-US" sz="2400" dirty="0">
                <a:solidFill>
                  <a:schemeClr val="tx1"/>
                </a:solidFill>
                <a:ea typeface="Open Sans"/>
              </a:rPr>
              <a:t>Case Report Highlights:</a:t>
            </a:r>
          </a:p>
          <a:p>
            <a:pPr marL="783590" lvl="1" indent="-457200" algn="l">
              <a:buFont typeface="Courier New"/>
              <a:buChar char="o"/>
            </a:pPr>
            <a:r>
              <a:rPr lang="en-US" sz="2400" dirty="0">
                <a:solidFill>
                  <a:schemeClr val="tx1"/>
                </a:solidFill>
                <a:ea typeface="Open Sans"/>
                <a:cs typeface="Arial"/>
              </a:rPr>
              <a:t>Patient:</a:t>
            </a:r>
            <a:r>
              <a:rPr lang="en-US" sz="2400" b="0" dirty="0">
                <a:solidFill>
                  <a:schemeClr val="tx1"/>
                </a:solidFill>
                <a:ea typeface="Open Sans"/>
                <a:cs typeface="Arial"/>
              </a:rPr>
              <a:t> Neonate born to a mother with antenatal microcytic anemia.</a:t>
            </a:r>
          </a:p>
          <a:p>
            <a:pPr marL="783590" lvl="1" indent="-457200" algn="l">
              <a:buFont typeface="Courier New"/>
              <a:buChar char="o"/>
            </a:pPr>
            <a:r>
              <a:rPr lang="en-US" sz="2400" dirty="0">
                <a:solidFill>
                  <a:schemeClr val="tx1"/>
                </a:solidFill>
                <a:ea typeface="Open Sans"/>
                <a:cs typeface="Arial"/>
              </a:rPr>
              <a:t>Condition:</a:t>
            </a:r>
            <a:r>
              <a:rPr lang="en-US" sz="2400" b="0" dirty="0">
                <a:solidFill>
                  <a:schemeClr val="tx1"/>
                </a:solidFill>
                <a:ea typeface="Open Sans"/>
                <a:cs typeface="Arial"/>
              </a:rPr>
              <a:t> Diagnosed with small bowel obstruction, later confirmed as Hirschsprung disease.</a:t>
            </a:r>
          </a:p>
          <a:p>
            <a:pPr marL="457200" indent="-457200" algn="l">
              <a:buFont typeface="Arial"/>
              <a:buChar char="•"/>
            </a:pPr>
            <a:r>
              <a:rPr lang="en-US" sz="2400" dirty="0">
                <a:solidFill>
                  <a:schemeClr val="tx1"/>
                </a:solidFill>
                <a:ea typeface="Open Sans"/>
                <a:cs typeface="Arial"/>
              </a:rPr>
              <a:t>Discussion Points:</a:t>
            </a:r>
          </a:p>
          <a:p>
            <a:pPr marL="783590" lvl="1" indent="-457200" algn="l">
              <a:buFont typeface="Courier New"/>
              <a:buChar char="o"/>
            </a:pPr>
            <a:r>
              <a:rPr lang="en-US" sz="2400" dirty="0">
                <a:solidFill>
                  <a:schemeClr val="tx1"/>
                </a:solidFill>
                <a:ea typeface="Open Sans"/>
                <a:cs typeface="Arial"/>
              </a:rPr>
              <a:t>Association</a:t>
            </a:r>
            <a:r>
              <a:rPr lang="en-US" sz="2400" b="0" dirty="0">
                <a:solidFill>
                  <a:schemeClr val="tx1"/>
                </a:solidFill>
                <a:ea typeface="Open Sans"/>
                <a:cs typeface="Arial"/>
              </a:rPr>
              <a:t> between antenatal conditions and neonatal bowel obstruction.</a:t>
            </a:r>
          </a:p>
          <a:p>
            <a:pPr marL="783590" lvl="1" indent="-457200" algn="l">
              <a:buFont typeface="Courier New"/>
              <a:buChar char="o"/>
            </a:pPr>
            <a:r>
              <a:rPr lang="en-US" sz="2400" dirty="0">
                <a:solidFill>
                  <a:schemeClr val="tx1"/>
                </a:solidFill>
                <a:ea typeface="Open Sans"/>
                <a:cs typeface="Arial"/>
              </a:rPr>
              <a:t>Importance</a:t>
            </a:r>
            <a:r>
              <a:rPr lang="en-US" sz="2400" b="0" dirty="0">
                <a:solidFill>
                  <a:schemeClr val="tx1"/>
                </a:solidFill>
                <a:ea typeface="Open Sans"/>
                <a:cs typeface="Arial"/>
              </a:rPr>
              <a:t> of early imaging for proper diagnosis and timely intervention.</a:t>
            </a:r>
          </a:p>
          <a:p>
            <a:pPr marL="457200" indent="-457200" algn="just">
              <a:buFont typeface="Arial"/>
              <a:buChar char="•"/>
            </a:pPr>
            <a:endParaRPr lang="en-US" sz="2400" b="0" dirty="0">
              <a:solidFill>
                <a:schemeClr val="tx1"/>
              </a:solidFill>
              <a:ea typeface="Open Sans"/>
              <a:cs typeface="Arial"/>
            </a:endParaRPr>
          </a:p>
          <a:p>
            <a:pPr marL="457200" indent="-457200" algn="just">
              <a:buFont typeface="Arial"/>
              <a:buChar char="•"/>
            </a:pPr>
            <a:br>
              <a:rPr lang="en-US" sz="2600" dirty="0"/>
            </a:br>
            <a:endParaRPr lang="en-US" sz="2400" dirty="0"/>
          </a:p>
        </p:txBody>
      </p:sp>
      <p:sp>
        <p:nvSpPr>
          <p:cNvPr id="54" name="TextBox 53">
            <a:extLst>
              <a:ext uri="{FF2B5EF4-FFF2-40B4-BE49-F238E27FC236}">
                <a16:creationId xmlns:a16="http://schemas.microsoft.com/office/drawing/2014/main" id="{78FB01C1-373E-4866-BF69-4540A0DE8387}"/>
              </a:ext>
            </a:extLst>
          </p:cNvPr>
          <p:cNvSpPr txBox="1"/>
          <p:nvPr/>
        </p:nvSpPr>
        <p:spPr>
          <a:xfrm>
            <a:off x="8570139" y="5661226"/>
            <a:ext cx="15768759" cy="8463855"/>
          </a:xfrm>
          <a:prstGeom prst="rect">
            <a:avLst/>
          </a:prstGeom>
          <a:noFill/>
        </p:spPr>
        <p:txBody>
          <a:bodyPr wrap="square" lIns="91440" tIns="45720" rIns="91440" bIns="45720" rtlCol="0" anchor="t">
            <a:spAutoFit/>
          </a:bodyPr>
          <a:lstStyle>
            <a:defPPr>
              <a:defRPr kern="1200"/>
            </a:defPPr>
          </a:lstStyle>
          <a:p>
            <a:pPr algn="l"/>
            <a:r>
              <a:rPr lang="en-US" sz="3200" b="0" dirty="0">
                <a:solidFill>
                  <a:srgbClr val="1A1C1E"/>
                </a:solidFill>
                <a:ea typeface="Open Sans"/>
                <a:cs typeface="Arial"/>
              </a:rPr>
              <a:t> A full-term male neonate, born via normal spontaneous vaginal delivery to a 27-year-old mother with antenatal microcytic anemia, presented at 24 hours of life with bilious vomiting and an inability to pass stool. The mother's pregnancy was otherwise unremarkable, with a normal NIPT screen, though she did develop microcytic anemia in the 2nd trimester, without obvious blood loss or malabsorption. Initial Apgar scores were 8 and 9 at 1 and 5 minutes, respectively. Physical examination revealed a distended abdomen and decreased bowel sounds.</a:t>
            </a:r>
            <a:endParaRPr lang="en-US" sz="3200" dirty="0">
              <a:ea typeface="Open Sans"/>
            </a:endParaRPr>
          </a:p>
          <a:p>
            <a:pPr algn="l"/>
            <a:endParaRPr lang="en-US" sz="3200" b="0" dirty="0">
              <a:solidFill>
                <a:srgbClr val="1A1C1E"/>
              </a:solidFill>
              <a:ea typeface="Open Sans"/>
              <a:cs typeface="Arial"/>
            </a:endParaRPr>
          </a:p>
          <a:p>
            <a:pPr algn="l"/>
            <a:r>
              <a:rPr lang="en-US" sz="3200" b="0" dirty="0">
                <a:solidFill>
                  <a:srgbClr val="1A1C1E"/>
                </a:solidFill>
                <a:ea typeface="Open Sans"/>
                <a:cs typeface="Arial"/>
              </a:rPr>
              <a:t>Bowel sounds were present until 1600 of Day 1, and abdominal ultrasound (Figure 1) was performed to rule out midgut volvulus with malrotation. Imaging showed nonspecific ascites, the whirlpool sign was absent. No bowel sounds heard when examined bedside at 1700, NICU was consulted. An NG tube was placed to decompress the bowel, and subsequent Abdominal X-ray (Figure 2) showed dilated small bowel loops. The newborn was transferred to the NICU of Valley Children’s Hospital for further workup and possible surgical intervention.</a:t>
            </a:r>
            <a:endParaRPr lang="en-US" sz="3200" dirty="0">
              <a:solidFill>
                <a:srgbClr val="1A1C1E"/>
              </a:solidFill>
              <a:ea typeface="Open Sans"/>
              <a:cs typeface="Arial"/>
            </a:endParaRPr>
          </a:p>
          <a:p>
            <a:pPr algn="just"/>
            <a:br>
              <a:rPr lang="en-US" sz="3200" dirty="0"/>
            </a:br>
            <a:endParaRPr lang="en-US" sz="3200" dirty="0"/>
          </a:p>
        </p:txBody>
      </p:sp>
      <p:sp>
        <p:nvSpPr>
          <p:cNvPr id="249" name="TextBox 248">
            <a:extLst>
              <a:ext uri="{FF2B5EF4-FFF2-40B4-BE49-F238E27FC236}">
                <a16:creationId xmlns:a16="http://schemas.microsoft.com/office/drawing/2014/main" id="{E7F5A37C-2B6C-4404-91FF-0640D04BD011}"/>
              </a:ext>
            </a:extLst>
          </p:cNvPr>
          <p:cNvSpPr txBox="1"/>
          <p:nvPr/>
        </p:nvSpPr>
        <p:spPr>
          <a:xfrm>
            <a:off x="24749089" y="5650691"/>
            <a:ext cx="7604996" cy="13988445"/>
          </a:xfrm>
          <a:prstGeom prst="rect">
            <a:avLst/>
          </a:prstGeom>
          <a:noFill/>
        </p:spPr>
        <p:txBody>
          <a:bodyPr wrap="square" lIns="91440" tIns="45720" rIns="91440" bIns="45720" rtlCol="0" anchor="t">
            <a:spAutoFit/>
          </a:bodyPr>
          <a:lstStyle>
            <a:defPPr>
              <a:defRPr kern="1200"/>
            </a:defPPr>
          </a:lstStyle>
          <a:p>
            <a:pPr marL="342900" indent="-342900" algn="l">
              <a:buFont typeface="Arial"/>
              <a:buChar char="•"/>
            </a:pPr>
            <a:r>
              <a:rPr lang="en-US" sz="2100" dirty="0">
                <a:solidFill>
                  <a:srgbClr val="1A1C1E"/>
                </a:solidFill>
                <a:ea typeface="Open Sans"/>
                <a:cs typeface="Arial"/>
              </a:rPr>
              <a:t>Neonatal Bowel Obstruction</a:t>
            </a:r>
            <a:r>
              <a:rPr lang="en-US" sz="2100" b="0" dirty="0">
                <a:solidFill>
                  <a:srgbClr val="1A1C1E"/>
                </a:solidFill>
                <a:ea typeface="Open Sans"/>
                <a:cs typeface="Arial"/>
              </a:rPr>
              <a:t>:</a:t>
            </a:r>
            <a:endParaRPr lang="en-US" sz="2100" dirty="0">
              <a:ea typeface="Open Sans"/>
              <a:cs typeface="Arial"/>
            </a:endParaRPr>
          </a:p>
          <a:p>
            <a:pPr marL="669290" lvl="1" indent="-342900" algn="l">
              <a:buFont typeface="Courier New"/>
              <a:buChar char="o"/>
            </a:pPr>
            <a:r>
              <a:rPr lang="en-US" sz="2100" b="0" dirty="0">
                <a:solidFill>
                  <a:srgbClr val="1A1C1E"/>
                </a:solidFill>
                <a:ea typeface="Open Sans"/>
                <a:cs typeface="Arial"/>
              </a:rPr>
              <a:t>Encompasses a variety of pathologies with varying imaging findings depending on obstruction location.</a:t>
            </a:r>
            <a:endParaRPr lang="en-US" sz="2100" dirty="0"/>
          </a:p>
          <a:p>
            <a:pPr marL="612140" lvl="1" indent="-285750" algn="l">
              <a:buFont typeface="Courier New"/>
              <a:buChar char="o"/>
            </a:pPr>
            <a:r>
              <a:rPr lang="en-US" sz="2100" b="0" dirty="0">
                <a:solidFill>
                  <a:srgbClr val="1A1C1E"/>
                </a:solidFill>
                <a:ea typeface="Open Sans"/>
                <a:cs typeface="Arial"/>
              </a:rPr>
              <a:t>Timely imaging and decision-making are crucial to avoid long-term impairment of the patient's quality of life.</a:t>
            </a:r>
            <a:endParaRPr lang="en-US" sz="2100" dirty="0"/>
          </a:p>
          <a:p>
            <a:pPr marL="612140" lvl="1" indent="-285750" algn="l">
              <a:buFont typeface="Courier New"/>
              <a:buChar char="o"/>
            </a:pPr>
            <a:r>
              <a:rPr lang="en-US" sz="2100" b="0" dirty="0">
                <a:solidFill>
                  <a:srgbClr val="1A1C1E"/>
                </a:solidFill>
                <a:ea typeface="Open Sans"/>
                <a:cs typeface="Arial"/>
              </a:rPr>
              <a:t>Bowel obstruction patterns in neonates may be atypical, requiring advanced studies like barium enemas.</a:t>
            </a:r>
            <a:endParaRPr lang="en-US" sz="2100" dirty="0"/>
          </a:p>
          <a:p>
            <a:pPr marL="612140" lvl="1" indent="-285750" algn="l">
              <a:buFont typeface="Courier New"/>
              <a:buChar char="o"/>
            </a:pPr>
            <a:endParaRPr lang="en-US" sz="2100" b="0" dirty="0">
              <a:solidFill>
                <a:srgbClr val="1A1C1E"/>
              </a:solidFill>
              <a:ea typeface="Open Sans"/>
              <a:cs typeface="Arial"/>
            </a:endParaRPr>
          </a:p>
          <a:p>
            <a:pPr marL="285750" indent="-285750" algn="l">
              <a:buFont typeface="Arial"/>
              <a:buChar char="•"/>
            </a:pPr>
            <a:r>
              <a:rPr lang="en-US" sz="2100" dirty="0">
                <a:solidFill>
                  <a:srgbClr val="1A1C1E"/>
                </a:solidFill>
                <a:ea typeface="Open Sans"/>
                <a:cs typeface="Arial"/>
              </a:rPr>
              <a:t>Imaging Findings in the Case</a:t>
            </a:r>
            <a:r>
              <a:rPr lang="en-US" sz="2100" b="0" dirty="0">
                <a:solidFill>
                  <a:srgbClr val="1A1C1E"/>
                </a:solidFill>
                <a:ea typeface="Open Sans"/>
                <a:cs typeface="Arial"/>
              </a:rPr>
              <a:t>:</a:t>
            </a:r>
            <a:endParaRPr lang="en-US" sz="2100" dirty="0"/>
          </a:p>
          <a:p>
            <a:pPr marL="612140" lvl="1" indent="-285750" algn="l">
              <a:buFont typeface="Courier New"/>
              <a:buChar char="o"/>
            </a:pPr>
            <a:r>
              <a:rPr lang="en-US" sz="2100" b="0" dirty="0">
                <a:solidFill>
                  <a:srgbClr val="1A1C1E"/>
                </a:solidFill>
                <a:ea typeface="Open Sans"/>
                <a:cs typeface="Arial"/>
              </a:rPr>
              <a:t>Initial imaging showed diffuse bowel dilatation, suggesting small bowel atresia.</a:t>
            </a:r>
            <a:endParaRPr lang="en-US" sz="2100" dirty="0"/>
          </a:p>
          <a:p>
            <a:pPr marL="612140" lvl="1" indent="-285750" algn="l">
              <a:buFont typeface="Courier New"/>
              <a:buChar char="o"/>
            </a:pPr>
            <a:r>
              <a:rPr lang="en-US" sz="2100" b="0" dirty="0">
                <a:solidFill>
                  <a:srgbClr val="1A1C1E"/>
                </a:solidFill>
                <a:ea typeface="Open Sans"/>
                <a:cs typeface="Arial"/>
              </a:rPr>
              <a:t>Absence of a whirlpool sign on ultrasound reduced suspicion for midgut volvulus.</a:t>
            </a:r>
            <a:endParaRPr lang="en-US" sz="2100" dirty="0"/>
          </a:p>
          <a:p>
            <a:pPr marL="612140" lvl="1" indent="-285750" algn="l">
              <a:buFont typeface="Courier New"/>
              <a:buChar char="o"/>
            </a:pPr>
            <a:r>
              <a:rPr lang="en-US" sz="2100" b="0" dirty="0">
                <a:solidFill>
                  <a:srgbClr val="1A1C1E"/>
                </a:solidFill>
                <a:ea typeface="Open Sans"/>
                <a:cs typeface="Arial"/>
              </a:rPr>
              <a:t>Ascites, polyhydramnios, and intrauterine volvulus were not present antenatally, adding to diagnostic confusion.</a:t>
            </a:r>
            <a:endParaRPr lang="en-US" sz="2100" dirty="0"/>
          </a:p>
          <a:p>
            <a:pPr marL="612140" lvl="1" indent="-285750" algn="l">
              <a:buFont typeface="Courier New"/>
              <a:buChar char="o"/>
            </a:pPr>
            <a:endParaRPr lang="en-US" sz="2100" b="0" dirty="0">
              <a:solidFill>
                <a:srgbClr val="1A1C1E"/>
              </a:solidFill>
              <a:ea typeface="Open Sans"/>
              <a:cs typeface="Arial"/>
            </a:endParaRPr>
          </a:p>
          <a:p>
            <a:pPr marL="285750" indent="-285750" algn="l">
              <a:buFont typeface="Arial"/>
              <a:buChar char="•"/>
            </a:pPr>
            <a:r>
              <a:rPr lang="en-US" sz="2100" dirty="0">
                <a:solidFill>
                  <a:srgbClr val="1A1C1E"/>
                </a:solidFill>
                <a:ea typeface="Open Sans"/>
              </a:rPr>
              <a:t>Maternal Factors</a:t>
            </a:r>
            <a:r>
              <a:rPr lang="en-US" sz="2100" b="0" dirty="0">
                <a:solidFill>
                  <a:srgbClr val="1A1C1E"/>
                </a:solidFill>
                <a:ea typeface="Open Sans"/>
              </a:rPr>
              <a:t>:</a:t>
            </a:r>
            <a:endParaRPr lang="en-US" sz="2100" dirty="0"/>
          </a:p>
          <a:p>
            <a:pPr marL="612140" lvl="1" indent="-285750" algn="l">
              <a:buFont typeface="Courier New"/>
              <a:buChar char="o"/>
            </a:pPr>
            <a:r>
              <a:rPr lang="en-US" sz="2100" b="0" dirty="0">
                <a:solidFill>
                  <a:srgbClr val="1A1C1E"/>
                </a:solidFill>
                <a:ea typeface="Open Sans"/>
                <a:cs typeface="Arial"/>
              </a:rPr>
              <a:t>The mother had iron deficiency anemia (hemoglobin 9.9 g/dL at 24 weeks gestation).</a:t>
            </a:r>
            <a:endParaRPr lang="en-US" sz="2100" dirty="0"/>
          </a:p>
          <a:p>
            <a:pPr marL="612140" lvl="1" indent="-285750" algn="l">
              <a:buFont typeface="Courier New"/>
              <a:buChar char="o"/>
            </a:pPr>
            <a:r>
              <a:rPr lang="en-US" sz="2100" b="0" dirty="0">
                <a:solidFill>
                  <a:srgbClr val="1A1C1E"/>
                </a:solidFill>
                <a:ea typeface="Open Sans"/>
                <a:cs typeface="Arial"/>
              </a:rPr>
              <a:t>Severe anemia can negatively affect fetal development.</a:t>
            </a:r>
            <a:endParaRPr lang="en-US" sz="2100" dirty="0"/>
          </a:p>
          <a:p>
            <a:pPr marL="612140" lvl="1" indent="-285750" algn="l">
              <a:buFont typeface="Courier New"/>
              <a:buChar char="o"/>
            </a:pPr>
            <a:r>
              <a:rPr lang="en-US" sz="2100" b="0" dirty="0">
                <a:solidFill>
                  <a:srgbClr val="1A1C1E"/>
                </a:solidFill>
                <a:ea typeface="Open Sans"/>
                <a:cs typeface="Arial"/>
              </a:rPr>
              <a:t>Iron is critical for the development of the enteric nervous system (ENS), which controls gut motility.</a:t>
            </a:r>
            <a:endParaRPr lang="en-US" sz="2100" dirty="0"/>
          </a:p>
          <a:p>
            <a:pPr marL="612140" lvl="1" indent="-285750" algn="l">
              <a:buFont typeface="Courier New"/>
              <a:buChar char="o"/>
            </a:pPr>
            <a:endParaRPr lang="en-US" sz="2100" b="0" dirty="0">
              <a:solidFill>
                <a:srgbClr val="1A1C1E"/>
              </a:solidFill>
              <a:ea typeface="Open Sans"/>
              <a:cs typeface="Arial"/>
            </a:endParaRPr>
          </a:p>
          <a:p>
            <a:pPr marL="285750" indent="-285750" algn="l">
              <a:buFont typeface="Arial"/>
              <a:buChar char="•"/>
            </a:pPr>
            <a:r>
              <a:rPr lang="en-US" sz="2100" dirty="0">
                <a:solidFill>
                  <a:srgbClr val="1A1C1E"/>
                </a:solidFill>
                <a:ea typeface="Open Sans"/>
                <a:cs typeface="Arial"/>
              </a:rPr>
              <a:t>Potential Link Between Iron Deficiency and Hirschsprung's Disease</a:t>
            </a:r>
            <a:r>
              <a:rPr lang="en-US" sz="2100" b="0" dirty="0">
                <a:solidFill>
                  <a:srgbClr val="1A1C1E"/>
                </a:solidFill>
                <a:ea typeface="Open Sans"/>
                <a:cs typeface="Arial"/>
              </a:rPr>
              <a:t>:</a:t>
            </a:r>
            <a:endParaRPr lang="en-US" sz="2100" dirty="0"/>
          </a:p>
          <a:p>
            <a:pPr marL="612140" lvl="1" indent="-285750" algn="l">
              <a:buFont typeface="Courier New"/>
              <a:buChar char="o"/>
            </a:pPr>
            <a:r>
              <a:rPr lang="en-US" sz="2100" b="0" dirty="0">
                <a:solidFill>
                  <a:srgbClr val="1A1C1E"/>
                </a:solidFill>
                <a:ea typeface="Open Sans"/>
                <a:cs typeface="Arial"/>
              </a:rPr>
              <a:t>Maternal iron deficiency could impair neural crest cell migration and differentiation, potentially leading to </a:t>
            </a:r>
            <a:r>
              <a:rPr lang="en-US" sz="2100" b="0" dirty="0" err="1">
                <a:solidFill>
                  <a:srgbClr val="1A1C1E"/>
                </a:solidFill>
                <a:ea typeface="Open Sans"/>
                <a:cs typeface="Arial"/>
              </a:rPr>
              <a:t>aganglionosis</a:t>
            </a:r>
            <a:r>
              <a:rPr lang="en-US" sz="2100" b="0" dirty="0">
                <a:solidFill>
                  <a:srgbClr val="1A1C1E"/>
                </a:solidFill>
                <a:ea typeface="Open Sans"/>
                <a:cs typeface="Arial"/>
              </a:rPr>
              <a:t> in the distal colon, characteristic of HD.</a:t>
            </a:r>
            <a:endParaRPr lang="en-US" sz="2100" dirty="0"/>
          </a:p>
          <a:p>
            <a:pPr marL="612140" lvl="1" indent="-285750" algn="l">
              <a:buFont typeface="Courier New"/>
              <a:buChar char="o"/>
            </a:pPr>
            <a:r>
              <a:rPr lang="en-US" sz="2100" b="0" dirty="0">
                <a:solidFill>
                  <a:srgbClr val="1A1C1E"/>
                </a:solidFill>
                <a:ea typeface="Open Sans"/>
                <a:cs typeface="Arial"/>
              </a:rPr>
              <a:t>Further research is needed to explore the relationship between maternal anemia and HD, including the effects of iron deficiency on ENS development and the genetic mechanisms involved.</a:t>
            </a:r>
            <a:endParaRPr lang="en-US" sz="2100" dirty="0"/>
          </a:p>
          <a:p>
            <a:pPr marL="612140" lvl="1" indent="-285750" algn="l">
              <a:buFont typeface="Courier New"/>
              <a:buChar char="o"/>
            </a:pPr>
            <a:endParaRPr lang="en-US" sz="2100" b="0" dirty="0">
              <a:solidFill>
                <a:srgbClr val="1A1C1E"/>
              </a:solidFill>
              <a:ea typeface="Open Sans"/>
              <a:cs typeface="Arial"/>
            </a:endParaRPr>
          </a:p>
          <a:p>
            <a:pPr marL="285750" indent="-285750" algn="l">
              <a:buFont typeface="Arial"/>
              <a:buChar char="•"/>
            </a:pPr>
            <a:r>
              <a:rPr lang="en-US" sz="2100" dirty="0">
                <a:solidFill>
                  <a:srgbClr val="1A1C1E"/>
                </a:solidFill>
                <a:ea typeface="Open Sans"/>
                <a:cs typeface="Arial"/>
              </a:rPr>
              <a:t>Clinical Implications</a:t>
            </a:r>
            <a:r>
              <a:rPr lang="en-US" sz="2100" b="0" dirty="0">
                <a:solidFill>
                  <a:srgbClr val="1A1C1E"/>
                </a:solidFill>
                <a:ea typeface="Open Sans"/>
                <a:cs typeface="Arial"/>
              </a:rPr>
              <a:t>:</a:t>
            </a:r>
            <a:endParaRPr lang="en-US" sz="2100" dirty="0"/>
          </a:p>
          <a:p>
            <a:pPr marL="326390" lvl="1" algn="l"/>
            <a:r>
              <a:rPr lang="en-US" sz="2100" b="0" dirty="0">
                <a:solidFill>
                  <a:srgbClr val="1A1C1E"/>
                </a:solidFill>
                <a:ea typeface="Open Sans"/>
                <a:cs typeface="Arial"/>
              </a:rPr>
              <a:t>The case highlights a diagnostic gap and calls for further investigation into treatment strategies for neonatal bowel obstruction, particularly in the context of maternal health.</a:t>
            </a:r>
          </a:p>
          <a:p>
            <a:pPr marL="326390" lvl="1" algn="l"/>
            <a:endParaRPr lang="en-US" sz="2100" b="0" dirty="0">
              <a:solidFill>
                <a:srgbClr val="1A1C1E"/>
              </a:solidFill>
              <a:ea typeface="Open Sans"/>
            </a:endParaRPr>
          </a:p>
          <a:p>
            <a:pPr marL="285750" indent="-285750" algn="l">
              <a:buFont typeface="Arial,Sans-Serif"/>
              <a:buChar char="•"/>
            </a:pPr>
            <a:r>
              <a:rPr lang="en-US" sz="2100" dirty="0">
                <a:solidFill>
                  <a:srgbClr val="1A1C1E"/>
                </a:solidFill>
                <a:ea typeface="Open Sans"/>
              </a:rPr>
              <a:t>Final Diagnosis</a:t>
            </a:r>
            <a:r>
              <a:rPr lang="en-US" sz="2100" b="0" dirty="0">
                <a:solidFill>
                  <a:srgbClr val="1A1C1E"/>
                </a:solidFill>
                <a:ea typeface="Open Sans"/>
              </a:rPr>
              <a:t>:</a:t>
            </a:r>
            <a:endParaRPr lang="en-US" sz="2100" b="0" dirty="0">
              <a:solidFill>
                <a:srgbClr val="000000"/>
              </a:solidFill>
              <a:ea typeface="Open Sans"/>
            </a:endParaRPr>
          </a:p>
          <a:p>
            <a:pPr marL="612140" lvl="1" indent="-285750" algn="l">
              <a:buFont typeface="Courier New,monospace"/>
              <a:buChar char="o"/>
            </a:pPr>
            <a:r>
              <a:rPr lang="en-US" sz="2100" b="0" dirty="0">
                <a:solidFill>
                  <a:srgbClr val="1A1C1E"/>
                </a:solidFill>
                <a:ea typeface="Open Sans"/>
              </a:rPr>
              <a:t>The neonate was diagnosed with </a:t>
            </a:r>
            <a:r>
              <a:rPr lang="en-US" sz="2100" dirty="0">
                <a:solidFill>
                  <a:srgbClr val="1A1C1E"/>
                </a:solidFill>
                <a:ea typeface="Open Sans"/>
              </a:rPr>
              <a:t>Hirschsprung's Disease (HD)</a:t>
            </a:r>
            <a:r>
              <a:rPr lang="en-US" sz="2100" b="0" dirty="0">
                <a:solidFill>
                  <a:srgbClr val="1A1C1E"/>
                </a:solidFill>
                <a:ea typeface="Open Sans"/>
              </a:rPr>
              <a:t> after appropriate surgical intervention.</a:t>
            </a:r>
            <a:endParaRPr lang="en-US" sz="2100" b="0" dirty="0">
              <a:solidFill>
                <a:srgbClr val="000000"/>
              </a:solidFill>
              <a:ea typeface="Open Sans"/>
            </a:endParaRPr>
          </a:p>
          <a:p>
            <a:pPr marL="612140" lvl="1" indent="-285750" algn="l">
              <a:buFont typeface="Courier New,monospace"/>
              <a:buChar char="o"/>
            </a:pPr>
            <a:r>
              <a:rPr lang="en-US" sz="2100" b="0" dirty="0">
                <a:solidFill>
                  <a:srgbClr val="1A1C1E"/>
                </a:solidFill>
                <a:ea typeface="Open Sans"/>
              </a:rPr>
              <a:t>Ganglion cells were found in the proximal colon, but absent distally, confirming HD.</a:t>
            </a:r>
            <a:endParaRPr lang="en-US" sz="2100" b="0" dirty="0">
              <a:solidFill>
                <a:srgbClr val="000000"/>
              </a:solidFill>
              <a:ea typeface="Open Sans"/>
            </a:endParaRPr>
          </a:p>
        </p:txBody>
      </p:sp>
      <p:pic>
        <p:nvPicPr>
          <p:cNvPr id="3" name="Picture 2" descr="X-ray of a person&amp;#39;s body&#10;&#10;AI-generated content may be incorrect.">
            <a:extLst>
              <a:ext uri="{FF2B5EF4-FFF2-40B4-BE49-F238E27FC236}">
                <a16:creationId xmlns:a16="http://schemas.microsoft.com/office/drawing/2014/main" id="{C505B3ED-1F3B-2075-1ACB-AF3E442250B2}"/>
              </a:ext>
            </a:extLst>
          </p:cNvPr>
          <p:cNvPicPr>
            <a:picLocks noChangeAspect="1"/>
          </p:cNvPicPr>
          <p:nvPr/>
        </p:nvPicPr>
        <p:blipFill>
          <a:blip r:embed="rId2"/>
          <a:stretch>
            <a:fillRect/>
          </a:stretch>
        </p:blipFill>
        <p:spPr>
          <a:xfrm>
            <a:off x="8562281" y="13514921"/>
            <a:ext cx="5940313" cy="6392231"/>
          </a:xfrm>
          <a:prstGeom prst="rect">
            <a:avLst/>
          </a:prstGeom>
        </p:spPr>
      </p:pic>
      <p:sp>
        <p:nvSpPr>
          <p:cNvPr id="4" name="TextBox 3">
            <a:extLst>
              <a:ext uri="{FF2B5EF4-FFF2-40B4-BE49-F238E27FC236}">
                <a16:creationId xmlns:a16="http://schemas.microsoft.com/office/drawing/2014/main" id="{CDD59D05-F4C2-AFA3-6FB2-1ADDD91327DF}"/>
              </a:ext>
            </a:extLst>
          </p:cNvPr>
          <p:cNvSpPr txBox="1"/>
          <p:nvPr/>
        </p:nvSpPr>
        <p:spPr>
          <a:xfrm>
            <a:off x="628720" y="20542523"/>
            <a:ext cx="7606755" cy="1015663"/>
          </a:xfrm>
          <a:prstGeom prst="rect">
            <a:avLst/>
          </a:prstGeom>
          <a:noFill/>
        </p:spPr>
        <p:txBody>
          <a:bodyPr wrap="square" lIns="91440" tIns="45720" rIns="91440" bIns="45720" rtlCol="0" anchor="t">
            <a:spAutoFit/>
          </a:bodyPr>
          <a:lstStyle>
            <a:defPPr>
              <a:defRPr kern="1200"/>
            </a:defPPr>
          </a:lstStyle>
          <a:p>
            <a:pPr algn="just"/>
            <a:r>
              <a:rPr lang="en-US" sz="2000" b="0">
                <a:solidFill>
                  <a:schemeClr val="tx1"/>
                </a:solidFill>
                <a:ea typeface="Open Sans" panose="020B0606030504020204" pitchFamily="34" charset="0"/>
                <a:cs typeface="Arial"/>
              </a:rPr>
              <a:t>Figure 1. Abdominal Ultrasound of the Right Upper Quadrant. Targeted sonographic evaluation of the abdomen demonstrates a small amount of ascites</a:t>
            </a:r>
            <a:endParaRPr lang="en-US" sz="2000"/>
          </a:p>
        </p:txBody>
      </p:sp>
      <p:sp>
        <p:nvSpPr>
          <p:cNvPr id="5" name="TextBox 4">
            <a:extLst>
              <a:ext uri="{FF2B5EF4-FFF2-40B4-BE49-F238E27FC236}">
                <a16:creationId xmlns:a16="http://schemas.microsoft.com/office/drawing/2014/main" id="{35138CDF-9A8F-0F35-E882-345646715A5E}"/>
              </a:ext>
            </a:extLst>
          </p:cNvPr>
          <p:cNvSpPr txBox="1"/>
          <p:nvPr/>
        </p:nvSpPr>
        <p:spPr>
          <a:xfrm>
            <a:off x="8560742" y="20045324"/>
            <a:ext cx="5923533" cy="1323439"/>
          </a:xfrm>
          <a:prstGeom prst="rect">
            <a:avLst/>
          </a:prstGeom>
          <a:noFill/>
        </p:spPr>
        <p:txBody>
          <a:bodyPr wrap="square" lIns="91440" tIns="45720" rIns="91440" bIns="45720" rtlCol="0" anchor="t">
            <a:spAutoFit/>
          </a:bodyPr>
          <a:lstStyle>
            <a:defPPr>
              <a:defRPr kern="1200"/>
            </a:defPPr>
          </a:lstStyle>
          <a:p>
            <a:pPr algn="just"/>
            <a:r>
              <a:rPr lang="en-US" sz="2000" b="0">
                <a:solidFill>
                  <a:schemeClr val="tx1"/>
                </a:solidFill>
                <a:ea typeface="Open Sans"/>
                <a:cs typeface="Arial"/>
              </a:rPr>
              <a:t>Figure 2. Abdominal X-Ray. Obtained after a NG tube insertion. There is dilatation of the stomach and multiple small bowel loops without definite evidence of significant gas within the colon.</a:t>
            </a:r>
            <a:endParaRPr lang="en-US" sz="2000">
              <a:solidFill>
                <a:schemeClr val="tx1"/>
              </a:solidFill>
              <a:ea typeface="Open Sans"/>
              <a:cs typeface="Arial"/>
            </a:endParaRPr>
          </a:p>
        </p:txBody>
      </p:sp>
      <p:pic>
        <p:nvPicPr>
          <p:cNvPr id="8" name="Picture 7" descr="An ultrasound of a fetus&#10;&#10;AI-generated content may be incorrect.">
            <a:extLst>
              <a:ext uri="{FF2B5EF4-FFF2-40B4-BE49-F238E27FC236}">
                <a16:creationId xmlns:a16="http://schemas.microsoft.com/office/drawing/2014/main" id="{3BCDD432-69B2-96FD-08E7-3173D1A60201}"/>
              </a:ext>
            </a:extLst>
          </p:cNvPr>
          <p:cNvPicPr>
            <a:picLocks noChangeAspect="1"/>
          </p:cNvPicPr>
          <p:nvPr/>
        </p:nvPicPr>
        <p:blipFill>
          <a:blip r:embed="rId3"/>
          <a:srcRect l="-88" t="7656" r="-271" b="-438"/>
          <a:stretch/>
        </p:blipFill>
        <p:spPr>
          <a:xfrm>
            <a:off x="659053" y="15740088"/>
            <a:ext cx="7592021" cy="4793954"/>
          </a:xfrm>
          <a:prstGeom prst="rect">
            <a:avLst/>
          </a:prstGeom>
        </p:spPr>
      </p:pic>
      <p:pic>
        <p:nvPicPr>
          <p:cNvPr id="2" name="Picture 1">
            <a:extLst>
              <a:ext uri="{FF2B5EF4-FFF2-40B4-BE49-F238E27FC236}">
                <a16:creationId xmlns:a16="http://schemas.microsoft.com/office/drawing/2014/main" id="{245E0118-2A33-A75F-75F3-62ACA9BCDAF3}"/>
              </a:ext>
            </a:extLst>
          </p:cNvPr>
          <p:cNvPicPr>
            <a:picLocks noChangeAspect="1"/>
          </p:cNvPicPr>
          <p:nvPr/>
        </p:nvPicPr>
        <p:blipFill>
          <a:blip r:embed="rId4"/>
          <a:srcRect r="-615" b="16667"/>
          <a:stretch/>
        </p:blipFill>
        <p:spPr>
          <a:xfrm>
            <a:off x="14927744" y="13514254"/>
            <a:ext cx="9429279" cy="6390926"/>
          </a:xfrm>
          <a:prstGeom prst="rect">
            <a:avLst/>
          </a:prstGeom>
        </p:spPr>
      </p:pic>
      <p:sp>
        <p:nvSpPr>
          <p:cNvPr id="6" name="TextBox 5">
            <a:extLst>
              <a:ext uri="{FF2B5EF4-FFF2-40B4-BE49-F238E27FC236}">
                <a16:creationId xmlns:a16="http://schemas.microsoft.com/office/drawing/2014/main" id="{33A040EE-7BD1-2666-F309-68AD41A5BF51}"/>
              </a:ext>
            </a:extLst>
          </p:cNvPr>
          <p:cNvSpPr txBox="1"/>
          <p:nvPr/>
        </p:nvSpPr>
        <p:spPr>
          <a:xfrm>
            <a:off x="14924504" y="20045261"/>
            <a:ext cx="9406546" cy="830997"/>
          </a:xfrm>
          <a:prstGeom prst="rect">
            <a:avLst/>
          </a:prstGeom>
          <a:noFill/>
        </p:spPr>
        <p:txBody>
          <a:bodyPr wrap="square" lIns="91440" tIns="45720" rIns="91440" bIns="45720" rtlCol="0" anchor="t">
            <a:spAutoFit/>
          </a:bodyPr>
          <a:lstStyle>
            <a:defPPr>
              <a:defRPr kern="1200"/>
            </a:defPPr>
          </a:lstStyle>
          <a:p>
            <a:pPr algn="just"/>
            <a:r>
              <a:rPr lang="en-US" sz="2400" b="0" dirty="0">
                <a:solidFill>
                  <a:schemeClr val="tx1"/>
                </a:solidFill>
                <a:ea typeface="Open Sans"/>
                <a:cs typeface="Arial"/>
              </a:rPr>
              <a:t>Figure 3. Rectal suction biopsy showing absence of ganglion cells in the distal segment of colon and hypertrophic nerves (yellow arrows)</a:t>
            </a:r>
            <a:endParaRPr lang="en-US" sz="2400" dirty="0">
              <a:solidFill>
                <a:schemeClr val="tx1"/>
              </a:solidFill>
            </a:endParaRPr>
          </a:p>
        </p:txBody>
      </p:sp>
      <p:sp>
        <p:nvSpPr>
          <p:cNvPr id="9" name="Rectangle 167">
            <a:extLst>
              <a:ext uri="{FF2B5EF4-FFF2-40B4-BE49-F238E27FC236}">
                <a16:creationId xmlns:a16="http://schemas.microsoft.com/office/drawing/2014/main" id="{00226BF6-2B08-28AB-F0AF-8D4222E7EA4D}"/>
              </a:ext>
            </a:extLst>
          </p:cNvPr>
          <p:cNvSpPr>
            <a:spLocks noChangeArrowheads="1"/>
          </p:cNvSpPr>
          <p:nvPr/>
        </p:nvSpPr>
        <p:spPr bwMode="auto">
          <a:xfrm>
            <a:off x="24741241" y="19755208"/>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dirty="0">
                <a:solidFill>
                  <a:schemeClr val="bg1"/>
                </a:solidFill>
                <a:latin typeface="Nunito"/>
              </a:rPr>
              <a:t>References</a:t>
            </a:r>
            <a:endParaRPr lang="en-US" sz="2400" dirty="0">
              <a:solidFill>
                <a:schemeClr val="bg1"/>
              </a:solidFill>
              <a:latin typeface="Nunito" panose="00000500000000000000" pitchFamily="2" charset="0"/>
            </a:endParaRPr>
          </a:p>
        </p:txBody>
      </p:sp>
      <p:sp>
        <p:nvSpPr>
          <p:cNvPr id="11" name="TextBox 10">
            <a:extLst>
              <a:ext uri="{FF2B5EF4-FFF2-40B4-BE49-F238E27FC236}">
                <a16:creationId xmlns:a16="http://schemas.microsoft.com/office/drawing/2014/main" id="{EC42E311-4B9A-60FD-B5E4-8B1279FE1485}"/>
              </a:ext>
            </a:extLst>
          </p:cNvPr>
          <p:cNvSpPr txBox="1"/>
          <p:nvPr/>
        </p:nvSpPr>
        <p:spPr>
          <a:xfrm>
            <a:off x="24741241" y="20437450"/>
            <a:ext cx="4820777" cy="584775"/>
          </a:xfrm>
          <a:prstGeom prst="rect">
            <a:avLst/>
          </a:prstGeom>
          <a:noFill/>
        </p:spPr>
        <p:txBody>
          <a:bodyPr wrap="square">
            <a:spAutoFit/>
          </a:bodyPr>
          <a:lstStyle/>
          <a:p>
            <a:pPr indent="-142" algn="l"/>
            <a:r>
              <a:rPr lang="en-US" sz="3200" b="0" dirty="0">
                <a:solidFill>
                  <a:srgbClr val="1A1C1E"/>
                </a:solidFill>
                <a:ea typeface="Open Sans"/>
              </a:rPr>
              <a:t>Available upon request</a:t>
            </a:r>
          </a:p>
        </p:txBody>
      </p:sp>
      <p:pic>
        <p:nvPicPr>
          <p:cNvPr id="2051" name="Picture 2050" descr="22C.png"/>
          <p:cNvPicPr>
            <a:picLocks noChangeAspect="1"/>
          </p:cNvPicPr>
          <p:nvPr/>
        </p:nvPicPr>
        <p:blipFill>
          <a:blip r:embed="rId5"/>
          <a:stretch>
            <a:fillRect/>
          </a:stretch>
        </p:blipFill>
        <p:spPr>
          <a:xfrm>
            <a:off x="29279088" y="832104"/>
            <a:ext cx="2103120" cy="310896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ceptualpewter|08-2022"/>
</p:tagLst>
</file>

<file path=ppt/theme/theme1.xml><?xml version="1.0" encoding="utf-8"?>
<a:theme xmlns:a="http://schemas.openxmlformats.org/drawingml/2006/main" name="Default Desig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spDef>
    <a:ln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746</Words>
  <Application>Microsoft Macintosh PowerPoint</Application>
  <PresentationFormat>Custom</PresentationFormat>
  <Paragraphs>56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Courier New</vt:lpstr>
      <vt:lpstr>Open Sans</vt:lpstr>
      <vt:lpstr>Nunito</vt:lpstr>
      <vt:lpstr>Courier New,monospace</vt:lpstr>
      <vt:lpstr>Arial</vt:lpstr>
      <vt:lpstr>Arial,Sans-Serif</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Free Research Poster</dc:subject>
  <dc:creator>Graphicsland/MakeSigns.com</dc:creator>
  <cp:keywords>scientific, research, template, custom, poster, presentation, symposium, printing, PowerPoint, create, design, example, sample, download</cp:keywords>
  <dc:description>These templates are offered for free to help your create a poster ranging from nursing research posters to psychology research posters.</dc:description>
  <cp:lastModifiedBy>Phil Kim</cp:lastModifiedBy>
  <cp:revision>15</cp:revision>
  <dcterms:modified xsi:type="dcterms:W3CDTF">2025-05-03T18:11:11Z</dcterms:modified>
  <cp:category>science research poster</cp:category>
</cp:coreProperties>
</file>