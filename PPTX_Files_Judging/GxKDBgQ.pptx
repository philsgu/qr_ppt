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2" roundtripDataSignature="AMtx7miUh4sqYtWYXbNXQZtVQC6ckJuBZ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A404FE5-F779-410F-B927-1B0E9BF7FB39}">
  <a:tblStyle styleId="{6A404FE5-F779-410F-B927-1B0E9BF7FB39}"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5"/>
    <p:restoredTop sz="94694"/>
  </p:normalViewPr>
  <p:slideViewPr>
    <p:cSldViewPr snapToGrid="0">
      <p:cViewPr>
        <p:scale>
          <a:sx n="19" d="100"/>
          <a:sy n="19" d="100"/>
        </p:scale>
        <p:origin x="1160" y="1440"/>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12" Type="http://customschemas.google.com/relationships/presentationmetadata" Target="metadata"/><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7"/>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7"/>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0"/>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a:spLocks noGrp="1"/>
          </p:cNvSpPr>
          <p:nvPr>
            <p:ph type="pic" idx="2"/>
          </p:nvPr>
        </p:nvSpPr>
        <p:spPr>
          <a:xfrm>
            <a:off x="13994608" y="3159765"/>
            <a:ext cx="16664940" cy="15595600"/>
          </a:xfrm>
          <a:prstGeom prst="rect">
            <a:avLst/>
          </a:prstGeom>
          <a:noFill/>
          <a:ln>
            <a:noFill/>
          </a:ln>
        </p:spPr>
      </p:sp>
      <p:sp>
        <p:nvSpPr>
          <p:cNvPr id="68" name="Google Shape;68;p11"/>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2"/>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3"/>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dx.doi.org/10.5888/pcd21.240005" TargetMode="External"/><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Shape 88"/>
        <p:cNvGrpSpPr/>
        <p:nvPr/>
      </p:nvGrpSpPr>
      <p:grpSpPr>
        <a:xfrm>
          <a:off x="0" y="0"/>
          <a:ext cx="0" cy="0"/>
          <a:chOff x="0" y="0"/>
          <a:chExt cx="0" cy="0"/>
        </a:xfrm>
      </p:grpSpPr>
      <p:pic>
        <p:nvPicPr>
          <p:cNvPr id="89" name="Google Shape;89;p1"/>
          <p:cNvPicPr preferRelativeResize="0"/>
          <p:nvPr/>
        </p:nvPicPr>
        <p:blipFill rotWithShape="1">
          <a:blip r:embed="rId3">
            <a:alphaModFix amt="90000"/>
          </a:blip>
          <a:srcRect/>
          <a:stretch/>
        </p:blipFill>
        <p:spPr>
          <a:xfrm>
            <a:off x="0" y="0"/>
            <a:ext cx="32918400" cy="21940370"/>
          </a:xfrm>
          <a:prstGeom prst="rect">
            <a:avLst/>
          </a:prstGeom>
          <a:solidFill>
            <a:schemeClr val="accent1"/>
          </a:solidFill>
          <a:ln>
            <a:noFill/>
          </a:ln>
        </p:spPr>
      </p:pic>
      <p:grpSp>
        <p:nvGrpSpPr>
          <p:cNvPr id="2" name="Group 1">
            <a:extLst>
              <a:ext uri="{FF2B5EF4-FFF2-40B4-BE49-F238E27FC236}">
                <a16:creationId xmlns:a16="http://schemas.microsoft.com/office/drawing/2014/main" id="{CB564556-580B-C246-ADED-4D4EEEA42262}"/>
              </a:ext>
            </a:extLst>
          </p:cNvPr>
          <p:cNvGrpSpPr/>
          <p:nvPr/>
        </p:nvGrpSpPr>
        <p:grpSpPr>
          <a:xfrm>
            <a:off x="606295" y="543535"/>
            <a:ext cx="31854905" cy="21036306"/>
            <a:chOff x="2499360" y="543535"/>
            <a:chExt cx="28064140" cy="21252448"/>
          </a:xfrm>
        </p:grpSpPr>
        <p:sp>
          <p:nvSpPr>
            <p:cNvPr id="90" name="Google Shape;90;p1"/>
            <p:cNvSpPr/>
            <p:nvPr/>
          </p:nvSpPr>
          <p:spPr>
            <a:xfrm>
              <a:off x="2499360" y="12043991"/>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rPr>
                <a:t>Methods</a:t>
              </a:r>
              <a:endParaRPr sz="933"/>
            </a:p>
          </p:txBody>
        </p:sp>
        <p:sp>
          <p:nvSpPr>
            <p:cNvPr id="91" name="Google Shape;91;p1"/>
            <p:cNvSpPr/>
            <p:nvPr/>
          </p:nvSpPr>
          <p:spPr>
            <a:xfrm>
              <a:off x="2499367" y="13066983"/>
              <a:ext cx="8839200" cy="8729000"/>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1100"/>
              </a:pPr>
              <a:r>
                <a:rPr lang="en-US" sz="2467" b="1">
                  <a:solidFill>
                    <a:schemeClr val="dk1"/>
                  </a:solidFill>
                </a:rPr>
                <a:t>Baseline Assessment:</a:t>
              </a:r>
              <a:br>
                <a:rPr lang="en-US" sz="2467" b="1">
                  <a:solidFill>
                    <a:schemeClr val="dk1"/>
                  </a:solidFill>
                </a:rPr>
              </a:br>
              <a:r>
                <a:rPr lang="en-US" sz="2467">
                  <a:solidFill>
                    <a:schemeClr val="dk1"/>
                  </a:solidFill>
                </a:rPr>
                <a:t>A retrospective chart review of 50 adult asthma visits conducted between February 2024 and February 2025 evaluated the presence of documented AAPs, asthma severity classification (intermittent to severe persistent), and evidence of patient education, particularly the teach-back method.</a:t>
              </a:r>
              <a:endParaRPr sz="2467">
                <a:solidFill>
                  <a:schemeClr val="dk1"/>
                </a:solidFill>
              </a:endParaRPr>
            </a:p>
            <a:p>
              <a:pPr>
                <a:spcBef>
                  <a:spcPts val="800"/>
                </a:spcBef>
                <a:buClr>
                  <a:schemeClr val="dk1"/>
                </a:buClr>
                <a:buSzPts val="1100"/>
              </a:pPr>
              <a:r>
                <a:rPr lang="en-US" sz="2467" b="1">
                  <a:solidFill>
                    <a:schemeClr val="dk1"/>
                  </a:solidFill>
                </a:rPr>
                <a:t>Interventions:</a:t>
              </a:r>
              <a:br>
                <a:rPr lang="en-US" sz="2467" b="1">
                  <a:solidFill>
                    <a:schemeClr val="dk1"/>
                  </a:solidFill>
                </a:rPr>
              </a:br>
              <a:r>
                <a:rPr lang="en-US" sz="2467">
                  <a:solidFill>
                    <a:schemeClr val="dk1"/>
                  </a:solidFill>
                </a:rPr>
                <a:t>Two key interventions were introduced over a 4-week period:</a:t>
              </a:r>
              <a:endParaRPr sz="2467">
                <a:solidFill>
                  <a:schemeClr val="dk1"/>
                </a:solidFill>
              </a:endParaRPr>
            </a:p>
            <a:p>
              <a:pPr marL="457223" indent="-309049">
                <a:spcBef>
                  <a:spcPts val="800"/>
                </a:spcBef>
                <a:buClr>
                  <a:schemeClr val="dk1"/>
                </a:buClr>
                <a:buSzPts val="3700"/>
                <a:buAutoNum type="arabicPeriod"/>
              </a:pPr>
              <a:r>
                <a:rPr lang="en-US" sz="2467" b="1">
                  <a:solidFill>
                    <a:schemeClr val="dk1"/>
                  </a:solidFill>
                </a:rPr>
                <a:t>AAP Implementation – PDSA Cycle 1:</a:t>
              </a:r>
              <a:endParaRPr sz="2467" b="1">
                <a:solidFill>
                  <a:schemeClr val="dk1"/>
                </a:solidFill>
              </a:endParaRPr>
            </a:p>
            <a:p>
              <a:pPr marL="609630" lvl="1" indent="-309049">
                <a:spcBef>
                  <a:spcPts val="800"/>
                </a:spcBef>
                <a:buClr>
                  <a:schemeClr val="dk1"/>
                </a:buClr>
                <a:buSzPts val="3700"/>
                <a:buChar char="○"/>
              </a:pPr>
              <a:r>
                <a:rPr lang="en-US" sz="2467">
                  <a:solidFill>
                    <a:schemeClr val="dk1"/>
                  </a:solidFill>
                </a:rPr>
                <a:t>Weekly educational emails emphasized the importance of AAPs and guideline-based asthma management.</a:t>
              </a:r>
              <a:endParaRPr sz="2467">
                <a:solidFill>
                  <a:schemeClr val="dk1"/>
                </a:solidFill>
              </a:endParaRPr>
            </a:p>
            <a:p>
              <a:pPr marL="609630" lvl="1" indent="-309049">
                <a:buClr>
                  <a:schemeClr val="dk1"/>
                </a:buClr>
                <a:buSzPts val="3700"/>
                <a:buChar char="○"/>
              </a:pPr>
              <a:r>
                <a:rPr lang="en-US" sz="2467">
                  <a:solidFill>
                    <a:schemeClr val="dk1"/>
                  </a:solidFill>
                </a:rPr>
                <a:t>Printed AAP templates were distributed across clinic workspaces to facilitate real-time use.</a:t>
              </a:r>
              <a:endParaRPr sz="2467">
                <a:solidFill>
                  <a:schemeClr val="dk1"/>
                </a:solidFill>
              </a:endParaRPr>
            </a:p>
            <a:p>
              <a:pPr marL="609630" lvl="1" indent="-309049">
                <a:buClr>
                  <a:schemeClr val="dk1"/>
                </a:buClr>
                <a:buSzPts val="3700"/>
                <a:buChar char="○"/>
              </a:pPr>
              <a:r>
                <a:rPr lang="en-US" sz="2467">
                  <a:solidFill>
                    <a:schemeClr val="dk1"/>
                  </a:solidFill>
                </a:rPr>
                <a:t>The teach-back method was encouraged to ensure patient understanding during education.</a:t>
              </a:r>
              <a:endParaRPr sz="2467">
                <a:solidFill>
                  <a:schemeClr val="dk1"/>
                </a:solidFill>
              </a:endParaRPr>
            </a:p>
            <a:p>
              <a:pPr marL="457223" indent="-309049">
                <a:buClr>
                  <a:schemeClr val="dk1"/>
                </a:buClr>
                <a:buSzPts val="3700"/>
                <a:buAutoNum type="arabicPeriod"/>
              </a:pPr>
              <a:r>
                <a:rPr lang="en-US" sz="2467" b="1">
                  <a:solidFill>
                    <a:schemeClr val="dk1"/>
                  </a:solidFill>
                </a:rPr>
                <a:t>Documentation Standardization:</a:t>
              </a:r>
              <a:endParaRPr sz="2467" b="1">
                <a:solidFill>
                  <a:schemeClr val="dk1"/>
                </a:solidFill>
              </a:endParaRPr>
            </a:p>
            <a:p>
              <a:pPr marL="609630" lvl="1" indent="-309049">
                <a:buClr>
                  <a:schemeClr val="dk1"/>
                </a:buClr>
                <a:buSzPts val="3700"/>
                <a:buChar char="○"/>
              </a:pPr>
              <a:r>
                <a:rPr lang="en-US" sz="2467">
                  <a:solidFill>
                    <a:schemeClr val="dk1"/>
                  </a:solidFill>
                </a:rPr>
                <a:t>A smart phrase </a:t>
              </a:r>
              <a:r>
                <a:rPr lang="en-US" sz="2467">
                  <a:solidFill>
                    <a:srgbClr val="188038"/>
                  </a:solidFill>
                </a:rPr>
                <a:t>.ASTHMAACTIONPLAN</a:t>
              </a:r>
              <a:r>
                <a:rPr lang="en-US" sz="2467">
                  <a:solidFill>
                    <a:schemeClr val="dk1"/>
                  </a:solidFill>
                </a:rPr>
                <a:t> was created in the EPIC EMR to standardize charting, including asthma severity, control level, management steps, and follow-up.</a:t>
              </a:r>
              <a:endParaRPr sz="2467">
                <a:solidFill>
                  <a:schemeClr val="dk1"/>
                </a:solidFill>
              </a:endParaRPr>
            </a:p>
            <a:p>
              <a:pPr marL="609630" lvl="1" indent="-309049">
                <a:spcAft>
                  <a:spcPts val="800"/>
                </a:spcAft>
                <a:buClr>
                  <a:schemeClr val="dk1"/>
                </a:buClr>
                <a:buSzPts val="3700"/>
                <a:buChar char="○"/>
              </a:pPr>
              <a:r>
                <a:rPr lang="en-US" sz="2467">
                  <a:solidFill>
                    <a:schemeClr val="dk1"/>
                  </a:solidFill>
                </a:rPr>
                <a:t>Residents received weekly reminders and documentation tips to reinforce usage.</a:t>
              </a:r>
              <a:endParaRPr sz="2467">
                <a:solidFill>
                  <a:srgbClr val="222222"/>
                </a:solidFill>
              </a:endParaRPr>
            </a:p>
          </p:txBody>
        </p:sp>
        <p:sp>
          <p:nvSpPr>
            <p:cNvPr id="92" name="Google Shape;92;p1"/>
            <p:cNvSpPr/>
            <p:nvPr/>
          </p:nvSpPr>
          <p:spPr>
            <a:xfrm>
              <a:off x="2560327" y="3970835"/>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rPr>
                <a:t>Introduction</a:t>
              </a:r>
              <a:endParaRPr sz="933"/>
            </a:p>
          </p:txBody>
        </p:sp>
        <p:sp>
          <p:nvSpPr>
            <p:cNvPr id="93" name="Google Shape;93;p1"/>
            <p:cNvSpPr/>
            <p:nvPr/>
          </p:nvSpPr>
          <p:spPr>
            <a:xfrm>
              <a:off x="2499360" y="543535"/>
              <a:ext cx="27919680" cy="326136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4" name="Google Shape;94;p1"/>
            <p:cNvSpPr/>
            <p:nvPr/>
          </p:nvSpPr>
          <p:spPr>
            <a:xfrm>
              <a:off x="4445853" y="933570"/>
              <a:ext cx="24039800" cy="933600"/>
            </a:xfrm>
            <a:prstGeom prst="rect">
              <a:avLst/>
            </a:prstGeom>
            <a:noFill/>
            <a:ln>
              <a:noFill/>
            </a:ln>
          </p:spPr>
          <p:txBody>
            <a:bodyPr spcFirstLastPara="1" wrap="square" lIns="60950" tIns="30467" rIns="60950" bIns="30467" anchor="t" anchorCtr="0">
              <a:noAutofit/>
            </a:bodyPr>
            <a:lstStyle/>
            <a:p>
              <a:pPr algn="ctr">
                <a:buSzPts val="8500"/>
              </a:pPr>
              <a:r>
                <a:rPr lang="en-US" sz="4534" b="1" dirty="0">
                  <a:solidFill>
                    <a:schemeClr val="lt1"/>
                  </a:solidFill>
                </a:rPr>
                <a:t>Breath by Breath: A Dual-Intervention Quality Initiative </a:t>
              </a:r>
            </a:p>
            <a:p>
              <a:pPr algn="ctr">
                <a:buSzPts val="8500"/>
              </a:pPr>
              <a:r>
                <a:rPr lang="en-US" sz="4534" b="1" dirty="0">
                  <a:solidFill>
                    <a:schemeClr val="lt1"/>
                  </a:solidFill>
                </a:rPr>
                <a:t>to Enhance Asthma Care Through Action Plans and Documentation</a:t>
              </a:r>
              <a:endParaRPr sz="4534" dirty="0"/>
            </a:p>
          </p:txBody>
        </p:sp>
        <p:sp>
          <p:nvSpPr>
            <p:cNvPr id="95" name="Google Shape;95;p1"/>
            <p:cNvSpPr/>
            <p:nvPr/>
          </p:nvSpPr>
          <p:spPr>
            <a:xfrm>
              <a:off x="4760020" y="2469009"/>
              <a:ext cx="24039800" cy="1159600"/>
            </a:xfrm>
            <a:prstGeom prst="rect">
              <a:avLst/>
            </a:prstGeom>
            <a:noFill/>
            <a:ln>
              <a:noFill/>
            </a:ln>
          </p:spPr>
          <p:txBody>
            <a:bodyPr spcFirstLastPara="1" wrap="square" lIns="60950" tIns="30467" rIns="60950" bIns="30467" anchor="t" anchorCtr="0">
              <a:noAutofit/>
            </a:bodyPr>
            <a:lstStyle/>
            <a:p>
              <a:pPr algn="ctr">
                <a:buSzPts val="6000"/>
              </a:pPr>
              <a:r>
                <a:rPr lang="en-US" sz="3200" dirty="0">
                  <a:solidFill>
                    <a:schemeClr val="lt1"/>
                  </a:solidFill>
                  <a:latin typeface="Helvetica Neue"/>
                  <a:ea typeface="Helvetica Neue"/>
                  <a:cs typeface="Helvetica Neue"/>
                  <a:sym typeface="Helvetica Neue"/>
                </a:rPr>
                <a:t>Ayesha Shahzad MD, Hamna Javed MD, Mahwish Sheikh MD, Aftab Arif MD, Andrew Clark MD, Anupama </a:t>
              </a:r>
              <a:r>
                <a:rPr lang="en-US" sz="3200" dirty="0" err="1">
                  <a:solidFill>
                    <a:schemeClr val="lt1"/>
                  </a:solidFill>
                  <a:latin typeface="Helvetica Neue"/>
                  <a:ea typeface="Helvetica Neue"/>
                  <a:cs typeface="Helvetica Neue"/>
                  <a:sym typeface="Helvetica Neue"/>
                </a:rPr>
                <a:t>Poliyedath</a:t>
              </a:r>
              <a:r>
                <a:rPr lang="en-US" sz="3200" dirty="0">
                  <a:solidFill>
                    <a:schemeClr val="lt1"/>
                  </a:solidFill>
                  <a:latin typeface="Helvetica Neue"/>
                  <a:ea typeface="Helvetica Neue"/>
                  <a:cs typeface="Helvetica Neue"/>
                  <a:sym typeface="Helvetica Neue"/>
                </a:rPr>
                <a:t> MD</a:t>
              </a:r>
              <a:endParaRPr sz="400" dirty="0"/>
            </a:p>
            <a:p>
              <a:pPr algn="ctr">
                <a:buSzPts val="5000"/>
              </a:pPr>
              <a:r>
                <a:rPr lang="en-US" sz="2400" i="1" dirty="0">
                  <a:solidFill>
                    <a:schemeClr val="lt1"/>
                  </a:solidFill>
                  <a:latin typeface="Helvetica Neue"/>
                  <a:ea typeface="Helvetica Neue"/>
                  <a:cs typeface="Helvetica Neue"/>
                  <a:sym typeface="Helvetica Neue"/>
                </a:rPr>
                <a:t>Saint Agnes Medical Center, Fresno, CA</a:t>
              </a:r>
              <a:endParaRPr sz="400" dirty="0"/>
            </a:p>
          </p:txBody>
        </p:sp>
        <p:sp>
          <p:nvSpPr>
            <p:cNvPr id="96" name="Google Shape;96;p1"/>
            <p:cNvSpPr/>
            <p:nvPr/>
          </p:nvSpPr>
          <p:spPr>
            <a:xfrm>
              <a:off x="21579840" y="3970618"/>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rPr>
                <a:t>Results</a:t>
              </a:r>
              <a:endParaRPr sz="933"/>
            </a:p>
          </p:txBody>
        </p:sp>
        <p:sp>
          <p:nvSpPr>
            <p:cNvPr id="97" name="Google Shape;97;p1"/>
            <p:cNvSpPr/>
            <p:nvPr/>
          </p:nvSpPr>
          <p:spPr>
            <a:xfrm>
              <a:off x="21715440" y="18008879"/>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References</a:t>
              </a:r>
              <a:endParaRPr sz="933"/>
            </a:p>
          </p:txBody>
        </p:sp>
        <p:sp>
          <p:nvSpPr>
            <p:cNvPr id="98" name="Google Shape;98;p1"/>
            <p:cNvSpPr/>
            <p:nvPr/>
          </p:nvSpPr>
          <p:spPr>
            <a:xfrm>
              <a:off x="21724300" y="19247367"/>
              <a:ext cx="8839200" cy="2318800"/>
            </a:xfrm>
            <a:prstGeom prst="rect">
              <a:avLst/>
            </a:prstGeom>
            <a:solidFill>
              <a:schemeClr val="lt1">
                <a:alpha val="48627"/>
              </a:schemeClr>
            </a:solidFill>
            <a:ln>
              <a:noFill/>
            </a:ln>
          </p:spPr>
          <p:txBody>
            <a:bodyPr spcFirstLastPara="1" wrap="square" lIns="60950" tIns="30467" rIns="60950" bIns="30467" anchor="ctr" anchorCtr="0">
              <a:noAutofit/>
            </a:bodyPr>
            <a:lstStyle/>
            <a:p>
              <a:pPr marL="304815" indent="-237079">
                <a:lnSpc>
                  <a:spcPct val="115000"/>
                </a:lnSpc>
                <a:buClr>
                  <a:srgbClr val="222222"/>
                </a:buClr>
                <a:buSzPts val="2000"/>
                <a:buFont typeface="Arial"/>
                <a:buAutoNum type="arabicPeriod"/>
              </a:pPr>
              <a:r>
                <a:rPr lang="en-US" sz="1333">
                  <a:solidFill>
                    <a:srgbClr val="222222"/>
                  </a:solidFill>
                  <a:highlight>
                    <a:srgbClr val="FFFFFF"/>
                  </a:highlight>
                </a:rPr>
                <a:t>National Asthma Education and Prevention Program. </a:t>
              </a:r>
              <a:r>
                <a:rPr lang="en-US" sz="1333" i="1">
                  <a:solidFill>
                    <a:srgbClr val="222222"/>
                  </a:solidFill>
                  <a:highlight>
                    <a:srgbClr val="FFFFFF"/>
                  </a:highlight>
                </a:rPr>
                <a:t>EPR-3 Guidelines for the Diagnosis and Management of Asthma</a:t>
              </a:r>
              <a:r>
                <a:rPr lang="en-US" sz="1333">
                  <a:solidFill>
                    <a:srgbClr val="222222"/>
                  </a:solidFill>
                  <a:highlight>
                    <a:srgbClr val="FFFFFF"/>
                  </a:highlight>
                </a:rPr>
                <a:t>.</a:t>
              </a:r>
              <a:endParaRPr sz="1333">
                <a:solidFill>
                  <a:srgbClr val="222222"/>
                </a:solidFill>
                <a:highlight>
                  <a:srgbClr val="FFFFFF"/>
                </a:highlight>
              </a:endParaRPr>
            </a:p>
            <a:p>
              <a:pPr marL="304815" indent="-237079">
                <a:lnSpc>
                  <a:spcPct val="115000"/>
                </a:lnSpc>
                <a:buClr>
                  <a:srgbClr val="222222"/>
                </a:buClr>
                <a:buSzPts val="2000"/>
                <a:buFont typeface="Arial"/>
                <a:buAutoNum type="arabicPeriod"/>
              </a:pPr>
              <a:r>
                <a:rPr lang="en-US" sz="1333">
                  <a:solidFill>
                    <a:srgbClr val="222222"/>
                  </a:solidFill>
                  <a:highlight>
                    <a:srgbClr val="FFFFFF"/>
                  </a:highlight>
                </a:rPr>
                <a:t>NHLBI, 2007 Cloutier MM, et al. </a:t>
              </a:r>
              <a:r>
                <a:rPr lang="en-US" sz="1333" i="1">
                  <a:solidFill>
                    <a:srgbClr val="222222"/>
                  </a:solidFill>
                  <a:highlight>
                    <a:srgbClr val="FFFFFF"/>
                  </a:highlight>
                </a:rPr>
                <a:t>Pediatrics</a:t>
              </a:r>
              <a:r>
                <a:rPr lang="en-US" sz="1333">
                  <a:solidFill>
                    <a:srgbClr val="222222"/>
                  </a:solidFill>
                  <a:highlight>
                    <a:srgbClr val="FFFFFF"/>
                  </a:highlight>
                </a:rPr>
                <a:t>. 2020;146(6):e2020062345.</a:t>
              </a:r>
              <a:endParaRPr sz="1333">
                <a:solidFill>
                  <a:srgbClr val="222222"/>
                </a:solidFill>
                <a:highlight>
                  <a:srgbClr val="FFFFFF"/>
                </a:highlight>
              </a:endParaRPr>
            </a:p>
            <a:p>
              <a:pPr marL="304815" indent="-237079">
                <a:lnSpc>
                  <a:spcPct val="115000"/>
                </a:lnSpc>
                <a:buClr>
                  <a:srgbClr val="222222"/>
                </a:buClr>
                <a:buSzPts val="2000"/>
                <a:buFont typeface="Arial"/>
                <a:buAutoNum type="arabicPeriod"/>
              </a:pPr>
              <a:r>
                <a:rPr lang="en-US" sz="1333">
                  <a:solidFill>
                    <a:srgbClr val="222222"/>
                  </a:solidFill>
                  <a:highlight>
                    <a:srgbClr val="FFFFFF"/>
                  </a:highlight>
                </a:rPr>
                <a:t>Boston Children’s Hospital. </a:t>
              </a:r>
              <a:r>
                <a:rPr lang="en-US" sz="1333" i="1">
                  <a:solidFill>
                    <a:srgbClr val="222222"/>
                  </a:solidFill>
                  <a:highlight>
                    <a:srgbClr val="FFFFFF"/>
                  </a:highlight>
                </a:rPr>
                <a:t>Pediatr Qual Saf</a:t>
              </a:r>
              <a:r>
                <a:rPr lang="en-US" sz="1333">
                  <a:solidFill>
                    <a:srgbClr val="222222"/>
                  </a:solidFill>
                  <a:highlight>
                    <a:srgbClr val="FFFFFF"/>
                  </a:highlight>
                </a:rPr>
                <a:t>. 2023;8(2):e607. doi:10.1097/pq9.0000000000000607.</a:t>
              </a:r>
              <a:endParaRPr sz="1333">
                <a:solidFill>
                  <a:srgbClr val="222222"/>
                </a:solidFill>
                <a:highlight>
                  <a:srgbClr val="FFFFFF"/>
                </a:highlight>
              </a:endParaRPr>
            </a:p>
            <a:p>
              <a:pPr marL="304815" indent="-237079">
                <a:lnSpc>
                  <a:spcPct val="115000"/>
                </a:lnSpc>
                <a:buClr>
                  <a:srgbClr val="222222"/>
                </a:buClr>
                <a:buSzPts val="2000"/>
                <a:buFont typeface="Arial"/>
                <a:buAutoNum type="arabicPeriod"/>
              </a:pPr>
              <a:r>
                <a:rPr lang="en-US" sz="1333">
                  <a:solidFill>
                    <a:srgbClr val="222222"/>
                  </a:solidFill>
                  <a:highlight>
                    <a:srgbClr val="FFFFFF"/>
                  </a:highlight>
                </a:rPr>
                <a:t>Pate CA, Zahran HS. The Status of Asthma in the United States. Prev Chronic Dis 2024;21:240005. DOI: </a:t>
              </a:r>
              <a:r>
                <a:rPr lang="en-US" sz="1333" u="sng">
                  <a:solidFill>
                    <a:srgbClr val="1155CC"/>
                  </a:solidFill>
                  <a:highlight>
                    <a:srgbClr val="FFFFFF"/>
                  </a:highlight>
                  <a:hlinkClick r:id="rId4">
                    <a:extLst>
                      <a:ext uri="{A12FA001-AC4F-418D-AE19-62706E023703}">
                        <ahyp:hlinkClr xmlns:ahyp="http://schemas.microsoft.com/office/drawing/2018/hyperlinkcolor" val="tx"/>
                      </a:ext>
                    </a:extLst>
                  </a:hlinkClick>
                </a:rPr>
                <a:t>http://dx.doi.org/10.5888/pcd21.240005</a:t>
              </a:r>
              <a:endParaRPr sz="1333">
                <a:solidFill>
                  <a:srgbClr val="222222"/>
                </a:solidFill>
                <a:highlight>
                  <a:srgbClr val="FFFFFF"/>
                </a:highlight>
              </a:endParaRPr>
            </a:p>
            <a:p>
              <a:pPr marL="304815" indent="-237079">
                <a:lnSpc>
                  <a:spcPct val="115000"/>
                </a:lnSpc>
                <a:buClr>
                  <a:srgbClr val="222222"/>
                </a:buClr>
                <a:buSzPts val="2000"/>
                <a:buFont typeface="Arial"/>
                <a:buAutoNum type="arabicPeriod"/>
              </a:pPr>
              <a:r>
                <a:rPr lang="en-US" sz="1333">
                  <a:solidFill>
                    <a:srgbClr val="222222"/>
                  </a:solidFill>
                  <a:highlight>
                    <a:srgbClr val="FFFFFF"/>
                  </a:highlight>
                </a:rPr>
                <a:t>To T, Stanojevic S, Moores G, Gershon AS, Bateman ED, Cruz AA, Boulet LP. Global asthma prevalence in adults: findings from the cross-sectional world health survey. BMC Public Health. 2012 Mar 19;12:204. doi: 10.1186/1471-2458-12-204. Erratum in: BMC Public Health. 2021 Oct 8;21(1):1809. doi: 10.1186/s12889-021-11859-6. PMID: 22429515; PMCID: PMC3353191.</a:t>
              </a:r>
              <a:endParaRPr sz="1333">
                <a:solidFill>
                  <a:srgbClr val="222222"/>
                </a:solidFill>
                <a:highlight>
                  <a:srgbClr val="FFFFFF"/>
                </a:highlight>
              </a:endParaRPr>
            </a:p>
            <a:p>
              <a:pPr>
                <a:lnSpc>
                  <a:spcPct val="115000"/>
                </a:lnSpc>
                <a:buClr>
                  <a:schemeClr val="dk1"/>
                </a:buClr>
                <a:buSzPts val="1100"/>
              </a:pPr>
              <a:endParaRPr sz="1333">
                <a:solidFill>
                  <a:schemeClr val="dk1"/>
                </a:solidFill>
              </a:endParaRPr>
            </a:p>
          </p:txBody>
        </p:sp>
        <p:sp>
          <p:nvSpPr>
            <p:cNvPr id="99" name="Google Shape;99;p1"/>
            <p:cNvSpPr/>
            <p:nvPr/>
          </p:nvSpPr>
          <p:spPr>
            <a:xfrm>
              <a:off x="21579840" y="9971523"/>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rPr>
                <a:t>Discussion</a:t>
              </a:r>
              <a:endParaRPr sz="933"/>
            </a:p>
          </p:txBody>
        </p:sp>
        <p:pic>
          <p:nvPicPr>
            <p:cNvPr id="101" name="Google Shape;101;p1" title="output-3.png"/>
            <p:cNvPicPr preferRelativeResize="0"/>
            <p:nvPr/>
          </p:nvPicPr>
          <p:blipFill rotWithShape="1">
            <a:blip r:embed="rId5">
              <a:alphaModFix/>
            </a:blip>
            <a:srcRect/>
            <a:stretch/>
          </p:blipFill>
          <p:spPr>
            <a:xfrm>
              <a:off x="11667367" y="8749942"/>
              <a:ext cx="9749867" cy="5959574"/>
            </a:xfrm>
            <a:prstGeom prst="rect">
              <a:avLst/>
            </a:prstGeom>
            <a:noFill/>
            <a:ln>
              <a:noFill/>
            </a:ln>
          </p:spPr>
        </p:pic>
        <p:sp>
          <p:nvSpPr>
            <p:cNvPr id="102" name="Google Shape;102;p1"/>
            <p:cNvSpPr/>
            <p:nvPr/>
          </p:nvSpPr>
          <p:spPr>
            <a:xfrm>
              <a:off x="21583467" y="5203633"/>
              <a:ext cx="8839200" cy="4708400"/>
            </a:xfrm>
            <a:prstGeom prst="rect">
              <a:avLst/>
            </a:prstGeom>
            <a:solidFill>
              <a:schemeClr val="lt1"/>
            </a:solidFill>
            <a:ln>
              <a:noFill/>
            </a:ln>
          </p:spPr>
          <p:txBody>
            <a:bodyPr spcFirstLastPara="1" wrap="square" lIns="60950" tIns="30467" rIns="60950" bIns="30467" anchor="ctr" anchorCtr="0">
              <a:noAutofit/>
            </a:bodyPr>
            <a:lstStyle/>
            <a:p>
              <a:pPr>
                <a:spcBef>
                  <a:spcPts val="800"/>
                </a:spcBef>
                <a:buClr>
                  <a:schemeClr val="dk1"/>
                </a:buClr>
                <a:buSzPts val="1100"/>
              </a:pPr>
              <a:r>
                <a:rPr lang="en-US" sz="2267">
                  <a:solidFill>
                    <a:schemeClr val="dk1"/>
                  </a:solidFill>
                </a:rPr>
                <a:t>After 4 weeks, measurable improvements were observed:</a:t>
              </a:r>
              <a:endParaRPr sz="2267">
                <a:solidFill>
                  <a:schemeClr val="dk1"/>
                </a:solidFill>
              </a:endParaRPr>
            </a:p>
            <a:p>
              <a:pPr marL="304815" indent="-296348">
                <a:spcBef>
                  <a:spcPts val="800"/>
                </a:spcBef>
                <a:buClr>
                  <a:schemeClr val="dk1"/>
                </a:buClr>
                <a:buSzPts val="3400"/>
                <a:buChar char="●"/>
              </a:pPr>
              <a:r>
                <a:rPr lang="en-US" sz="2267" b="1">
                  <a:solidFill>
                    <a:schemeClr val="dk1"/>
                  </a:solidFill>
                </a:rPr>
                <a:t>AAP Utilization:</a:t>
              </a:r>
              <a:br>
                <a:rPr lang="en-US" sz="2267" b="1">
                  <a:solidFill>
                    <a:schemeClr val="dk1"/>
                  </a:solidFill>
                </a:rPr>
              </a:br>
              <a:r>
                <a:rPr lang="en-US" sz="2267">
                  <a:solidFill>
                    <a:schemeClr val="dk1"/>
                  </a:solidFill>
                </a:rPr>
                <a:t>Increased from </a:t>
              </a:r>
              <a:r>
                <a:rPr lang="en-US" sz="2267" b="1">
                  <a:solidFill>
                    <a:schemeClr val="dk1"/>
                  </a:solidFill>
                </a:rPr>
                <a:t>2%</a:t>
              </a:r>
              <a:r>
                <a:rPr lang="en-US" sz="2267">
                  <a:solidFill>
                    <a:schemeClr val="dk1"/>
                  </a:solidFill>
                </a:rPr>
                <a:t> to </a:t>
              </a:r>
              <a:r>
                <a:rPr lang="en-US" sz="2267" b="1">
                  <a:solidFill>
                    <a:schemeClr val="dk1"/>
                  </a:solidFill>
                </a:rPr>
                <a:t>78%</a:t>
              </a:r>
              <a:r>
                <a:rPr lang="en-US" sz="2267">
                  <a:solidFill>
                    <a:schemeClr val="dk1"/>
                  </a:solidFill>
                </a:rPr>
                <a:t> — the majority of patients received personalized printed plans.</a:t>
              </a:r>
              <a:endParaRPr sz="2267">
                <a:solidFill>
                  <a:schemeClr val="dk1"/>
                </a:solidFill>
              </a:endParaRPr>
            </a:p>
            <a:p>
              <a:pPr marL="304815" indent="-296348">
                <a:buClr>
                  <a:schemeClr val="dk1"/>
                </a:buClr>
                <a:buSzPts val="3400"/>
                <a:buChar char="●"/>
              </a:pPr>
              <a:r>
                <a:rPr lang="en-US" sz="2267" b="1">
                  <a:solidFill>
                    <a:schemeClr val="dk1"/>
                  </a:solidFill>
                </a:rPr>
                <a:t>Education Documentation:</a:t>
              </a:r>
              <a:br>
                <a:rPr lang="en-US" sz="2267" b="1">
                  <a:solidFill>
                    <a:schemeClr val="dk1"/>
                  </a:solidFill>
                </a:rPr>
              </a:br>
              <a:r>
                <a:rPr lang="en-US" sz="2267">
                  <a:solidFill>
                    <a:schemeClr val="dk1"/>
                  </a:solidFill>
                </a:rPr>
                <a:t>Improved from </a:t>
              </a:r>
              <a:r>
                <a:rPr lang="en-US" sz="2267" b="1">
                  <a:solidFill>
                    <a:schemeClr val="dk1"/>
                  </a:solidFill>
                </a:rPr>
                <a:t>2%</a:t>
              </a:r>
              <a:r>
                <a:rPr lang="en-US" sz="2267">
                  <a:solidFill>
                    <a:schemeClr val="dk1"/>
                  </a:solidFill>
                </a:rPr>
                <a:t> to </a:t>
              </a:r>
              <a:r>
                <a:rPr lang="en-US" sz="2267" b="1">
                  <a:solidFill>
                    <a:schemeClr val="dk1"/>
                  </a:solidFill>
                </a:rPr>
                <a:t>70%</a:t>
              </a:r>
              <a:r>
                <a:rPr lang="en-US" sz="2267">
                  <a:solidFill>
                    <a:schemeClr val="dk1"/>
                  </a:solidFill>
                </a:rPr>
                <a:t>, with better use of the teach-back method during counseling.</a:t>
              </a:r>
              <a:endParaRPr sz="2267">
                <a:solidFill>
                  <a:schemeClr val="dk1"/>
                </a:solidFill>
              </a:endParaRPr>
            </a:p>
            <a:p>
              <a:pPr marL="304815" indent="-296348">
                <a:buClr>
                  <a:schemeClr val="dk1"/>
                </a:buClr>
                <a:buSzPts val="3400"/>
                <a:buChar char="●"/>
              </a:pPr>
              <a:r>
                <a:rPr lang="en-US" sz="2267" b="1">
                  <a:solidFill>
                    <a:schemeClr val="dk1"/>
                  </a:solidFill>
                </a:rPr>
                <a:t>Severity Classification:</a:t>
              </a:r>
              <a:br>
                <a:rPr lang="en-US" sz="2267" b="1">
                  <a:solidFill>
                    <a:schemeClr val="dk1"/>
                  </a:solidFill>
                </a:rPr>
              </a:br>
              <a:r>
                <a:rPr lang="en-US" sz="2267">
                  <a:solidFill>
                    <a:schemeClr val="dk1"/>
                  </a:solidFill>
                </a:rPr>
                <a:t>Improved from </a:t>
              </a:r>
              <a:r>
                <a:rPr lang="en-US" sz="2267" b="1">
                  <a:solidFill>
                    <a:schemeClr val="dk1"/>
                  </a:solidFill>
                </a:rPr>
                <a:t>54%</a:t>
              </a:r>
              <a:r>
                <a:rPr lang="en-US" sz="2267">
                  <a:solidFill>
                    <a:schemeClr val="dk1"/>
                  </a:solidFill>
                </a:rPr>
                <a:t> to </a:t>
              </a:r>
              <a:r>
                <a:rPr lang="en-US" sz="2267" b="1">
                  <a:solidFill>
                    <a:schemeClr val="dk1"/>
                  </a:solidFill>
                </a:rPr>
                <a:t>93%</a:t>
              </a:r>
              <a:r>
                <a:rPr lang="en-US" sz="2267">
                  <a:solidFill>
                    <a:schemeClr val="dk1"/>
                  </a:solidFill>
                </a:rPr>
                <a:t>, reflecting increased resident awareness and documentation consistency.</a:t>
              </a:r>
              <a:endParaRPr sz="2267">
                <a:solidFill>
                  <a:schemeClr val="dk1"/>
                </a:solidFill>
              </a:endParaRPr>
            </a:p>
            <a:p>
              <a:pPr marL="304815" indent="-296348">
                <a:buClr>
                  <a:schemeClr val="dk1"/>
                </a:buClr>
                <a:buSzPts val="3400"/>
                <a:buChar char="●"/>
              </a:pPr>
              <a:r>
                <a:rPr lang="en-US" sz="2267" b="1">
                  <a:solidFill>
                    <a:schemeClr val="dk1"/>
                  </a:solidFill>
                </a:rPr>
                <a:t>Use of Smart Phrase:</a:t>
              </a:r>
              <a:br>
                <a:rPr lang="en-US" sz="2267" b="1">
                  <a:solidFill>
                    <a:schemeClr val="dk1"/>
                  </a:solidFill>
                </a:rPr>
              </a:br>
              <a:r>
                <a:rPr lang="en-US" sz="2267">
                  <a:solidFill>
                    <a:schemeClr val="dk1"/>
                  </a:solidFill>
                </a:rPr>
                <a:t>Increased from </a:t>
              </a:r>
              <a:r>
                <a:rPr lang="en-US" sz="2267" b="1">
                  <a:solidFill>
                    <a:schemeClr val="dk1"/>
                  </a:solidFill>
                </a:rPr>
                <a:t>32%</a:t>
              </a:r>
              <a:r>
                <a:rPr lang="en-US" sz="2267">
                  <a:solidFill>
                    <a:schemeClr val="dk1"/>
                  </a:solidFill>
                </a:rPr>
                <a:t> to </a:t>
              </a:r>
              <a:r>
                <a:rPr lang="en-US" sz="2267" b="1">
                  <a:solidFill>
                    <a:schemeClr val="dk1"/>
                  </a:solidFill>
                </a:rPr>
                <a:t>87%</a:t>
              </a:r>
              <a:r>
                <a:rPr lang="en-US" sz="2267">
                  <a:solidFill>
                    <a:schemeClr val="dk1"/>
                  </a:solidFill>
                </a:rPr>
                <a:t>, standardizing documentation and ensuring inclusion of severity, control level, and follow-up plans.</a:t>
              </a:r>
              <a:endParaRPr sz="2267">
                <a:solidFill>
                  <a:schemeClr val="dk1"/>
                </a:solidFill>
              </a:endParaRPr>
            </a:p>
            <a:p>
              <a:pPr>
                <a:spcBef>
                  <a:spcPts val="800"/>
                </a:spcBef>
                <a:buClr>
                  <a:schemeClr val="dk1"/>
                </a:buClr>
                <a:buSzPts val="1100"/>
              </a:pPr>
              <a:endParaRPr sz="2267">
                <a:solidFill>
                  <a:srgbClr val="222222"/>
                </a:solidFill>
              </a:endParaRPr>
            </a:p>
          </p:txBody>
        </p:sp>
        <p:sp>
          <p:nvSpPr>
            <p:cNvPr id="103" name="Google Shape;103;p1"/>
            <p:cNvSpPr/>
            <p:nvPr/>
          </p:nvSpPr>
          <p:spPr>
            <a:xfrm>
              <a:off x="21621100" y="11054100"/>
              <a:ext cx="8839200" cy="6898800"/>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1100"/>
              </a:pPr>
              <a:r>
                <a:rPr lang="en-US" sz="2400" dirty="0">
                  <a:solidFill>
                    <a:schemeClr val="dk1"/>
                  </a:solidFill>
                </a:rPr>
                <a:t>This dual-intervention quality improvement project demonstrated that simple, low-cost strategies—such as educational emails and EMR-integrated tools—can lead to significant improvements in both asthma care documentation and patient education. Weekly reminders and the use of a smart phrase (</a:t>
              </a:r>
              <a:r>
                <a:rPr lang="en-US" sz="2400" dirty="0">
                  <a:solidFill>
                    <a:srgbClr val="188038"/>
                  </a:solidFill>
                </a:rPr>
                <a:t>.ASTHMAACTIONPLAN</a:t>
              </a:r>
              <a:r>
                <a:rPr lang="en-US" sz="2400" dirty="0">
                  <a:solidFill>
                    <a:schemeClr val="dk1"/>
                  </a:solidFill>
                </a:rPr>
                <a:t>) promoted consistent classification of asthma severity and standardized charting, while printed AAP templates and the teach-back method improved patient engagement and understanding.</a:t>
              </a:r>
              <a:endParaRPr sz="2400" dirty="0">
                <a:solidFill>
                  <a:schemeClr val="dk1"/>
                </a:solidFill>
              </a:endParaRPr>
            </a:p>
            <a:p>
              <a:pPr>
                <a:buClr>
                  <a:schemeClr val="dk1"/>
                </a:buClr>
                <a:buSzPts val="1100"/>
              </a:pPr>
              <a:r>
                <a:rPr lang="en-US" sz="2400" dirty="0">
                  <a:solidFill>
                    <a:schemeClr val="dk1"/>
                  </a:solidFill>
                </a:rPr>
                <a:t>Residents quickly adopted the interventions, leading to measurable gains in documentation and clinical workflow. These findings align with previous QI initiatives and highlight the power of combining educational outreach with EMR optimization.</a:t>
              </a:r>
              <a:endParaRPr sz="2400" dirty="0">
                <a:solidFill>
                  <a:schemeClr val="dk1"/>
                </a:solidFill>
              </a:endParaRPr>
            </a:p>
            <a:p>
              <a:pPr>
                <a:buClr>
                  <a:schemeClr val="dk1"/>
                </a:buClr>
                <a:buSzPts val="1100"/>
              </a:pPr>
              <a:r>
                <a:rPr lang="en-US" sz="2400" b="1" dirty="0">
                  <a:solidFill>
                    <a:schemeClr val="dk1"/>
                  </a:solidFill>
                </a:rPr>
                <a:t>In conclusion</a:t>
              </a:r>
              <a:r>
                <a:rPr lang="en-US" sz="2400" dirty="0">
                  <a:solidFill>
                    <a:schemeClr val="dk1"/>
                  </a:solidFill>
                </a:rPr>
                <a:t>, integrated, multipronged approaches can successfully bridge communication gaps and improve asthma care delivery in residency clinics. Future steps include embedding AAP templates directly into the EMR and utilizing Best Practice Alerts to sustain improvements and further support guideline-based asthma management.</a:t>
              </a:r>
              <a:endParaRPr sz="2400" dirty="0">
                <a:solidFill>
                  <a:srgbClr val="222222"/>
                </a:solidFill>
              </a:endParaRPr>
            </a:p>
          </p:txBody>
        </p:sp>
        <p:sp>
          <p:nvSpPr>
            <p:cNvPr id="104" name="Google Shape;104;p1"/>
            <p:cNvSpPr/>
            <p:nvPr/>
          </p:nvSpPr>
          <p:spPr>
            <a:xfrm>
              <a:off x="2560333" y="4986542"/>
              <a:ext cx="8839200" cy="6898800"/>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1100"/>
              </a:pPr>
              <a:r>
                <a:rPr lang="en-US" sz="2533">
                  <a:solidFill>
                    <a:srgbClr val="222222"/>
                  </a:solidFill>
                </a:rPr>
                <a:t>Asthma is a common chronic respiratory condition affecting over 25 million individuals in the United States, including 8.7% of adults. Despite advances in treatment, many patients continue to experience poor asthma control, leading to increased emergency visits, hospitalizations, and impaired quality of life. Two key components of effective outpatient asthma care are the use of personalized Asthma Action Plans (AAPs) and accurate documentation of asthma severity, which guide evidence-based treatment decisions. At our internal medicine residency clinic, baseline review revealed low AAP utilization and inconsistent severity classification. To address these gaps, we implemented a dual-intervention quality improvement initiative involving resident education, printed AAP templates, and a standardized EMR smart phrase. This project aimed to enhance asthma self-management, improve documentation, and promote guideline-concordant care through sustainable, low-cost interventions.</a:t>
              </a:r>
              <a:endParaRPr sz="2533">
                <a:solidFill>
                  <a:srgbClr val="222222"/>
                </a:solidFill>
              </a:endParaRPr>
            </a:p>
          </p:txBody>
        </p:sp>
        <p:pic>
          <p:nvPicPr>
            <p:cNvPr id="105" name="Google Shape;105;p1" title="output-4.png"/>
            <p:cNvPicPr preferRelativeResize="0"/>
            <p:nvPr/>
          </p:nvPicPr>
          <p:blipFill>
            <a:blip r:embed="rId6">
              <a:alphaModFix/>
            </a:blip>
            <a:stretch>
              <a:fillRect/>
            </a:stretch>
          </p:blipFill>
          <p:spPr>
            <a:xfrm>
              <a:off x="11618117" y="14897883"/>
              <a:ext cx="9749867" cy="6710784"/>
            </a:xfrm>
            <a:prstGeom prst="rect">
              <a:avLst/>
            </a:prstGeom>
            <a:noFill/>
            <a:ln>
              <a:noFill/>
            </a:ln>
          </p:spPr>
        </p:pic>
        <p:pic>
          <p:nvPicPr>
            <p:cNvPr id="106" name="Google Shape;106;p1" title="Screenshot 2025-04-25 at 9.10.13 AM.png"/>
            <p:cNvPicPr preferRelativeResize="0"/>
            <p:nvPr/>
          </p:nvPicPr>
          <p:blipFill>
            <a:blip r:embed="rId7">
              <a:alphaModFix/>
            </a:blip>
            <a:stretch>
              <a:fillRect/>
            </a:stretch>
          </p:blipFill>
          <p:spPr>
            <a:xfrm>
              <a:off x="11667367" y="4146117"/>
              <a:ext cx="9700617" cy="4427267"/>
            </a:xfrm>
            <a:prstGeom prst="rect">
              <a:avLst/>
            </a:prstGeom>
            <a:noFill/>
            <a:ln>
              <a:noFill/>
            </a:ln>
          </p:spPr>
        </p:pic>
      </p:grpSp>
      <p:pic>
        <p:nvPicPr>
          <p:cNvPr id="107" name="Picture 106" descr="5Q.png"/>
          <p:cNvPicPr>
            <a:picLocks noChangeAspect="1"/>
          </p:cNvPicPr>
          <p:nvPr/>
        </p:nvPicPr>
        <p:blipFill>
          <a:blip r:embed="rId8"/>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756</Words>
  <Application>Microsoft Macintosh PowerPoint</Application>
  <PresentationFormat>Custom</PresentationFormat>
  <Paragraphs>33</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Helvetica Neue</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1</cp:revision>
  <dcterms:modified xsi:type="dcterms:W3CDTF">2025-05-02T22:17:30Z</dcterms:modified>
</cp:coreProperties>
</file>