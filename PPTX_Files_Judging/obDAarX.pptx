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81813" cy="9296400"/>
  <p:embeddedFontLst>
    <p:embeddedFont>
      <p:font typeface="Bree Serif" panose="02000503040000020004" pitchFamily="2" charset="77"/>
      <p:regular r:id="rId4"/>
    </p:embeddedFont>
    <p:embeddedFont>
      <p:font typeface="Gill Sans" panose="020B0502020104020203" pitchFamily="34" charset="-79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xFZbPHD1UYGk/lcqr4tMBFdL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36" d="100"/>
          <a:sy n="36" d="100"/>
        </p:scale>
        <p:origin x="184" y="48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7175" y="697225"/>
            <a:ext cx="458807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8175" y="4415775"/>
            <a:ext cx="5505425" cy="418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8175" y="4415775"/>
            <a:ext cx="5505425" cy="418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27088" y="696913"/>
            <a:ext cx="52292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468564" y="6817519"/>
            <a:ext cx="27981275" cy="470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937126" y="12435682"/>
            <a:ext cx="23044150" cy="560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644651" y="5120481"/>
            <a:ext cx="2962910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600326" y="14101762"/>
            <a:ext cx="27981275" cy="435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600326" y="9301163"/>
            <a:ext cx="27981275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644651" y="5120481"/>
            <a:ext cx="1473835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6535400" y="5120481"/>
            <a:ext cx="1473835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646239" y="878681"/>
            <a:ext cx="2962592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646239" y="4912519"/>
            <a:ext cx="14544675" cy="204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646239" y="6959601"/>
            <a:ext cx="14544675" cy="1264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6722727" y="4912519"/>
            <a:ext cx="14549438" cy="204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6722727" y="6959601"/>
            <a:ext cx="14549438" cy="1264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646239" y="873919"/>
            <a:ext cx="10829925" cy="371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2869863" y="873919"/>
            <a:ext cx="18402300" cy="1873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646239" y="4592637"/>
            <a:ext cx="10829925" cy="15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marL="2286000" lvl="4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marL="2743200" lvl="5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6pPr>
            <a:lvl7pPr marL="3200400" lvl="6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7pPr>
            <a:lvl8pPr marL="3657600" lvl="7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8pPr>
            <a:lvl9pPr marL="4114800" lvl="8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451601" y="15362238"/>
            <a:ext cx="19751675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451601" y="1960563"/>
            <a:ext cx="19751675" cy="131675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451601" y="17175162"/>
            <a:ext cx="19751675" cy="257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marL="2286000" lvl="4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marL="2743200" lvl="5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6pPr>
            <a:lvl7pPr marL="3200400" lvl="6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7pPr>
            <a:lvl8pPr marL="3657600" lvl="7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8pPr>
            <a:lvl9pPr marL="4114800" lvl="8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9217423" y="-2452291"/>
            <a:ext cx="14483556" cy="29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8207437" y="6537722"/>
            <a:ext cx="18725356" cy="740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316685" y="-793354"/>
            <a:ext cx="18725356" cy="2206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01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44651" y="5120481"/>
            <a:ext cx="29629100" cy="1448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457200" marR="0" lvl="0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–"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9690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•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–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334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  <a:defRPr sz="3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110744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297180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60500" y="22453600"/>
            <a:ext cx="29997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60"/>
              <a:buFont typeface="Arial"/>
              <a:buNone/>
            </a:pPr>
            <a:r>
              <a:rPr lang="en-US" sz="456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ID: pragmaticgraphite  Size: 36x24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2116"/>
            <a:ext cx="32918400" cy="4445706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466650" y="1262401"/>
            <a:ext cx="268035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dirty="0">
                <a:solidFill>
                  <a:schemeClr val="lt1"/>
                </a:solidFill>
              </a:rPr>
              <a:t>Improving Consistency &amp; Quality of Well-Child Visit Documentation</a:t>
            </a:r>
            <a:endParaRPr sz="6000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900" dirty="0"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267200" y="2628252"/>
            <a:ext cx="243840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sz="3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Gabriel Allaf DO,  Phillip Kim MD, MPH</a:t>
            </a:r>
            <a:endParaRPr sz="3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sz="3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Saint Agnes Medical Center, Department of Family</a:t>
            </a:r>
            <a:r>
              <a:rPr lang="en-US" sz="3700" dirty="0">
                <a:solidFill>
                  <a:schemeClr val="lt1"/>
                </a:solidFill>
              </a:rPr>
              <a:t> </a:t>
            </a:r>
            <a:r>
              <a:rPr lang="en-US" sz="3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Medicine</a:t>
            </a:r>
            <a:endParaRPr sz="3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79450" y="10204788"/>
            <a:ext cx="6406200" cy="5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Setting</a:t>
            </a:r>
            <a:r>
              <a:rPr lang="en-US" sz="2100">
                <a:solidFill>
                  <a:schemeClr val="dk1"/>
                </a:solidFill>
              </a:rPr>
              <a:t>: Family Medicine Residency Clinic at Saint Agnes Medical Center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Timeline</a:t>
            </a:r>
            <a:r>
              <a:rPr lang="en-US" sz="2100">
                <a:solidFill>
                  <a:schemeClr val="dk1"/>
                </a:solidFill>
              </a:rPr>
              <a:t>: September 2024 – April 2025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Intervention</a:t>
            </a:r>
            <a:r>
              <a:rPr lang="en-US" sz="2100">
                <a:solidFill>
                  <a:schemeClr val="dk1"/>
                </a:solidFill>
              </a:rPr>
              <a:t>: Development and rollout of a custom-built Epic template covering all essential well-child components (e.g., vaccines, growth, development, anticipatory guidance)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Participants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22 of 24 Family Medicine residents (PGY1–PGY3)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5 of 5 attendings (100% participation)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Tool</a:t>
            </a:r>
            <a:r>
              <a:rPr lang="en-US" sz="2100">
                <a:solidFill>
                  <a:schemeClr val="dk1"/>
                </a:solidFill>
              </a:rPr>
              <a:t>: 28-item survey assessing: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Frequency and adoption of the template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Perceived impact on documentation quality, workflow, and patient care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Barriers and support needs</a:t>
            </a:r>
            <a:endParaRPr sz="2100"/>
          </a:p>
        </p:txBody>
      </p:sp>
      <p:sp>
        <p:nvSpPr>
          <p:cNvPr id="92" name="Google Shape;92;p1"/>
          <p:cNvSpPr txBox="1"/>
          <p:nvPr/>
        </p:nvSpPr>
        <p:spPr>
          <a:xfrm>
            <a:off x="22686099" y="5159725"/>
            <a:ext cx="9993600" cy="3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Impact on Patient Care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52% reported </a:t>
            </a:r>
            <a:r>
              <a:rPr lang="en-US" sz="2100" b="1">
                <a:solidFill>
                  <a:schemeClr val="dk1"/>
                </a:solidFill>
              </a:rPr>
              <a:t>significant improvement</a:t>
            </a:r>
            <a:endParaRPr sz="2100" b="1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33% noted </a:t>
            </a:r>
            <a:r>
              <a:rPr lang="en-US" sz="2100" b="1">
                <a:solidFill>
                  <a:schemeClr val="dk1"/>
                </a:solidFill>
              </a:rPr>
              <a:t>some improvement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Barriers to Use</a:t>
            </a:r>
            <a:r>
              <a:rPr lang="en-US" sz="2100">
                <a:solidFill>
                  <a:schemeClr val="dk1"/>
                </a:solidFill>
              </a:rPr>
              <a:t> (among non-daily users):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“Too time consuming” (5 respondents)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“Lack of awareness” (2)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“Difficult to learn” (2)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Support Preferences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44% would benefit from more training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41% found the template easy enough without support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029728" y="14177600"/>
            <a:ext cx="9543900" cy="4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The standardized Epic template was highly adopted by residents and attendings, with clear reported benefits in documentation consistency, quality, and completeness.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Project revealed that variability in documentation existed primarily due to inconsistent use of structured tools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Most residents found the template easy to use, though a subset still reported time or training barriers, especially earlier in their training.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This QI initiative successfully increased the standardization of well-child documentation in the residency clinic.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The template improved clinical efficiency and reduced the risk of missing preventive care components.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Template use was high across all training levels, with notable benefits in workflow and patient safety</a:t>
            </a:r>
            <a:endParaRPr sz="2100"/>
          </a:p>
        </p:txBody>
      </p:sp>
      <p:sp>
        <p:nvSpPr>
          <p:cNvPr id="94" name="Google Shape;94;p1"/>
          <p:cNvSpPr txBox="1"/>
          <p:nvPr/>
        </p:nvSpPr>
        <p:spPr>
          <a:xfrm>
            <a:off x="458850" y="5524375"/>
            <a:ext cx="60156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Inconsistent documentation of well-child visits in residency clinics can lead to missed screenings, inadequate anticipatory guidance, and potential medicolegal risk.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Prior to this intervention, residents used varied documentation methods (e.g., copied notes, personal macros), which lacked standardization and completeness.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To improve the quality, efficiency, and comprehensiveness of well-child care, a standardized template was developed &amp; implemented for visits from ages 0–17 years.</a:t>
            </a:r>
            <a:endParaRPr sz="2100"/>
          </a:p>
        </p:txBody>
      </p:sp>
      <p:sp>
        <p:nvSpPr>
          <p:cNvPr id="95" name="Google Shape;95;p1"/>
          <p:cNvSpPr txBox="1"/>
          <p:nvPr/>
        </p:nvSpPr>
        <p:spPr>
          <a:xfrm>
            <a:off x="831583" y="4861850"/>
            <a:ext cx="2282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04415" y="9665698"/>
            <a:ext cx="23367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3135882" y="4572925"/>
            <a:ext cx="38139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Results Continued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3135899" y="13609938"/>
            <a:ext cx="60156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Discussion &amp; 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3135900" y="18441194"/>
            <a:ext cx="3344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Recommendations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3082822" y="18997750"/>
            <a:ext cx="9437700" cy="22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Formalize template training as part of resident orientation and onboarding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Continue collecting feedback and update the template annually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Consider expanding the template to other pediatric visits (e.g., sports physicals or behavioral screenings)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Share the template with other departments or community clinics to increase standardization system-wide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3135899" y="8995851"/>
            <a:ext cx="60156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Limitations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2764822" y="9563488"/>
            <a:ext cx="98088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Single-Site Study</a:t>
            </a:r>
            <a:r>
              <a:rPr lang="en-US" sz="2100">
                <a:solidFill>
                  <a:schemeClr val="dk1"/>
                </a:solidFill>
              </a:rPr>
              <a:t>: Conducted at one residency program (Family Medicine at Saint Agnes), which may limit generalizability to other institutions or specialties.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Self-Reported Data</a:t>
            </a:r>
            <a:r>
              <a:rPr lang="en-US" sz="2100">
                <a:solidFill>
                  <a:schemeClr val="dk1"/>
                </a:solidFill>
              </a:rPr>
              <a:t>: Survey responses reflect subjective perceptions, which may introduce response bias or overestimate impact.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Lack of Pre-Post Chart Audit</a:t>
            </a:r>
            <a:r>
              <a:rPr lang="en-US" sz="2100">
                <a:solidFill>
                  <a:schemeClr val="dk1"/>
                </a:solidFill>
              </a:rPr>
              <a:t>: Objective comparisons of documentation completeness (before vs. after implementation) were not performed.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Limited Longitudinal Follow-Up</a:t>
            </a:r>
            <a:r>
              <a:rPr lang="en-US" sz="2100">
                <a:solidFill>
                  <a:schemeClr val="dk1"/>
                </a:solidFill>
              </a:rPr>
              <a:t>: The study did not assess long-term retention of template use or sustained behavior change beyond the initial months.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Non-Responder Bias</a:t>
            </a:r>
            <a:r>
              <a:rPr lang="en-US" sz="2100">
                <a:solidFill>
                  <a:schemeClr val="dk1"/>
                </a:solidFill>
              </a:rPr>
              <a:t>: Two non-responding PGY3 residents may have differing views that were not captured.</a:t>
            </a:r>
            <a:endParaRPr sz="2100"/>
          </a:p>
        </p:txBody>
      </p:sp>
      <p:pic>
        <p:nvPicPr>
          <p:cNvPr id="103" name="Google Shape;103;p1" title="Julius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362" y="5111900"/>
            <a:ext cx="5508676" cy="42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title="Julius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0089" y="5129227"/>
            <a:ext cx="3443150" cy="373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title="JuliusImage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8575" y="10014912"/>
            <a:ext cx="14333327" cy="528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 title="JuliusImage (3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49298" y="5111899"/>
            <a:ext cx="5947854" cy="42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 title="JuliusImage (4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8576" y="15033801"/>
            <a:ext cx="14333327" cy="583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804436" y="15500848"/>
            <a:ext cx="14457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txBody>
          <a:bodyPr spcFirstLastPara="1" wrap="square" lIns="18287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Results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00100" y="16025100"/>
            <a:ext cx="6564900" cy="4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25" tIns="30450" rIns="60925" bIns="3045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Template Usage</a:t>
            </a:r>
            <a:r>
              <a:rPr lang="en-US" sz="2100">
                <a:solidFill>
                  <a:schemeClr val="dk1"/>
                </a:solidFill>
              </a:rPr>
              <a:t>: 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93% respondents reported using the template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Most residents use the template in 1–2 well-child visits per week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Documentation Quality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Mean satisfaction rating: </a:t>
            </a:r>
            <a:r>
              <a:rPr lang="en-US" sz="2100" b="1">
                <a:solidFill>
                  <a:schemeClr val="dk1"/>
                </a:solidFill>
              </a:rPr>
              <a:t>4.28 / 5</a:t>
            </a:r>
            <a:endParaRPr sz="2100" b="1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100% reported moderate to complete improvement in documentation quality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Workflow Impact</a:t>
            </a:r>
            <a:r>
              <a:rPr lang="en-US" sz="2100">
                <a:solidFill>
                  <a:schemeClr val="dk1"/>
                </a:solidFill>
              </a:rPr>
              <a:t>: Mean efficiency rating: </a:t>
            </a:r>
            <a:r>
              <a:rPr lang="en-US" sz="2100" b="1">
                <a:solidFill>
                  <a:schemeClr val="dk1"/>
                </a:solidFill>
              </a:rPr>
              <a:t>4.04 / 5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</a:rPr>
              <a:t>Thoroughness of Documentation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63% noted </a:t>
            </a:r>
            <a:r>
              <a:rPr lang="en-US" sz="2100" b="1">
                <a:solidFill>
                  <a:schemeClr val="dk1"/>
                </a:solidFill>
              </a:rPr>
              <a:t>major improvement</a:t>
            </a:r>
            <a:endParaRPr sz="2100" b="1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30% reported </a:t>
            </a:r>
            <a:r>
              <a:rPr lang="en-US" sz="2100" b="1">
                <a:solidFill>
                  <a:schemeClr val="dk1"/>
                </a:solidFill>
              </a:rPr>
              <a:t>minor improvement</a:t>
            </a:r>
            <a:endParaRPr sz="2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Macintosh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Gill Sans</vt:lpstr>
      <vt:lpstr>Bree Serif</vt:lpstr>
      <vt:lpstr>Arial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Graphicsland/MakeSigns.com</dc:creator>
  <cp:lastModifiedBy>Phil Kim</cp:lastModifiedBy>
  <cp:revision>1</cp:revision>
  <dcterms:modified xsi:type="dcterms:W3CDTF">2025-04-25T04:04:09Z</dcterms:modified>
</cp:coreProperties>
</file>