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embeddedFontLst>
    <p:embeddedFont>
      <p:font typeface="Helvetica Neue" panose="020005030000000200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kuR7uTu4cqVlxcpiRO1+BI86J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/>
    <p:restoredTop sz="94694"/>
  </p:normalViewPr>
  <p:slideViewPr>
    <p:cSldViewPr snapToGrid="0">
      <p:cViewPr>
        <p:scale>
          <a:sx n="128" d="100"/>
          <a:sy n="128" d="100"/>
        </p:scale>
        <p:origin x="-4656" y="-600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2468880" y="3591561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4114800" y="11526521"/>
            <a:ext cx="24688800" cy="529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245996" y="5471166"/>
            <a:ext cx="28392120" cy="912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2245996" y="14686286"/>
            <a:ext cx="28392120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>
                <a:solidFill>
                  <a:schemeClr val="dk1"/>
                </a:solidFill>
              </a:defRPr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6400">
                <a:solidFill>
                  <a:srgbClr val="888888"/>
                </a:solidFill>
              </a:defRPr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5760">
                <a:solidFill>
                  <a:srgbClr val="888888"/>
                </a:solidFill>
              </a:defRPr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2267432" y="5379721"/>
            <a:ext cx="13926024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2267432" y="8016240"/>
            <a:ext cx="13926024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16664942" y="5379721"/>
            <a:ext cx="13994608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80268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0241"/>
            </a:lvl1pPr>
            <a:lvl2pPr marL="609630" lvl="1" indent="-72139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8960"/>
            </a:lvl2pPr>
            <a:lvl3pPr marL="914446" lvl="2" indent="-6401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7680"/>
            </a:lvl3pPr>
            <a:lvl4pPr marL="1219261" lvl="3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4pPr>
            <a:lvl5pPr marL="1524076" lvl="4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5pPr>
            <a:lvl6pPr marL="1828891" lvl="5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6pPr>
            <a:lvl7pPr marL="2133707" lvl="6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7pPr>
            <a:lvl8pPr marL="2438522" lvl="7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8pPr>
            <a:lvl9pPr marL="2743337" lvl="8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9497060" y="-1391919"/>
            <a:ext cx="13924281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1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1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6644C95-5838-B032-6363-4855C2808256}"/>
              </a:ext>
            </a:extLst>
          </p:cNvPr>
          <p:cNvGrpSpPr/>
          <p:nvPr/>
        </p:nvGrpSpPr>
        <p:grpSpPr>
          <a:xfrm>
            <a:off x="-15018327" y="-5607648"/>
            <a:ext cx="47241713" cy="27901327"/>
            <a:chOff x="-11220873" y="-5607648"/>
            <a:chExt cx="41701606" cy="27901327"/>
          </a:xfrm>
        </p:grpSpPr>
        <p:sp>
          <p:nvSpPr>
            <p:cNvPr id="89" name="Google Shape;89;p1"/>
            <p:cNvSpPr/>
            <p:nvPr/>
          </p:nvSpPr>
          <p:spPr>
            <a:xfrm>
              <a:off x="21579840" y="19301656"/>
              <a:ext cx="8839200" cy="23835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499360" y="9507141"/>
              <a:ext cx="8839200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Methods</a:t>
              </a:r>
              <a:endParaRPr sz="933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499367" y="10496783"/>
              <a:ext cx="8839200" cy="11188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2499360" y="4328160"/>
              <a:ext cx="8839200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933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499367" y="5420016"/>
              <a:ext cx="8839200" cy="3831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4400"/>
              </a:pPr>
              <a:r>
                <a:rPr lang="en-US" sz="3000">
                  <a:latin typeface="Calibri"/>
                  <a:ea typeface="Calibri"/>
                  <a:cs typeface="Calibri"/>
                  <a:sym typeface="Calibri"/>
                </a:rPr>
                <a:t>Lung cancer remains the leading cause of cancer-related deaths in the U.S., yet screening practices are often underutilized or misunderstood. Internal medicine residents play a vital role in preventive care, but knowledge gaps may hinder appropriate screening recommendations. This project aims to enhance resident understanding of lung cancer screening guidelines and protocols through targeted education.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2499360" y="396873"/>
              <a:ext cx="27919680" cy="3809162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30236" y="1002049"/>
              <a:ext cx="23470000" cy="1415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 algn="ctr">
                <a:buSzPts val="9600"/>
              </a:pPr>
              <a:r>
                <a:rPr lang="en-US" sz="4400" b="1" dirty="0">
                  <a:solidFill>
                    <a:schemeClr val="lt1"/>
                  </a:solidFill>
                </a:rPr>
                <a:t>CLEARING THE AIR: Boosting Resident Knowledge </a:t>
              </a:r>
              <a:br>
                <a:rPr lang="en-US" sz="4400" b="1" dirty="0">
                  <a:solidFill>
                    <a:schemeClr val="lt1"/>
                  </a:solidFill>
                </a:rPr>
              </a:br>
              <a:r>
                <a:rPr lang="en-US" sz="4400" b="1" dirty="0">
                  <a:solidFill>
                    <a:schemeClr val="lt1"/>
                  </a:solidFill>
                </a:rPr>
                <a:t>of Lung Cancer Screening</a:t>
              </a:r>
              <a:endParaRPr sz="4400" b="1" dirty="0">
                <a:solidFill>
                  <a:schemeClr val="lt1"/>
                </a:solidFill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5287200" y="2626632"/>
              <a:ext cx="22344000" cy="12312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 algn="ctr">
                <a:buSzPts val="7200"/>
              </a:pPr>
              <a:r>
                <a:rPr lang="en-US" sz="3334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Rukhsar </a:t>
              </a:r>
              <a:r>
                <a:rPr lang="en-US" sz="3334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Nadeem MD, Hamna </a:t>
              </a:r>
              <a:r>
                <a:rPr lang="en-US" sz="3334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Javed MD, Mahwish Sheikh MD, Anupama </a:t>
              </a:r>
              <a:r>
                <a:rPr lang="en-US" sz="3334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Poliyedath</a:t>
              </a:r>
              <a:r>
                <a:rPr lang="en-US" sz="3334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MD, Mehdi </a:t>
              </a:r>
              <a:r>
                <a:rPr lang="en-US" sz="3334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Hakimipour</a:t>
              </a:r>
              <a:r>
                <a:rPr lang="en-US" sz="3334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MD</a:t>
              </a:r>
              <a:endParaRPr sz="3334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buSzPts val="1400"/>
              </a:pPr>
              <a:endParaRPr sz="933" dirty="0"/>
            </a:p>
            <a:p>
              <a:pPr algn="ctr">
                <a:buSzPts val="5000"/>
              </a:pPr>
              <a:r>
                <a:rPr lang="en-US" sz="3334" i="1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Saint Agnes Medical Center, Fresno, CA</a:t>
              </a:r>
              <a:endParaRPr sz="933" dirty="0"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12107400" y="8890584"/>
              <a:ext cx="8955400" cy="369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SzPts val="3000"/>
              </a:pPr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Figure 1: Table showing the average score in percentage pre and post intervention.</a:t>
              </a:r>
              <a:endParaRPr sz="933"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12093883" y="14515984"/>
              <a:ext cx="9170000" cy="369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SzPts val="3000"/>
              </a:pPr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Figure 2: Graph showing the improvement in knowledge pre and post intervention</a:t>
              </a:r>
              <a:endParaRPr sz="933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579840" y="4339544"/>
              <a:ext cx="8839200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Results Cont.</a:t>
              </a:r>
              <a:endParaRPr sz="933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21579833" y="5420017"/>
              <a:ext cx="8839200" cy="474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Clr>
                  <a:schemeClr val="dk1"/>
                </a:buClr>
                <a:buSzPts val="3400"/>
              </a:pPr>
              <a:r>
                <a:rPr lang="en-US" sz="2867" dirty="0">
                  <a:solidFill>
                    <a:schemeClr val="dk1"/>
                  </a:solidFill>
                </a:rPr>
                <a:t>These results suggest that a targeted educational session can effectively enhance resident knowledge on lung cancer screening, particularly in areas of guideline comprehension and evidence-based eligibility criteria.</a:t>
              </a:r>
              <a:endParaRPr sz="2867" dirty="0"/>
            </a:p>
            <a:p>
              <a:r>
                <a:rPr lang="en-US" sz="2867" dirty="0"/>
                <a:t>Limitations:</a:t>
              </a:r>
              <a:br>
                <a:rPr lang="en-US" sz="2867" dirty="0"/>
              </a:br>
              <a:endParaRPr sz="2867" dirty="0"/>
            </a:p>
            <a:p>
              <a:pPr marL="503769" indent="-457200">
                <a:buSzPts val="4300"/>
                <a:buFont typeface="Arial" panose="020B0604020202020204" pitchFamily="34" charset="0"/>
                <a:buChar char="•"/>
              </a:pPr>
              <a:r>
                <a:rPr lang="en-US" sz="2867" dirty="0"/>
                <a:t>Small sample size from a single residency program</a:t>
              </a:r>
              <a:endParaRPr sz="2867" dirty="0"/>
            </a:p>
            <a:p>
              <a:pPr marL="503769" indent="-457200">
                <a:buSzPts val="4300"/>
                <a:buFont typeface="Arial" panose="020B0604020202020204" pitchFamily="34" charset="0"/>
                <a:buChar char="•"/>
              </a:pPr>
              <a:r>
                <a:rPr lang="en-US" sz="2867" dirty="0"/>
                <a:t>Short follow-up time limits long-term knowledge retention analysis</a:t>
              </a:r>
              <a:endParaRPr sz="2867" dirty="0"/>
            </a:p>
            <a:p>
              <a:pPr marL="503769" indent="-457200">
                <a:buSzPts val="4300"/>
                <a:buFont typeface="Arial" panose="020B0604020202020204" pitchFamily="34" charset="0"/>
                <a:buChar char="•"/>
              </a:pPr>
              <a:r>
                <a:rPr lang="en-US" sz="2867" dirty="0"/>
                <a:t>Lecture format may not address all learning styles</a:t>
              </a:r>
              <a:endParaRPr sz="2867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1776548" y="14948882"/>
              <a:ext cx="9509800" cy="11596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Results</a:t>
              </a:r>
              <a:endParaRPr sz="933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11776550" y="16154217"/>
              <a:ext cx="9509800" cy="553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21579840" y="14453430"/>
              <a:ext cx="8839200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References</a:t>
              </a:r>
              <a:endParaRPr sz="933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21688433" y="15533917"/>
              <a:ext cx="8730600" cy="350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304815" indent="-283648">
                <a:lnSpc>
                  <a:spcPct val="115000"/>
                </a:lnSpc>
                <a:buClr>
                  <a:schemeClr val="dk1"/>
                </a:buClr>
                <a:buSzPts val="3100"/>
                <a:buAutoNum type="arabicPeriod"/>
              </a:pPr>
              <a:r>
                <a:rPr lang="en-US" sz="2067" dirty="0">
                  <a:solidFill>
                    <a:schemeClr val="dk1"/>
                  </a:solidFill>
                </a:rPr>
                <a:t>Krist AH, Davidson KW, Mangione CM, et al. Screening for Lung Cancer: US Preventive Services Task Force Recommendation Statement. </a:t>
              </a:r>
              <a:r>
                <a:rPr lang="en-US" sz="2067" i="1" dirty="0">
                  <a:solidFill>
                    <a:schemeClr val="dk1"/>
                  </a:solidFill>
                </a:rPr>
                <a:t>JAMA</a:t>
              </a:r>
              <a:r>
                <a:rPr lang="en-US" sz="2067" dirty="0">
                  <a:solidFill>
                    <a:schemeClr val="dk1"/>
                  </a:solidFill>
                </a:rPr>
                <a:t>. 2021;325(10):962–970. doi:10.1001/jama.2021.1117</a:t>
              </a:r>
              <a:endParaRPr sz="2067" dirty="0">
                <a:solidFill>
                  <a:schemeClr val="dk1"/>
                </a:solidFill>
              </a:endParaRPr>
            </a:p>
            <a:p>
              <a:pPr marL="304815" indent="-283648">
                <a:lnSpc>
                  <a:spcPct val="115000"/>
                </a:lnSpc>
                <a:buClr>
                  <a:schemeClr val="dk1"/>
                </a:buClr>
                <a:buSzPts val="3100"/>
                <a:buAutoNum type="arabicPeriod"/>
              </a:pPr>
              <a:r>
                <a:rPr lang="en-US" sz="2067" dirty="0">
                  <a:solidFill>
                    <a:schemeClr val="dk1"/>
                  </a:solidFill>
                </a:rPr>
                <a:t>National Lung Screening Trial Research Team. Reduced lung-cancer mortality with low-dose computed tomographic screening. </a:t>
              </a:r>
              <a:r>
                <a:rPr lang="en-US" sz="2067" i="1" dirty="0">
                  <a:solidFill>
                    <a:schemeClr val="dk1"/>
                  </a:solidFill>
                </a:rPr>
                <a:t>N Engl J Med</a:t>
              </a:r>
              <a:r>
                <a:rPr lang="en-US" sz="2067" dirty="0">
                  <a:solidFill>
                    <a:schemeClr val="dk1"/>
                  </a:solidFill>
                </a:rPr>
                <a:t>. 2011;365(5):395-409. doi:10.1056/NEJMoa1102873</a:t>
              </a:r>
              <a:endParaRPr sz="2067" dirty="0">
                <a:solidFill>
                  <a:schemeClr val="dk1"/>
                </a:solidFill>
              </a:endParaRPr>
            </a:p>
            <a:p>
              <a:pPr marL="304815" indent="-283648">
                <a:lnSpc>
                  <a:spcPct val="115000"/>
                </a:lnSpc>
                <a:buClr>
                  <a:schemeClr val="dk1"/>
                </a:buClr>
                <a:buSzPts val="3100"/>
                <a:buAutoNum type="arabicPeriod"/>
              </a:pPr>
              <a:r>
                <a:rPr lang="en-US" sz="2067" dirty="0">
                  <a:solidFill>
                    <a:schemeClr val="dk1"/>
                  </a:solidFill>
                </a:rPr>
                <a:t>de Koning HJ, van der Aalst CM, de Jong PA, et al. Reduced lung-cancer mortality with volume CT screening in a randomized trial. </a:t>
              </a:r>
              <a:r>
                <a:rPr lang="en-US" sz="2067" i="1" dirty="0">
                  <a:solidFill>
                    <a:schemeClr val="dk1"/>
                  </a:solidFill>
                </a:rPr>
                <a:t>N Engl J Med</a:t>
              </a:r>
              <a:r>
                <a:rPr lang="en-US" sz="2067" dirty="0">
                  <a:solidFill>
                    <a:schemeClr val="dk1"/>
                  </a:solidFill>
                </a:rPr>
                <a:t>. 2020;382(6):503-513. doi:10.1056/NEJMoa1911793</a:t>
              </a:r>
              <a:endParaRPr sz="2067" dirty="0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21579840" y="10166023"/>
              <a:ext cx="8839200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Conclusion</a:t>
              </a:r>
              <a:endParaRPr sz="933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21626733" y="11331091"/>
              <a:ext cx="8854000" cy="285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5400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A focused educational intervention significantly improved resident knowledge of lung cancer screening guidelines. Periodic reinforcement and integration into clinical practice discussions may help sustain knowledge and promote evidence-based screening.</a:t>
              </a:r>
              <a:endParaRPr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1776548" y="4419921"/>
              <a:ext cx="9509800" cy="44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11776548" y="9366901"/>
              <a:ext cx="9509800" cy="50728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" name="Google Shape;109;p1" descr="Logo, company name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b="54543"/>
            <a:stretch/>
          </p:blipFill>
          <p:spPr>
            <a:xfrm>
              <a:off x="23135772" y="19759783"/>
              <a:ext cx="3748117" cy="1692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" descr="Logo, company name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t="47565" b="13424"/>
            <a:stretch/>
          </p:blipFill>
          <p:spPr>
            <a:xfrm>
              <a:off x="25066649" y="19886388"/>
              <a:ext cx="3955647" cy="15326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"/>
            <p:cNvSpPr txBox="1"/>
            <p:nvPr/>
          </p:nvSpPr>
          <p:spPr>
            <a:xfrm>
              <a:off x="2499359" y="10972800"/>
              <a:ext cx="8730600" cy="11141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SzPts val="4500"/>
              </a:pPr>
              <a:r>
                <a:rPr lang="en-US" sz="3000" b="1" dirty="0">
                  <a:latin typeface="Calibri"/>
                  <a:ea typeface="Calibri"/>
                  <a:cs typeface="Calibri"/>
                  <a:sym typeface="Calibri"/>
                </a:rPr>
                <a:t>Participants: </a:t>
              </a: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PGY-1 to PGY-3 Residents &amp; Medical Students</a:t>
              </a:r>
              <a:endParaRPr sz="3000" dirty="0"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SzPts val="4500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3000" b="1" dirty="0">
                  <a:latin typeface="Calibri"/>
                  <a:ea typeface="Calibri"/>
                  <a:cs typeface="Calibri"/>
                  <a:sym typeface="Calibri"/>
                </a:rPr>
                <a:t>Intervention Design: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Pre-Intervention Assessment: 26-question quiz covering USPSTF recommendations, Lung-RADS criteria, screening eligibility, risks, benefits, and management (QR code above).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Intervention: 30-minute interactive lecture reviewing evidence-based screening guidelines, key clinical trial data (NLST &amp; NELSON), and case-based scenarios.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Post-Intervention Assessment: Same quiz administered to evaluate knowledge retention.</a:t>
              </a:r>
              <a:endParaRPr sz="667" dirty="0"/>
            </a:p>
            <a:p>
              <a:pPr>
                <a:buSzPts val="4500"/>
              </a:pPr>
              <a:r>
                <a:rPr lang="en-US" sz="3000" b="1" dirty="0">
                  <a:latin typeface="Calibri"/>
                  <a:ea typeface="Calibri"/>
                  <a:cs typeface="Calibri"/>
                  <a:sym typeface="Calibri"/>
                </a:rPr>
                <a:t>Topics Covered: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Lung cancer epidemiology &amp; risk factors (questions 1 &amp; 2)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Screening eligibility criteria &amp; guidelines (questions 3, 4, 5, 6, 15 &amp; 16)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Screening methods, benefits, and harms (questions 7, 8, 9, 11, 14 &amp; 20)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Lung-RADS Classification &amp; Nodule Management (questions 12, 13, 17, 18, 19, 21, 22, 23, 24, 25 &amp; 26)</a:t>
              </a:r>
              <a:endParaRPr sz="667" dirty="0"/>
            </a:p>
            <a:p>
              <a:pPr marL="457223" indent="-457223">
                <a:buSzPts val="4500"/>
                <a:buFont typeface="Arial"/>
                <a:buChar char="•"/>
              </a:pPr>
              <a:r>
                <a:rPr lang="en-US" sz="3000" dirty="0">
                  <a:latin typeface="Calibri"/>
                  <a:ea typeface="Calibri"/>
                  <a:cs typeface="Calibri"/>
                  <a:sym typeface="Calibri"/>
                </a:rPr>
                <a:t>Evidence Base &amp; Smoking Cessation (questions 10, 14, 15 &amp; 19)</a:t>
              </a:r>
              <a:endParaRPr sz="4000" dirty="0"/>
            </a:p>
          </p:txBody>
        </p:sp>
        <p:pic>
          <p:nvPicPr>
            <p:cNvPr id="112" name="Google Shape;11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093883" y="4511683"/>
              <a:ext cx="8955400" cy="4368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892663" y="9425709"/>
              <a:ext cx="9170053" cy="4907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"/>
            <p:cNvSpPr txBox="1"/>
            <p:nvPr/>
          </p:nvSpPr>
          <p:spPr>
            <a:xfrm>
              <a:off x="11885158" y="16344256"/>
              <a:ext cx="9402600" cy="5949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r>
                <a:rPr lang="en-US" sz="2733" dirty="0"/>
                <a:t>A total of 46 residents &amp; medical students completed pre- and post-intervention questionnaires. The pre-intervention average score across all questions was 72.2%, which improved to 80.7% post-intervention—a mean increase of 8.9 percentage points.</a:t>
              </a:r>
              <a:endParaRPr sz="2733" dirty="0"/>
            </a:p>
            <a:p>
              <a:pPr indent="-173575">
                <a:buSzPts val="4100"/>
                <a:buChar char="•"/>
              </a:pPr>
              <a:r>
                <a:rPr lang="en-US" sz="2733" dirty="0"/>
                <a:t>Question 10 (regarding clinical trial evidence) showed the greatest improvement, with a gain of 17.4 percentage points.</a:t>
              </a:r>
              <a:endParaRPr sz="2733" dirty="0"/>
            </a:p>
            <a:p>
              <a:pPr indent="-173575">
                <a:buSzPts val="4100"/>
                <a:buChar char="•"/>
              </a:pPr>
              <a:r>
                <a:rPr lang="en-US" sz="2733" dirty="0"/>
                <a:t>Question 17 (likely addressing nuanced Lung-RADS classification) had the least improvement, suggesting a need for deeper reinforcement of complex radiologic criteria.</a:t>
              </a:r>
              <a:endParaRPr sz="2733" dirty="0"/>
            </a:p>
            <a:p>
              <a:pPr indent="-173575">
                <a:buSzPts val="4100"/>
                <a:buChar char="•"/>
              </a:pPr>
              <a:r>
                <a:rPr lang="en-US" sz="2733" dirty="0"/>
                <a:t>20 out of 26 questions showed an improvement in correct response rate post-lecture. (Figure 2)</a:t>
              </a:r>
              <a:endParaRPr sz="2733" dirty="0"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-11220873" y="-5607648"/>
              <a:ext cx="1521060" cy="205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endParaRPr sz="933"/>
            </a:p>
          </p:txBody>
        </p:sp>
      </p:grpSp>
      <p:pic>
        <p:nvPicPr>
          <p:cNvPr id="116" name="Picture 115" descr="17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Macintosh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Helvetica Neue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Phil Kim</cp:lastModifiedBy>
  <cp:revision>2</cp:revision>
  <dcterms:created xsi:type="dcterms:W3CDTF">2016-02-18T22:13:49Z</dcterms:created>
  <dcterms:modified xsi:type="dcterms:W3CDTF">2025-05-01T05:32:59Z</dcterms:modified>
</cp:coreProperties>
</file>