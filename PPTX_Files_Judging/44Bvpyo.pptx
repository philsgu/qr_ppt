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918400" cy="21945600"/>
  <p:notesSz cx="6858000" cy="9144000"/>
  <p:embeddedFontLst>
    <p:embeddedFont>
      <p:font typeface="Helvetica Neue" panose="02000503000000020004" pitchFamily="2" charset="0"/>
      <p:regular r:id="rId4"/>
      <p:bold r:id="rId5"/>
      <p:italic r:id="rId6"/>
      <p:boldItalic r:id="rId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6912" userDrawn="1">
          <p15:clr>
            <a:srgbClr val="A4A3A4"/>
          </p15:clr>
        </p15:guide>
        <p15:guide id="2" pos="10368" userDrawn="1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1" roundtripDataSignature="AMtx7mhkuR7uTu4cqVlxcpiRO1+BI86Jw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154"/>
    <p:restoredTop sz="94694"/>
  </p:normalViewPr>
  <p:slideViewPr>
    <p:cSldViewPr snapToGrid="0">
      <p:cViewPr>
        <p:scale>
          <a:sx n="128" d="100"/>
          <a:sy n="128" d="100"/>
        </p:scale>
        <p:origin x="-4656" y="-600"/>
      </p:cViewPr>
      <p:guideLst>
        <p:guide orient="horz" pos="6912"/>
        <p:guide pos="1036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viewProps" Target="viewProp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customschemas.google.com/relationships/presentationmetadata" Target="metadata"/><Relationship Id="rId5" Type="http://schemas.openxmlformats.org/officeDocument/2006/relationships/font" Target="fonts/font2.fntdata"/><Relationship Id="rId15" Type="http://schemas.openxmlformats.org/officeDocument/2006/relationships/tableStyles" Target="tableStyles.xml"/><Relationship Id="rId4" Type="http://schemas.openxmlformats.org/officeDocument/2006/relationships/font" Target="fonts/font1.fntdata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114425" y="1143000"/>
            <a:ext cx="462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14425" y="1143000"/>
            <a:ext cx="462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7"/>
          <p:cNvSpPr txBox="1">
            <a:spLocks noGrp="1"/>
          </p:cNvSpPr>
          <p:nvPr>
            <p:ph type="ctrTitle"/>
          </p:nvPr>
        </p:nvSpPr>
        <p:spPr>
          <a:xfrm>
            <a:off x="2468880" y="3591561"/>
            <a:ext cx="27980640" cy="764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800"/>
              <a:buFont typeface="Calibri"/>
              <a:buNone/>
              <a:defRPr sz="1920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7"/>
          <p:cNvSpPr txBox="1">
            <a:spLocks noGrp="1"/>
          </p:cNvSpPr>
          <p:nvPr>
            <p:ph type="subTitle" idx="1"/>
          </p:nvPr>
        </p:nvSpPr>
        <p:spPr>
          <a:xfrm>
            <a:off x="4114800" y="11526521"/>
            <a:ext cx="24688800" cy="5298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1520"/>
              <a:buNone/>
              <a:defRPr sz="7680"/>
            </a:lvl1pPr>
            <a:lvl2pPr lvl="1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6400"/>
            </a:lvl2pPr>
            <a:lvl3pPr lvl="2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640"/>
              <a:buNone/>
              <a:defRPr sz="5760"/>
            </a:lvl3pPr>
            <a:lvl4pPr lvl="3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4pPr>
            <a:lvl5pPr lvl="4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5pPr>
            <a:lvl6pPr lvl="5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6pPr>
            <a:lvl7pPr lvl="6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7pPr>
            <a:lvl8pPr lvl="7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8pPr>
            <a:lvl9pPr lvl="8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9pPr>
          </a:lstStyle>
          <a:p>
            <a:endParaRPr/>
          </a:p>
        </p:txBody>
      </p:sp>
      <p:sp>
        <p:nvSpPr>
          <p:cNvPr id="18" name="Google Shape;18;p7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7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7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8"/>
          <p:cNvSpPr txBox="1">
            <a:spLocks noGrp="1"/>
          </p:cNvSpPr>
          <p:nvPr>
            <p:ph type="title"/>
          </p:nvPr>
        </p:nvSpPr>
        <p:spPr>
          <a:xfrm>
            <a:off x="2263140" y="1168405"/>
            <a:ext cx="28392120" cy="4241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8"/>
          <p:cNvSpPr txBox="1">
            <a:spLocks noGrp="1"/>
          </p:cNvSpPr>
          <p:nvPr>
            <p:ph type="body" idx="1"/>
          </p:nvPr>
        </p:nvSpPr>
        <p:spPr>
          <a:xfrm>
            <a:off x="2263140" y="5842000"/>
            <a:ext cx="28392120" cy="13924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28611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30" lvl="1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446" lvl="2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261" lvl="3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4076" lvl="4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891" lvl="5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707" lvl="6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522" lvl="7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337" lvl="8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8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8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8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9"/>
          <p:cNvSpPr txBox="1">
            <a:spLocks noGrp="1"/>
          </p:cNvSpPr>
          <p:nvPr>
            <p:ph type="title"/>
          </p:nvPr>
        </p:nvSpPr>
        <p:spPr>
          <a:xfrm>
            <a:off x="2245996" y="5471166"/>
            <a:ext cx="28392120" cy="91287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800"/>
              <a:buFont typeface="Calibri"/>
              <a:buNone/>
              <a:defRPr sz="1920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9"/>
          <p:cNvSpPr txBox="1">
            <a:spLocks noGrp="1"/>
          </p:cNvSpPr>
          <p:nvPr>
            <p:ph type="body" idx="1"/>
          </p:nvPr>
        </p:nvSpPr>
        <p:spPr>
          <a:xfrm>
            <a:off x="2245996" y="14686286"/>
            <a:ext cx="28392120" cy="480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152408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1520"/>
              <a:buNone/>
              <a:defRPr sz="7680">
                <a:solidFill>
                  <a:schemeClr val="dk1"/>
                </a:solidFill>
              </a:defRPr>
            </a:lvl1pPr>
            <a:lvl2pPr marL="609630" lvl="1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9600"/>
              <a:buNone/>
              <a:defRPr sz="6400">
                <a:solidFill>
                  <a:srgbClr val="888888"/>
                </a:solidFill>
              </a:defRPr>
            </a:lvl2pPr>
            <a:lvl3pPr marL="914446" lvl="2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8640"/>
              <a:buNone/>
              <a:defRPr sz="5760">
                <a:solidFill>
                  <a:srgbClr val="888888"/>
                </a:solidFill>
              </a:defRPr>
            </a:lvl3pPr>
            <a:lvl4pPr marL="1219261" lvl="3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5120">
                <a:solidFill>
                  <a:srgbClr val="888888"/>
                </a:solidFill>
              </a:defRPr>
            </a:lvl4pPr>
            <a:lvl5pPr marL="1524076" lvl="4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5120">
                <a:solidFill>
                  <a:srgbClr val="888888"/>
                </a:solidFill>
              </a:defRPr>
            </a:lvl5pPr>
            <a:lvl6pPr marL="1828891" lvl="5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5120">
                <a:solidFill>
                  <a:srgbClr val="888888"/>
                </a:solidFill>
              </a:defRPr>
            </a:lvl6pPr>
            <a:lvl7pPr marL="2133707" lvl="6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5120">
                <a:solidFill>
                  <a:srgbClr val="888888"/>
                </a:solidFill>
              </a:defRPr>
            </a:lvl7pPr>
            <a:lvl8pPr marL="2438522" lvl="7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5120">
                <a:solidFill>
                  <a:srgbClr val="888888"/>
                </a:solidFill>
              </a:defRPr>
            </a:lvl8pPr>
            <a:lvl9pPr marL="2743337" lvl="8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512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9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9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9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0"/>
          <p:cNvSpPr txBox="1">
            <a:spLocks noGrp="1"/>
          </p:cNvSpPr>
          <p:nvPr>
            <p:ph type="title"/>
          </p:nvPr>
        </p:nvSpPr>
        <p:spPr>
          <a:xfrm>
            <a:off x="2263140" y="1168405"/>
            <a:ext cx="28392120" cy="4241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0"/>
          <p:cNvSpPr txBox="1">
            <a:spLocks noGrp="1"/>
          </p:cNvSpPr>
          <p:nvPr>
            <p:ph type="body" idx="1"/>
          </p:nvPr>
        </p:nvSpPr>
        <p:spPr>
          <a:xfrm>
            <a:off x="2263140" y="5842000"/>
            <a:ext cx="13990320" cy="13924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28611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30" lvl="1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446" lvl="2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261" lvl="3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4076" lvl="4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891" lvl="5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707" lvl="6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522" lvl="7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337" lvl="8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0"/>
          <p:cNvSpPr txBox="1">
            <a:spLocks noGrp="1"/>
          </p:cNvSpPr>
          <p:nvPr>
            <p:ph type="body" idx="2"/>
          </p:nvPr>
        </p:nvSpPr>
        <p:spPr>
          <a:xfrm>
            <a:off x="16664940" y="5842000"/>
            <a:ext cx="13990320" cy="13924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28611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30" lvl="1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446" lvl="2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261" lvl="3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4076" lvl="4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891" lvl="5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707" lvl="6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522" lvl="7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337" lvl="8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0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0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1"/>
          <p:cNvSpPr txBox="1">
            <a:spLocks noGrp="1"/>
          </p:cNvSpPr>
          <p:nvPr>
            <p:ph type="title"/>
          </p:nvPr>
        </p:nvSpPr>
        <p:spPr>
          <a:xfrm>
            <a:off x="2267428" y="1168405"/>
            <a:ext cx="28392120" cy="4241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1"/>
          <p:cNvSpPr txBox="1">
            <a:spLocks noGrp="1"/>
          </p:cNvSpPr>
          <p:nvPr>
            <p:ph type="body" idx="1"/>
          </p:nvPr>
        </p:nvSpPr>
        <p:spPr>
          <a:xfrm>
            <a:off x="2267432" y="5379721"/>
            <a:ext cx="13926024" cy="2636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815" lvl="0" indent="-152408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1520"/>
              <a:buNone/>
              <a:defRPr sz="7680" b="1"/>
            </a:lvl1pPr>
            <a:lvl2pPr marL="609630" lvl="1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6400" b="1"/>
            </a:lvl2pPr>
            <a:lvl3pPr marL="914446" lvl="2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640"/>
              <a:buNone/>
              <a:defRPr sz="5760" b="1"/>
            </a:lvl3pPr>
            <a:lvl4pPr marL="1219261" lvl="3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4pPr>
            <a:lvl5pPr marL="1524076" lvl="4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5pPr>
            <a:lvl6pPr marL="1828891" lvl="5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6pPr>
            <a:lvl7pPr marL="2133707" lvl="6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7pPr>
            <a:lvl8pPr marL="2438522" lvl="7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8pPr>
            <a:lvl9pPr marL="2743337" lvl="8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9pPr>
          </a:lstStyle>
          <a:p>
            <a:endParaRPr/>
          </a:p>
        </p:txBody>
      </p:sp>
      <p:sp>
        <p:nvSpPr>
          <p:cNvPr id="43" name="Google Shape;43;p11"/>
          <p:cNvSpPr txBox="1">
            <a:spLocks noGrp="1"/>
          </p:cNvSpPr>
          <p:nvPr>
            <p:ph type="body" idx="2"/>
          </p:nvPr>
        </p:nvSpPr>
        <p:spPr>
          <a:xfrm>
            <a:off x="2267432" y="8016240"/>
            <a:ext cx="13926024" cy="11790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28611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30" lvl="1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446" lvl="2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261" lvl="3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4076" lvl="4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891" lvl="5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707" lvl="6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522" lvl="7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337" lvl="8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body" idx="3"/>
          </p:nvPr>
        </p:nvSpPr>
        <p:spPr>
          <a:xfrm>
            <a:off x="16664942" y="5379721"/>
            <a:ext cx="13994608" cy="2636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815" lvl="0" indent="-152408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1520"/>
              <a:buNone/>
              <a:defRPr sz="7680" b="1"/>
            </a:lvl1pPr>
            <a:lvl2pPr marL="609630" lvl="1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6400" b="1"/>
            </a:lvl2pPr>
            <a:lvl3pPr marL="914446" lvl="2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640"/>
              <a:buNone/>
              <a:defRPr sz="5760" b="1"/>
            </a:lvl3pPr>
            <a:lvl4pPr marL="1219261" lvl="3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4pPr>
            <a:lvl5pPr marL="1524076" lvl="4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5pPr>
            <a:lvl6pPr marL="1828891" lvl="5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6pPr>
            <a:lvl7pPr marL="2133707" lvl="6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7pPr>
            <a:lvl8pPr marL="2438522" lvl="7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8pPr>
            <a:lvl9pPr marL="2743337" lvl="8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9pPr>
          </a:lstStyle>
          <a:p>
            <a:endParaRPr/>
          </a:p>
        </p:txBody>
      </p:sp>
      <p:sp>
        <p:nvSpPr>
          <p:cNvPr id="45" name="Google Shape;45;p11"/>
          <p:cNvSpPr txBox="1">
            <a:spLocks noGrp="1"/>
          </p:cNvSpPr>
          <p:nvPr>
            <p:ph type="body" idx="4"/>
          </p:nvPr>
        </p:nvSpPr>
        <p:spPr>
          <a:xfrm>
            <a:off x="16664942" y="8016240"/>
            <a:ext cx="13994608" cy="11790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28611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30" lvl="1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446" lvl="2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261" lvl="3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4076" lvl="4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891" lvl="5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707" lvl="6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522" lvl="7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337" lvl="8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1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1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2"/>
          <p:cNvSpPr txBox="1">
            <a:spLocks noGrp="1"/>
          </p:cNvSpPr>
          <p:nvPr>
            <p:ph type="title"/>
          </p:nvPr>
        </p:nvSpPr>
        <p:spPr>
          <a:xfrm>
            <a:off x="2263140" y="1168405"/>
            <a:ext cx="28392120" cy="4241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2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2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2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3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>
            <a:spLocks noGrp="1"/>
          </p:cNvSpPr>
          <p:nvPr>
            <p:ph type="title"/>
          </p:nvPr>
        </p:nvSpPr>
        <p:spPr>
          <a:xfrm>
            <a:off x="2267428" y="1463040"/>
            <a:ext cx="10617041" cy="5120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60"/>
              <a:buFont typeface="Calibri"/>
              <a:buNone/>
              <a:defRPr sz="1024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body" idx="1"/>
          </p:nvPr>
        </p:nvSpPr>
        <p:spPr>
          <a:xfrm>
            <a:off x="13994608" y="3159765"/>
            <a:ext cx="16664940" cy="155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802680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5360"/>
              <a:buChar char="•"/>
              <a:defRPr sz="10241"/>
            </a:lvl1pPr>
            <a:lvl2pPr marL="609630" lvl="1" indent="-72139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3440"/>
              <a:buChar char="•"/>
              <a:defRPr sz="8960"/>
            </a:lvl2pPr>
            <a:lvl3pPr marL="914446" lvl="2" indent="-640112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520"/>
              <a:buChar char="•"/>
              <a:defRPr sz="7680"/>
            </a:lvl3pPr>
            <a:lvl4pPr marL="1219261" lvl="3" indent="-55882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6400"/>
            </a:lvl4pPr>
            <a:lvl5pPr marL="1524076" lvl="4" indent="-55882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6400"/>
            </a:lvl5pPr>
            <a:lvl6pPr marL="1828891" lvl="5" indent="-55882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6400"/>
            </a:lvl6pPr>
            <a:lvl7pPr marL="2133707" lvl="6" indent="-55882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6400"/>
            </a:lvl7pPr>
            <a:lvl8pPr marL="2438522" lvl="7" indent="-55882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6400"/>
            </a:lvl8pPr>
            <a:lvl9pPr marL="2743337" lvl="8" indent="-55882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6400"/>
            </a:lvl9pPr>
          </a:lstStyle>
          <a:p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2"/>
          </p:nvPr>
        </p:nvSpPr>
        <p:spPr>
          <a:xfrm>
            <a:off x="2267428" y="6583680"/>
            <a:ext cx="10617041" cy="1219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152408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1pPr>
            <a:lvl2pPr marL="609630" lvl="1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6720"/>
              <a:buNone/>
              <a:defRPr sz="4480"/>
            </a:lvl2pPr>
            <a:lvl3pPr marL="914446" lvl="2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3840"/>
            </a:lvl3pPr>
            <a:lvl4pPr marL="1219261" lvl="3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4pPr>
            <a:lvl5pPr marL="1524076" lvl="4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5pPr>
            <a:lvl6pPr marL="1828891" lvl="5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6pPr>
            <a:lvl7pPr marL="2133707" lvl="6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7pPr>
            <a:lvl8pPr marL="2438522" lvl="7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8pPr>
            <a:lvl9pPr marL="2743337" lvl="8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9pPr>
          </a:lstStyle>
          <a:p>
            <a:endParaRPr/>
          </a:p>
        </p:txBody>
      </p:sp>
      <p:sp>
        <p:nvSpPr>
          <p:cNvPr id="62" name="Google Shape;62;p14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4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4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2267428" y="1463040"/>
            <a:ext cx="10617041" cy="5120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60"/>
              <a:buFont typeface="Calibri"/>
              <a:buNone/>
              <a:defRPr sz="1024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5"/>
          <p:cNvSpPr>
            <a:spLocks noGrp="1"/>
          </p:cNvSpPr>
          <p:nvPr>
            <p:ph type="pic" idx="2"/>
          </p:nvPr>
        </p:nvSpPr>
        <p:spPr>
          <a:xfrm>
            <a:off x="13994608" y="3159765"/>
            <a:ext cx="16664940" cy="155956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5"/>
          <p:cNvSpPr txBox="1">
            <a:spLocks noGrp="1"/>
          </p:cNvSpPr>
          <p:nvPr>
            <p:ph type="body" idx="1"/>
          </p:nvPr>
        </p:nvSpPr>
        <p:spPr>
          <a:xfrm>
            <a:off x="2267428" y="6583680"/>
            <a:ext cx="10617041" cy="1219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152408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1pPr>
            <a:lvl2pPr marL="609630" lvl="1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6720"/>
              <a:buNone/>
              <a:defRPr sz="4480"/>
            </a:lvl2pPr>
            <a:lvl3pPr marL="914446" lvl="2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3840"/>
            </a:lvl3pPr>
            <a:lvl4pPr marL="1219261" lvl="3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4pPr>
            <a:lvl5pPr marL="1524076" lvl="4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5pPr>
            <a:lvl6pPr marL="1828891" lvl="5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6pPr>
            <a:lvl7pPr marL="2133707" lvl="6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7pPr>
            <a:lvl8pPr marL="2438522" lvl="7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8pPr>
            <a:lvl9pPr marL="2743337" lvl="8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9pPr>
          </a:lstStyle>
          <a:p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>
            <a:spLocks noGrp="1"/>
          </p:cNvSpPr>
          <p:nvPr>
            <p:ph type="title"/>
          </p:nvPr>
        </p:nvSpPr>
        <p:spPr>
          <a:xfrm>
            <a:off x="2263140" y="1168405"/>
            <a:ext cx="28392120" cy="4241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6"/>
          <p:cNvSpPr txBox="1">
            <a:spLocks noGrp="1"/>
          </p:cNvSpPr>
          <p:nvPr>
            <p:ph type="body" idx="1"/>
          </p:nvPr>
        </p:nvSpPr>
        <p:spPr>
          <a:xfrm rot="5400000">
            <a:off x="9497060" y="-1391919"/>
            <a:ext cx="13924281" cy="28392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28611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30" lvl="1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446" lvl="2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261" lvl="3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4076" lvl="4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891" lvl="5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707" lvl="6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522" lvl="7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337" lvl="8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6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6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>
            <a:spLocks noGrp="1"/>
          </p:cNvSpPr>
          <p:nvPr>
            <p:ph type="title"/>
          </p:nvPr>
        </p:nvSpPr>
        <p:spPr>
          <a:xfrm rot="5400000">
            <a:off x="17807306" y="6918326"/>
            <a:ext cx="18597881" cy="7098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7"/>
          <p:cNvSpPr txBox="1">
            <a:spLocks noGrp="1"/>
          </p:cNvSpPr>
          <p:nvPr>
            <p:ph type="body" idx="1"/>
          </p:nvPr>
        </p:nvSpPr>
        <p:spPr>
          <a:xfrm rot="5400000">
            <a:off x="3405506" y="26036"/>
            <a:ext cx="18597881" cy="20882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28611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30" lvl="1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446" lvl="2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261" lvl="3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4076" lvl="4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891" lvl="5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707" lvl="6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522" lvl="7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337" lvl="8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7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6"/>
          <p:cNvSpPr txBox="1">
            <a:spLocks noGrp="1"/>
          </p:cNvSpPr>
          <p:nvPr>
            <p:ph type="title"/>
          </p:nvPr>
        </p:nvSpPr>
        <p:spPr>
          <a:xfrm>
            <a:off x="2263140" y="1168405"/>
            <a:ext cx="28392120" cy="4241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120"/>
              <a:buFont typeface="Calibri"/>
              <a:buNone/>
              <a:defRPr sz="211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6"/>
          <p:cNvSpPr txBox="1">
            <a:spLocks noGrp="1"/>
          </p:cNvSpPr>
          <p:nvPr>
            <p:ph type="body" idx="1"/>
          </p:nvPr>
        </p:nvSpPr>
        <p:spPr>
          <a:xfrm>
            <a:off x="2263140" y="5842000"/>
            <a:ext cx="28392120" cy="13924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1082040" algn="l" rtl="0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3440"/>
              <a:buFont typeface="Arial"/>
              <a:buChar char="•"/>
              <a:defRPr sz="134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960120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1520"/>
              <a:buFont typeface="Arial"/>
              <a:buChar char="•"/>
              <a:defRPr sz="115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838200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Arial"/>
              <a:buChar char="•"/>
              <a:defRPr sz="9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777239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777239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777239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777239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777239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777240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6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6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6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6644C95-5838-B032-6363-4855C2808256}"/>
              </a:ext>
            </a:extLst>
          </p:cNvPr>
          <p:cNvGrpSpPr/>
          <p:nvPr/>
        </p:nvGrpSpPr>
        <p:grpSpPr>
          <a:xfrm>
            <a:off x="-15018327" y="-5607648"/>
            <a:ext cx="47241713" cy="27901327"/>
            <a:chOff x="-11220873" y="-5607648"/>
            <a:chExt cx="41701606" cy="27901327"/>
          </a:xfrm>
        </p:grpSpPr>
        <p:sp>
          <p:nvSpPr>
            <p:cNvPr id="89" name="Google Shape;89;p1"/>
            <p:cNvSpPr/>
            <p:nvPr/>
          </p:nvSpPr>
          <p:spPr>
            <a:xfrm>
              <a:off x="21579840" y="19301656"/>
              <a:ext cx="8839200" cy="2383565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60950" tIns="30467" rIns="60950" bIns="30467" anchor="ctr" anchorCtr="0">
              <a:noAutofit/>
            </a:bodyPr>
            <a:lstStyle/>
            <a:p>
              <a:pPr algn="ctr">
                <a:buSzPts val="7258"/>
              </a:pPr>
              <a:endParaRPr sz="483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1"/>
            <p:cNvSpPr/>
            <p:nvPr/>
          </p:nvSpPr>
          <p:spPr>
            <a:xfrm>
              <a:off x="2499360" y="9507141"/>
              <a:ext cx="8839200" cy="1080481"/>
            </a:xfrm>
            <a:prstGeom prst="rect">
              <a:avLst/>
            </a:prstGeom>
            <a:solidFill>
              <a:srgbClr val="004671"/>
            </a:solidFill>
            <a:ln>
              <a:noFill/>
            </a:ln>
          </p:spPr>
          <p:txBody>
            <a:bodyPr spcFirstLastPara="1" wrap="square" lIns="60950" tIns="30467" rIns="60950" bIns="30467" anchor="ctr" anchorCtr="0">
              <a:noAutofit/>
            </a:bodyPr>
            <a:lstStyle/>
            <a:p>
              <a:pPr algn="ctr">
                <a:buSzPts val="7258"/>
              </a:pPr>
              <a:r>
                <a:rPr lang="en-US" sz="4839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Methods</a:t>
              </a:r>
              <a:endParaRPr sz="933"/>
            </a:p>
          </p:txBody>
        </p:sp>
        <p:sp>
          <p:nvSpPr>
            <p:cNvPr id="91" name="Google Shape;91;p1"/>
            <p:cNvSpPr/>
            <p:nvPr/>
          </p:nvSpPr>
          <p:spPr>
            <a:xfrm>
              <a:off x="2499367" y="10496783"/>
              <a:ext cx="8839200" cy="111884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60950" tIns="30467" rIns="60950" bIns="30467" anchor="ctr" anchorCtr="0">
              <a:noAutofit/>
            </a:bodyPr>
            <a:lstStyle/>
            <a:p>
              <a:pPr algn="ctr">
                <a:buSzPts val="7258"/>
              </a:pPr>
              <a:endParaRPr sz="4839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" name="Google Shape;92;p1"/>
            <p:cNvSpPr/>
            <p:nvPr/>
          </p:nvSpPr>
          <p:spPr>
            <a:xfrm>
              <a:off x="2499360" y="4328160"/>
              <a:ext cx="8839200" cy="1080481"/>
            </a:xfrm>
            <a:prstGeom prst="rect">
              <a:avLst/>
            </a:prstGeom>
            <a:solidFill>
              <a:srgbClr val="004671"/>
            </a:solidFill>
            <a:ln>
              <a:noFill/>
            </a:ln>
          </p:spPr>
          <p:txBody>
            <a:bodyPr spcFirstLastPara="1" wrap="square" lIns="60950" tIns="30467" rIns="60950" bIns="30467" anchor="ctr" anchorCtr="0">
              <a:noAutofit/>
            </a:bodyPr>
            <a:lstStyle/>
            <a:p>
              <a:pPr algn="ctr">
                <a:buSzPts val="7258"/>
              </a:pPr>
              <a:r>
                <a:rPr lang="en-US" sz="4839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Introduction</a:t>
              </a:r>
              <a:endParaRPr sz="933"/>
            </a:p>
          </p:txBody>
        </p:sp>
        <p:sp>
          <p:nvSpPr>
            <p:cNvPr id="93" name="Google Shape;93;p1"/>
            <p:cNvSpPr/>
            <p:nvPr/>
          </p:nvSpPr>
          <p:spPr>
            <a:xfrm>
              <a:off x="2499367" y="5420016"/>
              <a:ext cx="8839200" cy="38316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60950" tIns="30467" rIns="60950" bIns="30467" anchor="ctr" anchorCtr="0">
              <a:noAutofit/>
            </a:bodyPr>
            <a:lstStyle/>
            <a:p>
              <a:pPr>
                <a:buSzPts val="4400"/>
              </a:pPr>
              <a:r>
                <a:rPr lang="en-US" sz="3000">
                  <a:latin typeface="Calibri"/>
                  <a:ea typeface="Calibri"/>
                  <a:cs typeface="Calibri"/>
                  <a:sym typeface="Calibri"/>
                </a:rPr>
                <a:t>Lung cancer remains the leading cause of cancer-related deaths in the U.S., yet screening practices are often underutilized or misunderstood. Internal medicine residents play a vital role in preventive care, but knowledge gaps may hinder appropriate screening recommendations. This project aims to enhance resident understanding of lung cancer screening guidelines and protocols through targeted education.</a:t>
              </a:r>
              <a:endParaRPr sz="3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1"/>
            <p:cNvSpPr/>
            <p:nvPr/>
          </p:nvSpPr>
          <p:spPr>
            <a:xfrm>
              <a:off x="2499360" y="396873"/>
              <a:ext cx="27919680" cy="3809162"/>
            </a:xfrm>
            <a:prstGeom prst="rect">
              <a:avLst/>
            </a:prstGeom>
            <a:solidFill>
              <a:srgbClr val="004671"/>
            </a:solidFill>
            <a:ln>
              <a:noFill/>
            </a:ln>
          </p:spPr>
          <p:txBody>
            <a:bodyPr spcFirstLastPara="1" wrap="square" lIns="60950" tIns="30467" rIns="60950" bIns="30467" anchor="ctr" anchorCtr="0">
              <a:noAutofit/>
            </a:bodyPr>
            <a:lstStyle/>
            <a:p>
              <a:pPr algn="ctr">
                <a:buSzPts val="7258"/>
              </a:pPr>
              <a:endParaRPr sz="4839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" name="Google Shape;95;p1"/>
            <p:cNvSpPr/>
            <p:nvPr/>
          </p:nvSpPr>
          <p:spPr>
            <a:xfrm>
              <a:off x="4830236" y="1002049"/>
              <a:ext cx="23470000" cy="141574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0950" tIns="30467" rIns="60950" bIns="30467" anchor="t" anchorCtr="0">
              <a:spAutoFit/>
            </a:bodyPr>
            <a:lstStyle/>
            <a:p>
              <a:pPr algn="ctr">
                <a:buSzPts val="9600"/>
              </a:pPr>
              <a:r>
                <a:rPr lang="en-US" sz="4400" b="1" dirty="0">
                  <a:solidFill>
                    <a:schemeClr val="lt1"/>
                  </a:solidFill>
                </a:rPr>
                <a:t>CLEARING THE AIR: Boosting Resident Knowledge </a:t>
              </a:r>
              <a:br>
                <a:rPr lang="en-US" sz="4400" b="1" dirty="0">
                  <a:solidFill>
                    <a:schemeClr val="lt1"/>
                  </a:solidFill>
                </a:rPr>
              </a:br>
              <a:r>
                <a:rPr lang="en-US" sz="4400" b="1" dirty="0">
                  <a:solidFill>
                    <a:schemeClr val="lt1"/>
                  </a:solidFill>
                </a:rPr>
                <a:t>of Lung Cancer Screening</a:t>
              </a:r>
              <a:endParaRPr sz="4400" b="1" dirty="0">
                <a:solidFill>
                  <a:schemeClr val="lt1"/>
                </a:solidFill>
              </a:endParaRPr>
            </a:p>
          </p:txBody>
        </p:sp>
        <p:sp>
          <p:nvSpPr>
            <p:cNvPr id="96" name="Google Shape;96;p1"/>
            <p:cNvSpPr/>
            <p:nvPr/>
          </p:nvSpPr>
          <p:spPr>
            <a:xfrm>
              <a:off x="5287200" y="2626632"/>
              <a:ext cx="22344000" cy="12312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0950" tIns="30467" rIns="60950" bIns="30467" anchor="t" anchorCtr="0">
              <a:spAutoFit/>
            </a:bodyPr>
            <a:lstStyle/>
            <a:p>
              <a:pPr algn="ctr">
                <a:buSzPts val="7200"/>
              </a:pPr>
              <a:r>
                <a:rPr lang="en-US" sz="3334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Rukhsar </a:t>
              </a:r>
              <a:r>
                <a:rPr lang="en-US" sz="3334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Nadeem MD, Hamna </a:t>
              </a:r>
              <a:r>
                <a:rPr lang="en-US" sz="3334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Javed MD, Mahwish Sheikh MD, Anupama </a:t>
              </a:r>
              <a:r>
                <a:rPr lang="en-US" sz="3334" dirty="0" err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Poliyedath</a:t>
              </a:r>
              <a:r>
                <a:rPr lang="en-US" sz="3334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 MD, Mehdi </a:t>
              </a:r>
              <a:r>
                <a:rPr lang="en-US" sz="3334" dirty="0" err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Hakimipour</a:t>
              </a:r>
              <a:r>
                <a:rPr lang="en-US" sz="3334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 MD</a:t>
              </a:r>
              <a:endParaRPr sz="3334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algn="ctr">
                <a:buSzPts val="1400"/>
              </a:pPr>
              <a:endParaRPr sz="933" dirty="0"/>
            </a:p>
            <a:p>
              <a:pPr algn="ctr">
                <a:buSzPts val="5000"/>
              </a:pPr>
              <a:r>
                <a:rPr lang="en-US" sz="3334" i="1" dirty="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Saint Agnes Medical Center, Fresno, CA</a:t>
              </a:r>
              <a:endParaRPr sz="933" dirty="0"/>
            </a:p>
          </p:txBody>
        </p:sp>
        <p:sp>
          <p:nvSpPr>
            <p:cNvPr id="97" name="Google Shape;97;p1"/>
            <p:cNvSpPr txBox="1"/>
            <p:nvPr/>
          </p:nvSpPr>
          <p:spPr>
            <a:xfrm>
              <a:off x="12107400" y="8890584"/>
              <a:ext cx="8955400" cy="36930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0950" tIns="30467" rIns="60950" bIns="30467" anchor="t" anchorCtr="0">
              <a:spAutoFit/>
            </a:bodyPr>
            <a:lstStyle/>
            <a:p>
              <a:pPr>
                <a:buSzPts val="3000"/>
              </a:pPr>
              <a:r>
                <a:rPr lang="en-US" sz="2000" b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Figure 1: Table showing the average score in percentage pre and post intervention.</a:t>
              </a:r>
              <a:endParaRPr sz="933"/>
            </a:p>
          </p:txBody>
        </p:sp>
        <p:sp>
          <p:nvSpPr>
            <p:cNvPr id="98" name="Google Shape;98;p1"/>
            <p:cNvSpPr txBox="1"/>
            <p:nvPr/>
          </p:nvSpPr>
          <p:spPr>
            <a:xfrm>
              <a:off x="12093883" y="14515984"/>
              <a:ext cx="9170000" cy="36930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0950" tIns="30467" rIns="60950" bIns="30467" anchor="t" anchorCtr="0">
              <a:spAutoFit/>
            </a:bodyPr>
            <a:lstStyle/>
            <a:p>
              <a:pPr>
                <a:buSzPts val="3000"/>
              </a:pPr>
              <a:r>
                <a:rPr lang="en-US" sz="2000" b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Figure 2: Graph showing the improvement in knowledge pre and post intervention</a:t>
              </a:r>
              <a:endParaRPr sz="933"/>
            </a:p>
          </p:txBody>
        </p:sp>
        <p:sp>
          <p:nvSpPr>
            <p:cNvPr id="99" name="Google Shape;99;p1"/>
            <p:cNvSpPr/>
            <p:nvPr/>
          </p:nvSpPr>
          <p:spPr>
            <a:xfrm>
              <a:off x="21579840" y="4339544"/>
              <a:ext cx="8839200" cy="1080481"/>
            </a:xfrm>
            <a:prstGeom prst="rect">
              <a:avLst/>
            </a:prstGeom>
            <a:solidFill>
              <a:srgbClr val="004671"/>
            </a:solidFill>
            <a:ln>
              <a:noFill/>
            </a:ln>
          </p:spPr>
          <p:txBody>
            <a:bodyPr spcFirstLastPara="1" wrap="square" lIns="60950" tIns="30467" rIns="60950" bIns="30467" anchor="ctr" anchorCtr="0">
              <a:noAutofit/>
            </a:bodyPr>
            <a:lstStyle/>
            <a:p>
              <a:pPr algn="ctr">
                <a:buSzPts val="7258"/>
              </a:pPr>
              <a:r>
                <a:rPr lang="en-US" sz="4839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Results Cont.</a:t>
              </a:r>
              <a:endParaRPr sz="933"/>
            </a:p>
          </p:txBody>
        </p:sp>
        <p:sp>
          <p:nvSpPr>
            <p:cNvPr id="100" name="Google Shape;100;p1"/>
            <p:cNvSpPr/>
            <p:nvPr/>
          </p:nvSpPr>
          <p:spPr>
            <a:xfrm>
              <a:off x="21579833" y="5420017"/>
              <a:ext cx="8839200" cy="4746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60950" tIns="30467" rIns="60950" bIns="30467" anchor="ctr" anchorCtr="0">
              <a:noAutofit/>
            </a:bodyPr>
            <a:lstStyle/>
            <a:p>
              <a:pPr>
                <a:buClr>
                  <a:schemeClr val="dk1"/>
                </a:buClr>
                <a:buSzPts val="3400"/>
              </a:pPr>
              <a:r>
                <a:rPr lang="en-US" sz="2867" dirty="0">
                  <a:solidFill>
                    <a:schemeClr val="dk1"/>
                  </a:solidFill>
                </a:rPr>
                <a:t>These results suggest that a targeted educational session can effectively enhance resident knowledge on lung cancer screening, particularly in areas of guideline comprehension and evidence-based eligibility criteria.</a:t>
              </a:r>
              <a:endParaRPr sz="2867" dirty="0"/>
            </a:p>
            <a:p>
              <a:r>
                <a:rPr lang="en-US" sz="2867" dirty="0"/>
                <a:t>Limitations:</a:t>
              </a:r>
              <a:br>
                <a:rPr lang="en-US" sz="2867" dirty="0"/>
              </a:br>
              <a:endParaRPr sz="2867" dirty="0"/>
            </a:p>
            <a:p>
              <a:pPr marL="503769" indent="-457200">
                <a:buSzPts val="4300"/>
                <a:buFont typeface="Arial" panose="020B0604020202020204" pitchFamily="34" charset="0"/>
                <a:buChar char="•"/>
              </a:pPr>
              <a:r>
                <a:rPr lang="en-US" sz="2867" dirty="0"/>
                <a:t>Small sample size from a single residency program</a:t>
              </a:r>
              <a:endParaRPr sz="2867" dirty="0"/>
            </a:p>
            <a:p>
              <a:pPr marL="503769" indent="-457200">
                <a:buSzPts val="4300"/>
                <a:buFont typeface="Arial" panose="020B0604020202020204" pitchFamily="34" charset="0"/>
                <a:buChar char="•"/>
              </a:pPr>
              <a:r>
                <a:rPr lang="en-US" sz="2867" dirty="0"/>
                <a:t>Short follow-up time limits long-term knowledge retention analysis</a:t>
              </a:r>
              <a:endParaRPr sz="2867" dirty="0"/>
            </a:p>
            <a:p>
              <a:pPr marL="503769" indent="-457200">
                <a:buSzPts val="4300"/>
                <a:buFont typeface="Arial" panose="020B0604020202020204" pitchFamily="34" charset="0"/>
                <a:buChar char="•"/>
              </a:pPr>
              <a:r>
                <a:rPr lang="en-US" sz="2867" dirty="0"/>
                <a:t>Lecture format may not address all learning styles</a:t>
              </a:r>
              <a:endParaRPr sz="2867" dirty="0"/>
            </a:p>
          </p:txBody>
        </p:sp>
        <p:sp>
          <p:nvSpPr>
            <p:cNvPr id="101" name="Google Shape;101;p1"/>
            <p:cNvSpPr/>
            <p:nvPr/>
          </p:nvSpPr>
          <p:spPr>
            <a:xfrm>
              <a:off x="11776548" y="14948882"/>
              <a:ext cx="9509800" cy="1159600"/>
            </a:xfrm>
            <a:prstGeom prst="rect">
              <a:avLst/>
            </a:prstGeom>
            <a:solidFill>
              <a:srgbClr val="004671"/>
            </a:solidFill>
            <a:ln>
              <a:noFill/>
            </a:ln>
          </p:spPr>
          <p:txBody>
            <a:bodyPr spcFirstLastPara="1" wrap="square" lIns="60950" tIns="30467" rIns="60950" bIns="30467" anchor="ctr" anchorCtr="0">
              <a:noAutofit/>
            </a:bodyPr>
            <a:lstStyle/>
            <a:p>
              <a:pPr algn="ctr">
                <a:buSzPts val="7258"/>
              </a:pPr>
              <a:r>
                <a:rPr lang="en-US" sz="4839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Results</a:t>
              </a:r>
              <a:endParaRPr sz="933"/>
            </a:p>
          </p:txBody>
        </p:sp>
        <p:sp>
          <p:nvSpPr>
            <p:cNvPr id="102" name="Google Shape;102;p1"/>
            <p:cNvSpPr/>
            <p:nvPr/>
          </p:nvSpPr>
          <p:spPr>
            <a:xfrm>
              <a:off x="11776550" y="16154217"/>
              <a:ext cx="9509800" cy="5531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60950" tIns="30467" rIns="60950" bIns="30467" anchor="ctr" anchorCtr="0">
              <a:noAutofit/>
            </a:bodyPr>
            <a:lstStyle/>
            <a:p>
              <a:pPr algn="ctr">
                <a:buSzPts val="7258"/>
              </a:pPr>
              <a:endParaRPr sz="4839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3" name="Google Shape;103;p1"/>
            <p:cNvSpPr/>
            <p:nvPr/>
          </p:nvSpPr>
          <p:spPr>
            <a:xfrm>
              <a:off x="21579840" y="14453430"/>
              <a:ext cx="8839200" cy="1080481"/>
            </a:xfrm>
            <a:prstGeom prst="rect">
              <a:avLst/>
            </a:prstGeom>
            <a:solidFill>
              <a:srgbClr val="004671"/>
            </a:solidFill>
            <a:ln>
              <a:noFill/>
            </a:ln>
          </p:spPr>
          <p:txBody>
            <a:bodyPr spcFirstLastPara="1" wrap="square" lIns="60950" tIns="30467" rIns="60950" bIns="30467" anchor="ctr" anchorCtr="0">
              <a:noAutofit/>
            </a:bodyPr>
            <a:lstStyle/>
            <a:p>
              <a:pPr algn="ctr">
                <a:buSzPts val="7258"/>
              </a:pPr>
              <a:r>
                <a:rPr lang="en-US" sz="4839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References</a:t>
              </a:r>
              <a:endParaRPr sz="933"/>
            </a:p>
          </p:txBody>
        </p:sp>
        <p:sp>
          <p:nvSpPr>
            <p:cNvPr id="104" name="Google Shape;104;p1"/>
            <p:cNvSpPr/>
            <p:nvPr/>
          </p:nvSpPr>
          <p:spPr>
            <a:xfrm>
              <a:off x="21688433" y="15533917"/>
              <a:ext cx="8730600" cy="35008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60950" tIns="30467" rIns="60950" bIns="30467" anchor="ctr" anchorCtr="0">
              <a:noAutofit/>
            </a:bodyPr>
            <a:lstStyle/>
            <a:p>
              <a:pPr marL="304815" indent="-283648">
                <a:lnSpc>
                  <a:spcPct val="115000"/>
                </a:lnSpc>
                <a:buClr>
                  <a:schemeClr val="dk1"/>
                </a:buClr>
                <a:buSzPts val="3100"/>
                <a:buAutoNum type="arabicPeriod"/>
              </a:pPr>
              <a:r>
                <a:rPr lang="en-US" sz="2067" dirty="0">
                  <a:solidFill>
                    <a:schemeClr val="dk1"/>
                  </a:solidFill>
                </a:rPr>
                <a:t>Krist AH, Davidson KW, Mangione CM, et al. Screening for Lung Cancer: US Preventive Services Task Force Recommendation Statement. </a:t>
              </a:r>
              <a:r>
                <a:rPr lang="en-US" sz="2067" i="1" dirty="0">
                  <a:solidFill>
                    <a:schemeClr val="dk1"/>
                  </a:solidFill>
                </a:rPr>
                <a:t>JAMA</a:t>
              </a:r>
              <a:r>
                <a:rPr lang="en-US" sz="2067" dirty="0">
                  <a:solidFill>
                    <a:schemeClr val="dk1"/>
                  </a:solidFill>
                </a:rPr>
                <a:t>. 2021;325(10):962–970. doi:10.1001/jama.2021.1117</a:t>
              </a:r>
              <a:endParaRPr sz="2067" dirty="0">
                <a:solidFill>
                  <a:schemeClr val="dk1"/>
                </a:solidFill>
              </a:endParaRPr>
            </a:p>
            <a:p>
              <a:pPr marL="304815" indent="-283648">
                <a:lnSpc>
                  <a:spcPct val="115000"/>
                </a:lnSpc>
                <a:buClr>
                  <a:schemeClr val="dk1"/>
                </a:buClr>
                <a:buSzPts val="3100"/>
                <a:buAutoNum type="arabicPeriod"/>
              </a:pPr>
              <a:r>
                <a:rPr lang="en-US" sz="2067" dirty="0">
                  <a:solidFill>
                    <a:schemeClr val="dk1"/>
                  </a:solidFill>
                </a:rPr>
                <a:t>National Lung Screening Trial Research Team. Reduced lung-cancer mortality with low-dose computed tomographic screening. </a:t>
              </a:r>
              <a:r>
                <a:rPr lang="en-US" sz="2067" i="1" dirty="0">
                  <a:solidFill>
                    <a:schemeClr val="dk1"/>
                  </a:solidFill>
                </a:rPr>
                <a:t>N Engl J Med</a:t>
              </a:r>
              <a:r>
                <a:rPr lang="en-US" sz="2067" dirty="0">
                  <a:solidFill>
                    <a:schemeClr val="dk1"/>
                  </a:solidFill>
                </a:rPr>
                <a:t>. 2011;365(5):395-409. doi:10.1056/NEJMoa1102873</a:t>
              </a:r>
              <a:endParaRPr sz="2067" dirty="0">
                <a:solidFill>
                  <a:schemeClr val="dk1"/>
                </a:solidFill>
              </a:endParaRPr>
            </a:p>
            <a:p>
              <a:pPr marL="304815" indent="-283648">
                <a:lnSpc>
                  <a:spcPct val="115000"/>
                </a:lnSpc>
                <a:buClr>
                  <a:schemeClr val="dk1"/>
                </a:buClr>
                <a:buSzPts val="3100"/>
                <a:buAutoNum type="arabicPeriod"/>
              </a:pPr>
              <a:r>
                <a:rPr lang="en-US" sz="2067" dirty="0">
                  <a:solidFill>
                    <a:schemeClr val="dk1"/>
                  </a:solidFill>
                </a:rPr>
                <a:t>de Koning HJ, van der Aalst CM, de Jong PA, et al. Reduced lung-cancer mortality with volume CT screening in a randomized trial. </a:t>
              </a:r>
              <a:r>
                <a:rPr lang="en-US" sz="2067" i="1" dirty="0">
                  <a:solidFill>
                    <a:schemeClr val="dk1"/>
                  </a:solidFill>
                </a:rPr>
                <a:t>N Engl J Med</a:t>
              </a:r>
              <a:r>
                <a:rPr lang="en-US" sz="2067" dirty="0">
                  <a:solidFill>
                    <a:schemeClr val="dk1"/>
                  </a:solidFill>
                </a:rPr>
                <a:t>. 2020;382(6):503-513. doi:10.1056/NEJMoa1911793</a:t>
              </a:r>
              <a:endParaRPr sz="2067" dirty="0">
                <a:solidFill>
                  <a:schemeClr val="dk1"/>
                </a:solidFill>
              </a:endParaRPr>
            </a:p>
          </p:txBody>
        </p:sp>
        <p:sp>
          <p:nvSpPr>
            <p:cNvPr id="105" name="Google Shape;105;p1"/>
            <p:cNvSpPr/>
            <p:nvPr/>
          </p:nvSpPr>
          <p:spPr>
            <a:xfrm>
              <a:off x="21579840" y="10166023"/>
              <a:ext cx="8839200" cy="1080400"/>
            </a:xfrm>
            <a:prstGeom prst="rect">
              <a:avLst/>
            </a:prstGeom>
            <a:solidFill>
              <a:srgbClr val="004671"/>
            </a:solidFill>
            <a:ln>
              <a:noFill/>
            </a:ln>
          </p:spPr>
          <p:txBody>
            <a:bodyPr spcFirstLastPara="1" wrap="square" lIns="60950" tIns="30467" rIns="60950" bIns="30467" anchor="ctr" anchorCtr="0">
              <a:noAutofit/>
            </a:bodyPr>
            <a:lstStyle/>
            <a:p>
              <a:pPr algn="ctr">
                <a:buSzPts val="7258"/>
              </a:pPr>
              <a:r>
                <a:rPr lang="en-US" sz="4839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Conclusion</a:t>
              </a:r>
              <a:endParaRPr sz="933"/>
            </a:p>
          </p:txBody>
        </p:sp>
        <p:sp>
          <p:nvSpPr>
            <p:cNvPr id="106" name="Google Shape;106;p1"/>
            <p:cNvSpPr/>
            <p:nvPr/>
          </p:nvSpPr>
          <p:spPr>
            <a:xfrm>
              <a:off x="21626733" y="11331091"/>
              <a:ext cx="8854000" cy="28554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60950" tIns="30467" rIns="60950" bIns="30467" anchor="ctr" anchorCtr="0">
              <a:noAutofit/>
            </a:bodyPr>
            <a:lstStyle/>
            <a:p>
              <a:pPr>
                <a:buSzPts val="5400"/>
              </a:pPr>
              <a:r>
                <a:rPr lang="en-US" sz="3000" dirty="0">
                  <a:latin typeface="Calibri"/>
                  <a:ea typeface="Calibri"/>
                  <a:cs typeface="Calibri"/>
                  <a:sym typeface="Calibri"/>
                </a:rPr>
                <a:t>A focused educational intervention significantly improved resident knowledge of lung cancer screening guidelines. Periodic reinforcement and integration into clinical practice discussions may help sustain knowledge and promote evidence-based screening.</a:t>
              </a:r>
              <a:endParaRPr sz="3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7" name="Google Shape;107;p1"/>
            <p:cNvSpPr/>
            <p:nvPr/>
          </p:nvSpPr>
          <p:spPr>
            <a:xfrm>
              <a:off x="11776548" y="4419921"/>
              <a:ext cx="9509800" cy="4460000"/>
            </a:xfrm>
            <a:prstGeom prst="rect">
              <a:avLst/>
            </a:prstGeom>
            <a:solidFill>
              <a:schemeClr val="lt1"/>
            </a:solidFill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0950" tIns="30467" rIns="60950" bIns="30467" anchor="ctr" anchorCtr="0">
              <a:noAutofit/>
            </a:bodyPr>
            <a:lstStyle/>
            <a:p>
              <a:pPr algn="ctr">
                <a:buSzPts val="7258"/>
              </a:pPr>
              <a:endParaRPr sz="483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"/>
            <p:cNvSpPr/>
            <p:nvPr/>
          </p:nvSpPr>
          <p:spPr>
            <a:xfrm>
              <a:off x="11776548" y="9366901"/>
              <a:ext cx="9509800" cy="5072800"/>
            </a:xfrm>
            <a:prstGeom prst="rect">
              <a:avLst/>
            </a:prstGeom>
            <a:solidFill>
              <a:schemeClr val="lt1"/>
            </a:solidFill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0950" tIns="30467" rIns="60950" bIns="30467" anchor="ctr" anchorCtr="0">
              <a:noAutofit/>
            </a:bodyPr>
            <a:lstStyle/>
            <a:p>
              <a:pPr algn="ctr">
                <a:buSzPts val="7258"/>
              </a:pPr>
              <a:endParaRPr sz="483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09" name="Google Shape;109;p1" descr="Logo, company name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 b="54543"/>
            <a:stretch/>
          </p:blipFill>
          <p:spPr>
            <a:xfrm>
              <a:off x="23135772" y="19759783"/>
              <a:ext cx="3748117" cy="169222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0" name="Google Shape;110;p1" descr="Logo, company name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 t="47565" b="13424"/>
            <a:stretch/>
          </p:blipFill>
          <p:spPr>
            <a:xfrm>
              <a:off x="25066649" y="19886388"/>
              <a:ext cx="3955647" cy="153267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1" name="Google Shape;111;p1"/>
            <p:cNvSpPr txBox="1"/>
            <p:nvPr/>
          </p:nvSpPr>
          <p:spPr>
            <a:xfrm>
              <a:off x="2499359" y="10972800"/>
              <a:ext cx="8730600" cy="1114148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0950" tIns="30467" rIns="60950" bIns="30467" anchor="t" anchorCtr="0">
              <a:spAutoFit/>
            </a:bodyPr>
            <a:lstStyle/>
            <a:p>
              <a:pPr>
                <a:buSzPts val="4500"/>
              </a:pPr>
              <a:r>
                <a:rPr lang="en-US" sz="3000" b="1" dirty="0">
                  <a:latin typeface="Calibri"/>
                  <a:ea typeface="Calibri"/>
                  <a:cs typeface="Calibri"/>
                  <a:sym typeface="Calibri"/>
                </a:rPr>
                <a:t>Participants: </a:t>
              </a:r>
              <a:r>
                <a:rPr lang="en-US" sz="3000" dirty="0">
                  <a:latin typeface="Calibri"/>
                  <a:ea typeface="Calibri"/>
                  <a:cs typeface="Calibri"/>
                  <a:sym typeface="Calibri"/>
                </a:rPr>
                <a:t>PGY-1 to PGY-3 Residents &amp; Medical Students</a:t>
              </a:r>
              <a:endParaRPr sz="3000" dirty="0">
                <a:latin typeface="Calibri"/>
                <a:ea typeface="Calibri"/>
                <a:cs typeface="Calibri"/>
                <a:sym typeface="Calibri"/>
              </a:endParaRPr>
            </a:p>
            <a:p>
              <a:pPr>
                <a:buSzPts val="4500"/>
              </a:pPr>
              <a:r>
                <a:rPr lang="en-US" sz="3000" dirty="0"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3000" b="1" dirty="0">
                  <a:latin typeface="Calibri"/>
                  <a:ea typeface="Calibri"/>
                  <a:cs typeface="Calibri"/>
                  <a:sym typeface="Calibri"/>
                </a:rPr>
                <a:t>Intervention Design:</a:t>
              </a:r>
              <a:endParaRPr sz="667" dirty="0"/>
            </a:p>
            <a:p>
              <a:pPr marL="457223" indent="-457223">
                <a:buSzPts val="4500"/>
                <a:buFont typeface="Arial"/>
                <a:buChar char="•"/>
              </a:pPr>
              <a:r>
                <a:rPr lang="en-US" sz="3000" dirty="0">
                  <a:latin typeface="Calibri"/>
                  <a:ea typeface="Calibri"/>
                  <a:cs typeface="Calibri"/>
                  <a:sym typeface="Calibri"/>
                </a:rPr>
                <a:t>Pre-Intervention Assessment: 26-question quiz covering USPSTF recommendations, Lung-RADS criteria, screening eligibility, risks, benefits, and management (QR code above).</a:t>
              </a:r>
              <a:endParaRPr sz="667" dirty="0"/>
            </a:p>
            <a:p>
              <a:pPr marL="457223" indent="-457223">
                <a:buSzPts val="4500"/>
                <a:buFont typeface="Arial"/>
                <a:buChar char="•"/>
              </a:pPr>
              <a:r>
                <a:rPr lang="en-US" sz="3000" dirty="0">
                  <a:latin typeface="Calibri"/>
                  <a:ea typeface="Calibri"/>
                  <a:cs typeface="Calibri"/>
                  <a:sym typeface="Calibri"/>
                </a:rPr>
                <a:t>Intervention: 30-minute interactive lecture reviewing evidence-based screening guidelines, key clinical trial data (NLST &amp; NELSON), and case-based scenarios.</a:t>
              </a:r>
              <a:endParaRPr sz="667" dirty="0"/>
            </a:p>
            <a:p>
              <a:pPr marL="457223" indent="-457223">
                <a:buSzPts val="4500"/>
                <a:buFont typeface="Arial"/>
                <a:buChar char="•"/>
              </a:pPr>
              <a:r>
                <a:rPr lang="en-US" sz="3000" dirty="0">
                  <a:latin typeface="Calibri"/>
                  <a:ea typeface="Calibri"/>
                  <a:cs typeface="Calibri"/>
                  <a:sym typeface="Calibri"/>
                </a:rPr>
                <a:t>Post-Intervention Assessment: Same quiz administered to evaluate knowledge retention.</a:t>
              </a:r>
              <a:endParaRPr sz="667" dirty="0"/>
            </a:p>
            <a:p>
              <a:pPr>
                <a:buSzPts val="4500"/>
              </a:pPr>
              <a:r>
                <a:rPr lang="en-US" sz="3000" b="1" dirty="0">
                  <a:latin typeface="Calibri"/>
                  <a:ea typeface="Calibri"/>
                  <a:cs typeface="Calibri"/>
                  <a:sym typeface="Calibri"/>
                </a:rPr>
                <a:t>Topics Covered:</a:t>
              </a:r>
              <a:endParaRPr sz="667" dirty="0"/>
            </a:p>
            <a:p>
              <a:pPr marL="457223" indent="-457223">
                <a:buSzPts val="4500"/>
                <a:buFont typeface="Arial"/>
                <a:buChar char="•"/>
              </a:pPr>
              <a:r>
                <a:rPr lang="en-US" sz="3000" dirty="0">
                  <a:latin typeface="Calibri"/>
                  <a:ea typeface="Calibri"/>
                  <a:cs typeface="Calibri"/>
                  <a:sym typeface="Calibri"/>
                </a:rPr>
                <a:t>Lung cancer epidemiology &amp; risk factors (questions 1 &amp; 2)</a:t>
              </a:r>
              <a:endParaRPr sz="667" dirty="0"/>
            </a:p>
            <a:p>
              <a:pPr marL="457223" indent="-457223">
                <a:buSzPts val="4500"/>
                <a:buFont typeface="Arial"/>
                <a:buChar char="•"/>
              </a:pPr>
              <a:r>
                <a:rPr lang="en-US" sz="3000" dirty="0">
                  <a:latin typeface="Calibri"/>
                  <a:ea typeface="Calibri"/>
                  <a:cs typeface="Calibri"/>
                  <a:sym typeface="Calibri"/>
                </a:rPr>
                <a:t>Screening eligibility criteria &amp; guidelines (questions 3, 4, 5, 6, 15 &amp; 16)</a:t>
              </a:r>
              <a:endParaRPr sz="667" dirty="0"/>
            </a:p>
            <a:p>
              <a:pPr marL="457223" indent="-457223">
                <a:buSzPts val="4500"/>
                <a:buFont typeface="Arial"/>
                <a:buChar char="•"/>
              </a:pPr>
              <a:r>
                <a:rPr lang="en-US" sz="3000" dirty="0">
                  <a:latin typeface="Calibri"/>
                  <a:ea typeface="Calibri"/>
                  <a:cs typeface="Calibri"/>
                  <a:sym typeface="Calibri"/>
                </a:rPr>
                <a:t>Screening methods, benefits, and harms (questions 7, 8, 9, 11, 14 &amp; 20)</a:t>
              </a:r>
              <a:endParaRPr sz="667" dirty="0"/>
            </a:p>
            <a:p>
              <a:pPr marL="457223" indent="-457223">
                <a:buSzPts val="4500"/>
                <a:buFont typeface="Arial"/>
                <a:buChar char="•"/>
              </a:pPr>
              <a:r>
                <a:rPr lang="en-US" sz="3000" dirty="0">
                  <a:latin typeface="Calibri"/>
                  <a:ea typeface="Calibri"/>
                  <a:cs typeface="Calibri"/>
                  <a:sym typeface="Calibri"/>
                </a:rPr>
                <a:t>Lung-RADS Classification &amp; Nodule Management (questions 12, 13, 17, 18, 19, 21, 22, 23, 24, 25 &amp; 26)</a:t>
              </a:r>
              <a:endParaRPr sz="667" dirty="0"/>
            </a:p>
            <a:p>
              <a:pPr marL="457223" indent="-457223">
                <a:buSzPts val="4500"/>
                <a:buFont typeface="Arial"/>
                <a:buChar char="•"/>
              </a:pPr>
              <a:r>
                <a:rPr lang="en-US" sz="3000" dirty="0">
                  <a:latin typeface="Calibri"/>
                  <a:ea typeface="Calibri"/>
                  <a:cs typeface="Calibri"/>
                  <a:sym typeface="Calibri"/>
                </a:rPr>
                <a:t>Evidence Base &amp; Smoking Cessation (questions 10, 14, 15 &amp; 19)</a:t>
              </a:r>
              <a:endParaRPr sz="4000" dirty="0"/>
            </a:p>
          </p:txBody>
        </p:sp>
        <p:pic>
          <p:nvPicPr>
            <p:cNvPr id="112" name="Google Shape;112;p1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2093883" y="4511683"/>
              <a:ext cx="8955400" cy="436816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3" name="Google Shape;113;p1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1892663" y="9425709"/>
              <a:ext cx="9170053" cy="490766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4" name="Google Shape;114;p1"/>
            <p:cNvSpPr txBox="1"/>
            <p:nvPr/>
          </p:nvSpPr>
          <p:spPr>
            <a:xfrm>
              <a:off x="11885158" y="16344256"/>
              <a:ext cx="9402600" cy="594942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0950" tIns="30467" rIns="60950" bIns="30467" anchor="t" anchorCtr="0">
              <a:spAutoFit/>
            </a:bodyPr>
            <a:lstStyle/>
            <a:p>
              <a:r>
                <a:rPr lang="en-US" sz="2733" dirty="0"/>
                <a:t>A total of 46 residents &amp; medical students completed pre- and post-intervention questionnaires. The pre-intervention average score across all questions was 72.2%, which improved to 80.7% post-intervention—a mean increase of 8.9 percentage points.</a:t>
              </a:r>
              <a:endParaRPr sz="2733" dirty="0"/>
            </a:p>
            <a:p>
              <a:pPr indent="-173575">
                <a:buSzPts val="4100"/>
                <a:buChar char="•"/>
              </a:pPr>
              <a:r>
                <a:rPr lang="en-US" sz="2733" dirty="0"/>
                <a:t>Question 10 (regarding clinical trial evidence) showed the greatest improvement, with a gain of 17.4 percentage points.</a:t>
              </a:r>
              <a:endParaRPr sz="2733" dirty="0"/>
            </a:p>
            <a:p>
              <a:pPr indent="-173575">
                <a:buSzPts val="4100"/>
                <a:buChar char="•"/>
              </a:pPr>
              <a:r>
                <a:rPr lang="en-US" sz="2733" dirty="0"/>
                <a:t>Question 17 (likely addressing nuanced Lung-RADS classification) had the least improvement, suggesting a need for deeper reinforcement of complex radiologic criteria.</a:t>
              </a:r>
              <a:endParaRPr sz="2733" dirty="0"/>
            </a:p>
            <a:p>
              <a:pPr indent="-173575">
                <a:buSzPts val="4100"/>
                <a:buChar char="•"/>
              </a:pPr>
              <a:r>
                <a:rPr lang="en-US" sz="2733" dirty="0"/>
                <a:t>20 out of 26 questions showed an improvement in correct response rate post-lecture. (Figure 2)</a:t>
              </a:r>
              <a:endParaRPr sz="2733" dirty="0"/>
            </a:p>
          </p:txBody>
        </p:sp>
        <p:sp>
          <p:nvSpPr>
            <p:cNvPr id="115" name="Google Shape;115;p1"/>
            <p:cNvSpPr txBox="1"/>
            <p:nvPr/>
          </p:nvSpPr>
          <p:spPr>
            <a:xfrm>
              <a:off x="-11220873" y="-5607648"/>
              <a:ext cx="1521060" cy="20509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0950" tIns="30467" rIns="60950" bIns="30467" anchor="t" anchorCtr="0">
              <a:spAutoFit/>
            </a:bodyPr>
            <a:lstStyle/>
            <a:p>
              <a:endParaRPr sz="933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610</Words>
  <Application>Microsoft Macintosh PowerPoint</Application>
  <PresentationFormat>Custom</PresentationFormat>
  <Paragraphs>38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Calibri</vt:lpstr>
      <vt:lpstr>Helvetica Neue</vt:lpstr>
      <vt:lpstr>Arial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Microsoft Office User</dc:creator>
  <cp:lastModifiedBy>Phil Kim</cp:lastModifiedBy>
  <cp:revision>2</cp:revision>
  <dcterms:created xsi:type="dcterms:W3CDTF">2016-02-18T22:13:49Z</dcterms:created>
  <dcterms:modified xsi:type="dcterms:W3CDTF">2025-05-01T05:32:59Z</dcterms:modified>
</cp:coreProperties>
</file>